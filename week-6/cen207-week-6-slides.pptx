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we explored a whole graph to answer a question. This week flips that idea: can we compute exactly where to look, without exploring anything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Twenty-one short animations carry the whole lecture; each idea gets one normal run and one edge/hard run, right where it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this week either beats binary search on a special case, or drops "compare" entirely for "compute".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brand new machinery — Week 2's two basic structures reappear as building blocks all through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sets up the one question every algorithm today answers differently: how many comparisons before you find — or rule out — a key?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to both — faster comparison-based search exists for special data, and hashing drops comparisons almost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"Correctness first, speed second" — every algorithm today must still get the right answer on every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Sections 2–6 answer the first question; Sections 7 onward answer the second, with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 in Sections 2–5 exploits one extra fact about the data that plain binary search throws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Hashing, the biggest idea of the week, gets its own toolbox slide later, right before Section 7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extra information the array's actual values might carry, beyond just being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idea Section 3's interpolation search turns into a full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opens the "faster than binary" family: instead of halving, jump forward in fixed blocks, then scan one block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 search trades binary search's recursion for one straight line of block jumps, then a short linear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cleanest examples in the course of calculus (minimizing a sum) driving an algorithm's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block is like a chapter — check its last page, and only open it fully once you know the word is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phases, each simple on its own: coarse jumps to find the right block, then a short linear scan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Balancing "few big jumps" against "short final scan" is exactly a minimize-the-sum calculus problem, solved once for all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in the second block — watch the block boundary checks, then the short linear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falls between two real values — the linear scan inside the right block stops early, the moment it passes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`block` is computed once, from `n` alone — it never depends on `target`, only the array's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"sorted array" fact that lets binary search stop early also lets this final scan stop early, on `arr[i] &gt; target`.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 search is a genuine middle ground: faster than linear search, simpler (no recursion) than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wrong block size still finds the right answer — it just loses the O(sqrt(n))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formula from a few slides back, then apply the O(sqrt(n))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O(sqrt(n)) bound made concrete: 20 is close to 2*sqrt(100), the theoretical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replaces "always check the middle" with "compute where the target should be" — a formula instead of a fixed split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does — you flip straight toward the back, because you already know roughly where "S" should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O(log log n) is a genuinely small number — for a billion elements, it is only around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difference, using the value instead of ignoring it, is the entire idea of interpolation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after the formula is identical to binary search — only how the split point is chosen has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uniformly spread values — watch the formula's estimate land very close to the target in a single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value in this range is identical — arr[hi] equals arr[lo], so the formula's denominator would be zero without an explicit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 is not optional — without it, an all-equal range crashes the program with a division-by-zero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in shape to binary search's narrowing step — only `pos` came from a formula instead of `(lo + hi) / 2`.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Interpolation search is a genuine trade: excellent on the right data, no better than linear search on the wrong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skewed array can make interpolation search's probes climb toward O(n), demonstrating exactly the second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complexity slide's second bullet point,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"Roughly uniform" is not a minor detail in interpolation search's description — it is the condition the whole speed-up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answers a very different question from Sections 2–3: what if you do not even know how big the array 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search's very first step needs `hi = n - 1` — if `n` is unknown, that step cannot even be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"Galloping" is a vivid name for the doubling phase — small steps that get bigger and bigger, like a horse picking up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doubling phase's only job is to manufacture a valid `hi` for binary search to use —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array does need a known upper bound in practice — "unbounded" here means "we do not need to know n in advance", not "infinite".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around the middle — watch the bound double, then binary search take over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 doubles all the way past the array's real end, clamped to n-1, before binary search reports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whole block only decides where binary search should start — it never itself finds the target, except by luck at index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binary search from Week 1, unchanged — only the starting `lo` and `hi` come from the doubling phase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payoff: exponential search adapts to WHERE the answer is, not just to how big the array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Clamping matters because `arr[bound]` would otherwise read past the array's real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complexity slide: the cost depends on the target's INDEX, not the array's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search alone would still need about 20 comparisons here — exponential search's advantage is largest exactly when the target is near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closes the "faster search on sorted data" family with a strategy that never divides or multiplies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a real, practical constraint on early computers — some had no hardware division instruction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Kiefer's original problem was finding the peak of a function using as few measurements as possible — the same math reused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ruler shrinks by exactly one Fibonacci step at a time, which is what replaces halving in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"Shrink by two steps" on an overshoot is what keeps the whole algorithm free of any multiplication or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 around the middle — watch the (fib, fib1, fib2) triple shrink after each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loop ends with fib1 == 1 — one element is left over and checked separately, then reported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while-loop above only runs once, before any comparisons — it just finds the starting Fibonacci triple for `n`.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here is `+` or `-` only — this is the concrete proof that no division or multiplication was ever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modern hardware division is cheap, so Fibonacci search is now mostly of historical and educational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"one element left over" case is exactly what this section's not-present edge case was built to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"short history" slide's motivation,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CPUs have fast hardware division, so this specific advantage has mostly disappeared — the algorithm survives as an elegant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is a short pause before hashing — a single table to compare everything Sections 2–5 just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"Needs" here is the extra assumption beyond "sorted" that each strategy relies on to beat plain binary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on both tables shares one requirement: the data must be sorted first — hashing, starting next, drops that requirement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strategies is ever the "wrong" choice — each is a specialist that wins only under its own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which strategy specifically does not require knowing `n` ahead of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precisely the "unbounded searching" framing from Bentley and Yao's original 1976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opens the second half of the week: instead of comparing values, compute exactly where a key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that single idea, "compute, don't compare", is the entire foundation of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Luhn also invented the separate, unrelated credit-card checksum that bears his name — a different, more famous invention by the same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addressing is the ideal case hashing is trying to approximate, once the key space is far bigger than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perfect hash function with zero collisions exists in theory, but in practice collisions are expected and must be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"mod" is the whole function — its simplicity is exactly why it is the natural first hash function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11 (prime), 12 assorted keys — watch most keys spread out, with only the occasional collision.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10, and every key is a multiple of 10 — k mod 10 is 0 for every single key: total collision, the worst possible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superstition — it follows directly from how the modulo operation interacts with a key's own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C, `key % m` can be negative when `key` is negative — the extra `+ m` fixes that before the final `% m`.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hash function's own cost is essentially free; every remaining slide this week is about what happens after two keys collide.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negative-key guard slide's `+ m` trick is a small detail that a surprising number of real bugs trace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remainders `key mod 8` can produce when `key` is always 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"shared factor" problem as the power-of-10 edge case, just with the factor 2 instead of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accepts that collisions are normal, then builds the first of two standard ways to survive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single right answer — the rest of today's lecture is two different, equally valid answers to this exact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Collisions never overwrite anything here — they simply grow a list, which is exactly Week 2's linked list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Insertion never has to search the chain first — the new node always goes straight to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7, 10 inserts, 4 searches — watch a bucket's chain grow, then get walked during a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3, 12 keys: load factor α = 4 — chains grow long, and searching now costs several probes on average, not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Week 2's "insert at head" linked-list operation, completely unchanged — only the bucket comes from a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`NULL` chain is handled for free here — the for-loop simply never runs, and the function returns false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factor is the single number that predicts, on average, how many nodes a search must walk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worst case is deliberately alarming — Section 10's rehashing exists specifically to prevent α from ever getting that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hash table with zero collisions ever is not a realistic design goal — managing them well is the actual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load factor formula from a few slides back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scenario is what Section 10's rehashing later fixes, by growing the table before α gets this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answers the collision question a second way: instead of a list outside the table, keep every key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this whole section is three different rules for where to look next, when a key's home cell is occupied.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rules answer exactly one question differently: "the home cell is taken — where do I look next?" The tombstone detail is explained fully in Section 9a.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simplest probing rule: if a cell is taken, just try the very next one, wrapping around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Those growing runs are exactly what the next slide's "primary clustering" describes.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11, 10 inserts, a search, and a delete — watch a probe sequence form, then get walked again during the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tombstone, this exact search would wrongly stop at the emptied cell and report "not found" — even though the key is still further along the probe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8, 8 keys collide into the same cell in sequence — the table fills exactly, and the next insert is correctly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`state[idx] != OCCUPIED` accepts both EMPTY and DELETED cells — reusing a tombstone's slot for a new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`DELETED`, never `EMPTY` — this one-word difference is what keeps every later search's probe chain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"Predictable" is the actual problem — every key that collides at the start of a run walks the exact same growing run to escape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addressing has no "extra" memory to fall back on — once the table is full, no key at all fits, unlike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mistakes still compiles and often "looks" correct on small test cases — that is exactly what makes them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tombstone edge-case animation's speaker note,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tombstone means "something was here, keep looking" — only a true EMPTY cell means "nothing was ever placed beyond this point".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Quadratic probing keeps every key inside the table too, but replaces linear probing's fixed step with a fast-growing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growing step is the whole fix for clustering — but that same growth is what can cause the new cycling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13 (prime), 10 keys — watch the i² jumps land on scattered cells instead of one growing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8, not prime — the i² sequence revisits the same few cells forever, even though free cells still exist elsewhere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`i*i` is the only real change from linear probing's code — the step now depends on `i`, not on a fixed 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linear probing, a bad m here can break correctness outright, not just slow things down — this condition is genuinely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animation's edge case flags a cycle explicitly, exactly so it is never confused with a table that is truly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"complexity, and why m matters" slide's last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scenario the quadratic-cycle edge-case animation demonstrated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 hashing keeps the same "probe inside the table" idea, but makes the step itself depend on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directly fixes linear probing's problem: two keys sharing a home cell now usually take completely different routes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 = 13, R = 11, 10 keys — watch two keys share a home cell, then follow visibly different probe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9, not prime — a key's step shares a common factor with m, so its probe sequence cycles without reaching every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`h2` is built so its result is always in `[1, r]` — never 0, since a step of 0 would reprobe the same cell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`step` is computed once per key, outside the loop — every collision for this key then reuses that same personal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composite m can let some keys' steps cycle, exactly like Section 9b — double hashing is not immune to the same underlying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step of exactly 0 is the single most dangerous bug here — it reprobes the very same occupied cell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each subsection's "why m matters" bullets, and compare how strict each condition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Quadratic and double hashing can outright fail to find a free cell on a bad m; linear probing degrades gracefully instead, just more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answers the question every collision-resolution technique this week has been dodging: what happens when the table gets too full?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should grow — but growing a hash table is not as simple as growing an array, because every key's index depends on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key's index depends on m through the mod operation — change m, and almost every key's correct index changes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Rehashing needs no new insertion logic at all — it just calls the ordinary insert() once per surviving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m0 = 6, 10 keys — watch α cross the threshold, a new prime-sized table appear, and every key's index get recomputed.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 = 2 is tiny — the threshold is crossed almost immediately, and a second rehash follows soon after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reasoning as Section 7's division method — the new table size still needs to be 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walks every OLD cell once, so this whole operation costs O(m) — expensive, but it happens rarely.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"Amortized" means the occasional expensive operation, averaged over many cheap ones, still comes out to a small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Rehashing on every insert would make EVERY insert cost O(n) — the whole point of a threshold is to make it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the new α after the insert, then compare it to the threshold, then apply next_prime(2*m).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normal-preset animation's scenario above, with the same m0 = 6 starting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is the practical payoff of the whole second half of the week: which technique should you actually reach for?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a genuine trade-off — neither column is simply "better" in every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ordering is also roughly the historical order these three techniques were developed in, each fixing the previous one's weak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hash table libraries (Java's HashMap, for instance) make exactly this kind of engineering trade-off explicitly, in their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practical rule of thumb slide's first two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deletions later become common, tombstones would need careful handling — chaining might then become the better trade-off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here still compares values — hashing, summarized next, is the one idea this week that mostly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collision families still share one number that predicts their speed: the load factor α = n/m.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with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O(sqrt(n)) bound from Section 2, applied to a bigger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3's division-by-zero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the all-equal edge-case animation in Section 3 was built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7's power-of-10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same fact matters even more strongly for quadratic and double hashing, from Section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9a's tombstone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real-world bug in open-addressing implementations, and exactly what the tombstone animation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7–8 are the exam-week project demo and quiz block; Week 9 then moves on to weighted graph algorithms, building on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Luhn, Kiefer, Bentley and Yao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Search and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95"/>
                <a:gridCol w="10132139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costs, jump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interpolation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5–6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Fibonacci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hashing idea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Division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9–10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chaining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11–12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probing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13–18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rehashing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19–20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913"/>
                <a:gridCol w="261262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Jump, interpolation, exponential, Fibonacci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Hashing, division method, prime table size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Collisions, chaining, load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Open addressing, rehashing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9–10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linear and binary search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Linear search:</a:t>
            </a:r>
            <a:r>
              <a:rPr sz="2000" b="0">
                <a:solidFill>
                  <a:srgbClr val="1F2D3A"/>
                </a:solidFill>
              </a:rPr>
              <a:t> check every cell, one by one — 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Binary search:</a:t>
            </a:r>
            <a:r>
              <a:rPr sz="2000" b="0">
                <a:solidFill>
                  <a:srgbClr val="1F2D3A"/>
                </a:solidFill>
              </a:rPr>
              <a:t> sorted array, halve the range —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needs the array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strategies between and beyond these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arrays and linked lists (Week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Array:</a:t>
            </a:r>
            <a:r>
              <a:rPr sz="2000" b="0">
                <a:solidFill>
                  <a:srgbClr val="1F2D3A"/>
                </a:solidFill>
              </a:rPr>
              <a:t> contiguous memory, O(1) access by index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Linked list:</a:t>
            </a:r>
            <a:r>
              <a:rPr sz="2000" b="0">
                <a:solidFill>
                  <a:srgbClr val="1F2D3A"/>
                </a:solidFill>
              </a:rPr>
              <a:t> nodes and pointers, O(1) insert at 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structures below build directly on both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table's bucket is often a small linked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2611"/>
                <a:gridCol w="5978923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Faster search (sorted)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Hashing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Jump, interpolation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Direct addressing, division 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Exponential, Fibonacci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Chaining, open addressing, rehashing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The Search Problem and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already takes only O(log n). Is there any reason to look for something even faster, or something completely different?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"search" means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Given a collection and a </a:t>
            </a:r>
            <a:r>
              <a:rPr sz="2000" b="1">
                <a:solidFill>
                  <a:srgbClr val="1F2D3A"/>
                </a:solidFill>
              </a:rPr>
              <a:t>target</a:t>
            </a:r>
            <a:r>
              <a:rPr sz="2000" b="0">
                <a:solidFill>
                  <a:srgbClr val="1F2D3A"/>
                </a:solidFill>
              </a:rPr>
              <a:t> key, find its location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 correctly report: the key is </a:t>
            </a:r>
            <a:r>
              <a:rPr sz="2000" b="1">
                <a:solidFill>
                  <a:srgbClr val="1F2D3A"/>
                </a:solidFill>
              </a:rPr>
              <a:t>not present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count </a:t>
            </a:r>
            <a:r>
              <a:rPr sz="2000" b="1">
                <a:solidFill>
                  <a:srgbClr val="1F2D3A"/>
                </a:solidFill>
              </a:rPr>
              <a:t>comparisons</a:t>
            </a:r>
            <a:r>
              <a:rPr sz="2000" b="0">
                <a:solidFill>
                  <a:srgbClr val="1F2D3A"/>
                </a:solidFill>
              </a:rPr>
              <a:t> (or </a:t>
            </a:r>
            <a:r>
              <a:rPr sz="2000" b="1">
                <a:solidFill>
                  <a:srgbClr val="1F2D3A"/>
                </a:solidFill>
              </a:rPr>
              <a:t>probes</a:t>
            </a:r>
            <a:r>
              <a:rPr sz="2000" b="0">
                <a:solidFill>
                  <a:srgbClr val="1F2D3A"/>
                </a:solidFill>
              </a:rPr>
              <a:t>) as the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Fewer comparisons for the same correctness = a better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Cost, restated as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Linear search: no assumption on the data, O(n)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search: needs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data, O(log n)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sorted data be searched even faster than O(log n)?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we search </a:t>
            </a:r>
            <a:r>
              <a:rPr sz="2000" b="1">
                <a:solidFill>
                  <a:srgbClr val="1F2D3A"/>
                </a:solidFill>
              </a:rPr>
              <a:t>without comparisons</a:t>
            </a:r>
            <a:r>
              <a:rPr sz="2000" b="0">
                <a:solidFill>
                  <a:srgbClr val="1F2D3A"/>
                </a:solidFill>
              </a:rPr>
              <a:t> at all?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When binary search isn't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always checks the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, no matter what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real data often has </a:t>
            </a:r>
            <a:r>
              <a:rPr sz="2000" b="1">
                <a:solidFill>
                  <a:srgbClr val="1F2D3A"/>
                </a:solidFill>
              </a:rPr>
              <a:t>structure</a:t>
            </a:r>
            <a:r>
              <a:rPr sz="2000" b="0">
                <a:solidFill>
                  <a:srgbClr val="1F2D3A"/>
                </a:solidFill>
              </a:rPr>
              <a:t> binary search ignores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Evenly spread values? A formula can guess better than "middle"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outside memory (disk, tape)? Every access has to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toolbox — five strategies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609"/>
                <a:gridCol w="700292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Exploits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Cheap block jumps beat many comparisons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Values are roughly evenly spread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Target is likely near the front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Fibonacci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division/multiplication needed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always looks at the array's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 element first. Under what condition might a smarter first guess do better?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When values are roughly evenly spread.</a:t>
            </a:r>
            <a:r>
              <a:rPr sz="2000" b="0">
                <a:solidFill>
                  <a:srgbClr val="1F2D3A"/>
                </a:solidFill>
              </a:rPr>
              <a:t> The middle is only "index-optimal" — a value-aware guess (Section 3) can land closer to the target.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Jump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jumps to the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 every time. What if jumping in </a:t>
            </a:r>
            <a:r>
              <a:rPr sz="2000" b="1">
                <a:solidFill>
                  <a:srgbClr val="1F2D3A"/>
                </a:solidFill>
              </a:rPr>
              <a:t>fixed-size blocks</a:t>
            </a:r>
            <a:r>
              <a:rPr sz="2000" b="0">
                <a:solidFill>
                  <a:srgbClr val="1F2D3A"/>
                </a:solidFill>
              </a:rPr>
              <a:t> instead turned out to be simpler, and still fast?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Block-style search appears in Knuth's *Sorting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Searching* (1973), as an alternative to binary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design choice: how big should each block be?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answer,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floor(sqrt(n))</a:t>
            </a:r>
            <a:r>
              <a:rPr sz="2000" b="0">
                <a:solidFill>
                  <a:srgbClr val="1F2D3A"/>
                </a:solidFill>
              </a:rPr>
              <a:t>, balances two costs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skipping pages in a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Flipping one page at a time to find a word: too slow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search: always split remaining pages in half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Jump search: flip </a:t>
            </a:r>
            <a:r>
              <a:rPr sz="2000" b="1">
                <a:solidFill>
                  <a:srgbClr val="1F2D3A"/>
                </a:solidFill>
              </a:rPr>
              <a:t>whole sections</a:t>
            </a:r>
            <a:r>
              <a:rPr sz="2000" b="0">
                <a:solidFill>
                  <a:srgbClr val="1F2D3A"/>
                </a:solidFill>
              </a:rPr>
              <a:t> first, then one page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the big jumps once you have passed the word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jump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floor(sqrt(n))</a:t>
            </a:r>
            <a:r>
              <a:rPr sz="2000" b="0">
                <a:solidFill>
                  <a:srgbClr val="1F2D3A"/>
                </a:solidFill>
              </a:rPr>
              <a:t>: the jump distance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Jump forward one block until a boundary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target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scan that one block </a:t>
            </a:r>
            <a:r>
              <a:rPr sz="2000" b="1">
                <a:solidFill>
                  <a:srgbClr val="1F2D3A"/>
                </a:solidFill>
              </a:rPr>
              <a:t>linearly</a:t>
            </a:r>
            <a:r>
              <a:rPr sz="2000" b="0">
                <a:solidFill>
                  <a:srgbClr val="1F2D3A"/>
                </a:solidFill>
              </a:rPr>
              <a:t>, left to right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sqrt(n)?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 jumps, then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</a:t>
            </a:r>
            <a:r>
              <a:rPr sz="2000" b="0">
                <a:solidFill>
                  <a:srgbClr val="1F2D3A"/>
                </a:solidFill>
              </a:rPr>
              <a:t> linear 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 cost: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 + block</a:t>
            </a:r>
            <a:r>
              <a:rPr sz="2000" b="0">
                <a:solidFill>
                  <a:srgbClr val="1F2D3A"/>
                </a:solidFill>
              </a:rPr>
              <a:t> comparisons,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sum is smallest when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sqrt(n)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</a:t>
            </a:r>
            <a:r>
              <a:rPr sz="2000" b="1">
                <a:solidFill>
                  <a:srgbClr val="1F2D3A"/>
                </a:solidFill>
              </a:rPr>
              <a:t>O(sqrt(n))</a:t>
            </a:r>
            <a:r>
              <a:rPr sz="2000" b="0">
                <a:solidFill>
                  <a:srgbClr val="1F2D3A"/>
                </a:solidFill>
              </a:rPr>
              <a:t> — between O(log n) and O(n)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Jump search, step by step</a:t>
            </a:r>
          </a:p>
        </p:txBody>
      </p:sp>
      <p:pic>
        <p:nvPicPr>
          <p:cNvPr id="7" name="Picture 6" descr="jump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710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in range but absent</a:t>
            </a:r>
          </a:p>
        </p:txBody>
      </p:sp>
      <p:pic>
        <p:nvPicPr>
          <p:cNvPr id="7" name="Picture 6" descr="jump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7104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finding the right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block = (int) sqrt((double)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(block &lt; 1) block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prev = 0, step = block, comp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(step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(arr[step - 1] &gt;=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prev = step;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step += block;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linear scan inside the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(step &gt; n) step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prev; i &lt; step;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== target)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&gt;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Block-finding phase: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 jumps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Linear-scan phase: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</a:t>
            </a:r>
            <a:r>
              <a:rPr sz="2000" b="0">
                <a:solidFill>
                  <a:srgbClr val="1F2D3A"/>
                </a:solidFill>
              </a:rPr>
              <a:t> comparisons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sqrt(n)</a:t>
            </a:r>
            <a:r>
              <a:rPr sz="2000" b="0">
                <a:solidFill>
                  <a:srgbClr val="1F2D3A"/>
                </a:solidFill>
              </a:rPr>
              <a:t>: total </a:t>
            </a:r>
            <a:r>
              <a:rPr sz="2000" b="1">
                <a:solidFill>
                  <a:srgbClr val="1F2D3A"/>
                </a:solidFill>
              </a:rPr>
              <a:t>O(sqrt(n))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Worse than binary search's O(log n), but simpler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array must be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fixed block size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sqrt(n)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Scanning past the block boundary instead of stopping there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100</a:t>
            </a:r>
            <a:r>
              <a:rPr sz="2000" b="0">
                <a:solidFill>
                  <a:srgbClr val="1F2D3A"/>
                </a:solidFill>
              </a:rPr>
              <a:t> elements. What block size does jump search use, and how many comparisons does it need in the worst case?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`block = 10`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sqrt(100)</a:t>
            </a:r>
            <a:r>
              <a:rPr sz="2000" b="0">
                <a:solidFill>
                  <a:srgbClr val="1F2D3A"/>
                </a:solidFill>
              </a:rPr>
              <a:t>). Worst case: about </a:t>
            </a:r>
            <a:r>
              <a:rPr sz="2000" b="0">
                <a:solidFill>
                  <a:srgbClr val="A1123F"/>
                </a:solidFill>
                <a:latin typeface="Consolas"/>
              </a:rPr>
              <a:t>10</a:t>
            </a:r>
            <a:r>
              <a:rPr sz="2000" b="0">
                <a:solidFill>
                  <a:srgbClr val="1F2D3A"/>
                </a:solidFill>
              </a:rPr>
              <a:t> jumps plus </a:t>
            </a:r>
            <a:r>
              <a:rPr sz="2000" b="0">
                <a:solidFill>
                  <a:srgbClr val="A1123F"/>
                </a:solidFill>
                <a:latin typeface="Consolas"/>
              </a:rPr>
              <a:t>10</a:t>
            </a:r>
            <a:r>
              <a:rPr sz="2000" b="0">
                <a:solidFill>
                  <a:srgbClr val="1F2D3A"/>
                </a:solidFill>
              </a:rPr>
              <a:t> linear steps — </a:t>
            </a:r>
            <a:r>
              <a:rPr sz="2000" b="1">
                <a:solidFill>
                  <a:srgbClr val="1F2D3A"/>
                </a:solidFill>
              </a:rPr>
              <a:t>~20</a:t>
            </a:r>
            <a:r>
              <a:rPr sz="2000" b="0">
                <a:solidFill>
                  <a:srgbClr val="1F2D3A"/>
                </a:solidFill>
              </a:rPr>
              <a:t> comparisons, far below linear search's </a:t>
            </a:r>
            <a:r>
              <a:rPr sz="2000" b="0">
                <a:solidFill>
                  <a:srgbClr val="A1123F"/>
                </a:solidFill>
                <a:latin typeface="Consolas"/>
              </a:rPr>
              <a:t>100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Interpolation Search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phone book is sorted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roughly evenly spread. Would you really start a search for "Smith" at the exact middle page?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idea appears in 1957, in early work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 ordered files (W. W. Peterson)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Later formalized and analyzed as </a:t>
            </a:r>
            <a:r>
              <a:rPr sz="2000" b="1">
                <a:solidFill>
                  <a:srgbClr val="1F2D3A"/>
                </a:solidFill>
              </a:rPr>
              <a:t>interpolation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on </a:t>
            </a:r>
            <a:r>
              <a:rPr sz="2000" b="1">
                <a:solidFill>
                  <a:srgbClr val="1F2D3A"/>
                </a:solidFill>
              </a:rPr>
              <a:t>uniform</a:t>
            </a:r>
            <a:r>
              <a:rPr sz="2000" b="0">
                <a:solidFill>
                  <a:srgbClr val="1F2D3A"/>
                </a:solidFill>
              </a:rPr>
              <a:t> data: close to O(log log 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phone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Looking for "Smith": jump close to the back, not the middle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Looking for "Baker": jump close to the front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jump uses the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, not just position, to guess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only ever uses position — it ignores values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interpolation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Estimate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target</a:t>
            </a:r>
            <a:r>
              <a:rPr sz="2000" b="0">
                <a:solidFill>
                  <a:srgbClr val="1F2D3A"/>
                </a:solidFill>
              </a:rPr>
              <a:t>'s position </a:t>
            </a:r>
            <a:r>
              <a:rPr sz="2000" b="1">
                <a:solidFill>
                  <a:srgbClr val="1F2D3A"/>
                </a:solidFill>
              </a:rPr>
              <a:t>proportionally</a:t>
            </a:r>
            <a:r>
              <a:rPr sz="2000" b="0">
                <a:solidFill>
                  <a:srgbClr val="1F2D3A"/>
                </a:solidFill>
              </a:rPr>
              <a:t> between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pos = lo + (target-arr[lo])*(hi-lo) / (arr[hi]-arr[lo])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Narrow </a:t>
            </a:r>
            <a:r>
              <a:rPr sz="2000" b="0">
                <a:solidFill>
                  <a:srgbClr val="A1123F"/>
                </a:solidFill>
                <a:latin typeface="Consolas"/>
              </a:rPr>
              <a:t>lo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hi</a:t>
            </a:r>
            <a:r>
              <a:rPr sz="2000" b="0">
                <a:solidFill>
                  <a:srgbClr val="1F2D3A"/>
                </a:solidFill>
              </a:rPr>
              <a:t> toward </a:t>
            </a:r>
            <a:r>
              <a:rPr sz="2000" b="0">
                <a:solidFill>
                  <a:srgbClr val="A1123F"/>
                </a:solidFill>
                <a:latin typeface="Consolas"/>
              </a:rPr>
              <a:t>pos</a:t>
            </a:r>
            <a:r>
              <a:rPr sz="2000" b="0">
                <a:solidFill>
                  <a:srgbClr val="1F2D3A"/>
                </a:solidFill>
              </a:rPr>
              <a:t>, exactly like binary 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Interpolation search, step by step</a:t>
            </a:r>
          </a:p>
        </p:txBody>
      </p:sp>
      <p:pic>
        <p:nvPicPr>
          <p:cNvPr id="7" name="Picture 6" descr="interpolation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guard against division by zero</a:t>
            </a:r>
          </a:p>
        </p:txBody>
      </p:sp>
      <p:pic>
        <p:nvPicPr>
          <p:cNvPr id="7" name="Picture 6" descr="interpolation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position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 &amp;&amp; target &gt;= arr[lo]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&amp;&amp; target &lt;= arr[hi])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(arr[hi] == arr[lo])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… guard: avoid division by zero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lo;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pos = lo + (int) ((double)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(target - arr[lo]) * (hi - lo)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 (arr[hi] - arr[lo]));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narrowing the 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(arr[pos] == target) return pos;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(arr[pos] &lt; target) lo = pos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hi = pos - 1;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Uniform data: close to </a:t>
            </a:r>
            <a:r>
              <a:rPr sz="2000" b="1">
                <a:solidFill>
                  <a:srgbClr val="1F2D3A"/>
                </a:solidFill>
              </a:rPr>
              <a:t>O(log log n)</a:t>
            </a:r>
            <a:r>
              <a:rPr sz="2000" b="0">
                <a:solidFill>
                  <a:srgbClr val="1F2D3A"/>
                </a:solidFill>
              </a:rPr>
              <a:t> on average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Skewed data (one huge outlier): degrades toward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is never better than binary search's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formula's power depends entirely on the data's shape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arr[hi] == arr[lo]</a:t>
            </a:r>
            <a:r>
              <a:rPr sz="2000" b="0">
                <a:solidFill>
                  <a:srgbClr val="1F2D3A"/>
                </a:solidFill>
              </a:rPr>
              <a:t> division guard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interpolation search on </a:t>
            </a:r>
            <a:r>
              <a:rPr sz="2000" b="1">
                <a:solidFill>
                  <a:srgbClr val="1F2D3A"/>
                </a:solidFill>
              </a:rPr>
              <a:t>skewed</a:t>
            </a:r>
            <a:r>
              <a:rPr sz="2000" b="0">
                <a:solidFill>
                  <a:srgbClr val="1F2D3A"/>
                </a:solidFill>
              </a:rPr>
              <a:t> (non-uniform)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O(log log n) is a worst-case guarantee — it isn't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array's values are extremely </a:t>
            </a:r>
            <a:r>
              <a:rPr sz="2000" b="1">
                <a:solidFill>
                  <a:srgbClr val="1F2D3A"/>
                </a:solidFill>
              </a:rPr>
              <a:t>skewed</a:t>
            </a:r>
            <a:r>
              <a:rPr sz="2000" b="0">
                <a:solidFill>
                  <a:srgbClr val="1F2D3A"/>
                </a:solidFill>
              </a:rPr>
              <a:t> — mostly small, one huge outlier at the end. Is interpolation search still a good choice?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No, not necessarily.</a:t>
            </a:r>
            <a:r>
              <a:rPr sz="2000" b="0">
                <a:solidFill>
                  <a:srgbClr val="1F2D3A"/>
                </a:solidFill>
              </a:rPr>
              <a:t> Skewed data can push interpolation search's cost toward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plain binary search's O(log n) becomes the safer choice.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Exponential Search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are searching a huge,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stream of data, and you do not know its length. Where could binary search even start?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1976</a:t>
            </a:r>
            <a:r>
              <a:rPr sz="2000" b="0">
                <a:solidFill>
                  <a:srgbClr val="1F2D3A"/>
                </a:solidFill>
              </a:rPr>
              <a:t> — Jon Bentley and Andrew Yao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"An almost optimal algorithm for unbounded searching"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called </a:t>
            </a:r>
            <a:r>
              <a:rPr sz="2000" b="1">
                <a:solidFill>
                  <a:srgbClr val="1F2D3A"/>
                </a:solidFill>
              </a:rPr>
              <a:t>unbounded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galloping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today inside several merge and set-intersection algorithms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searching an unbounded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known end? Grow a </a:t>
            </a:r>
            <a:r>
              <a:rPr sz="2000" b="1">
                <a:solidFill>
                  <a:srgbClr val="1F2D3A"/>
                </a:solidFill>
              </a:rPr>
              <a:t>guess</a:t>
            </a:r>
            <a:r>
              <a:rPr sz="2000" b="0">
                <a:solidFill>
                  <a:srgbClr val="1F2D3A"/>
                </a:solidFill>
              </a:rPr>
              <a:t> at the end instead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index 1, then 2, then 4, then 8, then 16,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doubling once you have clearly gone too far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Now a normal, </a:t>
            </a:r>
            <a:r>
              <a:rPr sz="2000" b="1">
                <a:solidFill>
                  <a:srgbClr val="1F2D3A"/>
                </a:solidFill>
              </a:rPr>
              <a:t>bounded</a:t>
            </a:r>
            <a:r>
              <a:rPr sz="2000" b="0">
                <a:solidFill>
                  <a:srgbClr val="1F2D3A"/>
                </a:solidFill>
              </a:rPr>
              <a:t> binary search finishes the job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exponential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arr[0]</a:t>
            </a:r>
            <a:r>
              <a:rPr sz="2000" b="0">
                <a:solidFill>
                  <a:srgbClr val="1F2D3A"/>
                </a:solidFill>
              </a:rPr>
              <a:t> first — the target might be right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</a:t>
            </a:r>
            <a:r>
              <a:rPr sz="2000" b="0">
                <a:solidFill>
                  <a:srgbClr val="1F2D3A"/>
                </a:solidFill>
              </a:rPr>
              <a:t>: 1, 2, 4, 8, … until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arr[bound] &gt;= target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ordinary </a:t>
            </a:r>
            <a:r>
              <a:rPr sz="2000" b="1">
                <a:solidFill>
                  <a:srgbClr val="1F2D3A"/>
                </a:solidFill>
              </a:rPr>
              <a:t>binary search</a:t>
            </a:r>
            <a:r>
              <a:rPr sz="2000" b="0">
                <a:solidFill>
                  <a:srgbClr val="1F2D3A"/>
                </a:solidFill>
              </a:rPr>
              <a:t>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[bound/2, bound]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same as every strategy so far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Exponential search, step by step</a:t>
            </a:r>
          </a:p>
        </p:txBody>
      </p:sp>
      <p:pic>
        <p:nvPicPr>
          <p:cNvPr id="7" name="Picture 6" descr="exponential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beyond the last value</a:t>
            </a:r>
          </a:p>
        </p:txBody>
      </p:sp>
      <p:pic>
        <p:nvPicPr>
          <p:cNvPr id="7" name="Picture 6" descr="exponential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growing the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comp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(arr[0] == target)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bound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(bound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(arr[bound] &gt;= target)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bound *=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binary search inside the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lo = bound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hi = (bound &lt; n) ? bound : n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(arr[mid] == target) return mid;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(arr[mid] &lt; target) lo = mid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hi = mid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Bound-finding phase: </a:t>
            </a:r>
            <a:r>
              <a:rPr sz="2000" b="1">
                <a:solidFill>
                  <a:srgbClr val="1F2D3A"/>
                </a:solidFill>
              </a:rPr>
              <a:t>O(log index)</a:t>
            </a:r>
            <a:r>
              <a:rPr sz="2000" b="0">
                <a:solidFill>
                  <a:srgbClr val="1F2D3A"/>
                </a:solidFill>
              </a:rPr>
              <a:t>, where </a:t>
            </a:r>
            <a:r>
              <a:rPr sz="2000" b="0">
                <a:solidFill>
                  <a:srgbClr val="A1123F"/>
                </a:solidFill>
                <a:latin typeface="Consolas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where the target actually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search phase: </a:t>
            </a:r>
            <a:r>
              <a:rPr sz="2000" b="1">
                <a:solidFill>
                  <a:srgbClr val="1F2D3A"/>
                </a:solidFill>
              </a:rPr>
              <a:t>O(log(bound))</a:t>
            </a:r>
            <a:r>
              <a:rPr sz="2000" b="0">
                <a:solidFill>
                  <a:srgbClr val="1F2D3A"/>
                </a:solidFill>
              </a:rPr>
              <a:t>, so O(log index)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O(log index)</a:t>
            </a:r>
            <a:r>
              <a:rPr sz="2000" b="0">
                <a:solidFill>
                  <a:srgbClr val="1F2D3A"/>
                </a:solidFill>
              </a:rPr>
              <a:t> — much better than O(log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the target is near the front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clamp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near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Restarting binary search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bound]</a:t>
            </a:r>
            <a:r>
              <a:rPr sz="2000" b="0">
                <a:solidFill>
                  <a:srgbClr val="1F2D3A"/>
                </a:solidFill>
              </a:rPr>
              <a:t> instead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[bound/2, bound]</a:t>
            </a:r>
            <a:r>
              <a:rPr sz="2000" b="0">
                <a:solidFill>
                  <a:srgbClr val="1F2D3A"/>
                </a:solidFill>
              </a:rPr>
              <a:t> — wastes the doubling phase's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this needs a known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— it explicitly does not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has one million elements, but the target sits at 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3</a:t>
            </a:r>
            <a:r>
              <a:rPr sz="2000" b="0">
                <a:solidFill>
                  <a:srgbClr val="1F2D3A"/>
                </a:solidFill>
              </a:rPr>
              <a:t>. Roughly how many comparisons does exponential search need?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Only a handful</a:t>
            </a:r>
            <a:r>
              <a:rPr sz="2000" b="0">
                <a:solidFill>
                  <a:srgbClr val="1F2D3A"/>
                </a:solidFill>
              </a:rPr>
              <a:t> — about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log2(3) + 1 ≈ 3</a:t>
            </a:r>
            <a:r>
              <a:rPr sz="2000" b="0">
                <a:solidFill>
                  <a:srgbClr val="1F2D3A"/>
                </a:solidFill>
              </a:rPr>
              <a:t> comparisons total, regardless of the array holding a million elements.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Fibonacci Search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strategy so far divides: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n/block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(hi-lo)/2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bound/2</a:t>
            </a:r>
            <a:r>
              <a:rPr sz="2000" b="0">
                <a:solidFill>
                  <a:srgbClr val="1F2D3A"/>
                </a:solidFill>
              </a:rPr>
              <a:t>. What if the hardware running your program could not divide cheaply?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1953</a:t>
            </a:r>
            <a:r>
              <a:rPr sz="2000" b="0">
                <a:solidFill>
                  <a:srgbClr val="1F2D3A"/>
                </a:solidFill>
              </a:rPr>
              <a:t> — Jack Kiefer's Fibonacci search </a:t>
            </a:r>
            <a:r>
              <a:rPr sz="2000" b="1">
                <a:solidFill>
                  <a:srgbClr val="1F2D3A"/>
                </a:solidFill>
              </a:rPr>
              <a:t>technique</a:t>
            </a:r>
            <a:r>
              <a:rPr sz="2000" b="0">
                <a:solidFill>
                  <a:srgbClr val="1F2D3A"/>
                </a:solidFill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first developed for optimization, not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Adapted to array search soon after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Uses only </a:t>
            </a:r>
            <a:r>
              <a:rPr sz="2000" b="1">
                <a:solidFill>
                  <a:srgbClr val="1F2D3A"/>
                </a:solidFill>
              </a:rPr>
              <a:t>addition and subtraction</a:t>
            </a:r>
            <a:r>
              <a:rPr sz="2000" b="0">
                <a:solidFill>
                  <a:srgbClr val="1F2D3A"/>
                </a:solidFill>
              </a:rPr>
              <a:t> —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/</a:t>
            </a:r>
            <a:r>
              <a:rPr sz="2000" b="0">
                <a:solidFill>
                  <a:srgbClr val="1F2D3A"/>
                </a:solidFill>
              </a:rPr>
              <a:t>,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Fibonacci numbers as a ruler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Fibonacci numbers: 1, 1, 2, 3, 5, 8, 13, 21,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one is the sum of the two before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the smallest Fibonacci number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n</a:t>
            </a:r>
            <a:r>
              <a:rPr sz="2000" b="0">
                <a:solidFill>
                  <a:srgbClr val="1F2D3A"/>
                </a:solidFill>
              </a:rPr>
              <a:t> as a "ruler"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 the range using that ruler, not by dividing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Fibonacci search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a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array, exactly like binary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Track a triple </a:t>
            </a:r>
            <a:r>
              <a:rPr sz="2000" b="0">
                <a:solidFill>
                  <a:srgbClr val="A1123F"/>
                </a:solidFill>
                <a:latin typeface="Consolas"/>
              </a:rPr>
              <a:t>(fib, fib1, fib2)</a:t>
            </a:r>
            <a:r>
              <a:rPr sz="2000" b="0">
                <a:solidFill>
                  <a:srgbClr val="1F2D3A"/>
                </a:solidFill>
              </a:rPr>
              <a:t>, one Fibonacci step apart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Probe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+ fib2</a:t>
            </a:r>
            <a:r>
              <a:rPr sz="2000" b="0">
                <a:solidFill>
                  <a:srgbClr val="1F2D3A"/>
                </a:solidFill>
              </a:rPr>
              <a:t>; compare, then shrink the triple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 target</a:t>
            </a:r>
            <a:r>
              <a:rPr sz="2000" b="0">
                <a:solidFill>
                  <a:srgbClr val="1F2D3A"/>
                </a:solidFill>
              </a:rPr>
              <a:t>: shrink by one step;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 target</a:t>
            </a:r>
            <a:r>
              <a:rPr sz="2000" b="0">
                <a:solidFill>
                  <a:srgbClr val="1F2D3A"/>
                </a:solidFill>
              </a:rPr>
              <a:t>: shrink by two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Fibonacci search, step by step</a:t>
            </a:r>
          </a:p>
        </p:txBody>
      </p:sp>
      <p:pic>
        <p:nvPicPr>
          <p:cNvPr id="7" name="Picture 6" descr="fibonacci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in range but absent</a:t>
            </a:r>
          </a:p>
        </p:txBody>
      </p:sp>
      <p:pic>
        <p:nvPicPr>
          <p:cNvPr id="7" name="Picture 6" descr="fibonacci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Fibonacci triple and probe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fib2=0, fib1=1, fib=fib1+fib2;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(fib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fib2=fib1; fib1=fib; fib=fib1+fib2;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offset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(fib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(offset+fib2 &lt; n-1)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? offset+fib2 : n-1;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shrinking the triple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(arr[i] &lt;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fib=fib1; fib1=fib2; fib2=fib-fib1;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offset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if (arr[i] &gt;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fib=fib2; fib1=fib1-fib2; fib2=fib-fib1;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order as binary search: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Slightly more comparisons in practice, on average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real advantage: </a:t>
            </a:r>
            <a:r>
              <a:rPr sz="2000" b="1">
                <a:solidFill>
                  <a:srgbClr val="1F2D3A"/>
                </a:solidFill>
              </a:rPr>
              <a:t>no division or multiplication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Historically valuable on hardware without fast division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leftover single-element check at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Computing the Fibonacci triple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main loop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it beats binary search's O(log n) — it does not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might Fibonacci search have mattered more in the 1950s and 1960s than it does on today's hardware?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Division was expensive, or unavailable, on early hardware.</a:t>
            </a:r>
            <a:r>
              <a:rPr sz="2000" b="0">
                <a:solidFill>
                  <a:srgbClr val="1F2D3A"/>
                </a:solidFill>
              </a:rPr>
              <a:t> Fibonacci search's pure addition/subtraction avoided that cost entirely.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Comparing the Five Search Strategies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what each one needs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3455319"/>
                <a:gridCol w="290974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O(sqrt(n))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Sorted, uniform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index)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Fibonacci and the recap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2909742"/>
                <a:gridCol w="236416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Fibonacci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search (Week 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Sorted array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Linear search (Week 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When to use which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roughly uniform? </a:t>
            </a:r>
            <a:r>
              <a:rPr sz="2000" b="1">
                <a:solidFill>
                  <a:srgbClr val="1F2D3A"/>
                </a:solidFill>
              </a:rPr>
              <a:t>Interpolation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Target usually near the front?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code, no division available? </a:t>
            </a:r>
            <a:r>
              <a:rPr sz="2000" b="1">
                <a:solidFill>
                  <a:srgbClr val="1F2D3A"/>
                </a:solidFill>
              </a:rPr>
              <a:t>Jump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Fibonacci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special structure? Plain </a:t>
            </a:r>
            <a:r>
              <a:rPr sz="2000" b="1">
                <a:solidFill>
                  <a:srgbClr val="1F2D3A"/>
                </a:solidFill>
              </a:rPr>
              <a:t>binary search</a:t>
            </a:r>
            <a:r>
              <a:rPr sz="2000" b="0">
                <a:solidFill>
                  <a:srgbClr val="1F2D3A"/>
                </a:solidFill>
              </a:rPr>
              <a:t> is enough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sorted log file grows constantly, so its length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is never known in advance. Which of today's strategies fits best, and why?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Exponential search.</a:t>
            </a:r>
            <a:r>
              <a:rPr sz="2000" b="0">
                <a:solidFill>
                  <a:srgbClr val="1F2D3A"/>
                </a:solidFill>
              </a:rPr>
              <a:t> It only grows a bound until it overshoots — it never 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known in advance, unlike binary search.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Hashing: From Direct Addressing to Hash Functions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search so far </a:t>
            </a:r>
            <a:r>
              <a:rPr sz="2000" b="1">
                <a:solidFill>
                  <a:srgbClr val="1F2D3A"/>
                </a:solidFill>
              </a:rPr>
              <a:t>compares</a:t>
            </a:r>
            <a:r>
              <a:rPr sz="2000" b="0">
                <a:solidFill>
                  <a:srgbClr val="1F2D3A"/>
                </a:solidFill>
              </a:rPr>
              <a:t> values, again and again. Could we instead </a:t>
            </a:r>
            <a:r>
              <a:rPr sz="2000" b="1">
                <a:solidFill>
                  <a:srgbClr val="1F2D3A"/>
                </a:solidFill>
              </a:rPr>
              <a:t>compute</a:t>
            </a:r>
            <a:r>
              <a:rPr sz="2000" b="0">
                <a:solidFill>
                  <a:srgbClr val="1F2D3A"/>
                </a:solidFill>
              </a:rPr>
              <a:t> a key's location directly, in one step?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1953</a:t>
            </a:r>
            <a:r>
              <a:rPr sz="2000" b="0">
                <a:solidFill>
                  <a:srgbClr val="1F2D3A"/>
                </a:solidFill>
              </a:rPr>
              <a:t> — Hans Peter Luhn, at IBM, proposes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computed function to place records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internal memo is widely credited as hashing's origin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idea: turn a </a:t>
            </a:r>
            <a:r>
              <a:rPr sz="2000" b="1">
                <a:solidFill>
                  <a:srgbClr val="1F2D3A"/>
                </a:solidFill>
              </a:rPr>
              <a:t>key</a:t>
            </a:r>
            <a:r>
              <a:rPr sz="2000" b="0">
                <a:solidFill>
                  <a:srgbClr val="1F2D3A"/>
                </a:solidFill>
              </a:rPr>
              <a:t> into a </a:t>
            </a:r>
            <a:r>
              <a:rPr sz="2000" b="1">
                <a:solidFill>
                  <a:srgbClr val="1F2D3A"/>
                </a:solidFill>
              </a:rPr>
              <a:t>table index</a:t>
            </a:r>
            <a:r>
              <a:rPr sz="2000" b="0">
                <a:solidFill>
                  <a:srgbClr val="1F2D3A"/>
                </a:solidFill>
              </a:rPr>
              <a:t>, by formula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direct addressing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Keys are small integers,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  <a:r>
              <a:rPr sz="2000" b="0">
                <a:solidFill>
                  <a:srgbClr val="1F2D3A"/>
                </a:solidFill>
              </a:rPr>
              <a:t>? Just use the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itself as the array index — O(1), no computing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table[key] = value</a:t>
            </a:r>
            <a:r>
              <a:rPr sz="2000" b="0">
                <a:solidFill>
                  <a:srgbClr val="1F2D3A"/>
                </a:solidFill>
              </a:rPr>
              <a:t> — direct addressing, no hash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Problem: real keys rarely fit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  <a:r>
              <a:rPr sz="2000" b="0">
                <a:solidFill>
                  <a:srgbClr val="1F2D3A"/>
                </a:solidFill>
              </a:rPr>
              <a:t> neatly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Student IDs, phone numbers: far too many possible values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hash function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 maps any key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= the table size; </a:t>
            </a:r>
            <a:r>
              <a:rPr sz="2000" b="0">
                <a:solidFill>
                  <a:srgbClr val="A1123F"/>
                </a:solidFill>
                <a:latin typeface="Consolas"/>
              </a:rPr>
              <a:t>h</a:t>
            </a:r>
            <a:r>
              <a:rPr sz="2000" b="0">
                <a:solidFill>
                  <a:srgbClr val="1F2D3A"/>
                </a:solidFill>
              </a:rPr>
              <a:t> must be fast, ideally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different keys landing on the same index: a </a:t>
            </a:r>
            <a:r>
              <a:rPr sz="2000" b="1">
                <a:solidFill>
                  <a:srgbClr val="1F2D3A"/>
                </a:solidFill>
              </a:rPr>
              <a:t>collision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8–10 build the machinery to handle collisions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division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Simplest common hash function: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Maps any integer key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m-1]</a:t>
            </a:r>
            <a:r>
              <a:rPr sz="2000" b="0">
                <a:solidFill>
                  <a:srgbClr val="1F2D3A"/>
                </a:solidFill>
              </a:rPr>
              <a:t> — always, in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choice of m</a:t>
            </a:r>
            <a:r>
              <a:rPr sz="2000" b="0">
                <a:solidFill>
                  <a:srgbClr val="1F2D3A"/>
                </a:solidFill>
              </a:rPr>
              <a:t> changes how well keys spread 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careless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can make many keys collide on purpose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Division method, step by step</a:t>
            </a:r>
          </a:p>
        </p:txBody>
      </p:sp>
      <p:pic>
        <p:nvPicPr>
          <p:cNvPr id="7" name="Picture 6" descr="hash-function-divis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0261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 a power of 10: disaster</a:t>
            </a:r>
          </a:p>
        </p:txBody>
      </p:sp>
      <p:pic>
        <p:nvPicPr>
          <p:cNvPr id="7" name="Picture 6" descr="hash-function-divis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0261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prime 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Keys sharing a </a:t>
            </a:r>
            <a:r>
              <a:rPr sz="2000" b="1">
                <a:solidFill>
                  <a:srgbClr val="1F2D3A"/>
                </a:solidFill>
              </a:rPr>
              <a:t>common factor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collide badly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 power of 10, keys multiples of 10: total collapse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shares no factor with most key patterns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 of thumb: pick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prime, avoid powers of 2 or 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division hash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+ m) % m guards negative keys in C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hash_division(int key, int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((key % m) + m)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  <a:r>
              <a:rPr sz="2000" b="0">
                <a:solidFill>
                  <a:srgbClr val="1F2D3A"/>
                </a:solidFill>
              </a:rPr>
              <a:t>: one division —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always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O(1) cost is what makes hashing attractive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cost of a hash table lives in </a:t>
            </a:r>
            <a:r>
              <a:rPr sz="2000" b="1">
                <a:solidFill>
                  <a:srgbClr val="1F2D3A"/>
                </a:solidFill>
              </a:rPr>
              <a:t>collisions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8–10 are entirely about managing that cost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as a power of 2 or 10 out of convenience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negative-key guard in languages like C or 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O(1) always holds, even with many collisions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m = 8</a:t>
            </a:r>
            <a:r>
              <a:rPr sz="2000" b="0">
                <a:solidFill>
                  <a:srgbClr val="1F2D3A"/>
                </a:solidFill>
              </a:rPr>
              <a:t> and every key in a dataset happens to be </a:t>
            </a:r>
            <a:r>
              <a:rPr sz="2000" b="1">
                <a:solidFill>
                  <a:srgbClr val="1F2D3A"/>
                </a:solidFill>
              </a:rPr>
              <a:t>even</a:t>
            </a:r>
            <a:r>
              <a:rPr sz="2000" b="0">
                <a:solidFill>
                  <a:srgbClr val="1F2D3A"/>
                </a:solidFill>
              </a:rPr>
              <a:t>. What fraction of the table's cells can ever be used?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At most half.</a:t>
            </a:r>
            <a:r>
              <a:rPr sz="2000" b="0">
                <a:solidFill>
                  <a:srgbClr val="1F2D3A"/>
                </a:solidFill>
              </a:rPr>
              <a:t> An even key mod 8 can only land on an even index (0, 2, 4, 6) — the odd-indexed cells are never reachable at all.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Collisions and Separate Chaining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different keys hash to the same index. The table has only one cell there. Where does the second key go?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shared mailbox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students share the same mailbox number by chance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Solution: hang a </a:t>
            </a:r>
            <a:r>
              <a:rPr sz="2000" b="1">
                <a:solidFill>
                  <a:srgbClr val="1F2D3A"/>
                </a:solidFill>
              </a:rPr>
              <a:t>small list</a:t>
            </a:r>
            <a:r>
              <a:rPr sz="2000" b="0">
                <a:solidFill>
                  <a:srgbClr val="1F2D3A"/>
                </a:solidFill>
              </a:rPr>
              <a:t> off that one mailbox slot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Any number of keys can share one slot, one after another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</a:t>
            </a:r>
            <a:r>
              <a:rPr sz="2000" b="1">
                <a:solidFill>
                  <a:srgbClr val="1F2D3A"/>
                </a:solidFill>
              </a:rPr>
              <a:t>separate chaining</a:t>
            </a:r>
            <a:r>
              <a:rPr sz="2000" b="0">
                <a:solidFill>
                  <a:srgbClr val="1F2D3A"/>
                </a:solidFill>
              </a:rPr>
              <a:t>: a linked list per bucket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chaining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Table cell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holds the </a:t>
            </a:r>
            <a:r>
              <a:rPr sz="2000" b="1">
                <a:solidFill>
                  <a:srgbClr val="1F2D3A"/>
                </a:solidFill>
              </a:rPr>
              <a:t>head</a:t>
            </a:r>
            <a:r>
              <a:rPr sz="2000" b="0">
                <a:solidFill>
                  <a:srgbClr val="1F2D3A"/>
                </a:solidFill>
              </a:rPr>
              <a:t> of a linked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new node becomes the list's </a:t>
            </a:r>
            <a:r>
              <a:rPr sz="2000" b="1">
                <a:solidFill>
                  <a:srgbClr val="1F2D3A"/>
                </a:solidFill>
              </a:rPr>
              <a:t>head</a:t>
            </a:r>
            <a:r>
              <a:rPr sz="2000" b="0">
                <a:solidFill>
                  <a:srgbClr val="1F2D3A"/>
                </a:solidFill>
              </a:rPr>
              <a:t> —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Search: walk the list, comparing each key — O(chain length)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Empty chain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): the key is certainly not present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Separate chaining, step by step</a:t>
            </a:r>
          </a:p>
        </p:txBody>
      </p:sp>
      <p:pic>
        <p:nvPicPr>
          <p:cNvPr id="7" name="Picture 6" descr="hash-chain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63" y="1325880"/>
            <a:ext cx="96341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heavily loaded table</a:t>
            </a:r>
          </a:p>
        </p:txBody>
      </p:sp>
      <p:pic>
        <p:nvPicPr>
          <p:cNvPr id="7" name="Picture 6" descr="hash-chain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63" y="1325880"/>
            <a:ext cx="96341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(head of the chain)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n-&gt;key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table[idx];  /* new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table[idx]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search (walk the chain)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search(int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 = table[idx];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c = c-&gt;next)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(c-&gt;key == key)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Load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n / m</a:t>
            </a:r>
            <a:r>
              <a:rPr sz="2000" b="0">
                <a:solidFill>
                  <a:srgbClr val="1F2D3A"/>
                </a:solidFill>
              </a:rPr>
              <a:t> — keys stored, divided by table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0.5</a:t>
            </a:r>
            <a:r>
              <a:rPr sz="2000" b="0">
                <a:solidFill>
                  <a:srgbClr val="1F2D3A"/>
                </a:solidFill>
              </a:rPr>
              <a:t>: chains average length 0.5 — nearly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4</a:t>
            </a:r>
            <a:r>
              <a:rPr sz="2000" b="0">
                <a:solidFill>
                  <a:srgbClr val="1F2D3A"/>
                </a:solidFill>
              </a:rPr>
              <a:t>: chains average length 4 — real cost, not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table's </a:t>
            </a:r>
            <a:r>
              <a:rPr sz="2000" b="1">
                <a:solidFill>
                  <a:srgbClr val="1F2D3A"/>
                </a:solidFill>
              </a:rPr>
              <a:t>speed</a:t>
            </a:r>
            <a:r>
              <a:rPr sz="2000" b="0">
                <a:solidFill>
                  <a:srgbClr val="1F2D3A"/>
                </a:solidFill>
              </a:rPr>
              <a:t> depends directly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always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straight to the chain's 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(average): </a:t>
            </a:r>
            <a:r>
              <a:rPr sz="2000" b="1">
                <a:solidFill>
                  <a:srgbClr val="1F2D3A"/>
                </a:solidFill>
              </a:rPr>
              <a:t>O(1 + α)</a:t>
            </a:r>
            <a:r>
              <a:rPr sz="2000" b="0">
                <a:solidFill>
                  <a:srgbClr val="1F2D3A"/>
                </a:solidFill>
              </a:rPr>
              <a:t> — one hash, plus the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Search (worst case):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every key in one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small is what keeps chaining fast in practice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grow unbounded without ever resizing the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an empty chain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) means "definitely absent"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"collision" with "error" — collisions are expected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table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5</a:t>
            </a:r>
            <a:r>
              <a:rPr sz="2000" b="0">
                <a:solidFill>
                  <a:srgbClr val="1F2D3A"/>
                </a:solidFill>
              </a:rPr>
              <a:t> buckets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20</a:t>
            </a:r>
            <a:r>
              <a:rPr sz="2000" b="0">
                <a:solidFill>
                  <a:srgbClr val="1F2D3A"/>
                </a:solidFill>
              </a:rPr>
              <a:t> keys, spread evenly by chaining. What is the load factor, and the average chain length?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α = 20 / 5 = 4.</a:t>
            </a:r>
            <a:r>
              <a:rPr sz="2000" b="0">
                <a:solidFill>
                  <a:srgbClr val="1F2D3A"/>
                </a:solidFill>
              </a:rPr>
              <a:t> On average, each chain holds about 4 keys — search costs roughly 4 comparisons, not O(1).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Open Addressing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Separate chaining needs extra memory for list nodes. Could every key instead live </a:t>
            </a:r>
            <a:r>
              <a:rPr sz="2000" b="1">
                <a:solidFill>
                  <a:srgbClr val="1F2D3A"/>
                </a:solidFill>
              </a:rPr>
              <a:t>directly inside</a:t>
            </a:r>
            <a:r>
              <a:rPr sz="2000" b="0">
                <a:solidFill>
                  <a:srgbClr val="1F2D3A"/>
                </a:solidFill>
              </a:rPr>
              <a:t> the table's own cells?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open addressing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lists: every key lives </a:t>
            </a:r>
            <a:r>
              <a:rPr sz="2000" b="1">
                <a:solidFill>
                  <a:srgbClr val="1F2D3A"/>
                </a:solidFill>
              </a:rPr>
              <a:t>in</a:t>
            </a:r>
            <a:r>
              <a:rPr sz="2000" b="0">
                <a:solidFill>
                  <a:srgbClr val="1F2D3A"/>
                </a:solidFill>
              </a:rPr>
              <a:t> the table array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? </a:t>
            </a:r>
            <a:r>
              <a:rPr sz="2000" b="1">
                <a:solidFill>
                  <a:srgbClr val="1F2D3A"/>
                </a:solidFill>
              </a:rPr>
              <a:t>Probe</a:t>
            </a:r>
            <a:r>
              <a:rPr sz="2000" b="0">
                <a:solidFill>
                  <a:srgbClr val="1F2D3A"/>
                </a:solidFill>
              </a:rPr>
              <a:t> a sequence of other cells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at the first </a:t>
            </a:r>
            <a:r>
              <a:rPr sz="2000" b="1">
                <a:solidFill>
                  <a:srgbClr val="1F2D3A"/>
                </a:solidFill>
              </a:rPr>
              <a:t>empty</a:t>
            </a:r>
            <a:r>
              <a:rPr sz="2000" b="0">
                <a:solidFill>
                  <a:srgbClr val="1F2D3A"/>
                </a:solidFill>
              </a:rPr>
              <a:t> cell — the key settles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needs a </a:t>
            </a:r>
            <a:r>
              <a:rPr sz="2000" b="1">
                <a:solidFill>
                  <a:srgbClr val="1F2D3A"/>
                </a:solidFill>
              </a:rPr>
              <a:t>tombstone</a:t>
            </a:r>
            <a:r>
              <a:rPr sz="2000" b="0">
                <a:solidFill>
                  <a:srgbClr val="1F2D3A"/>
                </a:solidFill>
              </a:rPr>
              <a:t> marker, not a true empty cell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probing rules follow: linear, quadratic, double hashing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9a. Linear Probing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linear probing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</a:t>
            </a:r>
            <a:r>
              <a:rPr sz="2000" b="0">
                <a:solidFill>
                  <a:srgbClr val="1F2D3A"/>
                </a:solidFill>
              </a:rPr>
              <a:t>? Try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h(key)+1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+2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+3</a:t>
            </a:r>
            <a:r>
              <a:rPr sz="2000" b="0">
                <a:solidFill>
                  <a:srgbClr val="1F2D3A"/>
                </a:solidFill>
              </a:rPr>
              <a:t>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around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m</a:t>
            </a:r>
            <a:r>
              <a:rPr sz="2000" b="0">
                <a:solidFill>
                  <a:srgbClr val="1F2D3A"/>
                </a:solidFill>
              </a:rPr>
              <a:t> when the index passes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at the first cell that is empty </a:t>
            </a:r>
            <a:r>
              <a:rPr sz="2000" b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deleted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to code, but keys tend to pile up in </a:t>
            </a:r>
            <a:r>
              <a:rPr sz="2000" b="1">
                <a:solidFill>
                  <a:srgbClr val="1F2D3A"/>
                </a:solidFill>
              </a:rPr>
              <a:t>runs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probing, step by step</a:t>
            </a:r>
          </a:p>
        </p:txBody>
      </p:sp>
      <p:pic>
        <p:nvPicPr>
          <p:cNvPr id="7" name="Picture 6" descr="hash-linear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search after a delete</a:t>
            </a:r>
          </a:p>
        </p:txBody>
      </p:sp>
      <p:pic>
        <p:nvPicPr>
          <p:cNvPr id="7" name="Picture 6" descr="hash-linear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table fills up</a:t>
            </a:r>
          </a:p>
        </p:txBody>
      </p:sp>
      <p:pic>
        <p:nvPicPr>
          <p:cNvPr id="7" name="Picture 6" descr="hash-linear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with linear probing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OCCUPIED;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idx = (idx + 1)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  /* table full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delete leaves a tombstone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delete_key(int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idx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== EMPTY)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(table[idx] ==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DELETED;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idx = (idx + 1)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Primary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Colliding keys always retrace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linear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Occupied runs grow, and growing runs attract more collisions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snowball effect is called </a:t>
            </a:r>
            <a:r>
              <a:rPr sz="2000" b="1">
                <a:solidFill>
                  <a:srgbClr val="1F2D3A"/>
                </a:solidFill>
              </a:rPr>
              <a:t>primary clustering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9b and 9c fix this with a less predictable step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search, low load factor: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approaches 1: clustering makes cost climb sharply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</a:t>
            </a:r>
            <a:r>
              <a:rPr sz="2000" b="1">
                <a:solidFill>
                  <a:srgbClr val="1F2D3A"/>
                </a:solidFill>
              </a:rPr>
              <a:t>O(m)</a:t>
            </a:r>
            <a:r>
              <a:rPr sz="2000" b="0">
                <a:solidFill>
                  <a:srgbClr val="1F2D3A"/>
                </a:solidFill>
              </a:rPr>
              <a:t> — scanning the whole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well below 1 matters even more than chaining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Clearing a deleted cell to EMPTY instead of DELETED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reach 1.0 — insertion then never terminates cleanly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search must also walk </a:t>
            </a:r>
            <a:r>
              <a:rPr sz="2000" b="1">
                <a:solidFill>
                  <a:srgbClr val="1F2D3A"/>
                </a:solidFill>
              </a:rPr>
              <a:t>past</a:t>
            </a:r>
            <a:r>
              <a:rPr sz="2000" b="0">
                <a:solidFill>
                  <a:srgbClr val="1F2D3A"/>
                </a:solidFill>
              </a:rPr>
              <a:t> DELETED cells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key is deleted, leaving a tombstone. A later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search()</a:t>
            </a:r>
            <a:r>
              <a:rPr sz="2000" b="0">
                <a:solidFill>
                  <a:srgbClr val="1F2D3A"/>
                </a:solidFill>
              </a:rPr>
              <a:t> walks past that cell without stopping. Why is that the correct behavior?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Because a key placed after the deleted one may have probed right past it.</a:t>
            </a:r>
            <a:r>
              <a:rPr sz="2000" b="0">
                <a:solidFill>
                  <a:srgbClr val="1F2D3A"/>
                </a:solidFill>
              </a:rPr>
              <a:t> Stopping at a tombstone would wrongly report it as absent.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9b. Quadratic Probing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quadratic probing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</a:t>
            </a:r>
            <a:r>
              <a:rPr sz="2000" b="0">
                <a:solidFill>
                  <a:srgbClr val="1F2D3A"/>
                </a:solidFill>
              </a:rPr>
              <a:t>? Try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 + 1²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home + 2²</a:t>
            </a:r>
            <a:r>
              <a:rPr sz="2000" b="0">
                <a:solidFill>
                  <a:srgbClr val="1F2D3A"/>
                </a:solidFill>
              </a:rPr>
              <a:t>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Step size grows fast: 1, 4, 9, 16, … instead of 1, 1, 1,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Spreads colliding keys apart — reduces primary clustering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trap: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  <a:r>
              <a:rPr sz="2000" b="0">
                <a:solidFill>
                  <a:srgbClr val="1F2D3A"/>
                </a:solidFill>
              </a:rPr>
              <a:t> sequence can </a:t>
            </a:r>
            <a:r>
              <a:rPr sz="2000" b="1">
                <a:solidFill>
                  <a:srgbClr val="1F2D3A"/>
                </a:solidFill>
              </a:rPr>
              <a:t>cycle</a:t>
            </a:r>
            <a:r>
              <a:rPr sz="2000" b="0">
                <a:solidFill>
                  <a:srgbClr val="1F2D3A"/>
                </a:solidFill>
              </a:rPr>
              <a:t> without success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Quadratic probing, step by step</a:t>
            </a:r>
          </a:p>
        </p:txBody>
      </p:sp>
      <p:pic>
        <p:nvPicPr>
          <p:cNvPr id="7" name="Picture 6" descr="hash-quadratic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2466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 a power of 2: a cycle</a:t>
            </a:r>
          </a:p>
        </p:txBody>
      </p:sp>
      <p:pic>
        <p:nvPicPr>
          <p:cNvPr id="7" name="Picture 6" descr="hash-quadratic-prob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2466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with quadratic probing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insert(int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home =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idx = (home + i*i)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state[idx] = OCCUPIED;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Complexity, and why 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search, low load factor: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Less clustering than linear probing at the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&lt;= 0.5</a:t>
            </a:r>
            <a:r>
              <a:rPr sz="2000" b="0">
                <a:solidFill>
                  <a:srgbClr val="1F2D3A"/>
                </a:solidFill>
              </a:rPr>
              <a:t> — else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sequence can </a:t>
            </a:r>
            <a:r>
              <a:rPr sz="2000" b="1">
                <a:solidFill>
                  <a:srgbClr val="1F2D3A"/>
                </a:solidFill>
              </a:rPr>
              <a:t>cycle</a:t>
            </a:r>
            <a:r>
              <a:rPr sz="2000" b="0">
                <a:solidFill>
                  <a:srgbClr val="1F2D3A"/>
                </a:solidFill>
              </a:rPr>
              <a:t> without reaching a free cell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as a power of 2, "because it's a round number"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exceed </a:t>
            </a:r>
            <a:r>
              <a:rPr sz="2000" b="0">
                <a:solidFill>
                  <a:srgbClr val="A1123F"/>
                </a:solidFill>
                <a:latin typeface="Consolas"/>
              </a:rPr>
              <a:t>0.5</a:t>
            </a:r>
            <a:r>
              <a:rPr sz="2000" b="0">
                <a:solidFill>
                  <a:srgbClr val="1F2D3A"/>
                </a:solidFill>
              </a:rPr>
              <a:t> — cycling becomes likely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a cycled insert the same as a genuinely full table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m = 8</a:t>
            </a:r>
            <a:r>
              <a:rPr sz="2000" b="0">
                <a:solidFill>
                  <a:srgbClr val="1F2D3A"/>
                </a:solidFill>
              </a:rPr>
              <a:t>. Why is quadratic probing riskier here than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11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8 is a power of 2, not prime.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i²</a:t>
            </a:r>
            <a:r>
              <a:rPr sz="2000" b="0">
                <a:solidFill>
                  <a:srgbClr val="1F2D3A"/>
                </a:solidFill>
              </a:rPr>
              <a:t> sequence can cycle through only a few cells, even when the table still has free space.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9c. Double Hashing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double 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hash functions: </a:t>
            </a:r>
            <a:r>
              <a:rPr sz="2000" b="0">
                <a:solidFill>
                  <a:srgbClr val="A1123F"/>
                </a:solidFill>
                <a:latin typeface="Consolas"/>
              </a:rPr>
              <a:t>h1(key)</a:t>
            </a:r>
            <a:r>
              <a:rPr sz="2000" b="0">
                <a:solidFill>
                  <a:srgbClr val="1F2D3A"/>
                </a:solidFill>
              </a:rPr>
              <a:t> for the home, </a:t>
            </a:r>
            <a:r>
              <a:rPr sz="2000" b="0">
                <a:solidFill>
                  <a:srgbClr val="A1123F"/>
                </a:solidFill>
                <a:latin typeface="Consolas"/>
              </a:rPr>
              <a:t>h2(key)</a:t>
            </a:r>
            <a:r>
              <a:rPr sz="2000" b="0">
                <a:solidFill>
                  <a:srgbClr val="1F2D3A"/>
                </a:solidFill>
              </a:rPr>
              <a:t>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probe(i) = (h1(key) + i * h2(key))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Different keys usually get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Colliding keys no longer retrace the same path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Double hashing, step by step</a:t>
            </a:r>
          </a:p>
        </p:txBody>
      </p:sp>
      <p:pic>
        <p:nvPicPr>
          <p:cNvPr id="7" name="Picture 6" descr="hash-double-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98259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shared-factor cycle</a:t>
            </a:r>
          </a:p>
        </p:txBody>
      </p:sp>
      <p:pic>
        <p:nvPicPr>
          <p:cNvPr id="7" name="Picture 6" descr="hash-double-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98259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two hash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h1(int key, int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key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h2(int key, int 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 - (key % r);  /* r &lt; m, prime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probing with two hashes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idx = h1(key,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step = h2(key, 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M;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(state[idx] != OCCUPIED)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table[idx]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idx;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idx = (idx + step) % 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Complexity, and why 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/ search: close to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well below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Least clustering of the three probing rules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 so every step reaches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cell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Usually the best open-addressing choice in practice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h2(key)</a:t>
            </a:r>
            <a:r>
              <a:rPr sz="2000" b="0">
                <a:solidFill>
                  <a:srgbClr val="1F2D3A"/>
                </a:solidFill>
              </a:rPr>
              <a:t> possibly return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 — an infinite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 so they share a common factor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 itself must be prime,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R &lt; 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Linear, quadratic, and double hashing all require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prime for good behavior. Which one is </a:t>
            </a:r>
            <a:r>
              <a:rPr sz="2000" b="1">
                <a:solidFill>
                  <a:srgbClr val="1F2D3A"/>
                </a:solidFill>
              </a:rPr>
              <a:t>most</a:t>
            </a:r>
            <a:r>
              <a:rPr sz="2000" b="0">
                <a:solidFill>
                  <a:srgbClr val="1F2D3A"/>
                </a:solidFill>
              </a:rPr>
              <a:t> forgiving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is not prime?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Linear probing.</a:t>
            </a:r>
            <a:r>
              <a:rPr sz="2000" b="0">
                <a:solidFill>
                  <a:srgbClr val="1F2D3A"/>
                </a:solidFill>
              </a:rPr>
              <a:t> It still reaches every cell whenever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is composite — only its </a:t>
            </a:r>
            <a:r>
              <a:rPr sz="2000" b="1">
                <a:solidFill>
                  <a:srgbClr val="1F2D3A"/>
                </a:solidFill>
              </a:rPr>
              <a:t>clustering</a:t>
            </a:r>
            <a:r>
              <a:rPr sz="2000" b="0">
                <a:solidFill>
                  <a:srgbClr val="1F2D3A"/>
                </a:solidFill>
              </a:rPr>
              <a:t> gets worse, not its correctness.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Rehashing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technique in Section 9 gets slower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climbs toward 1. What should happen before that actually occurs?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rehashing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a </a:t>
            </a:r>
            <a:r>
              <a:rPr sz="2000" b="1">
                <a:solidFill>
                  <a:srgbClr val="1F2D3A"/>
                </a:solidFill>
              </a:rPr>
              <a:t>threshold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(commonly around 0.7–0.8)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Crossing it triggers a </a:t>
            </a:r>
            <a:r>
              <a:rPr sz="2000" b="1">
                <a:solidFill>
                  <a:srgbClr val="1F2D3A"/>
                </a:solidFill>
              </a:rPr>
              <a:t>rehash</a:t>
            </a:r>
            <a:r>
              <a:rPr sz="2000" b="0">
                <a:solidFill>
                  <a:srgbClr val="1F2D3A"/>
                </a:solidFill>
              </a:rPr>
              <a:t>: build a bigger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size: the next </a:t>
            </a:r>
            <a:r>
              <a:rPr sz="2000" b="1">
                <a:solidFill>
                  <a:srgbClr val="1F2D3A"/>
                </a:solidFill>
              </a:rPr>
              <a:t>prime</a:t>
            </a:r>
            <a:r>
              <a:rPr sz="2000" b="0">
                <a:solidFill>
                  <a:srgbClr val="1F2D3A"/>
                </a:solidFill>
              </a:rPr>
              <a:t> at least </a:t>
            </a:r>
            <a:r>
              <a:rPr sz="2000" b="0">
                <a:solidFill>
                  <a:srgbClr val="A1123F"/>
                </a:solidFill>
                <a:latin typeface="Consolas"/>
              </a:rPr>
              <a:t>2 *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key must be reinserted — its index may change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every key must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 = k mod m</a:t>
            </a:r>
            <a:r>
              <a:rPr sz="2000" b="0">
                <a:solidFill>
                  <a:srgbClr val="1F2D3A"/>
                </a:solidFill>
              </a:rPr>
              <a:t> — change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h(k)</a:t>
            </a:r>
            <a:r>
              <a:rPr sz="2000" b="0">
                <a:solidFill>
                  <a:srgbClr val="1F2D3A"/>
                </a:solidFill>
              </a:rPr>
              <a:t> usually changes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Copying old cells to new ones directly would be wrong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Instead: </a:t>
            </a:r>
            <a:r>
              <a:rPr sz="2000" b="1">
                <a:solidFill>
                  <a:srgbClr val="1F2D3A"/>
                </a:solidFill>
              </a:rPr>
              <a:t>reinsert</a:t>
            </a:r>
            <a:r>
              <a:rPr sz="2000" b="0">
                <a:solidFill>
                  <a:srgbClr val="1F2D3A"/>
                </a:solidFill>
              </a:rPr>
              <a:t> each key into the new, empty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uses the exact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insert()</a:t>
            </a:r>
            <a:r>
              <a:rPr sz="2000" b="0">
                <a:solidFill>
                  <a:srgbClr val="1F2D3A"/>
                </a:solidFill>
              </a:rPr>
              <a:t> already written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Rehashing, step by step</a:t>
            </a:r>
          </a:p>
        </p:txBody>
      </p:sp>
      <p:pic>
        <p:nvPicPr>
          <p:cNvPr id="7" name="Picture 6" descr="re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growing twice in a row</a:t>
            </a:r>
          </a:p>
        </p:txBody>
      </p:sp>
      <p:pic>
        <p:nvPicPr>
          <p:cNvPr id="7" name="Picture 6" descr="rehas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finding the next prime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is_prime(int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(x &lt; 2)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i=2; i*i&lt;=x;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(x % i == 0)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next_prime(int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(!is_prime(x)) x++;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growing and reinserting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rehash(void)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newM = next_prime(2 *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… allocate newState, newTable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(state[i] == OCCUPIED)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insert_into(newState, newTable,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newM, table[i]);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 = newM;  /* … swap in new arrays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Amortized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rehash costs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every key reinserted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Rehashes happen </a:t>
            </a:r>
            <a:r>
              <a:rPr sz="2000" b="1">
                <a:solidFill>
                  <a:srgbClr val="1F2D3A"/>
                </a:solidFill>
              </a:rPr>
              <a:t>rarely</a:t>
            </a:r>
            <a:r>
              <a:rPr sz="2000" b="0">
                <a:solidFill>
                  <a:srgbClr val="1F2D3A"/>
                </a:solidFill>
              </a:rPr>
              <a:t>: table size at least doubles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Spread across many inserts, average cost stays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same </a:t>
            </a:r>
            <a:r>
              <a:rPr sz="2000" b="1">
                <a:solidFill>
                  <a:srgbClr val="1F2D3A"/>
                </a:solidFill>
              </a:rPr>
              <a:t>amortized</a:t>
            </a:r>
            <a:r>
              <a:rPr sz="2000" b="0">
                <a:solidFill>
                  <a:srgbClr val="1F2D3A"/>
                </a:solidFill>
              </a:rPr>
              <a:t> idea as Week 2's dynamic array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rehashing at all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grows without bound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Growing to a size that is not prime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Rehashing on every single insert instead of past a threshold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table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 = 6</a:t>
            </a:r>
            <a:r>
              <a:rPr sz="2000" b="0">
                <a:solidFill>
                  <a:srgbClr val="1F2D3A"/>
                </a:solidFill>
              </a:rPr>
              <a:t> holds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5</a:t>
            </a:r>
            <a:r>
              <a:rPr sz="2000" b="0">
                <a:solidFill>
                  <a:srgbClr val="1F2D3A"/>
                </a:solidFill>
              </a:rPr>
              <a:t> keys, and the threshold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0.8</a:t>
            </a:r>
            <a:r>
              <a:rPr sz="2000" b="0">
                <a:solidFill>
                  <a:srgbClr val="1F2D3A"/>
                </a:solidFill>
              </a:rPr>
              <a:t>. One more key is inserted. Does a rehash trigger, and to what size?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Yes.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α = 6/6 = 1.0 &gt; 0.8</a:t>
            </a:r>
            <a:r>
              <a:rPr sz="2000" b="0">
                <a:solidFill>
                  <a:srgbClr val="1F2D3A"/>
                </a:solidFill>
              </a:rPr>
              <a:t> — a rehash triggers. New size: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next_prime(12) = 13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Choosing a Collision-Resolution Technique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Chaining vs. open addressing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4182755"/>
                <a:gridCol w="3637178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Chaining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Open addressing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Extra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Yes, per node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No, in-place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High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Degrades gracefully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Degrades sharply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Needs tombstones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Choosing within open addressing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 code,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kept low? </a:t>
            </a:r>
            <a:r>
              <a:rPr sz="2000" b="1">
                <a:solidFill>
                  <a:srgbClr val="1F2D3A"/>
                </a:solidFill>
              </a:rPr>
              <a:t>Linear</a:t>
            </a:r>
            <a:r>
              <a:rPr sz="2000" b="0">
                <a:solidFill>
                  <a:srgbClr val="1F2D3A"/>
                </a:solidFill>
              </a:rPr>
              <a:t> probing is enough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Want less clustering, willing to require prime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Quadratic</a:t>
            </a:r>
            <a:r>
              <a:rPr sz="2000" b="0">
                <a:solidFill>
                  <a:srgbClr val="1F2D3A"/>
                </a:solidFill>
              </a:rPr>
              <a:t> probing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Want the best spread available? </a:t>
            </a:r>
            <a:r>
              <a:rPr sz="2000" b="1">
                <a:solidFill>
                  <a:srgbClr val="1F2D3A"/>
                </a:solidFill>
              </a:rPr>
              <a:t>Double</a:t>
            </a:r>
            <a:r>
              <a:rPr sz="2000" b="0">
                <a:solidFill>
                  <a:srgbClr val="1F2D3A"/>
                </a:solidFill>
              </a:rPr>
              <a:t> hashing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practical rule of thumb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Deletions are frequent or memory is not tight? </a:t>
            </a:r>
            <a:r>
              <a:rPr sz="2000" b="1">
                <a:solidFill>
                  <a:srgbClr val="1F2D3A"/>
                </a:solidFill>
              </a:rPr>
              <a:t>Chaining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Memory matters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is kept well below 1? </a:t>
            </a:r>
            <a:r>
              <a:rPr sz="2000" b="1">
                <a:solidFill>
                  <a:srgbClr val="1F2D3A"/>
                </a:solidFill>
              </a:rPr>
              <a:t>Open addressing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Either way: </a:t>
            </a:r>
            <a:r>
              <a:rPr sz="2000" b="1">
                <a:solidFill>
                  <a:srgbClr val="1F2D3A"/>
                </a:solidFill>
              </a:rPr>
              <a:t>rehash</a:t>
            </a:r>
            <a:r>
              <a:rPr sz="2000" b="0">
                <a:solidFill>
                  <a:srgbClr val="1F2D3A"/>
                </a:solidFill>
              </a:rPr>
              <a:t>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α</a:t>
            </a:r>
            <a:r>
              <a:rPr sz="2000" b="0">
                <a:solidFill>
                  <a:srgbClr val="1F2D3A"/>
                </a:solidFill>
              </a:rPr>
              <a:t> gets too large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universally "best" choice — only best </a:t>
            </a:r>
            <a:r>
              <a:rPr sz="2000" b="1">
                <a:solidFill>
                  <a:srgbClr val="1F2D3A"/>
                </a:solidFill>
              </a:rPr>
              <a:t>for your case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hash table will hold millions of keys, with almost no deletions, and memory is tight. Which family fits best, and why?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Open addressing</a:t>
            </a:r>
            <a:r>
              <a:rPr sz="2000" b="0">
                <a:solidFill>
                  <a:srgbClr val="1F2D3A"/>
                </a:solidFill>
              </a:rPr>
              <a:t>, likely </a:t>
            </a:r>
            <a:r>
              <a:rPr sz="2000" b="1">
                <a:solidFill>
                  <a:srgbClr val="1F2D3A"/>
                </a:solidFill>
              </a:rPr>
              <a:t>double hashing</a:t>
            </a:r>
            <a:r>
              <a:rPr sz="2000" b="0">
                <a:solidFill>
                  <a:srgbClr val="1F2D3A"/>
                </a:solidFill>
              </a:rPr>
              <a:t>. No deletions to worry about, and no extra per-node memory for millions of chain links.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faster search on sorted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190"/>
                <a:gridCol w="581948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Jump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O(sqrt(n)), block = sqrt(n)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Interpolation 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log n) on uniform data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Exponential / Fibonacci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Unbounded n / no division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hashing and collisions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745621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 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h(k) = k mod m, O(1), m prime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Chaining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 list per bucket, O(1+α)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Open addressing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In-place, needs tombstones, rehashing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Sorted data supports faster-than-binary search by exploiting extra structure. Hashing drops comparison entirely: compute a location, handle collisions, and grow the table before it fills.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short questions. Think before the answer appears on the next slide. Full exercises and a ten-question quiz are in the week notes.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An array has 400 elements. What block size does jump search use, and roughly how many comparisons in the worst case?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block = sqrt(400) = 20</a:t>
            </a:r>
            <a:r>
              <a:rPr sz="3000" b="1">
                <a:solidFill>
                  <a:srgbClr val="2E7D32"/>
                </a:solidFill>
              </a:rPr>
              <a:t>. Worst case: about </a:t>
            </a:r>
            <a:r>
              <a:rPr sz="3000" b="1">
                <a:solidFill>
                  <a:srgbClr val="2E7D32"/>
                </a:solidFill>
                <a:latin typeface="Consolas"/>
              </a:rPr>
              <a:t>20 + 20 = 40</a:t>
            </a:r>
            <a:r>
              <a:rPr sz="3000" b="1">
                <a:solidFill>
                  <a:srgbClr val="2E7D32"/>
                </a:solidFill>
              </a:rPr>
              <a:t> comparisons — far below linear search's 400.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Why does interpolation search's formula need a guard against </a:t>
            </a:r>
            <a:r>
              <a:rPr sz="3000" b="1">
                <a:solidFill>
                  <a:srgbClr val="2E7D32"/>
                </a:solidFill>
                <a:latin typeface="Consolas"/>
              </a:rPr>
              <a:t>arr[hi] == arr[lo]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Without it, the formula's denominator would be zero — a division-by-zero error, since an all-equal range makes </a:t>
            </a:r>
            <a:r>
              <a:rPr sz="3000" b="1">
                <a:solidFill>
                  <a:srgbClr val="2E7D32"/>
                </a:solidFill>
                <a:latin typeface="Consolas"/>
              </a:rPr>
              <a:t>arr[hi] - arr[lo] = 0</a:t>
            </a:r>
            <a:r>
              <a:rPr sz="3000" b="1">
                <a:solidFill>
                  <a:srgbClr val="2E7D3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should a hash table's size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usually be chosen prime?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prime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shares no common factor with most key patterns, avoiding the severe clustering a composite </a:t>
            </a:r>
            <a:r>
              <a:rPr sz="3000" b="1">
                <a:solidFill>
                  <a:srgbClr val="2E7D32"/>
                </a:solidFill>
                <a:latin typeface="Consolas"/>
              </a:rPr>
              <a:t>m</a:t>
            </a:r>
            <a:r>
              <a:rPr sz="3000" b="1">
                <a:solidFill>
                  <a:srgbClr val="2E7D32"/>
                </a:solidFill>
              </a:rPr>
              <a:t> (like a power of 10) can cause.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Why must a deleted cell in open addressing become a tombstone, not a plain empty cell?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later search stops at the first truly empty cell. Clearing to empty would wrongly cut off the probe chain for keys placed after it.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7 — Project Demonstrations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No new algorithms this week: teams present their project's search or hashing component, followed by Week 8's quiz before graph algorithms resume in Week 9.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6: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4th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*The Art of Computer Programming, Vol.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Sorting and Searching*, 2nd 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528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Bentley, J., Yao, A. (1976). "An almost optimal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3237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 for unbounded searching"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2032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Luhn, H. P. (1953). Internal IBM memorandum on hashing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Kiefer, J. (1953). "Sequential minimax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a maximum"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Peterson, W. W. (1957). "Addressing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random-access storage"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6 — Search and Hashing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