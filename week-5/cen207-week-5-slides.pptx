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tree let one node point at several children, but never back up and never sideways. Drop both of those restrictions — let any node point at any node — and a tree becomes a graph, the most general shape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short animations carry the whole lecture; each appears once, exactly where its idea is introduced, and every one gets a second look at a harder or edge-case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term gets a full definition the first time it appears; this table just says where to find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 terminal now if you want to run these live; every snippet on today's slides compiles and runs exactly as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about the machinery is new this week — only a new shape for the data these two structures will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week's "n nodes, n-1 edges, no cycle" rule was a special case; today that restriction is lifted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box on this map gets its own slides below, most with a short animation and a complete C/Java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motivates the whole week with the single oldest problem in graph theory, then shows the same shape hiding in maps, friendships, and the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actual question a small city asked itself in the 1700s — and it produced an entirely new branch of mathematics.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Euler never drew a single bridge in his paper — he threw away everything except which landmasses connect to which, which is precisely the idea of a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Stripping away the map and keeping only "what connects to what" is the single most important move in this entire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counting argument, degree parity, is why the answer is "no" for any city shaped like Königsberg, not just that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"Vertices and edges" turned out to be one of the most reusable ideas in all of computer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"get directions" button you have ever tapped ran some form of a graph shortest-path algorithm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friend suggestion feature is, underneath, almost always a short breadth-first search from your own vertex.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PageRank, the original Google ranking idea, is fundamentally a computation performed on this exact directed graph of links.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table in mind for the rest of the week — every traversal idea below is a tree idea with these three restrictions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one of today's algorithms must work correctly even on the awkward cases this slide lists — that is exactly what the "edge case" animations below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parity rule from a few slides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Zero odd vertices gives a round trip back to the start; exactly two gives a one-way walk — anything else, no walk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builds the vocabulary every later section leans on — vertex, edge, degree, path, cycle — all on one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everything this week — surprisingly, this two-set definition is the entire foundation.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formal definition looks sparse on purpose — its power is exactly how few assumptions it makes.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one of these is pointed at, one at a time, in the animation right after this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unweighted edge is really just a weighted edge whose weight always happens to be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Degree splits into two only once direction exists — an undirected graph never needs "in" or "out"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graph that allows self-loops and multi-edges is sometimes specifically called a multigraph.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distinction matters a great deal in Section 3, when choosing how to store a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algorithm this week is built entirely out of these three small questions, asked over and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8 vertices, weighted, with a cycle, a self-loop, a multi-edge, and 2 components — every term from this section, on one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vertices, directed, with two separate cycles, a self-loop, a multi-edge and 2 weak components — in-degree and out-degree now genuinely differ per vertex.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struct for an edge, one for the whole graph — every algorithm this week is built on exactly these two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an undirected graph this single function already counts everything a vertex needs — no separate "in" version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Finding who points AT v means scanning every OTHER vertex's list — there is no shortcut without extra bookkeeping.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asymmetry is a direct consequence of storing only outgoing edges, the adjacency-list choice Section 3 explains.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hard-preset animation above was built specifically to make in-degree and out-degree disagree on most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about which direction a self-loop's single edge "points"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an undirected graph, that same self-loop instead raises plain degree by 2, not 1 — direction changes the counting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graph is an idea; a program needs one concrete way to store it. This section builds the two standard choices, side by side, on the very same 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no single best answer — the two structures below trade one operation's speed for the other's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sections below build these from the exact same edge lists, so the two representations can be compared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undirected graph's matrix is always symmetric across its diagonal — that symmetry is what "either direction" means, written as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7 vertices, undirected, unweighted, 10 edges — watch the matrix fill in, one symmetric pair of cells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vertices, every pair connected, 10 edges — the maximum possible for 5 vertices, and the matrix ends up completely full off the diagonal.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assignment for a directed edge, two — mirrored — for an undirected one; that single "if" is the whole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Zero the whole table first, then add one edge at a time — order does not matter, since each edge only touches its own two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matrix's cost never depends on how many edges actually exist — only on how many vertices could possibly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exact same linked-list node from Week 2, just reused: one field for the neighbor's id, one for "next".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normal example as the matrix: 7 vertices, undirected, unweighted, 10 edges — watch each edge append to one or two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vertices, directed, weighted, 10 edges including a reversed pair `P&gt;R` and `R&gt;P` — some vertices end up with an empty list, having no outgoing edge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Week 2's singly linked list append: walk to the tail, then attach — nothing about graphs changes this pattern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self-loop check, `a != b`, exists so an undirected self-loop is not appended twice to the very same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has_edge is the one operation where the matrix strictly wins — the list must search, the matrix never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rows, and every later algorithm's complexity traces straight back to this one small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close call for the graphs this course actually cares about — the list wins by a wide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structures store the exact same information — this choice is purely an engineering trade-off, never a correctness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directed matrix's two "mirror" cells, matrix[a][b] and matrix[b][a], can legitimately hold two completely different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Square the vertex count, then compare that to the edge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the situation Section 3's "sparse vs. dense" rule of thumb was written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BFS is level order, from Week 4, generalized from a tree to any graph — a queue, and nothing else, drives the whole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"Nearest first" is the whole idea; the algorithm below is built to guarantee exactly that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Moore was solving a physical maze-wiring problem — the same queue-based idea turned out to generalize to any graph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ripple ever overtakes an earlier one — that ordering guarantee is exactly what makes BFS find shortest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BFS tree records, for every vertex, exactly one edge that first reached it — that is the parent pointer Section 8 reuses.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7 vertices, undirected, starting at A, 10 edges — watch the queue and the level[] row fill in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vertices, 2 components — G, H, I are simply unreachable from A, the starting vertex, and stay grey for the whole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exact circular queue from Week 3 — only the element type changed, from int scores to graph vertex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unvisited neighbor gets marked, leveled, and given a parent pointer, all in the same instant it is first enqueued.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O(V + E) bound is the single most common complexity result in graph algorithms, and it recurs all through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BFS is secretly already solving the unweighted shortest-path problem; Section 8 just makes that fact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time the question is "fewest steps", not "shortest weighted distance", BFS is usually the right first tool to reach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Marking "visited" too late is the single most common BFS bug — the same vertex can be enqueued more than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exactly what "level" was defined to mean, a few slides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fact Section 8 turns into a full algorithm: level IS shortest-path length, for unweighted 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DFS is preorder, from Week 4, generalized from a tree to any graph — recursion, and nothing else, drives the whole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"Commit, then backtrack" is depth-first search in one sentence — the opposite strategy from BFS's ring-by-ring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Recursion IS a stack, from Week 3 — every recursive dfs_visit call pushes a frame, and every return pops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vertex is gray for exactly as long as it sits on the call stack — the moment it returns, it turns black.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 and cross edges cannot happen in an undirected graph — there, every non-tree edge you find is a back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7 vertices, undirected, 4 back edges, 10 edges — watch the call stack column and disc/fin[] fill in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vertices, directed, built specifically so a tree, a back, a forward, and a cross edge all appear in one single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shared clock counts up on every discovery AND every finish — that is what makes disc/fin intervals nest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colors, three branches — the entire edge-classification idea from a few slides back, written as one if/else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disconnected graph's DFS produces not one tree but a DFS FOREST — one tree per component, exactly like Section 7's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BFS and DFS visit the very same set of vertices and edges — only the ORDER differs, never the total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hypothetical: a million-vertex chain graph really can crash a naive recursive DFS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an undirected graph, the edge back to your immediate parent is not a real back edge — it is the same edge you just arrived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exactly what "gray" means, and where a gray vertex currently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how graph-terminology.js detected the cycle it reported back in Section 2's animation.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5's recursion risk motivates this section directly: the same algorithm, the same visit order, but with our own array-based stack instead of the call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 — and the technique is one this course has already used once before, back in Week 4's iterative inorder traversal.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exact same motivation as Week 4's iterative inorder traversal, now applied to a graph instead of a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trick is the whole difference between "an explicit stack" and "an explicit stack that matches recursion exactly".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normal example as Section 5: 7 vertices, undirected, 4 back edges, 10 edges — the visit order comes out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vertices, 2 separate components — a fresh stack starts from each unvisited vertex, producing one tree per component, exactly as in 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plainest possible array-based stack — one increment on push, one decrement on pop, nothing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"if (visited[u]) continue" line matters: a vertex can be pushed more than once, and only the FIRST pop should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point was never speed — it was avoiding a call-stack overflow that the recursive version risks on deep 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order, same complexity, same output — this table is really about which stack does the remembering.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Skipping the stale-entry check is the single most common bug when converting recursion to an explicit stack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what the stale-entry check on the previous code slide is specifically there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discard is exactly the "stale entry" case the code's `if (visited[u]) continue` line handles.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 reuses BFS itself, unchanged, as a subroutine — the only new idea is calling it once per unvisited vertex and giving each run its own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already warned that a graph need not be connected; this section answers "how disconnected, exactly?".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"Weak" connectivity means we treat every directed edge as if it were undirected, just for this one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10 vertices, undirected, 2 components (two separate 5-cycles), 10 edges — watch each BFS claim its own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vertices, undirected, 4 separate triangle components, 12 edges — the most components this section's animation ever shows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Section 4's plain BFS, completely unchanged, except that "visited" is now "comp_of == -1" and the mark left behind is an id, not just true/false.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next_id both counts the components AND becomes each new component's label — one variable, two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Running BFS several times, once per component, still adds up to the same O(V + E) as one single BFS over the whole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Flood fill is worth naming specifically — it is exactly this algorithm, run on a grid of pixels instead of a graph of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 connectivity (respecting direction) is a genuinely harder problem, needing more than plain BFS — outside this week's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exactly what "direction is ignored" was said to mean, a few slides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 connectivity would require BOTH A&gt;B and a path back from B to A — a stricter, different question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already computed every vertex's level; this section makes that fact fully explicit by reconstructing the actual shortest path, not just its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 — and the mechanism is one already sitting inside BFS's output: the parent pointer, recorded the instant each vertex is first 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here is new machinery — it is Section 4's BFS, plus one short walk backward through the parent pointers it already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example: 7 vertices, undirected, s=A, t=F, 10 edges — watch parent[] fill in during BFS, then get walked backward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vertices, s=A, t=H, in 2 separate components — the queue empties with t never visited, so no path can be reported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to Section 4's BFS loop, with one difference: this version's ONLY goal is filling in parent_of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walk builds the path backward, from t to s, purely because that is the only direction the parent pointers go — reversing at the end fixes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Reconstructing the actual path is essentially free on top of a BFS you would often be running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the LENGTH is guaranteed unique — the exact sequence of vertices depends on tie-breaking choices like alphabetical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BFS's plain queue always expands the nearest UNVISITED vertex by edge count; Dijkstra swaps in a priority queue so it expands by actual distance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one of these three mistakes still runs without crashing — the bug only shows up in the printed path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the very first check the walk-back code makes, on the slide a few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precisely the situation the "no-path" edge-case animation above was built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representations, one table of trade-offs — every later algorithm's complexity traces back to this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one of these four rows is built from the same two moves: enqueue/dequeue, or push/pop.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 student remembers only one sentence from today, this is the one worth remembering.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mirror the self-check quiz at the end of the written notes, one question per slide, with a shorter set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Ask, wait,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n vertices, a complete undirected graph always has n(n-1)/2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4's ripples-on-a-pond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Swapping the data structure alone is the entire difference between these two traversal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5's edge-type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exactly the cycle-detection technique graph-terminology.js used back in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Section 7's terminology, a few slides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distinction is worth remembering precisely, since the two give genuinely different answers on the same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Hashing trades the "explore everything" idea of this week for a completely different one: compute exactly where to look, in one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same references listed at the end of the week's written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historical references — Euler, Moore, Hopcroft and Tarjan — are what today's "short history" slides drew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Graphs and Traversals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Data Structures —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Fall 2026–2027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153"/>
                <a:gridCol w="9820381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Why graphs, vocabulary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matrix vs. list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DFS recursive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DFS iterative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Connected components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shortest path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Learning outcomes:</a:t>
            </a:r>
            <a:r>
              <a:rPr sz="2000" b="0">
                <a:solidFill>
                  <a:srgbClr val="1F2D3A"/>
                </a:solidFill>
              </a:rPr>
              <a:t> LO.1 (explain fundamental data structures) · LO.2 (analyze complexity) · LO.7 (choose the right structure)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This week's concepts — where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2497"/>
                <a:gridCol w="290974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Why graphs, vocabulary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Adjacency matrix vs. adjacency list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BFS, DFS (recursive and iterative)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Connected components, shortest path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7–8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the code examples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idea has a complete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code/week-05/c/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code/week-05/java/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program's expected output is in the week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Recap — stacks, queues, recursion (Week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stack</a:t>
            </a:r>
            <a:r>
              <a:rPr sz="2000" b="0">
                <a:solidFill>
                  <a:srgbClr val="1F2D3A"/>
                </a:solidFill>
              </a:rPr>
              <a:t> (LIFO): last pushed, first popped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queue</a:t>
            </a:r>
            <a:r>
              <a:rPr sz="2000" b="0">
                <a:solidFill>
                  <a:srgbClr val="1F2D3A"/>
                </a:solidFill>
              </a:rPr>
              <a:t> (FIFO): first enqueued, first dequeued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Recursion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 i="1">
                <a:solidFill>
                  <a:srgbClr val="1F2D3A"/>
                </a:solidFill>
              </a:rPr>
              <a:t>is</a:t>
            </a:r>
            <a:r>
              <a:rPr sz="2000" b="0">
                <a:solidFill>
                  <a:srgbClr val="1F2D3A"/>
                </a:solidFill>
              </a:rPr>
              <a:t> a stack: a call pushes, a return pops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Today: the very same stack and queue, holding graph vertices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Recap — trees are special graphs (Week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tree: one root, no cycles, exactly one path to any node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graph: </a:t>
            </a:r>
            <a:r>
              <a:rPr sz="2000" b="1">
                <a:solidFill>
                  <a:srgbClr val="1F2D3A"/>
                </a:solidFill>
              </a:rPr>
              <a:t>no</a:t>
            </a:r>
            <a:r>
              <a:rPr sz="2000" b="0">
                <a:solidFill>
                  <a:srgbClr val="1F2D3A"/>
                </a:solidFill>
              </a:rPr>
              <a:t> root required, cycles allowed, many paths allowed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tree </a:t>
            </a:r>
            <a:r>
              <a:rPr sz="2000" b="1">
                <a:solidFill>
                  <a:srgbClr val="1F2D3A"/>
                </a:solidFill>
              </a:rPr>
              <a:t>is</a:t>
            </a:r>
            <a:r>
              <a:rPr sz="2000" b="0">
                <a:solidFill>
                  <a:srgbClr val="1F2D3A"/>
                </a:solidFill>
              </a:rPr>
              <a:t> a graph; not every graph is a tree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Traversals (pre/in/post/level) generalize to graph search today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Map of the week —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0818"/>
                <a:gridCol w="626071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Foundations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Traversal &amp; applications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Why graphs, vocabulary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BFS, DFS (recursive, iterative)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Matrix vs. list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Connected components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Shortest path (unweighted)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Why Graphs? From Bridges to Networks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city has four landmasses joined by seven bridges. Can you walk through the city crossing </a:t>
            </a:r>
            <a:r>
              <a:rPr sz="2000" b="1">
                <a:solidFill>
                  <a:srgbClr val="1F2D3A"/>
                </a:solidFill>
              </a:rPr>
              <a:t>every</a:t>
            </a:r>
            <a:r>
              <a:rPr sz="2000" b="0">
                <a:solidFill>
                  <a:srgbClr val="1F2D3A"/>
                </a:solidFill>
              </a:rPr>
              <a:t> bridge exactly once, and return home?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1736</a:t>
            </a:r>
            <a:r>
              <a:rPr sz="2000" b="0">
                <a:solidFill>
                  <a:srgbClr val="1F2D3A"/>
                </a:solidFill>
              </a:rPr>
              <a:t> — Leonhard Euler solves the Königsberg bridge puzzle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Königsberg (today Kaliningrad): 4 landmasses, 7 bridges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Euler's paper is the </a:t>
            </a:r>
            <a:r>
              <a:rPr sz="2000" b="1">
                <a:solidFill>
                  <a:srgbClr val="1F2D3A"/>
                </a:solidFill>
              </a:rPr>
              <a:t>first</a:t>
            </a:r>
            <a:r>
              <a:rPr sz="2000" b="0">
                <a:solidFill>
                  <a:srgbClr val="1F2D3A"/>
                </a:solidFill>
              </a:rPr>
              <a:t> graph-theory paper ever written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 answered "no" — and explained exactly why, for any city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bridges, restated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</a:t>
            </a:r>
            <a:r>
              <a:rPr sz="2000" b="1">
                <a:solidFill>
                  <a:srgbClr val="1F2D3A"/>
                </a:solidFill>
              </a:rPr>
              <a:t>landmass</a:t>
            </a:r>
            <a:r>
              <a:rPr sz="2000" b="0">
                <a:solidFill>
                  <a:srgbClr val="1F2D3A"/>
                </a:solidFill>
              </a:rPr>
              <a:t> becomes a </a:t>
            </a:r>
            <a:r>
              <a:rPr sz="2000" b="1">
                <a:solidFill>
                  <a:srgbClr val="1F2D3A"/>
                </a:solidFill>
              </a:rPr>
              <a:t>vertex</a:t>
            </a:r>
            <a:r>
              <a:rPr sz="2000" b="0">
                <a:solidFill>
                  <a:srgbClr val="1F2D3A"/>
                </a:solidFill>
              </a:rPr>
              <a:t> (4 of them)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</a:t>
            </a:r>
            <a:r>
              <a:rPr sz="2000" b="1">
                <a:solidFill>
                  <a:srgbClr val="1F2D3A"/>
                </a:solidFill>
              </a:rPr>
              <a:t>bridge</a:t>
            </a:r>
            <a:r>
              <a:rPr sz="2000" b="0">
                <a:solidFill>
                  <a:srgbClr val="1F2D3A"/>
                </a:solidFill>
              </a:rPr>
              <a:t> becomes an </a:t>
            </a:r>
            <a:r>
              <a:rPr sz="2000" b="1">
                <a:solidFill>
                  <a:srgbClr val="1F2D3A"/>
                </a:solidFill>
              </a:rPr>
              <a:t>edge</a:t>
            </a:r>
            <a:r>
              <a:rPr sz="2000" b="0">
                <a:solidFill>
                  <a:srgbClr val="1F2D3A"/>
                </a:solidFill>
              </a:rPr>
              <a:t> (7 of them)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walk becomes: trace every edge once, never lifting your pen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an </a:t>
            </a:r>
            <a:r>
              <a:rPr sz="2000" b="1">
                <a:solidFill>
                  <a:srgbClr val="1F2D3A"/>
                </a:solidFill>
              </a:rPr>
              <a:t>Eulerian path</a:t>
            </a:r>
            <a:r>
              <a:rPr sz="2000" b="0">
                <a:solidFill>
                  <a:srgbClr val="1F2D3A"/>
                </a:solidFill>
              </a:rPr>
              <a:t> — named after Euler himself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Euler's insight: degree parity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time you </a:t>
            </a:r>
            <a:r>
              <a:rPr sz="2000" b="1">
                <a:solidFill>
                  <a:srgbClr val="1F2D3A"/>
                </a:solidFill>
              </a:rPr>
              <a:t>pass through</a:t>
            </a:r>
            <a:r>
              <a:rPr sz="2000" b="0">
                <a:solidFill>
                  <a:srgbClr val="1F2D3A"/>
                </a:solidFill>
              </a:rPr>
              <a:t> a vertex, you use 2 edges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Only your start and end vertex may use an </a:t>
            </a:r>
            <a:r>
              <a:rPr sz="2000" b="1">
                <a:solidFill>
                  <a:srgbClr val="1F2D3A"/>
                </a:solidFill>
              </a:rPr>
              <a:t>odd</a:t>
            </a:r>
            <a:r>
              <a:rPr sz="2000" b="0">
                <a:solidFill>
                  <a:srgbClr val="1F2D3A"/>
                </a:solidFill>
              </a:rPr>
              <a:t> number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Eulerian walk needs </a:t>
            </a:r>
            <a:r>
              <a:rPr sz="2000" b="1">
                <a:solidFill>
                  <a:srgbClr val="1F2D3A"/>
                </a:solidFill>
              </a:rPr>
              <a:t>0 or 2</a:t>
            </a:r>
            <a:r>
              <a:rPr sz="2000" b="0">
                <a:solidFill>
                  <a:srgbClr val="1F2D3A"/>
                </a:solidFill>
              </a:rPr>
              <a:t> odd-degree vertices, no more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Königsberg has </a:t>
            </a:r>
            <a:r>
              <a:rPr sz="2000" b="1">
                <a:solidFill>
                  <a:srgbClr val="1F2D3A"/>
                </a:solidFill>
              </a:rPr>
              <a:t>4</a:t>
            </a:r>
            <a:r>
              <a:rPr sz="2000" b="0">
                <a:solidFill>
                  <a:srgbClr val="1F2D3A"/>
                </a:solidFill>
              </a:rPr>
              <a:t> odd-degree vertices — so no walk exists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Why it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puzzle, solved by counting, founded </a:t>
            </a:r>
            <a:r>
              <a:rPr sz="2000" b="1">
                <a:solidFill>
                  <a:srgbClr val="1F2D3A"/>
                </a:solidFill>
              </a:rPr>
              <a:t>graph theory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same vertex/edge idea now models almost any relationship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uses: maps, social networks, the web, and much more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next three slides show three of them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Graphs are everywhere — road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Vertices:</a:t>
            </a:r>
            <a:r>
              <a:rPr sz="2000" b="0">
                <a:solidFill>
                  <a:srgbClr val="1F2D3A"/>
                </a:solidFill>
              </a:rPr>
              <a:t> intersections, cities, addresses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Edges:</a:t>
            </a:r>
            <a:r>
              <a:rPr sz="2000" b="0">
                <a:solidFill>
                  <a:srgbClr val="1F2D3A"/>
                </a:solidFill>
              </a:rPr>
              <a:t> roads, with a </a:t>
            </a:r>
            <a:r>
              <a:rPr sz="2000" b="1">
                <a:solidFill>
                  <a:srgbClr val="1F2D3A"/>
                </a:solidFill>
              </a:rPr>
              <a:t>weight</a:t>
            </a:r>
            <a:r>
              <a:rPr sz="2000" b="0">
                <a:solidFill>
                  <a:srgbClr val="1F2D3A"/>
                </a:solidFill>
              </a:rPr>
              <a:t> — distance or drive time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GPS routing asks: shortest weighted path from A to B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Week 9's Dijkstra's algorithm answers exactly that question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Graphs are everywhere — social networks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Vertices:</a:t>
            </a:r>
            <a:r>
              <a:rPr sz="2000" b="0">
                <a:solidFill>
                  <a:srgbClr val="1F2D3A"/>
                </a:solidFill>
              </a:rPr>
              <a:t> people or accounts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Edges:</a:t>
            </a:r>
            <a:r>
              <a:rPr sz="2000" b="0">
                <a:solidFill>
                  <a:srgbClr val="1F2D3A"/>
                </a:solidFill>
              </a:rPr>
              <a:t> "follows" (directed) or "is friends with" (undirected)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"Friends of friends" — reachable in exactly 2 edges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Section 4's BFS answers that question, one level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Graphs are everywhere — the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Vertices:</a:t>
            </a:r>
            <a:r>
              <a:rPr sz="2000" b="0">
                <a:solidFill>
                  <a:srgbClr val="1F2D3A"/>
                </a:solidFill>
              </a:rPr>
              <a:t> web pages; </a:t>
            </a:r>
            <a:r>
              <a:rPr sz="2000" b="1">
                <a:solidFill>
                  <a:srgbClr val="1F2D3A"/>
                </a:solidFill>
              </a:rPr>
              <a:t>edges:</a:t>
            </a:r>
            <a:r>
              <a:rPr sz="2000" b="0">
                <a:solidFill>
                  <a:srgbClr val="1F2D3A"/>
                </a:solidFill>
              </a:rPr>
              <a:t> hyperlinks (directed)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A&gt;B</a:t>
            </a:r>
            <a:r>
              <a:rPr sz="2000" b="0">
                <a:solidFill>
                  <a:srgbClr val="1F2D3A"/>
                </a:solidFill>
              </a:rPr>
              <a:t> means page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links </a:t>
            </a:r>
            <a:r>
              <a:rPr sz="2000" b="1">
                <a:solidFill>
                  <a:srgbClr val="1F2D3A"/>
                </a:solidFill>
              </a:rPr>
              <a:t>to</a:t>
            </a:r>
            <a:r>
              <a:rPr sz="2000" b="0">
                <a:solidFill>
                  <a:srgbClr val="1F2D3A"/>
                </a:solidFill>
              </a:rPr>
              <a:t> page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crawler visits every reachable page exactly once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Section 6's DFS is a classic way to write a web crawler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Graph vs. tree, revisited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921"/>
                <a:gridCol w="436461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Tree (Week 4)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Graph (this week)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One root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 required root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 cycles allowed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Cycles allowed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Exactly one path between any two nodes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Zero, one, or many paths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a graph must be </a:t>
            </a:r>
            <a:r>
              <a:rPr sz="2000" b="1">
                <a:solidFill>
                  <a:srgbClr val="1F2D3A"/>
                </a:solidFill>
              </a:rPr>
              <a:t>connected</a:t>
            </a:r>
            <a:r>
              <a:rPr sz="2000" b="0">
                <a:solidFill>
                  <a:srgbClr val="1F2D3A"/>
                </a:solidFill>
              </a:rPr>
              <a:t> — it may not be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an edge always goes </a:t>
            </a:r>
            <a:r>
              <a:rPr sz="2000" b="1">
                <a:solidFill>
                  <a:srgbClr val="1F2D3A"/>
                </a:solidFill>
              </a:rPr>
              <a:t>both ways</a:t>
            </a:r>
            <a:r>
              <a:rPr sz="2000" b="0">
                <a:solidFill>
                  <a:srgbClr val="1F2D3A"/>
                </a:solidFill>
              </a:rPr>
              <a:t> — only if undirected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a single vertex with no edges is still a valid graph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city has exactly </a:t>
            </a:r>
            <a:r>
              <a:rPr sz="2000" b="1">
                <a:solidFill>
                  <a:srgbClr val="1F2D3A"/>
                </a:solidFill>
              </a:rPr>
              <a:t>two</a:t>
            </a:r>
            <a:r>
              <a:rPr sz="2000" b="0">
                <a:solidFill>
                  <a:srgbClr val="1F2D3A"/>
                </a:solidFill>
              </a:rPr>
              <a:t> odd-degree landmasses, the rest even. Can a walk crossing every bridge once exist? Where would it have to start?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Yes.</a:t>
            </a:r>
            <a:r>
              <a:rPr sz="2000" b="0">
                <a:solidFill>
                  <a:srgbClr val="1F2D3A"/>
                </a:solidFill>
              </a:rPr>
              <a:t> With exactly two odd-degree vertices, an Eulerian </a:t>
            </a:r>
            <a:r>
              <a:rPr sz="2000" b="1">
                <a:solidFill>
                  <a:srgbClr val="1F2D3A"/>
                </a:solidFill>
              </a:rPr>
              <a:t>path</a:t>
            </a:r>
            <a:r>
              <a:rPr sz="2000" b="0">
                <a:solidFill>
                  <a:srgbClr val="1F2D3A"/>
                </a:solidFill>
              </a:rPr>
              <a:t> (not a full round trip) exists, starting at one odd vertex and ending at the other.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Graph Vocabulary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graph is just two sets: </a:t>
            </a:r>
            <a:r>
              <a:rPr sz="2000" b="1">
                <a:solidFill>
                  <a:srgbClr val="1F2D3A"/>
                </a:solidFill>
              </a:rPr>
              <a:t>V</a:t>
            </a:r>
            <a:r>
              <a:rPr sz="2000" b="0">
                <a:solidFill>
                  <a:srgbClr val="1F2D3A"/>
                </a:solidFill>
              </a:rPr>
              <a:t>, the vertices, and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, the edges. How much structure can really come from an idea that small?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graph, formally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graph </a:t>
            </a:r>
            <a:r>
              <a:rPr sz="2000" b="0">
                <a:solidFill>
                  <a:srgbClr val="A1123F"/>
                </a:solidFill>
                <a:latin typeface="Consolas"/>
              </a:rPr>
              <a:t>G = (V, E)</a:t>
            </a:r>
            <a:r>
              <a:rPr sz="2000" b="0">
                <a:solidFill>
                  <a:srgbClr val="1F2D3A"/>
                </a:solidFill>
              </a:rPr>
              <a:t>: a set of vertices, a set of edges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edge connects </a:t>
            </a:r>
            <a:r>
              <a:rPr sz="2000" b="1">
                <a:solidFill>
                  <a:srgbClr val="1F2D3A"/>
                </a:solidFill>
              </a:rPr>
              <a:t>two</a:t>
            </a:r>
            <a:r>
              <a:rPr sz="2000" b="0">
                <a:solidFill>
                  <a:srgbClr val="1F2D3A"/>
                </a:solidFill>
              </a:rPr>
              <a:t> vertices (possibly the same one)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|V|</a:t>
            </a:r>
            <a:r>
              <a:rPr sz="2000" b="0">
                <a:solidFill>
                  <a:srgbClr val="1F2D3A"/>
                </a:solidFill>
              </a:rPr>
              <a:t> vertices, </a:t>
            </a:r>
            <a:r>
              <a:rPr sz="2000" b="0">
                <a:solidFill>
                  <a:srgbClr val="A1123F"/>
                </a:solidFill>
                <a:latin typeface="Consolas"/>
              </a:rPr>
              <a:t>|E|</a:t>
            </a:r>
            <a:r>
              <a:rPr sz="2000" b="0">
                <a:solidFill>
                  <a:srgbClr val="1F2D3A"/>
                </a:solidFill>
              </a:rPr>
              <a:t> edges — common shorthand: </a:t>
            </a:r>
            <a:r>
              <a:rPr sz="2000" b="0">
                <a:solidFill>
                  <a:srgbClr val="A1123F"/>
                </a:solidFill>
                <a:latin typeface="Consolas"/>
              </a:rPr>
              <a:t>V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Everything below is built from just these two sets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Vocabulary (1/4)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5842"/>
                <a:gridCol w="721569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Vertex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(node)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single point in the graph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Edge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connection between two vertices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Undirected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Edge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A-B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usable in either direction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Directed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Edge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A&gt;B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usable only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to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Vocabulary (2/4)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8734"/>
                <a:gridCol w="670280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Weighted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Every edge carries a number, its weight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Unweighted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Edges only say "connected", no number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Degree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(undirected)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Edges touching a vertex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Vocabulary (3/4)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1457"/>
                <a:gridCol w="798007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In-degree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Edges pointing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into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a vertex (directed)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Out-degree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Edges pointing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out of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a vertex (directed)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Path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 edge sequence, no repeated vertex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Cycle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path that returns to its start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Vocabulary (4/4)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7865"/>
                <a:gridCol w="774367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Connected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Every vertex reachable from every other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Self-loop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 edge from a vertex to itself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Multi-edge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More than one edge between the same pair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Sparse vs. dense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Sparse: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close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V</a:t>
            </a:r>
            <a:r>
              <a:rPr sz="2000" b="0">
                <a:solidFill>
                  <a:srgbClr val="1F2D3A"/>
                </a:solidFill>
              </a:rPr>
              <a:t> — few edges per vertex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Dense: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close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V²</a:t>
            </a:r>
            <a:r>
              <a:rPr sz="2000" b="0">
                <a:solidFill>
                  <a:srgbClr val="1F2D3A"/>
                </a:solidFill>
              </a:rPr>
              <a:t> — most pairs connected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road map: sparse (a city has few roads per intersection)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"who follows whom" graph on a small team: often dense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What can we ask a graph?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709249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Operation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What it answers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has_edge(a, 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and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b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directly connected?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neighbors(v)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Which vertices does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connect to?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degree(v)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How many edges touch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Graph vocabulary, one term at a time</a:t>
            </a:r>
          </a:p>
        </p:txBody>
      </p:sp>
      <p:pic>
        <p:nvPicPr>
          <p:cNvPr id="7" name="Picture 6" descr="graph-terminology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108" y="1325880"/>
            <a:ext cx="468947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directed, two cycles, a self-loop</a:t>
            </a:r>
          </a:p>
        </p:txBody>
      </p:sp>
      <p:pic>
        <p:nvPicPr>
          <p:cNvPr id="7" name="Picture 6" descr="graph-terminology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108" y="1325880"/>
            <a:ext cx="468947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the Edge and Graph structs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Edge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to;             /* other endpoint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weight;         /* 1 if unweighted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struct Edge *next;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Edge;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Graph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Edge *adj[MAX_V];   /* one list per vertex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vertex_count;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directed;        /* 0 or 1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Graph;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out_degree()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out_degree(Graph *g, int v)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d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(Edge *e = g-&gt;adj[v]; e; e = e-&gt;next)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in_degree() (directed only)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in_degree(Graph *g, int v)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d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u = 0; u &lt; g-&gt;vertex_count; u++)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(Edge *e = g-&gt;adj[u]; e; e = e-&gt;next)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(e-&gt;to == v) d++;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out_degree</a:t>
            </a:r>
            <a:r>
              <a:rPr sz="2000" b="0">
                <a:solidFill>
                  <a:srgbClr val="1F2D3A"/>
                </a:solidFill>
              </a:rPr>
              <a:t>: walk one list — </a:t>
            </a:r>
            <a:r>
              <a:rPr sz="2000" b="1">
                <a:solidFill>
                  <a:srgbClr val="1F2D3A"/>
                </a:solidFill>
              </a:rPr>
              <a:t>O(degree of 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in_degree</a:t>
            </a:r>
            <a:r>
              <a:rPr sz="2000" b="0">
                <a:solidFill>
                  <a:srgbClr val="1F2D3A"/>
                </a:solidFill>
              </a:rPr>
              <a:t>: scan </a:t>
            </a:r>
            <a:r>
              <a:rPr sz="2000" b="1">
                <a:solidFill>
                  <a:srgbClr val="1F2D3A"/>
                </a:solidFill>
              </a:rPr>
              <a:t>every</a:t>
            </a:r>
            <a:r>
              <a:rPr sz="2000" b="0">
                <a:solidFill>
                  <a:srgbClr val="1F2D3A"/>
                </a:solidFill>
              </a:rPr>
              <a:t> vertex's list — </a:t>
            </a:r>
            <a:r>
              <a:rPr sz="2000" b="1">
                <a:solidFill>
                  <a:srgbClr val="1F2D3A"/>
                </a:solidFill>
              </a:rPr>
              <a:t>O(V + 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Directed graphs make "in" strictly more expensive than "out"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Confusing </a:t>
            </a:r>
            <a:r>
              <a:rPr sz="2000" b="1">
                <a:solidFill>
                  <a:srgbClr val="1F2D3A"/>
                </a:solidFill>
              </a:rPr>
              <a:t>degree</a:t>
            </a:r>
            <a:r>
              <a:rPr sz="2000" b="0">
                <a:solidFill>
                  <a:srgbClr val="1F2D3A"/>
                </a:solidFill>
              </a:rPr>
              <a:t> with </a:t>
            </a:r>
            <a:r>
              <a:rPr sz="2000" b="1">
                <a:solidFill>
                  <a:srgbClr val="1F2D3A"/>
                </a:solidFill>
              </a:rPr>
              <a:t>number of neighbors</a:t>
            </a:r>
            <a:r>
              <a:rPr sz="2000" b="0">
                <a:solidFill>
                  <a:srgbClr val="1F2D3A"/>
                </a:solidFill>
              </a:rPr>
              <a:t> on a multigraph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a self-loop counts </a:t>
            </a:r>
            <a:r>
              <a:rPr sz="2000" b="1">
                <a:solidFill>
                  <a:srgbClr val="1F2D3A"/>
                </a:solidFill>
              </a:rPr>
              <a:t>twice</a:t>
            </a:r>
            <a:r>
              <a:rPr sz="2000" b="0">
                <a:solidFill>
                  <a:srgbClr val="1F2D3A"/>
                </a:solidFill>
              </a:rPr>
              <a:t> toward degree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in-degree and out-degree are always equal — only in special cases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directed graph has a self-loop at vertex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. By how much does that self-loop raise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's in-degree? Its out-degree?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By 1 each.</a:t>
            </a:r>
            <a:r>
              <a:rPr sz="2000" b="0">
                <a:solidFill>
                  <a:srgbClr val="1F2D3A"/>
                </a:solidFill>
              </a:rPr>
              <a:t> A self-loop </a:t>
            </a:r>
            <a:r>
              <a:rPr sz="2000" b="0">
                <a:solidFill>
                  <a:srgbClr val="A1123F"/>
                </a:solidFill>
                <a:latin typeface="Consolas"/>
              </a:rPr>
              <a:t>X&gt;X</a:t>
            </a:r>
            <a:r>
              <a:rPr sz="2000" b="0">
                <a:solidFill>
                  <a:srgbClr val="1F2D3A"/>
                </a:solidFill>
              </a:rPr>
              <a:t> counts once as an edge </a:t>
            </a:r>
            <a:r>
              <a:rPr sz="2000" b="1">
                <a:solidFill>
                  <a:srgbClr val="1F2D3A"/>
                </a:solidFill>
              </a:rPr>
              <a:t>into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 and once as an edge </a:t>
            </a:r>
            <a:r>
              <a:rPr sz="2000" b="1">
                <a:solidFill>
                  <a:srgbClr val="1F2D3A"/>
                </a:solidFill>
              </a:rPr>
              <a:t>out of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X</a:t>
            </a:r>
            <a:r>
              <a:rPr sz="2000" b="0">
                <a:solidFill>
                  <a:srgbClr val="1F2D3A"/>
                </a:solidFill>
              </a:rPr>
              <a:t> — both in-degree and out-degree rise by 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Representing a Graph: Matrix vs. List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has_edge(a, b)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neighbors(v)</a:t>
            </a:r>
            <a:r>
              <a:rPr sz="2000" b="0">
                <a:solidFill>
                  <a:srgbClr val="1F2D3A"/>
                </a:solidFill>
              </a:rPr>
              <a:t> are the two questions every algorithm this week will ask. What is the simplest structure that answers both?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Two representations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6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637178"/>
                <a:gridCol w="4182754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Adjacency matrix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Adjacency list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Stores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 x V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One list per vertex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Best for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Dense graphs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Sparse graphs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O(degree)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Adjacency matrix — 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0">
                <a:solidFill>
                  <a:srgbClr val="A1123F"/>
                </a:solidFill>
                <a:latin typeface="Consolas"/>
              </a:rPr>
              <a:t>V x V</a:t>
            </a:r>
            <a:r>
              <a:rPr sz="2000" b="0">
                <a:solidFill>
                  <a:srgbClr val="1F2D3A"/>
                </a:solidFill>
              </a:rPr>
              <a:t> table. </a:t>
            </a:r>
            <a:r>
              <a:rPr sz="2000" b="0">
                <a:solidFill>
                  <a:srgbClr val="A1123F"/>
                </a:solidFill>
                <a:latin typeface="Consolas"/>
              </a:rPr>
              <a:t>matrix[i][j]</a:t>
            </a:r>
            <a:r>
              <a:rPr sz="2000" b="0">
                <a:solidFill>
                  <a:srgbClr val="1F2D3A"/>
                </a:solidFill>
              </a:rPr>
              <a:t> holds </a:t>
            </a:r>
            <a:r>
              <a:rPr sz="2000" b="1">
                <a:solidFill>
                  <a:srgbClr val="1F2D3A"/>
                </a:solidFill>
              </a:rPr>
              <a:t>1</a:t>
            </a:r>
            <a:r>
              <a:rPr sz="2000" b="0">
                <a:solidFill>
                  <a:srgbClr val="1F2D3A"/>
                </a:solidFill>
              </a:rPr>
              <a:t> (or the weight) if an edge runs from vertex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 to vertex </a:t>
            </a:r>
            <a:r>
              <a:rPr sz="2000" b="0">
                <a:solidFill>
                  <a:srgbClr val="A1123F"/>
                </a:solidFill>
                <a:latin typeface="Consolas"/>
              </a:rPr>
              <a:t>j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0</a:t>
            </a:r>
            <a:r>
              <a:rPr sz="2000" b="0">
                <a:solidFill>
                  <a:srgbClr val="1F2D3A"/>
                </a:solidFill>
              </a:rPr>
              <a:t> otherwise. Undirected graphs fill both </a:t>
            </a:r>
            <a:r>
              <a:rPr sz="2000" b="0">
                <a:solidFill>
                  <a:srgbClr val="A1123F"/>
                </a:solidFill>
                <a:latin typeface="Consolas"/>
              </a:rPr>
              <a:t>matrix[i][j]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matrix[j][i]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Adjacency matrix, step by step</a:t>
            </a:r>
          </a:p>
        </p:txBody>
      </p:sp>
      <p:pic>
        <p:nvPicPr>
          <p:cNvPr id="7" name="Picture 6" descr="adjacency-matrix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085" y="1325880"/>
            <a:ext cx="465352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 complete graph</a:t>
            </a:r>
          </a:p>
        </p:txBody>
      </p:sp>
      <p:pic>
        <p:nvPicPr>
          <p:cNvPr id="7" name="Picture 6" descr="adjacency-matrix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085" y="1325880"/>
            <a:ext cx="465352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add_edge() (matrix)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add_edge(int a, int b, int w, int dir)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matrix[a][b] = w;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(!dir)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matrix[b][a] = w;  /* mirror the diagonal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build_adjacency_matrix()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build_adjacency_matrix(Edge *edges, int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int directed)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MAX_V;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(int j = 0; j &lt; MAX_V; j++)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matrix[i][j]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k = 0; k &lt; n; k++)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add_edge(edges[k].a, edges[k].b,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edges[k].weight, directed);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— 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has_edge(a, b)</a:t>
            </a:r>
            <a:r>
              <a:rPr sz="2000" b="0">
                <a:solidFill>
                  <a:srgbClr val="1F2D3A"/>
                </a:solidFill>
              </a:rPr>
              <a:t>: one lookup — </a:t>
            </a:r>
            <a:r>
              <a:rPr sz="2000" b="1">
                <a:solidFill>
                  <a:srgbClr val="1F2D3A"/>
                </a:solidFill>
              </a:rPr>
              <a:t>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Space: always </a:t>
            </a:r>
            <a:r>
              <a:rPr sz="2000" b="1">
                <a:solidFill>
                  <a:srgbClr val="1F2D3A"/>
                </a:solidFill>
              </a:rPr>
              <a:t>O(V²)</a:t>
            </a:r>
            <a:r>
              <a:rPr sz="2000" b="0">
                <a:solidFill>
                  <a:srgbClr val="1F2D3A"/>
                </a:solidFill>
              </a:rPr>
              <a:t> cells, dense or sparse alike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neighbors(v)</a:t>
            </a:r>
            <a:r>
              <a:rPr sz="2000" b="0">
                <a:solidFill>
                  <a:srgbClr val="1F2D3A"/>
                </a:solidFill>
              </a:rPr>
              <a:t>: scan a whole row — </a:t>
            </a:r>
            <a:r>
              <a:rPr sz="2000" b="1">
                <a:solidFill>
                  <a:srgbClr val="1F2D3A"/>
                </a:solidFill>
              </a:rPr>
              <a:t>O(V)</a:t>
            </a:r>
            <a:r>
              <a:rPr sz="2000" b="0">
                <a:solidFill>
                  <a:srgbClr val="1F2D3A"/>
                </a:solidFill>
              </a:rPr>
              <a:t>, even if v has 1 edge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Adjacency list — 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One linked list </a:t>
            </a:r>
            <a:r>
              <a:rPr sz="2000" b="1">
                <a:solidFill>
                  <a:srgbClr val="1F2D3A"/>
                </a:solidFill>
              </a:rPr>
              <a:t>per vertex</a:t>
            </a:r>
            <a:r>
              <a:rPr sz="2000" b="0">
                <a:solidFill>
                  <a:srgbClr val="1F2D3A"/>
                </a:solidFill>
              </a:rPr>
              <a:t>, holding only its actual neighbors. An undirected edge </a:t>
            </a:r>
            <a:r>
              <a:rPr sz="2000" b="0">
                <a:solidFill>
                  <a:srgbClr val="A1123F"/>
                </a:solidFill>
                <a:latin typeface="Consolas"/>
              </a:rPr>
              <a:t>A-B</a:t>
            </a:r>
            <a:r>
              <a:rPr sz="2000" b="0">
                <a:solidFill>
                  <a:srgbClr val="1F2D3A"/>
                </a:solidFill>
              </a:rPr>
              <a:t> appends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's list </a:t>
            </a:r>
            <a:r>
              <a:rPr sz="2000" b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's list — two nodes, two lists.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Adjacency list, step by step</a:t>
            </a:r>
          </a:p>
        </p:txBody>
      </p:sp>
      <p:pic>
        <p:nvPicPr>
          <p:cNvPr id="7" name="Picture 6" descr="adjacency-lis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56" y="1325880"/>
            <a:ext cx="382418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directed, an empty list</a:t>
            </a:r>
          </a:p>
        </p:txBody>
      </p:sp>
      <p:pic>
        <p:nvPicPr>
          <p:cNvPr id="7" name="Picture 6" descr="adjacency-list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56" y="1325880"/>
            <a:ext cx="382418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append() (list)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append(int v, int neighbour)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AdjNode *n = malloc(sizeof(AdjNode));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n-&gt;to = neighbour;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n-&gt;next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(adj[v] == NULL) { adj[v] = n; return;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AdjNode *cur = adj[v];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(cur-&gt;next) cur = cur-&gt;next;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cur-&gt;next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add_edge() (list)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add_edge(int a, int b, int directed)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append(a, b);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(!directed &amp;&amp; a !=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append(b, a);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 —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Space: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— only real edges take room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neighbors(v)</a:t>
            </a:r>
            <a:r>
              <a:rPr sz="2000" b="0">
                <a:solidFill>
                  <a:srgbClr val="1F2D3A"/>
                </a:solidFill>
              </a:rPr>
              <a:t>: walk its own list — </a:t>
            </a:r>
            <a:r>
              <a:rPr sz="2000" b="1">
                <a:solidFill>
                  <a:srgbClr val="1F2D3A"/>
                </a:solidFill>
              </a:rPr>
              <a:t>O(degree of 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has_edge(a, b)</a:t>
            </a:r>
            <a:r>
              <a:rPr sz="2000" b="0">
                <a:solidFill>
                  <a:srgbClr val="1F2D3A"/>
                </a:solidFill>
              </a:rPr>
              <a:t>: walk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's list looking for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1">
                <a:solidFill>
                  <a:srgbClr val="1F2D3A"/>
                </a:solidFill>
              </a:rPr>
              <a:t>O(degree)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Memory &amp; time, side by side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910636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818588"/>
                <a:gridCol w="2364165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Matrix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List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Space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O(V²)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 + 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O(degree)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neighbors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O(degree)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Sparse graphs: pick the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road map, the web, a friendship graph: all </a:t>
            </a:r>
            <a:r>
              <a:rPr sz="2000" b="1">
                <a:solidFill>
                  <a:srgbClr val="1F2D3A"/>
                </a:solidFill>
              </a:rPr>
              <a:t>sparse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is close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V</a:t>
            </a:r>
            <a:r>
              <a:rPr sz="2000" b="0">
                <a:solidFill>
                  <a:srgbClr val="1F2D3A"/>
                </a:solidFill>
              </a:rPr>
              <a:t>, far below </a:t>
            </a:r>
            <a:r>
              <a:rPr sz="2000" b="0">
                <a:solidFill>
                  <a:srgbClr val="A1123F"/>
                </a:solidFill>
                <a:latin typeface="Consolas"/>
              </a:rPr>
              <a:t>V²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list's O(V + E) space stays small; the matrix wastes O(V²)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algorithm from Section 4 onward uses the </a:t>
            </a:r>
            <a:r>
              <a:rPr sz="2000" b="1">
                <a:solidFill>
                  <a:srgbClr val="1F2D3A"/>
                </a:solidFill>
              </a:rPr>
              <a:t>list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Dense graphs: matrix can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small, densely connected graph: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close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V²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matrix's "wasted" O(V²) space is barely wasted at all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has_edge</a:t>
            </a:r>
            <a:r>
              <a:rPr sz="2000" b="0">
                <a:solidFill>
                  <a:srgbClr val="1F2D3A"/>
                </a:solidFill>
              </a:rPr>
              <a:t> at O(1) can matter more than saving memory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Rule of thumb: dense and small → matrix; sparse or large → 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Using a matrix for a large, sparse graph — wastes huge memory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the list needs </a:t>
            </a:r>
            <a:r>
              <a:rPr sz="2000" b="1">
                <a:solidFill>
                  <a:srgbClr val="1F2D3A"/>
                </a:solidFill>
              </a:rPr>
              <a:t>two</a:t>
            </a:r>
            <a:r>
              <a:rPr sz="2000" b="0">
                <a:solidFill>
                  <a:srgbClr val="1F2D3A"/>
                </a:solidFill>
              </a:rPr>
              <a:t> appends for one undirected edge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Reading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matrix[a][b]</a:t>
            </a:r>
            <a:r>
              <a:rPr sz="2000" b="0">
                <a:solidFill>
                  <a:srgbClr val="1F2D3A"/>
                </a:solidFill>
              </a:rPr>
              <a:t> as symmetric on a </a:t>
            </a:r>
            <a:r>
              <a:rPr sz="2000" b="1">
                <a:solidFill>
                  <a:srgbClr val="1F2D3A"/>
                </a:solidFill>
              </a:rPr>
              <a:t>directed</a:t>
            </a:r>
            <a:r>
              <a:rPr sz="2000" b="0">
                <a:solidFill>
                  <a:srgbClr val="1F2D3A"/>
                </a:solidFill>
              </a:rPr>
              <a:t> graph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graph has 1,000 vertices and only 2,000 edges. Roughly how many cells would its adjacency matrix need? Is that graph sparse?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About 1,000,000 cells</a:t>
            </a:r>
            <a:r>
              <a:rPr sz="2000" b="0">
                <a:solidFill>
                  <a:srgbClr val="1F2D3A"/>
                </a:solidFill>
              </a:rPr>
              <a:t> (1000²), for only 2,000 real edges — almost all of it wasted. Yes, </a:t>
            </a:r>
            <a:r>
              <a:rPr sz="2000" b="1">
                <a:solidFill>
                  <a:srgbClr val="1F2D3A"/>
                </a:solidFill>
              </a:rPr>
              <a:t>very sparse</a:t>
            </a:r>
            <a:r>
              <a:rPr sz="2000" b="0">
                <a:solidFill>
                  <a:srgbClr val="1F2D3A"/>
                </a:solidFill>
              </a:rPr>
              <a:t>: an adjacency list is the clear choice here.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Breadth-First Search (BFS)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Starting from one person, who are their direct friends? Their friends-of-friends? Visit everyone, </a:t>
            </a:r>
            <a:r>
              <a:rPr sz="2000" b="1">
                <a:solidFill>
                  <a:srgbClr val="1F2D3A"/>
                </a:solidFill>
              </a:rPr>
              <a:t>nearest first</a:t>
            </a:r>
            <a:r>
              <a:rPr sz="2000" b="0">
                <a:solidFill>
                  <a:srgbClr val="1F2D3A"/>
                </a:solidFill>
              </a:rPr>
              <a:t> — how?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short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1959</a:t>
            </a:r>
            <a:r>
              <a:rPr sz="2000" b="0">
                <a:solidFill>
                  <a:srgbClr val="1F2D3A"/>
                </a:solidFill>
              </a:rPr>
              <a:t> — Edward F. Moore publishes "The shortest path through a maze"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Independently rediscovered soon after, in different fields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queue-based method here is essentially Moore's algorithm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Now one of the most widely used graph algorithms in practice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Intuition — ripples on a pond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Drop a stone: the first ripple reaches the nearest points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next ripple reaches everything one step further out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BFS visits a graph the same way — ring by ring, outward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"ring" here is called a </a:t>
            </a:r>
            <a:r>
              <a:rPr sz="2000" b="1">
                <a:solidFill>
                  <a:srgbClr val="1F2D3A"/>
                </a:solidFill>
              </a:rPr>
              <a:t>level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BFS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 a </a:t>
            </a:r>
            <a:r>
              <a:rPr sz="2000" b="1">
                <a:solidFill>
                  <a:srgbClr val="1F2D3A"/>
                </a:solidFill>
              </a:rPr>
              <a:t>queue</a:t>
            </a:r>
            <a:r>
              <a:rPr sz="2000" b="0">
                <a:solidFill>
                  <a:srgbClr val="1F2D3A"/>
                </a:solidFill>
              </a:rPr>
              <a:t> (FIFO) — Week 3's structure, holding vertices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Start vertex: enqueue it, mark visited, level 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Dequeue a vertex, enqueue its unvisited neighbors, level + 1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visited edges form a </a:t>
            </a:r>
            <a:r>
              <a:rPr sz="2000" b="1">
                <a:solidFill>
                  <a:srgbClr val="1F2D3A"/>
                </a:solidFill>
              </a:rPr>
              <a:t>BFS tree</a:t>
            </a:r>
            <a:r>
              <a:rPr sz="2000" b="0">
                <a:solidFill>
                  <a:srgbClr val="1F2D3A"/>
                </a:solidFill>
              </a:rPr>
              <a:t>, rooted at the start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BFS, step by step</a:t>
            </a:r>
          </a:p>
        </p:txBody>
      </p:sp>
      <p:pic>
        <p:nvPicPr>
          <p:cNvPr id="7" name="Picture 6" descr="bf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614" y="1325880"/>
            <a:ext cx="354646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 disconnected graph</a:t>
            </a:r>
          </a:p>
        </p:txBody>
      </p:sp>
      <p:pic>
        <p:nvPicPr>
          <p:cNvPr id="7" name="Picture 6" descr="bf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614" y="1325880"/>
            <a:ext cx="354646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enqueue / dequeue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enqueue(int v)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queue_data[rear] = 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rear = (rear + 1) % MAX_V;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dequeue(void)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v = queue_data[front];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front = (front + 1) % MAX_V;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bfs() main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visited[start]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level_of[start]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enqueue(start);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(count &gt; 0)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u = dequeue();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(Edge *e = g-&gt;adj[u]; e; e = e-&gt;next)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(!visited[e-&gt;to])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visited[e-&gt;to]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level_of[e-&gt;to] = level_of[u]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parent_of[e-&gt;to] = 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enqueue(e-&gt;to);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vertex enqueued once, dequeued once — </a:t>
            </a:r>
            <a:r>
              <a:rPr sz="2000" b="1">
                <a:solidFill>
                  <a:srgbClr val="1F2D3A"/>
                </a:solidFill>
              </a:rPr>
              <a:t>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edge examined at most twice (once per endpoint) — </a:t>
            </a:r>
            <a:r>
              <a:rPr sz="2000" b="1">
                <a:solidFill>
                  <a:srgbClr val="1F2D3A"/>
                </a:solidFill>
              </a:rPr>
              <a:t>O(E)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Total: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— the same bound as every list operation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BFS tree and shortest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BFS tree's root-to-vertex path uses the </a:t>
            </a:r>
            <a:r>
              <a:rPr sz="2000" b="1">
                <a:solidFill>
                  <a:srgbClr val="1F2D3A"/>
                </a:solidFill>
              </a:rPr>
              <a:t>fewest edges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level_of[v]</a:t>
            </a:r>
            <a:r>
              <a:rPr sz="2000" b="0">
                <a:solidFill>
                  <a:srgbClr val="1F2D3A"/>
                </a:solidFill>
              </a:rPr>
              <a:t> is exactly that shortest edge-count from the start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only holds for </a:t>
            </a:r>
            <a:r>
              <a:rPr sz="2000" b="1">
                <a:solidFill>
                  <a:srgbClr val="1F2D3A"/>
                </a:solidFill>
              </a:rPr>
              <a:t>unweighted</a:t>
            </a:r>
            <a:r>
              <a:rPr sz="2000" b="0">
                <a:solidFill>
                  <a:srgbClr val="1F2D3A"/>
                </a:solidFill>
              </a:rPr>
              <a:t> graphs — Section 8 uses it directly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Weighted shortest paths need Dijkstra's algorithm, Week 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"Friends of friends" — Section 4's social-network motivation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Web crawling level by level, nearest pages first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Puzzle solvers: fewest moves to solve a maze or a sliding puzzle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Network broadcast: reach every machine in the fewest hops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Using a </a:t>
            </a:r>
            <a:r>
              <a:rPr sz="2000" b="1">
                <a:solidFill>
                  <a:srgbClr val="1F2D3A"/>
                </a:solidFill>
              </a:rPr>
              <a:t>stack</a:t>
            </a:r>
            <a:r>
              <a:rPr sz="2000" b="0">
                <a:solidFill>
                  <a:srgbClr val="1F2D3A"/>
                </a:solidFill>
              </a:rPr>
              <a:t> instead of a queue — silently becomes depth-first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to mark a vertex visited </a:t>
            </a:r>
            <a:r>
              <a:rPr sz="2000" b="1">
                <a:solidFill>
                  <a:srgbClr val="1F2D3A"/>
                </a:solidFill>
              </a:rPr>
              <a:t>at enqueue time</a:t>
            </a:r>
            <a:r>
              <a:rPr sz="2000" b="0">
                <a:solidFill>
                  <a:srgbClr val="1F2D3A"/>
                </a:solidFill>
              </a:rPr>
              <a:t>, not dequeue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Re-enqueuing an already-visited vertex — wastes work, may loop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an unweighted graph, BFS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gives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level 2. How many edges are on the </a:t>
            </a:r>
            <a:r>
              <a:rPr sz="2000" b="1">
                <a:solidFill>
                  <a:srgbClr val="1F2D3A"/>
                </a:solidFill>
              </a:rPr>
              <a:t>shortest</a:t>
            </a:r>
            <a:r>
              <a:rPr sz="2000" b="0">
                <a:solidFill>
                  <a:srgbClr val="1F2D3A"/>
                </a:solidFill>
              </a:rPr>
              <a:t> path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Exactly 2 edges.</a:t>
            </a:r>
            <a:r>
              <a:rPr sz="2000" b="0">
                <a:solidFill>
                  <a:srgbClr val="1F2D3A"/>
                </a:solidFill>
              </a:rPr>
              <a:t> BFS's level is defined as the fewest edges from the start — that is precisely the shortest-path edge count.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Depth-First Search (DFS) — Recursive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maze has many branching paths. Instead of exploring every direction a little at a time, what if you committed to </a:t>
            </a:r>
            <a:r>
              <a:rPr sz="2000" b="1">
                <a:solidFill>
                  <a:srgbClr val="1F2D3A"/>
                </a:solidFill>
              </a:rPr>
              <a:t>one</a:t>
            </a:r>
            <a:r>
              <a:rPr sz="2000" b="0">
                <a:solidFill>
                  <a:srgbClr val="1F2D3A"/>
                </a:solidFill>
              </a:rPr>
              <a:t> path, all the way, before ever backtracking?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Intuition — a maze, go deep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Pick a direction, walk it as far as it goes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Dead end? Back up to the last choice, try the next direction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"Back up" is exactly what a </a:t>
            </a:r>
            <a:r>
              <a:rPr sz="2000" b="1">
                <a:solidFill>
                  <a:srgbClr val="1F2D3A"/>
                </a:solidFill>
              </a:rPr>
              <a:t>stack</a:t>
            </a:r>
            <a:r>
              <a:rPr sz="2000" b="0">
                <a:solidFill>
                  <a:srgbClr val="1F2D3A"/>
                </a:solidFill>
              </a:rPr>
              <a:t> (or recursion) does for you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Depth-first, not breadth-first — one branch, fully, before the next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Colors and times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</a:t>
            </a:r>
            <a:r>
              <a:rPr sz="2000" b="0">
                <a:solidFill>
                  <a:srgbClr val="1F2D3A"/>
                </a:solidFill>
              </a:rPr>
              <a:t> (0): not yet discovered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Gray</a:t>
            </a:r>
            <a:r>
              <a:rPr sz="2000" b="0">
                <a:solidFill>
                  <a:srgbClr val="1F2D3A"/>
                </a:solidFill>
              </a:rPr>
              <a:t> (1): discovered, still exploring its neighbors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Black</a:t>
            </a:r>
            <a:r>
              <a:rPr sz="2000" b="0">
                <a:solidFill>
                  <a:srgbClr val="1F2D3A"/>
                </a:solidFill>
              </a:rPr>
              <a:t> (2): finished, every neighbor explored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disc[v]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fin[v]</a:t>
            </a:r>
            <a:r>
              <a:rPr sz="2000" b="0">
                <a:solidFill>
                  <a:srgbClr val="1F2D3A"/>
                </a:solidFill>
              </a:rPr>
              <a:t>: the clock tick each color change happens at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types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175"/>
                <a:gridCol w="760935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Tree edge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Leads to a new, white vertex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Back edge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Leads to a gray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ancestor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a cycle!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Forward / cross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Leads to a finished, black vertex (directed only)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DFS recursive, step by step</a:t>
            </a:r>
          </a:p>
        </p:txBody>
      </p:sp>
      <p:pic>
        <p:nvPicPr>
          <p:cNvPr id="7" name="Picture 6" descr="dfs-recursiv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3112" y="1325880"/>
            <a:ext cx="346547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all four edge types at once</a:t>
            </a:r>
          </a:p>
        </p:txBody>
      </p:sp>
      <p:pic>
        <p:nvPicPr>
          <p:cNvPr id="7" name="Picture 6" descr="dfs-recursiv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3112" y="1325880"/>
            <a:ext cx="346547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dfs_visit(): discovery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dfs_visit(Graph *g, int u)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color_of[u] = 1;         /* gray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disc_time[u] = ++clock_;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(Edge *e = g-&gt;adj[u]; e; e = e-&gt;next)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v = e-&gt;to;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/* ... classify the edge to v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color_of[u] = 2;         /* black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fin_time[u] = ++clock_;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classifying an edge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(color_of[v] == 0)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parent_of[v] = 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dfs_visit(g, v);     /* tree edge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if (color_of[v] == 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back edge: v is an ancestor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v is black: forward or cross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one tree per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dfs(Graph *g)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g-&gt;vertex_count;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color_of[i]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g-&gt;vertex_count;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(color_of[i] == 0)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dfs_visit(g, 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vertex colored white → gray → black </a:t>
            </a:r>
            <a:r>
              <a:rPr sz="2000" b="1">
                <a:solidFill>
                  <a:srgbClr val="1F2D3A"/>
                </a:solidFill>
              </a:rPr>
              <a:t>once</a:t>
            </a:r>
            <a:r>
              <a:rPr sz="2000" b="0">
                <a:solidFill>
                  <a:srgbClr val="1F2D3A"/>
                </a:solidFill>
              </a:rPr>
              <a:t> — 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edge examined exactly once (twice if undirected) — O(E)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Total: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— identical to BFS's bound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Recursion depth: a hidden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</a:t>
            </a:r>
            <a:r>
              <a:rPr sz="2000" b="0">
                <a:solidFill>
                  <a:srgbClr val="A1123F"/>
                </a:solidFill>
                <a:latin typeface="Consolas"/>
              </a:rPr>
              <a:t>dfs_visit</a:t>
            </a:r>
            <a:r>
              <a:rPr sz="2000" b="0">
                <a:solidFill>
                  <a:srgbClr val="1F2D3A"/>
                </a:solidFill>
              </a:rPr>
              <a:t> call adds one frame to the </a:t>
            </a:r>
            <a:r>
              <a:rPr sz="2000" b="1">
                <a:solidFill>
                  <a:srgbClr val="1F2D3A"/>
                </a:solidFill>
              </a:rPr>
              <a:t>call stack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long chain graph can recurse as deep as </a:t>
            </a:r>
            <a:r>
              <a:rPr sz="2000" b="0">
                <a:solidFill>
                  <a:srgbClr val="A1123F"/>
                </a:solidFill>
                <a:latin typeface="Consolas"/>
              </a:rPr>
              <a:t>V</a:t>
            </a:r>
            <a:r>
              <a:rPr sz="2000" b="0">
                <a:solidFill>
                  <a:srgbClr val="1F2D3A"/>
                </a:solidFill>
              </a:rPr>
              <a:t> calls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very large or very "stringy" graph can </a:t>
            </a:r>
            <a:r>
              <a:rPr sz="2000" b="1">
                <a:solidFill>
                  <a:srgbClr val="1F2D3A"/>
                </a:solidFill>
              </a:rPr>
              <a:t>overflow</a:t>
            </a:r>
            <a:r>
              <a:rPr sz="2000" b="0">
                <a:solidFill>
                  <a:srgbClr val="1F2D3A"/>
                </a:solidFill>
              </a:rPr>
              <a:t> that stack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Section 6 rebuilds DFS with an explicit stack to avoid exactly this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to skip the edge straight back to your own </a:t>
            </a:r>
            <a:r>
              <a:rPr sz="2000" b="1">
                <a:solidFill>
                  <a:srgbClr val="1F2D3A"/>
                </a:solidFill>
              </a:rPr>
              <a:t>parent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Treating every non-tree edge as a "cycle" on a </a:t>
            </a:r>
            <a:r>
              <a:rPr sz="2000" b="1">
                <a:solidFill>
                  <a:srgbClr val="1F2D3A"/>
                </a:solidFill>
              </a:rPr>
              <a:t>directed</a:t>
            </a:r>
            <a:r>
              <a:rPr sz="2000" b="0">
                <a:solidFill>
                  <a:srgbClr val="1F2D3A"/>
                </a:solidFill>
              </a:rPr>
              <a:t> graph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Reusing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color_of</a:t>
            </a:r>
            <a:r>
              <a:rPr sz="2000" b="0">
                <a:solidFill>
                  <a:srgbClr val="1F2D3A"/>
                </a:solidFill>
              </a:rPr>
              <a:t> across runs without resetting it to white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an undirected graph, DFS finds an edge to a vertex that is currently </a:t>
            </a:r>
            <a:r>
              <a:rPr sz="2000" b="1">
                <a:solidFill>
                  <a:srgbClr val="1F2D3A"/>
                </a:solidFill>
              </a:rPr>
              <a:t>gray</a:t>
            </a:r>
            <a:r>
              <a:rPr sz="2000" b="0">
                <a:solidFill>
                  <a:srgbClr val="1F2D3A"/>
                </a:solidFill>
              </a:rPr>
              <a:t>. What does that tell you about the graph?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graph has a cycle.</a:t>
            </a:r>
            <a:r>
              <a:rPr sz="2000" b="0">
                <a:solidFill>
                  <a:srgbClr val="1F2D3A"/>
                </a:solidFill>
              </a:rPr>
              <a:t> A gray vertex is still on the call stack — it is an </a:t>
            </a:r>
            <a:r>
              <a:rPr sz="2000" b="1">
                <a:solidFill>
                  <a:srgbClr val="1F2D3A"/>
                </a:solidFill>
              </a:rPr>
              <a:t>ancestor</a:t>
            </a:r>
            <a:r>
              <a:rPr sz="2000" b="0">
                <a:solidFill>
                  <a:srgbClr val="1F2D3A"/>
                </a:solidFill>
              </a:rPr>
              <a:t> of the current vertex, so this edge is a back edge.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DFS — Iterative (Explicit Stack)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Section 5 ended on a warning: deep recursion can overflow the call stack. Can the </a:t>
            </a:r>
            <a:r>
              <a:rPr sz="2000" b="0" i="1">
                <a:solidFill>
                  <a:srgbClr val="1F2D3A"/>
                </a:solidFill>
              </a:rPr>
              <a:t>exact same</a:t>
            </a:r>
            <a:r>
              <a:rPr sz="2000" b="0">
                <a:solidFill>
                  <a:srgbClr val="1F2D3A"/>
                </a:solidFill>
              </a:rPr>
              <a:t> traversal be written without recursion?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Why go iterative?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Recursion's call stack has a fixed size, set by the OS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Our </a:t>
            </a:r>
            <a:r>
              <a:rPr sz="2000" b="1">
                <a:solidFill>
                  <a:srgbClr val="1F2D3A"/>
                </a:solidFill>
              </a:rPr>
              <a:t>own</a:t>
            </a:r>
            <a:r>
              <a:rPr sz="2000" b="0">
                <a:solidFill>
                  <a:srgbClr val="1F2D3A"/>
                </a:solidFill>
              </a:rPr>
              <a:t> stack (Week 3's array-based one) can be sized as needed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Same algorithm, same visit order — only the bookkeeping moves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memory saved overall, just moved somewhere safer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reverse-order trick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Neighbors must be visited in </a:t>
            </a:r>
            <a:r>
              <a:rPr sz="2000" b="1">
                <a:solidFill>
                  <a:srgbClr val="1F2D3A"/>
                </a:solidFill>
              </a:rPr>
              <a:t>alphabetical</a:t>
            </a:r>
            <a:r>
              <a:rPr sz="2000" b="0">
                <a:solidFill>
                  <a:srgbClr val="1F2D3A"/>
                </a:solidFill>
              </a:rPr>
              <a:t> order, like recursion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Pushing them alphabetically would pop them </a:t>
            </a:r>
            <a:r>
              <a:rPr sz="2000" b="1">
                <a:solidFill>
                  <a:srgbClr val="1F2D3A"/>
                </a:solidFill>
              </a:rPr>
              <a:t>backwards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Fix: push neighbors in </a:t>
            </a:r>
            <a:r>
              <a:rPr sz="2000" b="1">
                <a:solidFill>
                  <a:srgbClr val="1F2D3A"/>
                </a:solidFill>
              </a:rPr>
              <a:t>reverse</a:t>
            </a:r>
            <a:r>
              <a:rPr sz="2000" b="0">
                <a:solidFill>
                  <a:srgbClr val="1F2D3A"/>
                </a:solidFill>
              </a:rPr>
              <a:t> alphabetical order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Popping a reversed-push order restores the original order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DFS iterative, step by step</a:t>
            </a:r>
          </a:p>
        </p:txBody>
      </p:sp>
      <p:pic>
        <p:nvPicPr>
          <p:cNvPr id="7" name="Picture 6" descr="dfs-iterativ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293" y="1325880"/>
            <a:ext cx="399310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a DFS forest</a:t>
            </a:r>
          </a:p>
        </p:txBody>
      </p:sp>
      <p:pic>
        <p:nvPicPr>
          <p:cNvPr id="7" name="Picture 6" descr="dfs-iterative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293" y="1325880"/>
            <a:ext cx="399310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push / pop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push(int v) { stack_data[++top] = v;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pop(void)   { return stack_data[top--]; }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dfs_iterative() main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push(start);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(top &gt;= 0)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u = pop();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(visited[u]) continue;   /* stale entry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visited[u]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deg[u] - 1; i &gt;= 0; i--)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(!visited[adj[u][i]])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push(adj[u][i]);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vertex pushed and popped a bounded number of times — 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edge examined once (twice if undirected) — O(E)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Total: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— no better, no worse than the recursive version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Recursive vs. iterative, side by side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3200716"/>
                <a:gridCol w="4946562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Recursive (Sec. 5)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Iterative (Sec. 6)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call 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Our own array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Visit order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Alphabetical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Alphabetical (reversed pushes)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Deep-graph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Can overflow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Bounded by array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Pushing neighbors in </a:t>
            </a:r>
            <a:r>
              <a:rPr sz="2000" b="1">
                <a:solidFill>
                  <a:srgbClr val="1F2D3A"/>
                </a:solidFill>
              </a:rPr>
              <a:t>forward</a:t>
            </a:r>
            <a:r>
              <a:rPr sz="2000" b="0">
                <a:solidFill>
                  <a:srgbClr val="1F2D3A"/>
                </a:solidFill>
              </a:rPr>
              <a:t>, not reverse, alphabetical order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the stale-entry check — double-visits, wrong disc/fin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a popped, unvisited vertex is always freshly discovered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vertex is pushed </a:t>
            </a:r>
            <a:r>
              <a:rPr sz="2000" b="1">
                <a:solidFill>
                  <a:srgbClr val="1F2D3A"/>
                </a:solidFill>
              </a:rPr>
              <a:t>twice</a:t>
            </a:r>
            <a:r>
              <a:rPr sz="2000" b="0">
                <a:solidFill>
                  <a:srgbClr val="1F2D3A"/>
                </a:solidFill>
              </a:rPr>
              <a:t>, from two different neighbors, before either pop happens. How many times is it actually visited?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Once.</a:t>
            </a:r>
            <a:r>
              <a:rPr sz="2000" b="0">
                <a:solidFill>
                  <a:srgbClr val="1F2D3A"/>
                </a:solidFill>
              </a:rPr>
              <a:t> The first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pop()</a:t>
            </a:r>
            <a:r>
              <a:rPr sz="2000" b="0">
                <a:solidFill>
                  <a:srgbClr val="1F2D3A"/>
                </a:solidFill>
              </a:rPr>
              <a:t> visits it and marks it visited; the second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pop()</a:t>
            </a:r>
            <a:r>
              <a:rPr sz="2000" b="0">
                <a:solidFill>
                  <a:srgbClr val="1F2D3A"/>
                </a:solidFill>
              </a:rPr>
              <a:t> finds </a:t>
            </a:r>
            <a:r>
              <a:rPr sz="2000" b="0">
                <a:solidFill>
                  <a:srgbClr val="A1123F"/>
                </a:solidFill>
                <a:latin typeface="Consolas"/>
              </a:rPr>
              <a:t>visited[u]</a:t>
            </a:r>
            <a:r>
              <a:rPr sz="2000" b="0">
                <a:solidFill>
                  <a:srgbClr val="1F2D3A"/>
                </a:solidFill>
              </a:rPr>
              <a:t> already true and is discarded.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Connected Components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graph may not be one connected piece — it can be several separate pieces. How many? Which vertices belong to which piece?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unvisited vertex starts a </a:t>
            </a:r>
            <a:r>
              <a:rPr sz="2000" b="1">
                <a:solidFill>
                  <a:srgbClr val="1F2D3A"/>
                </a:solidFill>
              </a:rPr>
              <a:t>new</a:t>
            </a:r>
            <a:r>
              <a:rPr sz="2000" b="0">
                <a:solidFill>
                  <a:srgbClr val="1F2D3A"/>
                </a:solidFill>
              </a:rPr>
              <a:t> BFS, with a new 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 BFS labels everything </a:t>
            </a:r>
            <a:r>
              <a:rPr sz="2000" b="1">
                <a:solidFill>
                  <a:srgbClr val="1F2D3A"/>
                </a:solidFill>
              </a:rPr>
              <a:t>it can reach</a:t>
            </a:r>
            <a:r>
              <a:rPr sz="2000" b="0">
                <a:solidFill>
                  <a:srgbClr val="1F2D3A"/>
                </a:solidFill>
              </a:rPr>
              <a:t> with that same 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Once the queue empties, the next unvisited vertex starts the next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Direction is </a:t>
            </a:r>
            <a:r>
              <a:rPr sz="2000" b="1">
                <a:solidFill>
                  <a:srgbClr val="1F2D3A"/>
                </a:solidFill>
              </a:rPr>
              <a:t>ignored</a:t>
            </a:r>
            <a:r>
              <a:rPr sz="2000" b="0">
                <a:solidFill>
                  <a:srgbClr val="1F2D3A"/>
                </a:solidFill>
              </a:rPr>
              <a:t> — this finds </a:t>
            </a:r>
            <a:r>
              <a:rPr sz="2000" b="1">
                <a:solidFill>
                  <a:srgbClr val="1F2D3A"/>
                </a:solidFill>
              </a:rPr>
              <a:t>weak</a:t>
            </a:r>
            <a:r>
              <a:rPr sz="2000" b="0">
                <a:solidFill>
                  <a:srgbClr val="1F2D3A"/>
                </a:solidFill>
              </a:rPr>
              <a:t> connectivity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Connected components, step by step</a:t>
            </a:r>
          </a:p>
        </p:txBody>
      </p:sp>
      <p:pic>
        <p:nvPicPr>
          <p:cNvPr id="7" name="Picture 6" descr="connected-component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168" y="1325880"/>
            <a:ext cx="721335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many small components</a:t>
            </a:r>
          </a:p>
        </p:txBody>
      </p:sp>
      <p:pic>
        <p:nvPicPr>
          <p:cNvPr id="7" name="Picture 6" descr="connected-component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168" y="1325880"/>
            <a:ext cx="721335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bfs_label()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bfs_label(Graph *g, int start, int 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q[MAX_V], front = 0, rear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comp_of[start] = id;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q[rear++] = start;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(front &lt; rear)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u = q[front++];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for (Edge *e = g-&gt;adj[u]; e; e = e-&gt;next)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(comp_of[e-&gt;to] == -1)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comp_of[e-&gt;to] = id;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q[rear++] = e-&gt;to;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count_components()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count_components(Graph *g)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next_id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g-&gt;vertex_count;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comp_of[i]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g-&gt;vertex_count;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(comp_of[i] == 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bfs_label(g, i, next_id++);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next_id;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vertex enters exactly one </a:t>
            </a:r>
            <a:r>
              <a:rPr sz="2000" b="0">
                <a:solidFill>
                  <a:srgbClr val="A1123F"/>
                </a:solidFill>
                <a:latin typeface="Consolas"/>
              </a:rPr>
              <a:t>bfs_label</a:t>
            </a:r>
            <a:r>
              <a:rPr sz="2000" b="0">
                <a:solidFill>
                  <a:srgbClr val="1F2D3A"/>
                </a:solidFill>
              </a:rPr>
              <a:t> call — 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edge examined at most twice total, across all calls — O(E)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Total: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— the cost of one BFS, done once per component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Social networks: which friend circles exist, and who is in each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Image processing: which pixels form one connected region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Networking: which machines can currently reach each other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Puzzle games: "flood fill" — the paint-bucket tool, essentially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direction is </a:t>
            </a:r>
            <a:r>
              <a:rPr sz="2000" b="1">
                <a:solidFill>
                  <a:srgbClr val="1F2D3A"/>
                </a:solidFill>
              </a:rPr>
              <a:t>ignored</a:t>
            </a:r>
            <a:r>
              <a:rPr sz="2000" b="0">
                <a:solidFill>
                  <a:srgbClr val="1F2D3A"/>
                </a:solidFill>
              </a:rPr>
              <a:t> here — this is weak connectivity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Reusing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comp_of</a:t>
            </a:r>
            <a:r>
              <a:rPr sz="2000" b="0">
                <a:solidFill>
                  <a:srgbClr val="1F2D3A"/>
                </a:solidFill>
              </a:rPr>
              <a:t> values across separate graphs without resetting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Assuming a single-vertex graph has </a:t>
            </a:r>
            <a:r>
              <a:rPr sz="2000" b="1">
                <a:solidFill>
                  <a:srgbClr val="1F2D3A"/>
                </a:solidFill>
              </a:rPr>
              <a:t>zero</a:t>
            </a:r>
            <a:r>
              <a:rPr sz="2000" b="0">
                <a:solidFill>
                  <a:srgbClr val="1F2D3A"/>
                </a:solidFill>
              </a:rPr>
              <a:t> components — it has one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directed graph has an edge </a:t>
            </a:r>
            <a:r>
              <a:rPr sz="2000" b="0">
                <a:solidFill>
                  <a:srgbClr val="A1123F"/>
                </a:solidFill>
                <a:latin typeface="Consolas"/>
              </a:rPr>
              <a:t>A&gt;B</a:t>
            </a:r>
            <a:r>
              <a:rPr sz="2000" b="0">
                <a:solidFill>
                  <a:srgbClr val="1F2D3A"/>
                </a:solidFill>
              </a:rPr>
              <a:t> but no edge </a:t>
            </a:r>
            <a:r>
              <a:rPr sz="2000" b="0">
                <a:solidFill>
                  <a:srgbClr val="A1123F"/>
                </a:solidFill>
                <a:latin typeface="Consolas"/>
              </a:rPr>
              <a:t>B&gt;A</a:t>
            </a:r>
            <a:r>
              <a:rPr sz="2000" b="0">
                <a:solidFill>
                  <a:srgbClr val="1F2D3A"/>
                </a:solidFill>
              </a:rPr>
              <a:t>. Weakly, are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in the same component?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Yes.</a:t>
            </a:r>
            <a:r>
              <a:rPr sz="2000" b="0">
                <a:solidFill>
                  <a:srgbClr val="1F2D3A"/>
                </a:solidFill>
              </a:rPr>
              <a:t> Weak connectivity ignores direction entirely, so </a:t>
            </a:r>
            <a:r>
              <a:rPr sz="2000" b="0">
                <a:solidFill>
                  <a:srgbClr val="A1123F"/>
                </a:solidFill>
                <a:latin typeface="Consolas"/>
              </a:rPr>
              <a:t>A&gt;B</a:t>
            </a:r>
            <a:r>
              <a:rPr sz="2000" b="0">
                <a:solidFill>
                  <a:srgbClr val="1F2D3A"/>
                </a:solidFill>
              </a:rPr>
              <a:t> alone is enough to place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in the same component.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Shortest Path in Unweighted Graphs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question to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BFS already knows the fewest edges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 to every vertex. Can it also report the </a:t>
            </a:r>
            <a:r>
              <a:rPr sz="2000" b="1">
                <a:solidFill>
                  <a:srgbClr val="1F2D3A"/>
                </a:solidFill>
              </a:rPr>
              <a:t>exact route</a:t>
            </a:r>
            <a:r>
              <a:rPr sz="2000" b="0">
                <a:solidFill>
                  <a:srgbClr val="1F2D3A"/>
                </a:solidFill>
              </a:rPr>
              <a:t> — not just the distance?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 BFS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, recording each vertex's </a:t>
            </a:r>
            <a:r>
              <a:rPr sz="2000" b="1">
                <a:solidFill>
                  <a:srgbClr val="1F2D3A"/>
                </a:solidFill>
              </a:rPr>
              <a:t>parent</a:t>
            </a:r>
            <a:r>
              <a:rPr sz="2000" b="0">
                <a:solidFill>
                  <a:srgbClr val="1F2D3A"/>
                </a:solidFill>
              </a:rPr>
              <a:t> as usual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 find the path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: start at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follow </a:t>
            </a:r>
            <a:r>
              <a:rPr sz="2000" b="0">
                <a:solidFill>
                  <a:srgbClr val="A1123F"/>
                </a:solidFill>
                <a:latin typeface="Consolas"/>
              </a:rPr>
              <a:t>parent</a:t>
            </a:r>
            <a:r>
              <a:rPr sz="2000" b="0">
                <a:solidFill>
                  <a:srgbClr val="1F2D3A"/>
                </a:solidFill>
              </a:rPr>
              <a:t> backward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Stop when you reach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 — then </a:t>
            </a:r>
            <a:r>
              <a:rPr sz="2000" b="1">
                <a:solidFill>
                  <a:srgbClr val="1F2D3A"/>
                </a:solidFill>
              </a:rPr>
              <a:t>reverse</a:t>
            </a:r>
            <a:r>
              <a:rPr sz="2000" b="0">
                <a:solidFill>
                  <a:srgbClr val="1F2D3A"/>
                </a:solidFill>
              </a:rPr>
              <a:t> the collected list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result is the shortest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-to-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path, by edge count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Path-finding BFS, step by step</a:t>
            </a:r>
          </a:p>
        </p:txBody>
      </p:sp>
      <p:pic>
        <p:nvPicPr>
          <p:cNvPr id="7" name="Picture 6" descr="path-finding-bf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382" y="1325880"/>
            <a:ext cx="370093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Edge case — no path exists</a:t>
            </a:r>
          </a:p>
        </p:txBody>
      </p:sp>
      <p:pic>
        <p:nvPicPr>
          <p:cNvPr id="7" name="Picture 6" descr="path-finding-bfs.e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382" y="1325880"/>
            <a:ext cx="370093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bfs_shortest_path(): the 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visited[s]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queue_data[rear++] = s;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(front &lt; rear)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u = queue_data[front++];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(Edge *e = g-&gt;adj[u]; e; e = e-&gt;next)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(!visited[e-&gt;to])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visited[e-&gt;to]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parent_of[e-&gt;to] = 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queue_data[rear++] = e-&gt;to;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Code — walking back the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(!visited[t]) return -1;      /* no path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len = 0, v = 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(v != s)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path_out[len++] = 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v = parent_of[v];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path_out[len++] = s;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... reverse path_out[0..len) in place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return len - 1;                  /* edges */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BFS itself: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, exactly as in Section 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Walking the path back: </a:t>
            </a:r>
            <a:r>
              <a:rPr sz="2000" b="1">
                <a:solidFill>
                  <a:srgbClr val="1F2D3A"/>
                </a:solidFill>
              </a:rPr>
              <a:t>O(path length)</a:t>
            </a:r>
            <a:r>
              <a:rPr sz="2000" b="0">
                <a:solidFill>
                  <a:srgbClr val="1F2D3A"/>
                </a:solidFill>
              </a:rPr>
              <a:t>, at most O(V)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Total: still </a:t>
            </a:r>
            <a:r>
              <a:rPr sz="2000" b="1">
                <a:solidFill>
                  <a:srgbClr val="1F2D3A"/>
                </a:solidFill>
              </a:rPr>
              <a:t>O(V + E)</a:t>
            </a:r>
            <a:r>
              <a:rPr sz="2000" b="0">
                <a:solidFill>
                  <a:srgbClr val="1F2D3A"/>
                </a:solidFill>
              </a:rPr>
              <a:t> — the walk-back never dominates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Multiple shortest paths can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BFS reports </a:t>
            </a:r>
            <a:r>
              <a:rPr sz="2000" b="1">
                <a:solidFill>
                  <a:srgbClr val="1F2D3A"/>
                </a:solidFill>
              </a:rPr>
              <a:t>one</a:t>
            </a:r>
            <a:r>
              <a:rPr sz="2000" b="0">
                <a:solidFill>
                  <a:srgbClr val="1F2D3A"/>
                </a:solidFill>
              </a:rPr>
              <a:t> shortest path, not necessarily the only 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different neighbor-visiting order can produce a different, equally short path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correct shortest paths share the same </a:t>
            </a:r>
            <a:r>
              <a:rPr sz="2000" b="1">
                <a:solidFill>
                  <a:srgbClr val="1F2D3A"/>
                </a:solidFill>
              </a:rPr>
              <a:t>length</a:t>
            </a:r>
            <a:r>
              <a:rPr sz="2000" b="0">
                <a:solidFill>
                  <a:srgbClr val="1F2D3A"/>
                </a:solidFill>
              </a:rPr>
              <a:t>, never necessarily the same route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Preview: weighted graphs need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section only works because every edge secretly has weight 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weighted</a:t>
            </a:r>
            <a:r>
              <a:rPr sz="2000" b="0">
                <a:solidFill>
                  <a:srgbClr val="1F2D3A"/>
                </a:solidFill>
              </a:rPr>
              <a:t> graph needs to compare actual distances, not edge counts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Dijkstra's algorithm</a:t>
            </a:r>
            <a:r>
              <a:rPr sz="2000" b="0">
                <a:solidFill>
                  <a:srgbClr val="1F2D3A"/>
                </a:solidFill>
              </a:rPr>
              <a:t> (Week 9) solves that, using a </a:t>
            </a:r>
            <a:r>
              <a:rPr sz="2000" b="1">
                <a:solidFill>
                  <a:srgbClr val="1F2D3A"/>
                </a:solidFill>
              </a:rPr>
              <a:t>priority queue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 priority queue is exactly the one Week 4 built from a heap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to check </a:t>
            </a:r>
            <a:r>
              <a:rPr sz="2000" b="0">
                <a:solidFill>
                  <a:srgbClr val="A1123F"/>
                </a:solidFill>
                <a:latin typeface="Consolas"/>
              </a:rPr>
              <a:t>visited[t]</a:t>
            </a:r>
            <a:r>
              <a:rPr sz="2000" b="0">
                <a:solidFill>
                  <a:srgbClr val="1F2D3A"/>
                </a:solidFill>
              </a:rPr>
              <a:t> before walking the path back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Walking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parent</a:t>
            </a:r>
            <a:r>
              <a:rPr sz="2000" b="0">
                <a:solidFill>
                  <a:srgbClr val="1F2D3A"/>
                </a:solidFill>
              </a:rPr>
              <a:t> forward instead of backward,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Forgetting the final reversal — the path prints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Mini-quiz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BFS from </a:t>
            </a:r>
            <a:r>
              <a:rPr sz="2000" b="0">
                <a:solidFill>
                  <a:srgbClr val="A1123F"/>
                </a:solidFill>
                <a:latin typeface="Consolas"/>
              </a:rPr>
              <a:t>s</a:t>
            </a:r>
            <a:r>
              <a:rPr sz="2000" b="0">
                <a:solidFill>
                  <a:srgbClr val="1F2D3A"/>
                </a:solidFill>
              </a:rPr>
              <a:t> never visits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at all. What should </a:t>
            </a:r>
            <a:r>
              <a:rPr sz="2000" b="0">
                <a:solidFill>
                  <a:srgbClr val="A1123F"/>
                </a:solidFill>
                <a:latin typeface="Consolas"/>
              </a:rPr>
              <a:t>bfs_shortest_path</a:t>
            </a:r>
            <a:r>
              <a:rPr sz="2000" b="0">
                <a:solidFill>
                  <a:srgbClr val="1F2D3A"/>
                </a:solidFill>
              </a:rPr>
              <a:t> return, and why?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`-1`.</a:t>
            </a:r>
            <a:r>
              <a:rPr sz="2000" b="0">
                <a:solidFill>
                  <a:srgbClr val="1F2D3A"/>
                </a:solidFill>
              </a:rPr>
              <a:t> If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was never visited, no path exists at all — the </a:t>
            </a:r>
            <a:r>
              <a:rPr sz="2000" b="0">
                <a:solidFill>
                  <a:srgbClr val="A1123F"/>
                </a:solidFill>
                <a:latin typeface="Consolas"/>
              </a:rPr>
              <a:t>visited[t]</a:t>
            </a:r>
            <a:r>
              <a:rPr sz="2000" b="0">
                <a:solidFill>
                  <a:srgbClr val="1F2D3A"/>
                </a:solidFill>
              </a:rPr>
              <a:t> check catches exactly this case before any walk-back begins.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 — vocabulary and representations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818365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Key fact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Graph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vertices,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edges, directed or not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Degree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Undirected: 1 value; directed: in and out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Matrix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O(V²) space, O(1)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O(V + E) space, O(degree)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has_edge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Summary — traversals and applications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8219"/>
                <a:gridCol w="6683315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Key fact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Queue, level order, shortest unweighted path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DFS (recursive / iterative)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Stack, deep first, same visit order both ways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Components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Repeated BFS, one label per reachable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Shortest path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BFS + parent pointers, walked backward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big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Drop a tree's "one root, no cycles" rule and you get a graph. Two structures store it; two traversals, BFS and DFS, explore it; both answer real questions — components, distance.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Self-check 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Four short questions. Think before the answer appears on the next slide. Full exercises and a ten-question quiz are in the week notes.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1. A graph has 6 vertices and is a complete graph (every pair connected). How many edges does it have?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6 * 5 / 2 = 15</a:t>
            </a:r>
            <a:r>
              <a:rPr sz="3000" b="1">
                <a:solidFill>
                  <a:srgbClr val="2E7D32"/>
                </a:solidFill>
              </a:rPr>
              <a:t> edges — every pair counted once, since the graph is undirected.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2. Why does BFS need a queue instead of a stack?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 queue's FIFO order visits the nearest vertices first; a stack would go deep immediately, becoming DFS instead.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What does a "back edge" during DFS tell you about the graph?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graph contains a cycle — a back edge always points to a gray ancestor still on the call stack.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4. Connected components treats a directed graph as if it were undirected. What is this called?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Weak connectivity — direction is ignored; strong connectivity, requiring a path back too, is a harder, different question.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6 — Search and Hashing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BFS and DFS both walk an entire graph to find something. What if you could look an item up directly, in close to O(1) time?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References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Course syllabus, Week 5: </a:t>
            </a:r>
            <a:r>
              <a:rPr sz="2000" b="0">
                <a:solidFill>
                  <a:srgbClr val="A1123F"/>
                </a:solidFill>
                <a:latin typeface="Consolas"/>
              </a:rPr>
              <a:t>docs/syllabus/syllabus.en.md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Cormen, Leiserson, Rivest, Stein. *Introduction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Algorithms*, 4th ed. MIT 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Sedgewick, Wayne. </a:t>
            </a:r>
            <a:r>
              <a:rPr sz="2000" b="0" i="1">
                <a:solidFill>
                  <a:srgbClr val="1F2D3A"/>
                </a:solidFill>
              </a:rPr>
              <a:t>Algorithms</a:t>
            </a:r>
            <a:r>
              <a:rPr sz="2000" b="0">
                <a:solidFill>
                  <a:srgbClr val="1F2D3A"/>
                </a:solidFill>
              </a:rPr>
              <a:t>, 4th ed. Addison-Wesley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Euler, L. (1736). *Solutio problematis ad geometriam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8155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situs pertinentis*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References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Moore, E. F. (1959). "The shortest path through a maze"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Hopcroft, J., Tarjan, R. (1973) — DFS edge classification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Knuth. </a:t>
            </a:r>
            <a:r>
              <a:rPr sz="2000" b="0" i="1">
                <a:solidFill>
                  <a:srgbClr val="1F2D3A"/>
                </a:solidFill>
              </a:rPr>
              <a:t>The Art of Computer Programming, Vol. 1</a:t>
            </a:r>
            <a:r>
              <a:rPr sz="2000" b="0">
                <a:solidFill>
                  <a:srgbClr val="1F2D3A"/>
                </a:solidFill>
              </a:rPr>
              <a:t>, 3rd 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williamfiset/Algorithms · Programiz DSA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Week 5 — Graphs and Traversals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