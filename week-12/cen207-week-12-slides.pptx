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editor, compiler, and search engine you have ever used leans on the ideas in today's lecture — how a string sits in memory, and how to find one string inside another,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Thirteen short animations carry the whole lecture; each idea gets a normal run and an edge/hard run right where it is introduced.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term gets a full definition the first time it appears; this table just says where to find it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a terminal now if you want to run these live; every snippet on today's slides compiles and runs exactly as shown.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Nothing about a C string's memory layout is new — only the "where does it end" convention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trie is "Week 4's tree, but the branching factor is the alphabet size." Rabin-Karp is "Week 6's hash, made incremental."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genuinely new machinery — worth flagging up front so today doesn't feel like "just more search algorithms."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box on this map gets its own slides below, most with a short animation and a complete C/Java program.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 sets up the one convention every later section assumes: a C string is a char array plus a NUL terminator, nothing more.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 — a single reserved byte — has shaped C programming (and C bugs) for over fifty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with Pascal-style strings, which do store a length byte — a design choice with real consequences.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"Someone else's mail" is a friendly way to say undefined behavior — corrupting memory you do not own.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"No shortcut exists" is the single fact that explains every complexity result in this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show the danger by FLAGGING it and stopping — never by actually executing an out-of-bounds write.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cap=16, "HELLOWORLD" fits comfortably — watch the copy loop, the terminator, then strlen's second walk.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cap=8, a 10-letter source — watch the guard `if (i == cap) break;` stop the copy one write before it would go out of bounds.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guard line is the ONE addition that turns a dangerous naive strcpy loop into a safe, teachable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one-line trap (strlen inside a loop condition) is one of the most common accidental-quadratic bugs in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"every single call" — this is the fact students most often forget in later courses.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`==` compares pointers in C, not characters — two identical-looking strings at different addresses compare unequal.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a few hands go up before revealing the answer — this is a very common off-by-one in real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Tie this back to the overflow animation: exactly this omission is what "cap=8, 10 letters" demonstrates.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2 answers "what if we don't know the final length in advance?" — the same question Week 1's dynamic array answered for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what java.lang.StringBuilder, C++'s std::string, and Week 1's dynamic array all do internally.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"double, not +1" choice is the whole content of this section's complexity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"Exponentially rarer" is the intuitive version of the amortized-analysis argument on the complexity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initCap=4, "HELLOWORLD" — watch the buffer fill, hit capacity, and grow, with old characters visibly copied.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initCap=1 forces the most growths for 10 letters — a good stress test of the doubling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C, realloc may MOVE the block — every old pointer into buf becomes invalid the instant this line runs.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"Amortized" means: not every single operation is cheap, but the AVERAGE over a long sequence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fixed growth amount is a classic "looks fine on small inputs, falls over at scale"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students to think in terms of "how many growths happen, and how much does each one cost."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log(n) growths costing up to n each (decreasing) sums to O(n); n/10 growths costing up to n each sums to O(n^2).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3 introduces the trie — the structure behind every autocomplete box and spell checker you have ever used.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Hashing deliberately scatters similar keys — that is exactly why it cannot answer a "starts with"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Sixty-five years old and still the first idea any interviewer expects for "design an autocomplete feature."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flag matters — a fork can be mid-path for one word AND the end of a shorter word at the same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dual role — end-of-word AND has-children — is the single most common source of trie bugs.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10-word trie and a 10-million-word trie answer search("CAT") in exactly the same number of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CAT, CAR, CARD, DOG — watch shared edges get reused, and the "end" flag appear at word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A, AB, ABC, ABCD — no branching at all, a plain linked-list-like chain. This is exactly what section 4 compresses.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 uses a fixed 26-slot array per node; the Java version (in the notes) uses a HashMap instead — a real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Reaching the end of the loop only proves "this is a prefix" — the return value also checks isEnd.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memory price is exactly what section 4's compressed trie fixes.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search("CAR") and search("CARP") walk the same three edges in a trie holding "CARPET" — only one of them is a stored 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30 seconds; many will initially say true because the path exists.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precisely the found-vs-prefix distinction the "Common mistakes" slide just warned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4 fixes the memory waste a plain trie has on long, non-branching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Thirteen nodes for something that could, in principle, be one string with no branching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PATRICIA tries are still used today in networking — longest-prefix-match IP routing is a direct application.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Case 3 — the split — is the one genuinely new idea; the other two cases are exactly a plain trie's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this on the board before playing the animation — it is the one step students need to see by hand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completely different compression ideas from this course — worth naming the difference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TEST, TEA, TEAM — watch the TEST edge split into TE + ST, then TEAM extend past the A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ANT, ARM, ART, AXE — a split inside a split, the hardest case this structure has to handle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full split_edge logic (shortening the old label, re-keying the child) is in the notes — this is the decision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time complexity is unchanged; only the constant factor on memory improves, sometimes dramatically.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re-keying bug is subtle — the child's map/array key must change to match its shortened label's new first letter.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students reason it out before revealing — the "no shared prefix" case is the simplest possible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with a plain trie, which would need 5 + 6 = 11 nodes for the same two words.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5 answers a different question: not "is X a word?" but "does pattern P occur anywhere in text T?"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question a text editor's "find" feature, or a genome browser, asks constantly.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"Always differ in length" is why a shorter suffix that is a prefix of a longer one just sorts first, automatically.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MISSISSIPPI — watch each suffix, as its own row, slide into sorted position via insertion sort.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AAAAAAAAAA — every comparison runs all the way to the shorter suffix's end; the length rule alone decides every 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nice, concrete example of "clever pointer use avoids O(n) extra memory and copying."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construction cost is paid ONCE; every subsequent search against the same text is fast.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`sa[i]` is a starting POSITION, not a copy of the suffix — printing the suffix needs `text + sa[i]`.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key fact that makes a sentinel character unnecessary for the comparison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Different lengths mean plain lexicographic comparison already handles every possible tie correctly.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6 opens the search family — five algorithms, five different tricks, all answering the same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"Simplest possible" is naive search — exactly where you would start with no cleverer idea taught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"Keep going after a match" is the single most-forgotten rule — a common bug jumps m positions after a hit.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text="ABABAABABC", pattern="ABABC" — watch a few false starts before the real match at shift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text="AAAAAAAAAA", pattern="AAAB" — every shift compares nearly the whole pattern before failing on the LAST character.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algorithm from here to Section 11 is, in some sense, a smarter way to avoid this double loop's worst case.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naive search's worst case as the villain of the rest of the lecture — every later algorithm is "the fix."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Worst-case complexity is not the only consideration — small inputs favor naive search's tiny constant factor.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60 seconds — many will independently rediscover the "AAAA...B" pattern shown in the hard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the hard-scenario animation shown two slides 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7 builds the table Section 8 uses — a KMP lecture needs both halves to make sense.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key insight: the pattern can be studied ONCE, in advance, independent of the text it will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of the most-cited papers in string algorithms — still the first thing taught after naive search in most courses.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 through "ABAB" -&gt; lps=2 on the board; it is short enough to do by hand in under a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ABABCABABA — watch len grow on a match, and fall back through lps[len-1] (never straight to 0) on a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AABAACAABAA — a mismatch falls back through more than one level of lps, not straight to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"else if (len != 0)" branch — falling back instead of resetting — is THE line students get wrong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amortized argument (a value that only decreases as much as it increased) recurs constantly in string algorithms.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Resetting to 0 still produces A table — just the WRONG one, one that under-reports safe skip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connects the table's last entry to the pattern's own self-overlap as a whole, not just a prefix.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"AAAAAAAAAA" has lps[m-1] = m-1, the maximum possible self-overlap.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8 is where the lps table earns its keep — this is the payoff slide sequence for section 7's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"Never moves backward" is the single guarantee that gives KMP its O(n+m) bound — say it more than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"i stays put" on a fallback is the key line — the text character is never re-examined.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the classic CLRS-style text/pattern pair — watch i march forward while j jumps around using lps.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text="AAAAAAAAAAAAAAAB", pattern="AAAAB" — a dense sequence of fallbacks, but i still only ever moves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branches, one for each case on the "idea" slide — map them 1:1 with students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"No bad input exists" is worth repeating — KMP has no configuration or input that degrades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Forgetting the post-match fallback silently misses overlapping occurrences — a quiet, hard-to-spot bug.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 should connect directly back to naive search's "re-examines text characters" root cause.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is the payoff of the whole KMP arc — say it slowly, it is the one sentence worth remembering.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9 brings hashing (Week 6) back, in a genuinely new, incremental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completely different strategy from KMP's — comparison-avoidance instead of comparison-optimization.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"Candidate, never a certainty" is the single most important sentence in this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"Verified" — say it again. Two different substrings CAN hash to the same value; that is not a bug, it is math.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mod=101, no spurious hits — watch the rolling hash update, O(1), skipping most windows entirely.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mod=7 (deliberately small) — a hash match that FAILS verification: a spurious hit, correctly rejected.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genuine teaching moment — never assume `long` means 64 bits in C; its width is platform-defined.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at `strncmp` — that call is not optional; skipping it silently reports spurious hits as real 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"hard" example deliberately used mod=7 to make this worst-case behavior visible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map exactly to the three things this section's animation and program deliberately demonstrate.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pigeonhole principle is the precise mathematical answer, worth naming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nice callback to any discrete-math course students may have also taken.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10 introduces the algorithm that is, in practice, often the fastest for natural-language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sounds backward at first — that is exactly why it is worth pausing on before revealing the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good-suffix rule exists, but is out of scope — students should know the name for later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"Never less than 1" is a real implementation trap — repeated characters can make the naive shift formula go to 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text="ABAAABCDAB", pattern="ABC" — watch the right-to-left scan and the resulting jump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text="ZZZZZZZZZZ", pattern="ABC" — Z never appears in the pattern, so every window jumps the full pattern length.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table is built ONCE from the pattern alone — exactly like KMP's lps table, reused unchanged across every window.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"in practice" — the average case on real text is what makes this algorithm's reputation.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Comparing left-to-right by mistake still finds correct matches — it just throws away Boyer-Moore's entire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 is about PROVING a range of positions cannot match, without ever looking at the characters there.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"prove, don't check" idea is the conceptual heart of every algorithm faster than naive search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11 closes the search family with the most conceptually elegant of the five algorithms.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"the elegant one" — students often find the Z-algorithm the most satisfying of the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window [l, r) plays the exact same role as KMP's lps table — "remember what you already know."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pattern="AB", text="ABABABABAB" — watch the [l,r) window grow and get reused for later positions.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pattern="AAA" against "AAAAAAAAAA" — the window keeps growing to the string's very end, reuse at almost every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lines, one per idea: reuse the window, extend it if possible, remember the new window if it grew.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reminding students this is the third time this lecture has used the same "only grows" amortized argument.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Z value CAN legitimately exceed m if the text itself repeats — &gt;= is the correct match test, not ==.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 answer is "it doesn't avoid a table" — Z[] IS the table, playing an analogous role.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lps[i] describes overlap within the pattern alone; Z[i] describes overlap with the whole glued-together string.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short pause-and-compare section before the lecture pivots to dynamic programming.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KMP is the only one with a GUARANTEED worst case — the safe default whenever adversarial input is a concern.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13 introduces dynamic programming from scratch — no prior week in this course has covered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three real-world examples ground an otherwise abstract question in things students already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Write the naive recursive call tree on the board — the repeated sub-trees are visually obvious even for small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properties are required — optimal substructure makes the recursion correct; overlap makes memoizing worthwhile.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Levenshtein's original paper predates the "dynamic programming" name becoming standard in this exact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"Every dependency is already computed" is why no recursion is needed at all — a single pass suffices.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KITTEN -&gt; SITTING, distance 3 — watch the table fill, then the traceback reconstruct one edit sequence.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 -&gt; CATERPILLAR — a is a prefix of b, so every non-matching step is a pure insert, never a substitute or delete.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entire algorithm's core — everything else (base cases, traceback) is bookkeeping around this recurrence.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Mention the space optimization exists but note it sacrifices the ability to run the traceback afterward.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base-case bug is sneaky — it silently makes "compare against an empty prefix" look free when it should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connects directly back to the "the idea" slide a few slides ago — a good comprehension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halves of this answer matter — many students only remember one of the two properties.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14 reuses section 13's exact table shape with one changed recurrence — a nice "same shape, different meaning" close.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exactly what a diff tool highlights as unchanged — the connection to git diff pays off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distinction is the single most common conceptual error with LCS — spend real time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 explicitly with edit distance's min+1 — that contrast is this section's core teaching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Normal example: ABCBDAB / BDCABA, length 4 — watch the diagonal grow on matches, max carried forward otherwise.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ABCDE vs FGHIJ — every cell stays 0, the whole table fills with the "no match, carry max" branch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Compare this side by side with edit distance's code slide — the visual similarity is deliberate and instructive.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moment to say explicitly: "you now know the DP table shape, not just two isolated algorithms."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traceback is required to recover the actual characters — dp[n][m] alone only answers "how long?"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closing conceptual question of the lecture — tying together sections 13 and 14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cleanest one-sentence summary of the whole DP half of today's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structures, five search algorithms, two DP algorithms — thirteen animations, one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Encourage students to actually run the programs — every output shown all lecture has been real, not invented.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Dynamic programming is the one idea this week that will keep resurfacing for the rest of your studies.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citations with journal names, volumes, and years are all in the printed notes' References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class, remind them where the code and notes live, and open the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gif"/><Relationship Id="rId4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gif"/><Relationship Id="rId4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0.gif"/><Relationship Id="rId4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1.gif"/><Relationship Id="rId4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Strings: Structures and Algorithms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Data Structures — Week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Asst. Prof. Dr. Uğur CORUH · Fall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Today's plan (3 hours)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002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665"/>
                <a:gridCol w="9777869"/>
              </a:tblGrid>
              <a:tr h="500634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Hour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Topic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 strings, buffers, tries, compressed tries, suffix arrays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Naive search, KMP (failure fn + search), Rabin-Karp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00634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Boyer-Moore, Z-algorithm, dynamic programming: edit distance, LCS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438144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Learning outcomes:</a:t>
            </a:r>
            <a:r>
              <a:rPr sz="2000" b="0">
                <a:solidFill>
                  <a:srgbClr val="1F2D3A"/>
                </a:solidFill>
              </a:rPr>
              <a:t> LO.1 (explain data structures) · LO.2 (analyze complexity) · LO.6 (dynamic programming) · LO.7 (choose the right structure)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This week's concepts — where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92766"/>
                <a:gridCol w="2618768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Concept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Where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 strings, buffers, tries, radix trees, suffix arrays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1–5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Naive, KMP, Rabin-Karp, Boyer-Moore, Z-algorithm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6–11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Dynamic programming: edit distance, LCS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Sections 13–14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How the code examples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idea has a complete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1">
                <a:solidFill>
                  <a:srgbClr val="1F2D3A"/>
                </a:solidFill>
              </a:rPr>
              <a:t>Java</a:t>
            </a:r>
            <a:r>
              <a:rPr sz="2000" b="0">
                <a:solidFill>
                  <a:srgbClr val="1F2D3A"/>
                </a:solidFill>
              </a:rPr>
              <a:t> program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C: </a:t>
            </a:r>
            <a:r>
              <a:rPr sz="2000" b="0">
                <a:solidFill>
                  <a:srgbClr val="A1123F"/>
                </a:solidFill>
                <a:latin typeface="Consolas"/>
              </a:rPr>
              <a:t>gcc -std=c11 -Wall -Wextra -o /tmp/x file.c &amp;&amp; /tmp/x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Java: </a:t>
            </a:r>
            <a:r>
              <a:rPr sz="2000" b="0">
                <a:solidFill>
                  <a:srgbClr val="A1123F"/>
                </a:solidFill>
                <a:latin typeface="Consolas"/>
              </a:rPr>
              <a:t>javac -d /tmp/j File.java &amp;&amp; java -cp /tmp/j File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Sources: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code/week-12/c/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code/week-12/java/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program's expected output is in the week notes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Recap — arrays and the char array (Week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Array:</a:t>
            </a:r>
            <a:r>
              <a:rPr sz="2000" b="0">
                <a:solidFill>
                  <a:srgbClr val="1F2D3A"/>
                </a:solidFill>
              </a:rPr>
              <a:t> contiguous memory, O(1) access by index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C string is nothing but a </a:t>
            </a:r>
            <a:r>
              <a:rPr sz="2000" b="0">
                <a:solidFill>
                  <a:srgbClr val="A1123F"/>
                </a:solidFill>
                <a:latin typeface="Consolas"/>
              </a:rPr>
              <a:t>char</a:t>
            </a:r>
            <a:r>
              <a:rPr sz="2000" b="0">
                <a:solidFill>
                  <a:srgbClr val="1F2D3A"/>
                </a:solidFill>
              </a:rPr>
              <a:t> array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Week 1's index arithmetic (</a:t>
            </a:r>
            <a:r>
              <a:rPr sz="2000" b="0">
                <a:solidFill>
                  <a:srgbClr val="A1123F"/>
                </a:solidFill>
                <a:latin typeface="Consolas"/>
              </a:rPr>
              <a:t>base + i</a:t>
            </a:r>
            <a:r>
              <a:rPr sz="2000" b="0">
                <a:solidFill>
                  <a:srgbClr val="1F2D3A"/>
                </a:solidFill>
              </a:rPr>
              <a:t>) still applies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Today adds one convention on top: </a:t>
            </a:r>
            <a:r>
              <a:rPr sz="2000" b="0">
                <a:solidFill>
                  <a:srgbClr val="A1123F"/>
                </a:solidFill>
                <a:latin typeface="Consolas"/>
              </a:rPr>
              <a:t>'0'</a:t>
            </a:r>
            <a:r>
              <a:rPr sz="2000" b="0">
                <a:solidFill>
                  <a:srgbClr val="1F2D3A"/>
                </a:solidFill>
              </a:rPr>
              <a:t> marks the end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Recap — trees and hashing (Weeks 4 and 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Trees:</a:t>
            </a:r>
            <a:r>
              <a:rPr sz="2000" b="0">
                <a:solidFill>
                  <a:srgbClr val="1F2D3A"/>
                </a:solidFill>
              </a:rPr>
              <a:t> recursive nodes with children (Week 4)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trie node is a tree node with one child per letter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Hashing:</a:t>
            </a:r>
            <a:r>
              <a:rPr sz="2000" b="0">
                <a:solidFill>
                  <a:srgbClr val="1F2D3A"/>
                </a:solidFill>
              </a:rPr>
              <a:t> a function computes a location, O(1) (Week 6)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Rabin-Karp reuses hashing — but </a:t>
            </a:r>
            <a:r>
              <a:rPr sz="2000" b="0" i="1">
                <a:solidFill>
                  <a:srgbClr val="1F2D3A"/>
                </a:solidFill>
              </a:rPr>
              <a:t>rolls</a:t>
            </a:r>
            <a:r>
              <a:rPr sz="2000" b="0">
                <a:solidFill>
                  <a:srgbClr val="1F2D3A"/>
                </a:solidFill>
              </a:rPr>
              <a:t> it forward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brand-new idea: dynamic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prior week broke a problem into </a:t>
            </a:r>
            <a:r>
              <a:rPr sz="2000" b="1">
                <a:solidFill>
                  <a:srgbClr val="1F2D3A"/>
                </a:solidFill>
              </a:rPr>
              <a:t>overlapping</a:t>
            </a:r>
            <a:r>
              <a:rPr sz="2000" b="0">
                <a:solidFill>
                  <a:srgbClr val="1F2D3A"/>
                </a:solidFill>
              </a:rPr>
              <a:t> sub-problems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Solve each sub-problem </a:t>
            </a:r>
            <a:r>
              <a:rPr sz="2000" b="1">
                <a:solidFill>
                  <a:srgbClr val="1F2D3A"/>
                </a:solidFill>
              </a:rPr>
              <a:t>once</a:t>
            </a:r>
            <a:r>
              <a:rPr sz="2000" b="0">
                <a:solidFill>
                  <a:srgbClr val="1F2D3A"/>
                </a:solidFill>
              </a:rPr>
              <a:t>, store it in a table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Sections 13–14 introduce this from first principles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Two classic examples: edit distance and LCS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Map of the week — at a glance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8407"/>
                <a:gridCol w="4185246"/>
                <a:gridCol w="3437880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Structures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Search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Dynamic programming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C strings, buffers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Naive, KMP, Rabin-Karp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Edit distance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Tries, radix trees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Boyer-Moore, Z-algorithm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LCS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Suffix arrays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/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C Strings: Memory, </a:t>
            </a:r>
            <a:r>
              <a:rPr sz="4000" b="1">
                <a:solidFill>
                  <a:srgbClr val="FFFFFF"/>
                </a:solidFill>
                <a:latin typeface="Consolas"/>
              </a:rPr>
              <a:t>'0'</a:t>
            </a:r>
            <a:r>
              <a:rPr sz="4000" b="1">
                <a:solidFill>
                  <a:srgbClr val="FFFFFF"/>
                </a:solidFill>
              </a:rPr>
              <a:t>, and </a:t>
            </a:r>
            <a:r>
              <a:rPr sz="4000" b="1">
                <a:solidFill>
                  <a:srgbClr val="FFFFFF"/>
                </a:solidFill>
                <a:latin typeface="Consolas"/>
              </a:rPr>
              <a:t>strlen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structure so far stored its size somewhere. A C string does not. So how does any function know where it ends?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 designed at Bell Labs, early 1970s (Dennis Ritchie)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length field: just a </a:t>
            </a:r>
            <a:r>
              <a:rPr sz="2000" b="0">
                <a:solidFill>
                  <a:srgbClr val="A1123F"/>
                </a:solidFill>
                <a:latin typeface="Consolas"/>
              </a:rPr>
              <a:t>char</a:t>
            </a:r>
            <a:r>
              <a:rPr sz="2000" b="0">
                <a:solidFill>
                  <a:srgbClr val="1F2D3A"/>
                </a:solidFill>
              </a:rPr>
              <a:t> array + a convention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'0'</a:t>
            </a:r>
            <a:r>
              <a:rPr sz="2000" b="0">
                <a:solidFill>
                  <a:srgbClr val="1F2D3A"/>
                </a:solidFill>
              </a:rPr>
              <a:t> (NUL, value 0) marks "the string ends here"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single choice enables the buffer overflow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a row of mailboxes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mailbox (byte) holds one letter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sign says "this is the last occupied box"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Instead: the first </a:t>
            </a:r>
            <a:r>
              <a:rPr sz="2000" b="1">
                <a:solidFill>
                  <a:srgbClr val="1F2D3A"/>
                </a:solidFill>
              </a:rPr>
              <a:t>empty</a:t>
            </a:r>
            <a:r>
              <a:rPr sz="2000" b="0">
                <a:solidFill>
                  <a:srgbClr val="1F2D3A"/>
                </a:solidFill>
              </a:rPr>
              <a:t> mailbox marks the end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Walking past it means walking into someone else's mail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idea: array + convention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C string = a </a:t>
            </a:r>
            <a:r>
              <a:rPr sz="2000" b="0">
                <a:solidFill>
                  <a:srgbClr val="A1123F"/>
                </a:solidFill>
                <a:latin typeface="Consolas"/>
              </a:rPr>
              <a:t>char</a:t>
            </a:r>
            <a:r>
              <a:rPr sz="2000" b="0">
                <a:solidFill>
                  <a:srgbClr val="1F2D3A"/>
                </a:solidFill>
              </a:rPr>
              <a:t> array, nothing more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'0'</a:t>
            </a:r>
            <a:r>
              <a:rPr sz="2000" b="0">
                <a:solidFill>
                  <a:srgbClr val="1F2D3A"/>
                </a:solidFill>
              </a:rPr>
              <a:t> (NUL) is the end-of-string marker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operation walks byte by byte to find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shortcut exists — the length is never cached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buffer overflow bug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strcpy</a:t>
            </a:r>
            <a:r>
              <a:rPr sz="2000" b="0">
                <a:solidFill>
                  <a:srgbClr val="1F2D3A"/>
                </a:solidFill>
              </a:rPr>
              <a:t>-style copying writes until it copies </a:t>
            </a:r>
            <a:r>
              <a:rPr sz="2000" b="0">
                <a:solidFill>
                  <a:srgbClr val="A1123F"/>
                </a:solidFill>
                <a:latin typeface="Consolas"/>
              </a:rPr>
              <a:t>'0'</a:t>
            </a:r>
            <a:r>
              <a:rPr sz="2000" b="0">
                <a:solidFill>
                  <a:srgbClr val="1F2D3A"/>
                </a:solidFill>
              </a:rPr>
              <a:t> too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If the destination is smaller than the source: trouble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Writing past the last valid index is </a:t>
            </a:r>
            <a:r>
              <a:rPr sz="2000" b="1">
                <a:solidFill>
                  <a:srgbClr val="1F2D3A"/>
                </a:solidFill>
              </a:rPr>
              <a:t>undefined behavior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Today: we always </a:t>
            </a:r>
            <a:r>
              <a:rPr sz="2000" b="1">
                <a:solidFill>
                  <a:srgbClr val="1F2D3A"/>
                </a:solidFill>
              </a:rPr>
              <a:t>guard</a:t>
            </a:r>
            <a:r>
              <a:rPr sz="2000" b="0">
                <a:solidFill>
                  <a:srgbClr val="1F2D3A"/>
                </a:solidFill>
              </a:rPr>
              <a:t> every write with a bound check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 string memory, step by step</a:t>
            </a:r>
          </a:p>
        </p:txBody>
      </p:sp>
      <p:pic>
        <p:nvPicPr>
          <p:cNvPr id="7" name="Picture 6" descr="c-string-memory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01307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overflow, flagged, never executed</a:t>
            </a:r>
          </a:p>
        </p:txBody>
      </p:sp>
      <p:pic>
        <p:nvPicPr>
          <p:cNvPr id="7" name="Picture 6" descr="c-string-memory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01307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guarded copy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i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(src[i] != '\0')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(i == cap) break;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buf[i] = src[i];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overflow = (src[i] != '\0');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(!overflow) buf[i] = '\0';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strlen walks it a second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size_t len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(!overflow)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(buf[len] != '\0') len++;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length is ever cached anywhere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Calling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strlen</a:t>
            </a:r>
            <a:r>
              <a:rPr sz="2000" b="0">
                <a:solidFill>
                  <a:srgbClr val="1F2D3A"/>
                </a:solidFill>
              </a:rPr>
              <a:t> in a loop condition: O(n) becomes O(n^2)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Copying a length-</a:t>
            </a:r>
            <a:r>
              <a:rPr sz="2000" b="0">
                <a:solidFill>
                  <a:srgbClr val="A1123F"/>
                </a:solidFill>
                <a:latin typeface="Consolas"/>
              </a:rPr>
              <a:t>L</a:t>
            </a:r>
            <a:r>
              <a:rPr sz="2000" b="0">
                <a:solidFill>
                  <a:srgbClr val="1F2D3A"/>
                </a:solidFill>
              </a:rPr>
              <a:t> string: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O(L)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strlen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O(L)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1">
                <a:solidFill>
                  <a:srgbClr val="1F2D3A"/>
                </a:solidFill>
              </a:rPr>
              <a:t>every single call</a:t>
            </a:r>
            <a:r>
              <a:rPr sz="2000" b="0">
                <a:solidFill>
                  <a:srgbClr val="1F2D3A"/>
                </a:solidFill>
              </a:rPr>
              <a:t>, recomputed from scratch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caching, no shortcut, ever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cached length would break the moment the string changes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+1</a:t>
            </a:r>
            <a:r>
              <a:rPr sz="2000" b="0">
                <a:solidFill>
                  <a:srgbClr val="1F2D3A"/>
                </a:solidFill>
              </a:rPr>
              <a:t> for the terminator when sizing a buffer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Calling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strlen</a:t>
            </a:r>
            <a:r>
              <a:rPr sz="2000" b="0">
                <a:solidFill>
                  <a:srgbClr val="1F2D3A"/>
                </a:solidFill>
              </a:rPr>
              <a:t> inside a loop's condition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Comparing strings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==</a:t>
            </a:r>
            <a:r>
              <a:rPr sz="2000" b="0">
                <a:solidFill>
                  <a:srgbClr val="1F2D3A"/>
                </a:solidFill>
              </a:rPr>
              <a:t> instead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strcmp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10-character word needs a buffer of what size? Why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char buf[10]</a:t>
            </a:r>
            <a:r>
              <a:rPr sz="2000" b="0">
                <a:solidFill>
                  <a:srgbClr val="1F2D3A"/>
                </a:solidFill>
              </a:rPr>
              <a:t> one byte too small?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11 bytes.</a:t>
            </a:r>
            <a:r>
              <a:rPr sz="2000" b="0">
                <a:solidFill>
                  <a:srgbClr val="1F2D3A"/>
                </a:solidFill>
              </a:rPr>
              <a:t> Ten characters plus one byte for </a:t>
            </a:r>
            <a:r>
              <a:rPr sz="2000" b="0">
                <a:solidFill>
                  <a:srgbClr val="A1123F"/>
                </a:solidFill>
                <a:latin typeface="Consolas"/>
              </a:rPr>
              <a:t>'0'</a:t>
            </a:r>
            <a:r>
              <a:rPr sz="2000" b="0">
                <a:solidFill>
                  <a:srgbClr val="1F2D3A"/>
                </a:solidFill>
              </a:rPr>
              <a:t> — forgetting the terminator is this section's classic bug.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A Growable String Buffer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Section 1's buffer had a fixed capacity, chosen before one character was written. What if it could grow itself instead?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outgrowing a drawer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drawer holds a fixed number of files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Full drawer: buy a </a:t>
            </a:r>
            <a:r>
              <a:rPr sz="2000" b="1">
                <a:solidFill>
                  <a:srgbClr val="1F2D3A"/>
                </a:solidFill>
              </a:rPr>
              <a:t>bigger</a:t>
            </a:r>
            <a:r>
              <a:rPr sz="2000" b="0">
                <a:solidFill>
                  <a:srgbClr val="1F2D3A"/>
                </a:solidFill>
              </a:rPr>
              <a:t> one, move every file across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Buying "one size bigger" every time: constant moving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Buying </a:t>
            </a:r>
            <a:r>
              <a:rPr sz="2000" b="1">
                <a:solidFill>
                  <a:srgbClr val="1F2D3A"/>
                </a:solidFill>
              </a:rPr>
              <a:t>double</a:t>
            </a:r>
            <a:r>
              <a:rPr sz="2000" b="0">
                <a:solidFill>
                  <a:srgbClr val="1F2D3A"/>
                </a:solidFill>
              </a:rPr>
              <a:t> the size: moving becomes rare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idea: double when full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Track </a:t>
            </a:r>
            <a:r>
              <a:rPr sz="2000" b="0">
                <a:solidFill>
                  <a:srgbClr val="A1123F"/>
                </a:solidFill>
                <a:latin typeface="Consolas"/>
              </a:rPr>
              <a:t>len</a:t>
            </a:r>
            <a:r>
              <a:rPr sz="2000" b="0">
                <a:solidFill>
                  <a:srgbClr val="1F2D3A"/>
                </a:solidFill>
              </a:rPr>
              <a:t> (used), </a:t>
            </a:r>
            <a:r>
              <a:rPr sz="2000" b="0">
                <a:solidFill>
                  <a:srgbClr val="A1123F"/>
                </a:solidFill>
                <a:latin typeface="Consolas"/>
              </a:rPr>
              <a:t>cap</a:t>
            </a:r>
            <a:r>
              <a:rPr sz="2000" b="0">
                <a:solidFill>
                  <a:srgbClr val="1F2D3A"/>
                </a:solidFill>
              </a:rPr>
              <a:t> (allocated), and storage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len == cap</a:t>
            </a:r>
            <a:r>
              <a:rPr sz="2000" b="0">
                <a:solidFill>
                  <a:srgbClr val="1F2D3A"/>
                </a:solidFill>
              </a:rPr>
              <a:t>: allocate a block </a:t>
            </a:r>
            <a:r>
              <a:rPr sz="2000" b="1">
                <a:solidFill>
                  <a:srgbClr val="1F2D3A"/>
                </a:solidFill>
              </a:rPr>
              <a:t>double</a:t>
            </a:r>
            <a:r>
              <a:rPr sz="2000" b="0">
                <a:solidFill>
                  <a:srgbClr val="1F2D3A"/>
                </a:solidFill>
              </a:rPr>
              <a:t> the size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Copy every existing character across, then write the new one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Doubling makes growth </a:t>
            </a:r>
            <a:r>
              <a:rPr sz="2000" b="1">
                <a:solidFill>
                  <a:srgbClr val="1F2D3A"/>
                </a:solidFill>
              </a:rPr>
              <a:t>exponentially rarer</a:t>
            </a:r>
            <a:r>
              <a:rPr sz="2000" b="0">
                <a:solidFill>
                  <a:srgbClr val="1F2D3A"/>
                </a:solidFill>
              </a:rPr>
              <a:t> as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grows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Growable buffer, step by step</a:t>
            </a:r>
          </a:p>
        </p:txBody>
      </p:sp>
      <p:pic>
        <p:nvPicPr>
          <p:cNvPr id="7" name="Picture 6" descr="string-builder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39745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smallest possible start</a:t>
            </a:r>
          </a:p>
        </p:txBody>
      </p:sp>
      <p:pic>
        <p:nvPicPr>
          <p:cNvPr id="7" name="Picture 6" descr="string-builder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3974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grow, then write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append(char c)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(len == cap)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cap = cap * 2;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buf = realloc(buf, cap);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buf[len] = c;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len++;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append: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O(1)</a:t>
            </a:r>
            <a:r>
              <a:rPr sz="2000" b="0">
                <a:solidFill>
                  <a:srgbClr val="1F2D3A"/>
                </a:solidFill>
              </a:rPr>
              <a:t> usually, </a:t>
            </a:r>
            <a:r>
              <a:rPr sz="2000" b="0">
                <a:solidFill>
                  <a:srgbClr val="A1123F"/>
                </a:solidFill>
                <a:latin typeface="Consolas"/>
              </a:rPr>
              <a:t>O(len)</a:t>
            </a:r>
            <a:r>
              <a:rPr sz="2000" b="0">
                <a:solidFill>
                  <a:srgbClr val="1F2D3A"/>
                </a:solidFill>
              </a:rPr>
              <a:t> on a growth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appends total: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O(n)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1">
                <a:solidFill>
                  <a:srgbClr val="1F2D3A"/>
                </a:solidFill>
              </a:rPr>
              <a:t>amortized O(1)</a:t>
            </a:r>
            <a:r>
              <a:rPr sz="2000" b="0">
                <a:solidFill>
                  <a:srgbClr val="1F2D3A"/>
                </a:solidFill>
              </a:rPr>
              <a:t> per append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Growth copying forms a geometric series, bounded by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guarantee as Week 1's dynamic array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Growing by a fixed amount instead of doubling: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O(n^2)</a:t>
            </a:r>
            <a:r>
              <a:rPr sz="2000" b="0">
                <a:solidFill>
                  <a:srgbClr val="1F2D3A"/>
                </a:solidFill>
              </a:rPr>
              <a:t> total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to update the pointer after </a:t>
            </a:r>
            <a:r>
              <a:rPr sz="2000" b="0">
                <a:solidFill>
                  <a:srgbClr val="A1123F"/>
                </a:solidFill>
                <a:latin typeface="Consolas"/>
              </a:rPr>
              <a:t>realloc</a:t>
            </a:r>
            <a:r>
              <a:rPr sz="2000" b="0">
                <a:solidFill>
                  <a:srgbClr val="1F2D3A"/>
                </a:solidFill>
              </a:rPr>
              <a:t> (C)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Allocating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len</a:t>
            </a:r>
            <a:r>
              <a:rPr sz="2000" b="0">
                <a:solidFill>
                  <a:srgbClr val="1F2D3A"/>
                </a:solidFill>
              </a:rPr>
              <a:t> bytes when a C string also needs </a:t>
            </a:r>
            <a:r>
              <a:rPr sz="2000" b="0">
                <a:solidFill>
                  <a:srgbClr val="A1123F"/>
                </a:solidFill>
                <a:latin typeface="Consolas"/>
              </a:rPr>
              <a:t>+1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does doubling give amortized O(1), but growing by a fixed amount of 10 gives O(n) per append on average?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Doubling: `n/k` shrinks to `log n` growths.</a:t>
            </a:r>
            <a:r>
              <a:rPr sz="2000" b="0">
                <a:solidFill>
                  <a:srgbClr val="1F2D3A"/>
                </a:solidFill>
              </a:rPr>
              <a:t> A fixed </a:t>
            </a:r>
            <a:r>
              <a:rPr sz="2000" b="0">
                <a:solidFill>
                  <a:srgbClr val="A1123F"/>
                </a:solidFill>
                <a:latin typeface="Consolas"/>
              </a:rPr>
              <a:t>+10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n/10</a:t>
            </a:r>
            <a:r>
              <a:rPr sz="2000" b="0">
                <a:solidFill>
                  <a:srgbClr val="1F2D3A"/>
                </a:solidFill>
              </a:rPr>
              <a:t> growths, each copying up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bytes.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Tries: One Edge Per Character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hash table answers "is X a word?" in O(1). It cannot answer "what words start with X?" at all. What can?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Edward Fredkin, "Trie Memory," 1960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Name comes from "re</a:t>
            </a:r>
            <a:r>
              <a:rPr sz="2000" b="1">
                <a:solidFill>
                  <a:srgbClr val="1F2D3A"/>
                </a:solidFill>
              </a:rPr>
              <a:t>trie</a:t>
            </a:r>
            <a:r>
              <a:rPr sz="2000" b="0">
                <a:solidFill>
                  <a:srgbClr val="1F2D3A"/>
                </a:solidFill>
              </a:rPr>
              <a:t>val"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Usually pronounced "try" to avoid confusion with "tree"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Still the standard structure behind autocomplete today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Intuition — a signpost tree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fork in the path is labeled with one letter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Follow a word's letters, one fork at a time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Shared prefixes share the same early forks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small flag marks "a complete word ends here"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idea: shared prefixes share nodes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insert("CAT")</a:t>
            </a:r>
            <a:r>
              <a:rPr sz="2000" b="0">
                <a:solidFill>
                  <a:srgbClr val="1F2D3A"/>
                </a:solidFill>
              </a:rPr>
              <a:t>, then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insert("CAR")</a:t>
            </a:r>
            <a:r>
              <a:rPr sz="2000" b="0">
                <a:solidFill>
                  <a:srgbClr val="1F2D3A"/>
                </a:solidFill>
              </a:rPr>
              <a:t>: share </a:t>
            </a:r>
            <a:r>
              <a:rPr sz="2000" b="0">
                <a:solidFill>
                  <a:srgbClr val="A1123F"/>
                </a:solidFill>
                <a:latin typeface="Consolas"/>
              </a:rPr>
              <a:t>C</a:t>
            </a:r>
            <a:r>
              <a:rPr sz="2000" b="0">
                <a:solidFill>
                  <a:srgbClr val="1F2D3A"/>
                </a:solidFill>
              </a:rPr>
              <a:t>→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insert("CARD")</a:t>
            </a:r>
            <a:r>
              <a:rPr sz="2000" b="0">
                <a:solidFill>
                  <a:srgbClr val="1F2D3A"/>
                </a:solidFill>
              </a:rPr>
              <a:t>: shares </a:t>
            </a:r>
            <a:r>
              <a:rPr sz="2000" b="0">
                <a:solidFill>
                  <a:srgbClr val="A1123F"/>
                </a:solidFill>
                <a:latin typeface="Consolas"/>
              </a:rPr>
              <a:t>C</a:t>
            </a:r>
            <a:r>
              <a:rPr sz="2000" b="0">
                <a:solidFill>
                  <a:srgbClr val="1F2D3A"/>
                </a:solidFill>
              </a:rPr>
              <a:t>→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→</a:t>
            </a:r>
            <a:r>
              <a:rPr sz="2000" b="0">
                <a:solidFill>
                  <a:srgbClr val="A1123F"/>
                </a:solidFill>
                <a:latin typeface="Consolas"/>
              </a:rPr>
              <a:t>R</a:t>
            </a:r>
            <a:r>
              <a:rPr sz="2000" b="0">
                <a:solidFill>
                  <a:srgbClr val="1F2D3A"/>
                </a:solidFill>
              </a:rPr>
              <a:t> 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"CAR"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insert("DOG")</a:t>
            </a:r>
            <a:r>
              <a:rPr sz="2000" b="0">
                <a:solidFill>
                  <a:srgbClr val="1F2D3A"/>
                </a:solidFill>
              </a:rPr>
              <a:t>: shares nothing, new branch from root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node can be </a:t>
            </a:r>
            <a:r>
              <a:rPr sz="2000" b="1">
                <a:solidFill>
                  <a:srgbClr val="1F2D3A"/>
                </a:solidFill>
              </a:rPr>
              <a:t>both</a:t>
            </a:r>
            <a:r>
              <a:rPr sz="2000" b="0">
                <a:solidFill>
                  <a:srgbClr val="1F2D3A"/>
                </a:solidFill>
              </a:rPr>
              <a:t> "end of CAR" and "path to CARD"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Trie operations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183650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73460"/>
                <a:gridCol w="4910190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Operation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Cost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insert(word)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O(L)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, L = word length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search(word)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O(L)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prefix check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O(L)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2962656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Independent of how many other words are stored!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Trie insert and search, step by step</a:t>
            </a:r>
          </a:p>
        </p:txBody>
      </p:sp>
      <p:pic>
        <p:nvPicPr>
          <p:cNvPr id="7" name="Picture 6" descr="trie-insert-searc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8215" y="1325880"/>
            <a:ext cx="569526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a branchless chain</a:t>
            </a:r>
          </a:p>
        </p:txBody>
      </p:sp>
      <p:pic>
        <p:nvPicPr>
          <p:cNvPr id="7" name="Picture 6" descr="trie-insert-search--chai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108" y="1325880"/>
            <a:ext cx="468947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insert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insert(TrieNode *root, const char *word)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TrieNode *cur = root;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word[i];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c = word[i] - 'A';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(cur-&gt;child[c] == NULL)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cur-&gt;child[c] = new_node();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cur = cur-&gt;child[c];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cur-&gt;isEnd =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search(TrieNode *root, const char *word)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TrieNode *cur = root;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word[i];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c = word[i] - 'A';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(cur-&gt;child[c] == NULL)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cur = cur-&gt;child[c];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cur-&gt;isEnd;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Every operation: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O(L)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L</a:t>
            </a:r>
            <a:r>
              <a:rPr sz="2000" b="0">
                <a:solidFill>
                  <a:srgbClr val="1F2D3A"/>
                </a:solidFill>
              </a:rPr>
              <a:t> = word's length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Independent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, the trie's total word count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Beats a sorted array or balanced tree: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O(L log 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Price: memory — many mostly-empty child arrays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Confusing "found" with "is a prefix"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a node can be </a:t>
            </a:r>
            <a:r>
              <a:rPr sz="2000" b="0">
                <a:solidFill>
                  <a:srgbClr val="A1123F"/>
                </a:solidFill>
                <a:latin typeface="Consolas"/>
              </a:rPr>
              <a:t>isEnd</a:t>
            </a:r>
            <a:r>
              <a:rPr sz="2000" b="0">
                <a:solidFill>
                  <a:srgbClr val="1F2D3A"/>
                </a:solidFill>
              </a:rPr>
              <a:t> AND have children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Never freeing the trie in C (a recursive leak, one node at a time)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trie holds "DOG". You call </a:t>
            </a:r>
            <a:r>
              <a:rPr sz="2000" b="0">
                <a:solidFill>
                  <a:srgbClr val="A1123F"/>
                </a:solidFill>
                <a:latin typeface="Consolas"/>
              </a:rPr>
              <a:t>search("DO")</a:t>
            </a:r>
            <a:r>
              <a:rPr sz="2000" b="0">
                <a:solidFill>
                  <a:srgbClr val="1F2D3A"/>
                </a:solidFill>
              </a:rPr>
              <a:t>. Does it return true or false — and why?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False.</a:t>
            </a:r>
            <a:r>
              <a:rPr sz="2000" b="0">
                <a:solidFill>
                  <a:srgbClr val="1F2D3A"/>
                </a:solidFill>
              </a:rPr>
              <a:t> The path </a:t>
            </a:r>
            <a:r>
              <a:rPr sz="2000" b="0">
                <a:solidFill>
                  <a:srgbClr val="A1123F"/>
                </a:solidFill>
                <a:latin typeface="Consolas"/>
              </a:rPr>
              <a:t>D</a:t>
            </a:r>
            <a:r>
              <a:rPr sz="2000" b="0">
                <a:solidFill>
                  <a:srgbClr val="1F2D3A"/>
                </a:solidFill>
              </a:rPr>
              <a:t>→</a:t>
            </a:r>
            <a:r>
              <a:rPr sz="2000" b="0">
                <a:solidFill>
                  <a:srgbClr val="A1123F"/>
                </a:solidFill>
                <a:latin typeface="Consolas"/>
              </a:rPr>
              <a:t>O</a:t>
            </a:r>
            <a:r>
              <a:rPr sz="2000" b="0">
                <a:solidFill>
                  <a:srgbClr val="1F2D3A"/>
                </a:solidFill>
              </a:rPr>
              <a:t> exists, so </a:t>
            </a:r>
            <a:r>
              <a:rPr sz="2000" b="0">
                <a:solidFill>
                  <a:srgbClr val="A1123F"/>
                </a:solidFill>
                <a:latin typeface="Consolas"/>
              </a:rPr>
              <a:t>"DO"</a:t>
            </a:r>
            <a:r>
              <a:rPr sz="2000" b="0">
                <a:solidFill>
                  <a:srgbClr val="1F2D3A"/>
                </a:solidFill>
              </a:rPr>
              <a:t> is a valid </a:t>
            </a:r>
            <a:r>
              <a:rPr sz="2000" b="1">
                <a:solidFill>
                  <a:srgbClr val="1F2D3A"/>
                </a:solidFill>
              </a:rPr>
              <a:t>prefix</a:t>
            </a:r>
            <a:r>
              <a:rPr sz="2000" b="0">
                <a:solidFill>
                  <a:srgbClr val="1F2D3A"/>
                </a:solidFill>
              </a:rPr>
              <a:t> — but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O</a:t>
            </a:r>
            <a:r>
              <a:rPr sz="2000" b="0">
                <a:solidFill>
                  <a:srgbClr val="1F2D3A"/>
                </a:solidFill>
              </a:rPr>
              <a:t> node is not marked </a:t>
            </a:r>
            <a:r>
              <a:rPr sz="2000" b="0">
                <a:solidFill>
                  <a:srgbClr val="A1123F"/>
                </a:solidFill>
                <a:latin typeface="Consolas"/>
              </a:rPr>
              <a:t>isEnd</a:t>
            </a:r>
            <a:r>
              <a:rPr sz="2000" b="0">
                <a:solidFill>
                  <a:srgbClr val="1F2D3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Compressed Tries (Radix Trees)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Inserting "INTERNATIONAL" (13 letters) into a plain trie makes 13 new nodes, each with one child. Can we do better?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Donald R. Morrison, "PATRICIA," 1968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Name: an acronym for a practical retrieval algorithm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Also called a </a:t>
            </a:r>
            <a:r>
              <a:rPr sz="2000" b="1">
                <a:solidFill>
                  <a:srgbClr val="1F2D3A"/>
                </a:solidFill>
              </a:rPr>
              <a:t>radix tree</a:t>
            </a:r>
            <a:r>
              <a:rPr sz="2000" b="0">
                <a:solidFill>
                  <a:srgbClr val="1F2D3A"/>
                </a:solidFill>
              </a:rPr>
              <a:t> in general use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idea underlies real-world IP routing tables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idea: extend, create, or split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Word matches an edge label completely: </a:t>
            </a:r>
            <a:r>
              <a:rPr sz="2000" b="1">
                <a:solidFill>
                  <a:srgbClr val="1F2D3A"/>
                </a:solidFill>
              </a:rPr>
              <a:t>descend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edge starts with the next letter: </a:t>
            </a:r>
            <a:r>
              <a:rPr sz="2000" b="1">
                <a:solidFill>
                  <a:srgbClr val="1F2D3A"/>
                </a:solidFill>
              </a:rPr>
              <a:t>new leaf edge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Word shares only part of an edge label: </a:t>
            </a:r>
            <a:r>
              <a:rPr sz="2000" b="1">
                <a:solidFill>
                  <a:srgbClr val="1F2D3A"/>
                </a:solidFill>
              </a:rPr>
              <a:t>split it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split creates a new branching node at the mismatch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Splitting an 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"TEST"</a:t>
            </a:r>
            <a:r>
              <a:rPr sz="2000" b="0">
                <a:solidFill>
                  <a:srgbClr val="1F2D3A"/>
                </a:solidFill>
              </a:rPr>
              <a:t> alone: one leaf edge, labeled </a:t>
            </a:r>
            <a:r>
              <a:rPr sz="2000" b="0">
                <a:solidFill>
                  <a:srgbClr val="A1123F"/>
                </a:solidFill>
                <a:latin typeface="Consolas"/>
              </a:rPr>
              <a:t>"TEST"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Insert </a:t>
            </a:r>
            <a:r>
              <a:rPr sz="2000" b="0">
                <a:solidFill>
                  <a:srgbClr val="A1123F"/>
                </a:solidFill>
                <a:latin typeface="Consolas"/>
              </a:rPr>
              <a:t>"TEA"</a:t>
            </a:r>
            <a:r>
              <a:rPr sz="2000" b="0">
                <a:solidFill>
                  <a:srgbClr val="1F2D3A"/>
                </a:solidFill>
              </a:rPr>
              <a:t>: shares only </a:t>
            </a:r>
            <a:r>
              <a:rPr sz="2000" b="0">
                <a:solidFill>
                  <a:srgbClr val="A1123F"/>
                </a:solidFill>
                <a:latin typeface="Consolas"/>
              </a:rPr>
              <a:t>"TE"</a:t>
            </a:r>
            <a:r>
              <a:rPr sz="2000" b="0">
                <a:solidFill>
                  <a:srgbClr val="1F2D3A"/>
                </a:solidFill>
              </a:rPr>
              <a:t> before diverging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"TEST"</a:t>
            </a:r>
            <a:r>
              <a:rPr sz="2000" b="0">
                <a:solidFill>
                  <a:srgbClr val="1F2D3A"/>
                </a:solidFill>
              </a:rPr>
              <a:t> edge splits at </a:t>
            </a:r>
            <a:r>
              <a:rPr sz="2000" b="0">
                <a:solidFill>
                  <a:srgbClr val="A1123F"/>
                </a:solidFill>
                <a:latin typeface="Consolas"/>
              </a:rPr>
              <a:t>"TE"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Two children now: </a:t>
            </a:r>
            <a:r>
              <a:rPr sz="2000" b="0">
                <a:solidFill>
                  <a:srgbClr val="A1123F"/>
                </a:solidFill>
                <a:latin typeface="Consolas"/>
              </a:rPr>
              <a:t>"ST"</a:t>
            </a:r>
            <a:r>
              <a:rPr sz="2000" b="0">
                <a:solidFill>
                  <a:srgbClr val="1F2D3A"/>
                </a:solidFill>
              </a:rPr>
              <a:t> (old)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"A"</a:t>
            </a:r>
            <a:r>
              <a:rPr sz="2000" b="0">
                <a:solidFill>
                  <a:srgbClr val="1F2D3A"/>
                </a:solidFill>
              </a:rPr>
              <a:t> (new)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Link back — Week 4's Huffman coding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Huffman: compresses by exploiting </a:t>
            </a:r>
            <a:r>
              <a:rPr sz="2000" b="1">
                <a:solidFill>
                  <a:srgbClr val="1F2D3A"/>
                </a:solidFill>
              </a:rPr>
              <a:t>skewed frequencies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Compressed trie: compresses by removing </a:t>
            </a:r>
            <a:r>
              <a:rPr sz="2000" b="1">
                <a:solidFill>
                  <a:srgbClr val="1F2D3A"/>
                </a:solidFill>
              </a:rPr>
              <a:t>structural</a:t>
            </a:r>
            <a:r>
              <a:rPr sz="2000" b="0">
                <a:solidFill>
                  <a:srgbClr val="1F2D3A"/>
                </a:solidFill>
              </a:rPr>
              <a:t> waste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Huffman shape depends on how OFTEN symbols occur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Trie shape depends only on the actual characters stored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Compressed trie, step by step</a:t>
            </a:r>
          </a:p>
        </p:txBody>
      </p:sp>
      <p:pic>
        <p:nvPicPr>
          <p:cNvPr id="7" name="Picture 6" descr="compressed-tri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085" y="1325880"/>
            <a:ext cx="465352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splits nested inside splits</a:t>
            </a:r>
          </a:p>
        </p:txBody>
      </p:sp>
      <p:pic>
        <p:nvPicPr>
          <p:cNvPr id="7" name="Picture 6" descr="compressed-tri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9085" y="1325880"/>
            <a:ext cx="4653524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insert (extend, create, or split)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j = common_prefix_len(word + i, child-&gt;label);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(j == strlen(child-&gt;label))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= child; i += j;   /* descend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RNode *mid = split_edge(node, child, j);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new leaf for the remaining suffix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search</a:t>
            </a:r>
            <a:r>
              <a:rPr sz="2000" b="0">
                <a:solidFill>
                  <a:srgbClr val="1F2D3A"/>
                </a:solidFill>
              </a:rPr>
              <a:t>: still </a:t>
            </a:r>
            <a:r>
              <a:rPr sz="2000" b="0">
                <a:solidFill>
                  <a:srgbClr val="A1123F"/>
                </a:solidFill>
                <a:latin typeface="Consolas"/>
              </a:rPr>
              <a:t>O(L)</a:t>
            </a:r>
            <a:r>
              <a:rPr sz="2000" b="0">
                <a:solidFill>
                  <a:srgbClr val="1F2D3A"/>
                </a:solidFill>
              </a:rPr>
              <a:t>, exactly like a plain trie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Savings are in </a:t>
            </a:r>
            <a:r>
              <a:rPr sz="2000" b="1">
                <a:solidFill>
                  <a:srgbClr val="1F2D3A"/>
                </a:solidFill>
              </a:rPr>
              <a:t>space</a:t>
            </a:r>
            <a:r>
              <a:rPr sz="2000" b="0">
                <a:solidFill>
                  <a:srgbClr val="1F2D3A"/>
                </a:solidFill>
              </a:rPr>
              <a:t>, not time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Node count bounded by branch points + word endings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Not by total character count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Splitting at the wrong length (must be the common prefix length)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to re-key the split child under its new first letter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Treating "path exists" as "word found" (same trap as section 3)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compressed trie holds only "APPLE" and "BANANA". How many non-root nodes does it have, and why so few?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Two.</a:t>
            </a:r>
            <a:r>
              <a:rPr sz="2000" b="0">
                <a:solidFill>
                  <a:srgbClr val="1F2D3A"/>
                </a:solidFill>
              </a:rPr>
              <a:t> No shared prefix at all, so each word becomes one single leaf edge straight from the root.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61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Suffix Arrays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 trie answers "is X a stored word?" What about "does P occur anywhere inside one long text T?"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idea: every suffix, sorted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List </a:t>
            </a:r>
            <a:r>
              <a:rPr sz="2000" b="1">
                <a:solidFill>
                  <a:srgbClr val="1F2D3A"/>
                </a:solidFill>
              </a:rPr>
              <a:t>every</a:t>
            </a:r>
            <a:r>
              <a:rPr sz="2000" b="0">
                <a:solidFill>
                  <a:srgbClr val="1F2D3A"/>
                </a:solidFill>
              </a:rPr>
              <a:t> suffix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T</a:t>
            </a:r>
            <a:r>
              <a:rPr sz="2000" b="0">
                <a:solidFill>
                  <a:srgbClr val="1F2D3A"/>
                </a:solidFill>
              </a:rPr>
              <a:t>, starting position by position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Sort those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suffixes lexicographically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pattern search becomes a </a:t>
            </a:r>
            <a:r>
              <a:rPr sz="2000" b="1">
                <a:solidFill>
                  <a:srgbClr val="1F2D3A"/>
                </a:solidFill>
              </a:rPr>
              <a:t>binary search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O(m log 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sentinel needed — two suffixes always differ in length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Suffix array, step by step</a:t>
            </a:r>
          </a:p>
        </p:txBody>
      </p:sp>
      <p:pic>
        <p:nvPicPr>
          <p:cNvPr id="7" name="Picture 6" descr="suffix-array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346" y="1325880"/>
            <a:ext cx="575700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every character identical</a:t>
            </a:r>
          </a:p>
        </p:txBody>
      </p:sp>
      <p:pic>
        <p:nvPicPr>
          <p:cNvPr id="7" name="Picture 6" descr="suffix-array--all-sam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1280" y="1325880"/>
            <a:ext cx="5909135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insertion sort over suffixes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841247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compare_suffix(const char *text, int a, int b)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strcmp(text + a, text + b);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6856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suffix is a </a:t>
            </a:r>
            <a:r>
              <a:rPr sz="2000" b="1">
                <a:solidFill>
                  <a:srgbClr val="1F2D3A"/>
                </a:solidFill>
              </a:rPr>
              <a:t>pointer</a:t>
            </a:r>
            <a:r>
              <a:rPr sz="2000" b="0">
                <a:solidFill>
                  <a:srgbClr val="1F2D3A"/>
                </a:solidFill>
              </a:rPr>
              <a:t> into the same buffer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character is ever copied during the sort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Insertion sort here: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O(n^2)</a:t>
            </a:r>
            <a:r>
              <a:rPr sz="2000" b="0">
                <a:solidFill>
                  <a:srgbClr val="1F2D3A"/>
                </a:solidFill>
              </a:rPr>
              <a:t> comparisons, worst case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Each comparison: up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O(n)</a:t>
            </a:r>
            <a:r>
              <a:rPr sz="2000" b="0">
                <a:solidFill>
                  <a:srgbClr val="1F2D3A"/>
                </a:solidFill>
              </a:rPr>
              <a:t> characters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Real libraries build it in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 log n)</a:t>
            </a:r>
            <a:r>
              <a:rPr sz="2000" b="0">
                <a:solidFill>
                  <a:srgbClr val="1F2D3A"/>
                </a:solidFill>
              </a:rPr>
              <a:t> or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Once built: pattern search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O(m log n)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Adding an unneeded sentinel character "just in case"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Comparing suffixes by copying substrings (wastes memory)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Confusing the array's indices with the suffixes' characters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can two suffixes of the same text never be byte-for-byte identical?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They always have different lengths.</a:t>
            </a:r>
            <a:r>
              <a:rPr sz="2000" b="0">
                <a:solidFill>
                  <a:srgbClr val="1F2D3A"/>
                </a:solidFill>
              </a:rPr>
              <a:t> Suffixes start at different positions in a finite string, so lengths differ.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The String-Matching Problem, and Naive Search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Given one text and one pattern, where does the pattern occur? What is the simplest possible way to answer this?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idea: try every shift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Slide the pattern across the text, one position at a time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At each shift: compare left to right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Stop at the first mismatch, or record a full match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Keep going after a match</a:t>
            </a:r>
            <a:r>
              <a:rPr sz="2000" b="0">
                <a:solidFill>
                  <a:srgbClr val="1F2D3A"/>
                </a:solidFill>
              </a:rPr>
              <a:t> — occurrences can overlap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Naive search, step by step</a:t>
            </a:r>
          </a:p>
        </p:txBody>
      </p:sp>
      <p:pic>
        <p:nvPicPr>
          <p:cNvPr id="7" name="Picture 6" descr="naive-searc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054627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the worst case</a:t>
            </a:r>
          </a:p>
        </p:txBody>
      </p:sp>
      <p:pic>
        <p:nvPicPr>
          <p:cNvPr id="7" name="Picture 6" descr="naive-searc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054627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double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s = 0; s &lt;= n - m; s++)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j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(j &lt; m &amp;&amp; text[s+j] == pattern[j])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j++;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(j == m) occ[c++] = s;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Best case: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O(n)</a:t>
            </a:r>
            <a:r>
              <a:rPr sz="2000" b="0">
                <a:solidFill>
                  <a:srgbClr val="1F2D3A"/>
                </a:solidFill>
              </a:rPr>
              <a:t> — mismatches happen immediately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Worst case: *</a:t>
            </a:r>
            <a:r>
              <a:rPr sz="2000" b="0" i="1">
                <a:solidFill>
                  <a:srgbClr val="1F2D3A"/>
                </a:solidFill>
              </a:rPr>
              <a:t>`O(n</a:t>
            </a:r>
            <a:r>
              <a:rPr sz="2000" b="0">
                <a:solidFill>
                  <a:srgbClr val="1F2D3A"/>
                </a:solidFill>
              </a:rPr>
              <a:t>m)`**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"AAAA...AB"</a:t>
            </a:r>
            <a:r>
              <a:rPr sz="2000" b="0">
                <a:solidFill>
                  <a:srgbClr val="1F2D3A"/>
                </a:solidFill>
              </a:rPr>
              <a:t> vs </a:t>
            </a:r>
            <a:r>
              <a:rPr sz="2000" b="0">
                <a:solidFill>
                  <a:srgbClr val="A1123F"/>
                </a:solidFill>
                <a:latin typeface="Consolas"/>
              </a:rPr>
              <a:t>"AAAB"</a:t>
            </a:r>
            <a:r>
              <a:rPr sz="2000" b="0">
                <a:solidFill>
                  <a:srgbClr val="1F2D3A"/>
                </a:solidFill>
              </a:rPr>
              <a:t>: nearly every shift, near-full compare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worst case is exactly what Sections 7–11 each fix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matches can overlap (skipping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m</a:t>
            </a:r>
            <a:r>
              <a:rPr sz="2000" b="0">
                <a:solidFill>
                  <a:srgbClr val="1F2D3A"/>
                </a:solidFill>
              </a:rPr>
              <a:t> positions after a hit)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Looping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s</a:t>
            </a:r>
            <a:r>
              <a:rPr sz="2000" b="0">
                <a:solidFill>
                  <a:srgbClr val="1F2D3A"/>
                </a:solidFill>
              </a:rPr>
              <a:t> up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instead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n - 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Assuming naive search is always "bad" — it often wins for short input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Construct a 2-letter-alphabet text and pattern that forces EVERY comparison to reach the pattern's last character.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`text="AAAAAAAAAA"`, `pattern="AAAB"`.</a:t>
            </a:r>
            <a:r>
              <a:rPr sz="2000" b="0">
                <a:solidFill>
                  <a:srgbClr val="1F2D3A"/>
                </a:solidFill>
              </a:rPr>
              <a:t> The first 3 letters always match; only the last, </a:t>
            </a:r>
            <a:r>
              <a:rPr sz="2000" b="0">
                <a:solidFill>
                  <a:srgbClr val="A1123F"/>
                </a:solidFill>
                <a:latin typeface="Consolas"/>
              </a:rPr>
              <a:t>'B'</a:t>
            </a:r>
            <a:r>
              <a:rPr sz="2000" b="0">
                <a:solidFill>
                  <a:srgbClr val="1F2D3A"/>
                </a:solidFill>
              </a:rPr>
              <a:t>, ever fails.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Knuth-Morris-Pratt: the Failure Function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Naive search throws away everything it learned after a mismatch. What if the pattern's own structure told us more?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Knuth, Morris, and Pratt, 1977 (SIAM J. Computing)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Independently developed by Morris &amp; Pratt, ~1970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table: </a:t>
            </a:r>
            <a:r>
              <a:rPr sz="2000" b="0">
                <a:solidFill>
                  <a:srgbClr val="A1123F"/>
                </a:solidFill>
                <a:latin typeface="Consolas"/>
              </a:rPr>
              <a:t>lps[]</a:t>
            </a:r>
            <a:r>
              <a:rPr sz="2000" b="0">
                <a:solidFill>
                  <a:srgbClr val="1F2D3A"/>
                </a:solidFill>
              </a:rPr>
              <a:t> — "longest proper prefix, also a suffix"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Built by comparing the pattern </a:t>
            </a:r>
            <a:r>
              <a:rPr sz="2000" b="1">
                <a:solidFill>
                  <a:srgbClr val="1F2D3A"/>
                </a:solidFill>
              </a:rPr>
              <a:t>to itself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idea: lps[i]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 every prefix </a:t>
            </a:r>
            <a:r>
              <a:rPr sz="2000" b="0">
                <a:solidFill>
                  <a:srgbClr val="A1123F"/>
                </a:solidFill>
                <a:latin typeface="Consolas"/>
              </a:rPr>
              <a:t>pattern[0..i]</a:t>
            </a:r>
            <a:r>
              <a:rPr sz="2000" b="0">
                <a:solidFill>
                  <a:srgbClr val="1F2D3A"/>
                </a:solidFill>
              </a:rPr>
              <a:t>...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...the longest proper prefix that is ALSO a suffix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"ABAB"</a:t>
            </a:r>
            <a:r>
              <a:rPr sz="2000" b="0">
                <a:solidFill>
                  <a:srgbClr val="1F2D3A"/>
                </a:solidFill>
              </a:rPr>
              <a:t>: longest such match is </a:t>
            </a:r>
            <a:r>
              <a:rPr sz="2000" b="0">
                <a:solidFill>
                  <a:srgbClr val="A1123F"/>
                </a:solidFill>
                <a:latin typeface="Consolas"/>
              </a:rPr>
              <a:t>"AB"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lps[3] = 2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Tells a future search: "this much can be reused"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KMP failure function, step by step</a:t>
            </a:r>
          </a:p>
        </p:txBody>
      </p:sp>
      <p:pic>
        <p:nvPicPr>
          <p:cNvPr id="7" name="Picture 6" descr="kmp-failure-functi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05833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the fallback chases a chain</a:t>
            </a:r>
          </a:p>
        </p:txBody>
      </p:sp>
      <p:pic>
        <p:nvPicPr>
          <p:cNvPr id="7" name="Picture 6" descr="kmp-failure-functi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05833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building lps[]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len = 0, i =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(i &lt; m)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(pattern[i] == pattern[len])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lps[i++] = ++len;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 else if (len != 0)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len = lps[len - 1];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lps[i++]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O(m)</a:t>
            </a:r>
            <a:r>
              <a:rPr sz="2000" b="0">
                <a:solidFill>
                  <a:srgbClr val="1F2D3A"/>
                </a:solidFill>
              </a:rPr>
              <a:t> to build the whole table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len</a:t>
            </a:r>
            <a:r>
              <a:rPr sz="2000" b="0">
                <a:solidFill>
                  <a:srgbClr val="1F2D3A"/>
                </a:solidFill>
              </a:rPr>
              <a:t> decreases at most as many times as it increases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Total work bounded by </a:t>
            </a:r>
            <a:r>
              <a:rPr sz="2000" b="0">
                <a:solidFill>
                  <a:srgbClr val="A1123F"/>
                </a:solidFill>
                <a:latin typeface="Consolas"/>
              </a:rPr>
              <a:t>O(m)</a:t>
            </a:r>
            <a:r>
              <a:rPr sz="2000" b="0">
                <a:solidFill>
                  <a:srgbClr val="1F2D3A"/>
                </a:solidFill>
              </a:rPr>
              <a:t>, never </a:t>
            </a:r>
            <a:r>
              <a:rPr sz="2000" b="0">
                <a:solidFill>
                  <a:srgbClr val="A1123F"/>
                </a:solidFill>
                <a:latin typeface="Consolas"/>
              </a:rPr>
              <a:t>O(m^2)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amortized argument reused in Sections 8 and 11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Resetting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len</a:t>
            </a:r>
            <a:r>
              <a:rPr sz="2000" b="0">
                <a:solidFill>
                  <a:srgbClr val="1F2D3A"/>
                </a:solidFill>
              </a:rPr>
              <a:t> to 0 on every mismatch (the #1 KMP bug)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Off-by-one: comparing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pattern[len]</a:t>
            </a:r>
            <a:r>
              <a:rPr sz="2000" b="0">
                <a:solidFill>
                  <a:srgbClr val="1F2D3A"/>
                </a:solidFill>
              </a:rPr>
              <a:t>, not </a:t>
            </a:r>
            <a:r>
              <a:rPr sz="2000" b="0">
                <a:solidFill>
                  <a:srgbClr val="A1123F"/>
                </a:solidFill>
                <a:latin typeface="Consolas"/>
              </a:rPr>
              <a:t>pattern[len+1]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lps[0] = 0</a:t>
            </a:r>
            <a:r>
              <a:rPr sz="2000" b="0">
                <a:solidFill>
                  <a:srgbClr val="1F2D3A"/>
                </a:solidFill>
              </a:rPr>
              <a:t> is a fixed base case, not computed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does </a:t>
            </a:r>
            <a:r>
              <a:rPr sz="2000" b="0">
                <a:solidFill>
                  <a:srgbClr val="A1123F"/>
                </a:solidFill>
                <a:latin typeface="Consolas"/>
              </a:rPr>
              <a:t>lps[m-1]</a:t>
            </a:r>
            <a:r>
              <a:rPr sz="2000" b="0">
                <a:solidFill>
                  <a:srgbClr val="1F2D3A"/>
                </a:solidFill>
              </a:rPr>
              <a:t> — the very last entry — tell you about the whole pattern?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The pattern's longest "border"</a:t>
            </a:r>
            <a:r>
              <a:rPr sz="2000" b="0">
                <a:solidFill>
                  <a:srgbClr val="1F2D3A"/>
                </a:solidFill>
              </a:rPr>
              <a:t> — its longest proper prefix that is also its own suffix, as a whole.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92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Knuth-Morris-Pratt: the Search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With </a:t>
            </a:r>
            <a:r>
              <a:rPr sz="2000" b="0">
                <a:solidFill>
                  <a:srgbClr val="A1123F"/>
                </a:solidFill>
                <a:latin typeface="Consolas"/>
              </a:rPr>
              <a:t>lps[]</a:t>
            </a:r>
            <a:r>
              <a:rPr sz="2000" b="0">
                <a:solidFill>
                  <a:srgbClr val="1F2D3A"/>
                </a:solidFill>
              </a:rPr>
              <a:t> in hand, can we search the text with a pointer that </a:t>
            </a:r>
            <a:r>
              <a:rPr sz="2000" b="1">
                <a:solidFill>
                  <a:srgbClr val="1F2D3A"/>
                </a:solidFill>
              </a:rPr>
              <a:t>never moves backward</a:t>
            </a:r>
            <a:r>
              <a:rPr sz="2000" b="0">
                <a:solidFill>
                  <a:srgbClr val="1F2D3A"/>
                </a:solidFill>
              </a:rPr>
              <a:t>?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idea: i never rewinds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Two pointers: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 (text), </a:t>
            </a:r>
            <a:r>
              <a:rPr sz="2000" b="0">
                <a:solidFill>
                  <a:srgbClr val="A1123F"/>
                </a:solidFill>
                <a:latin typeface="Consolas"/>
              </a:rPr>
              <a:t>j</a:t>
            </a:r>
            <a:r>
              <a:rPr sz="2000" b="0">
                <a:solidFill>
                  <a:srgbClr val="1F2D3A"/>
                </a:solidFill>
              </a:rPr>
              <a:t> (pattern)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Match: both advance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Mismatch, </a:t>
            </a:r>
            <a:r>
              <a:rPr sz="2000" b="0">
                <a:solidFill>
                  <a:srgbClr val="A1123F"/>
                </a:solidFill>
                <a:latin typeface="Consolas"/>
              </a:rPr>
              <a:t>j &gt; 0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j</a:t>
            </a:r>
            <a:r>
              <a:rPr sz="2000" b="0">
                <a:solidFill>
                  <a:srgbClr val="1F2D3A"/>
                </a:solidFill>
              </a:rPr>
              <a:t> falls back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lps[j-1]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 stays put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Mismatch, </a:t>
            </a:r>
            <a:r>
              <a:rPr sz="2000" b="0">
                <a:solidFill>
                  <a:srgbClr val="A1123F"/>
                </a:solidFill>
                <a:latin typeface="Consolas"/>
              </a:rPr>
              <a:t>j == 0</a:t>
            </a:r>
            <a:r>
              <a:rPr sz="2000" b="0">
                <a:solidFill>
                  <a:srgbClr val="1F2D3A"/>
                </a:solidFill>
              </a:rPr>
              <a:t>: only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 advances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KMP search, step by step</a:t>
            </a:r>
          </a:p>
        </p:txBody>
      </p:sp>
      <p:pic>
        <p:nvPicPr>
          <p:cNvPr id="7" name="Picture 6" descr="kmp-searc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938674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many lps fallbacks</a:t>
            </a:r>
          </a:p>
        </p:txBody>
      </p:sp>
      <p:pic>
        <p:nvPicPr>
          <p:cNvPr id="7" name="Picture 6" descr="kmp-search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938674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main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(i &lt;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(text[i] == pattern[j])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i++; j++;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(j == m) { occ[c++] = i-m; j = lps[j-1];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 else if (j &gt; 0)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j = lps[j - 1];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 else { i++;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 + m)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O(m)</a:t>
            </a:r>
            <a:r>
              <a:rPr sz="2000" b="0">
                <a:solidFill>
                  <a:srgbClr val="1F2D3A"/>
                </a:solidFill>
              </a:rPr>
              <a:t> to build </a:t>
            </a:r>
            <a:r>
              <a:rPr sz="2000" b="0">
                <a:solidFill>
                  <a:srgbClr val="A1123F"/>
                </a:solidFill>
                <a:latin typeface="Consolas"/>
              </a:rPr>
              <a:t>lps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O(n)</a:t>
            </a:r>
            <a:r>
              <a:rPr sz="2000" b="0">
                <a:solidFill>
                  <a:srgbClr val="1F2D3A"/>
                </a:solidFill>
              </a:rPr>
              <a:t> for the search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 advances at most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times, total, ever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Holds for </a:t>
            </a:r>
            <a:r>
              <a:rPr sz="2000" b="1">
                <a:solidFill>
                  <a:srgbClr val="1F2D3A"/>
                </a:solidFill>
              </a:rPr>
              <a:t>any</a:t>
            </a:r>
            <a:r>
              <a:rPr sz="2000" b="0">
                <a:solidFill>
                  <a:srgbClr val="1F2D3A"/>
                </a:solidFill>
              </a:rPr>
              <a:t> text or pattern — no bad input exists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Compare to naive search's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O(n*m)</a:t>
            </a:r>
            <a:r>
              <a:rPr sz="2000" b="0">
                <a:solidFill>
                  <a:srgbClr val="1F2D3A"/>
                </a:solidFill>
              </a:rPr>
              <a:t> worst case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Advancing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 on a fallback (defeats the whole guarantee)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to fall back again after recording a match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Reusing a stale </a:t>
            </a:r>
            <a:r>
              <a:rPr sz="2000" b="0">
                <a:solidFill>
                  <a:srgbClr val="A1123F"/>
                </a:solidFill>
                <a:latin typeface="Consolas"/>
              </a:rPr>
              <a:t>lps[]</a:t>
            </a:r>
            <a:r>
              <a:rPr sz="2000" b="0">
                <a:solidFill>
                  <a:srgbClr val="1F2D3A"/>
                </a:solidFill>
              </a:rPr>
              <a:t> table built for a different pattern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is O(n+m) achievable for KMP but not for naive search, in one sentence?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No text character is ever re-examined</a:t>
            </a:r>
            <a:r>
              <a:rPr sz="2000" b="0">
                <a:solidFill>
                  <a:srgbClr val="1F2D3A"/>
                </a:solidFill>
              </a:rPr>
              <a:t> — naive search's O(n*m) comes exactly from re-examining them.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Rabin-Karp: Rolling Hash and Spurious Hits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What if, instead of comparing characters at all, we compared a cheap HASH of each window?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Rabin and Karp, 1987 (IBM J. Research &amp; Development)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Reuses Week 6's hashing — but </a:t>
            </a:r>
            <a:r>
              <a:rPr sz="2000" b="1">
                <a:solidFill>
                  <a:srgbClr val="1F2D3A"/>
                </a:solidFill>
              </a:rPr>
              <a:t>rolls</a:t>
            </a:r>
            <a:r>
              <a:rPr sz="2000" b="0">
                <a:solidFill>
                  <a:srgbClr val="1F2D3A"/>
                </a:solidFill>
              </a:rPr>
              <a:t> it forward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hash match is only a </a:t>
            </a:r>
            <a:r>
              <a:rPr sz="2000" b="1">
                <a:solidFill>
                  <a:srgbClr val="1F2D3A"/>
                </a:solidFill>
              </a:rPr>
              <a:t>candidate</a:t>
            </a:r>
            <a:r>
              <a:rPr sz="2000" b="0">
                <a:solidFill>
                  <a:srgbClr val="1F2D3A"/>
                </a:solidFill>
              </a:rPr>
              <a:t>, never a certainty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Must always verify before reporting a match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idea: roll, don't recompute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Treat each character as a digit in a fixed base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Sliding the window: remove outgoing char, add incoming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One </a:t>
            </a:r>
            <a:r>
              <a:rPr sz="2000" b="0">
                <a:solidFill>
                  <a:srgbClr val="A1123F"/>
                </a:solidFill>
                <a:latin typeface="Consolas"/>
              </a:rPr>
              <a:t>O(1)</a:t>
            </a:r>
            <a:r>
              <a:rPr sz="2000" b="0">
                <a:solidFill>
                  <a:srgbClr val="1F2D3A"/>
                </a:solidFill>
              </a:rPr>
              <a:t> update — the middle characters are never re-read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hash </a:t>
            </a:r>
            <a:r>
              <a:rPr sz="2000" b="1">
                <a:solidFill>
                  <a:srgbClr val="1F2D3A"/>
                </a:solidFill>
              </a:rPr>
              <a:t>match</a:t>
            </a:r>
            <a:r>
              <a:rPr sz="2000" b="0">
                <a:solidFill>
                  <a:srgbClr val="1F2D3A"/>
                </a:solidFill>
              </a:rPr>
              <a:t> must still be </a:t>
            </a:r>
            <a:r>
              <a:rPr sz="2000" b="1">
                <a:solidFill>
                  <a:srgbClr val="1F2D3A"/>
                </a:solidFill>
              </a:rPr>
              <a:t>verified</a:t>
            </a:r>
            <a:r>
              <a:rPr sz="2000" b="0">
                <a:solidFill>
                  <a:srgbClr val="1F2D3A"/>
                </a:solidFill>
              </a:rPr>
              <a:t> character by character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Rabin-Karp, step by step</a:t>
            </a:r>
          </a:p>
        </p:txBody>
      </p:sp>
      <p:pic>
        <p:nvPicPr>
          <p:cNvPr id="7" name="Picture 6" descr="rabin-karp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99063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spurious hits</a:t>
            </a:r>
          </a:p>
        </p:txBody>
      </p:sp>
      <p:pic>
        <p:nvPicPr>
          <p:cNvPr id="7" name="Picture 6" descr="rabin-karp--har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61865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real bug caught while building this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First C draft used </a:t>
            </a:r>
            <a:r>
              <a:rPr sz="2000" b="0">
                <a:solidFill>
                  <a:srgbClr val="A1123F"/>
                </a:solidFill>
                <a:latin typeface="Consolas"/>
              </a:rPr>
              <a:t>long</a:t>
            </a:r>
            <a:r>
              <a:rPr sz="2000" b="0">
                <a:solidFill>
                  <a:srgbClr val="1F2D3A"/>
                </a:solidFill>
              </a:rPr>
              <a:t> for the hash — not </a:t>
            </a:r>
            <a:r>
              <a:rPr sz="2000" b="0">
                <a:solidFill>
                  <a:srgbClr val="A1123F"/>
                </a:solidFill>
                <a:latin typeface="Consolas"/>
              </a:rPr>
              <a:t>long long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 this course's toolchain, </a:t>
            </a:r>
            <a:r>
              <a:rPr sz="2000" b="0">
                <a:solidFill>
                  <a:srgbClr val="A1123F"/>
                </a:solidFill>
                <a:latin typeface="Consolas"/>
              </a:rPr>
              <a:t>long</a:t>
            </a:r>
            <a:r>
              <a:rPr sz="2000" b="0">
                <a:solidFill>
                  <a:srgbClr val="1F2D3A"/>
                </a:solidFill>
              </a:rPr>
              <a:t> is only </a:t>
            </a:r>
            <a:r>
              <a:rPr sz="2000" b="1">
                <a:solidFill>
                  <a:srgbClr val="1F2D3A"/>
                </a:solidFill>
              </a:rPr>
              <a:t>32 bits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mod = 1e9+7</a:t>
            </a:r>
            <a:r>
              <a:rPr sz="2000" b="0">
                <a:solidFill>
                  <a:srgbClr val="1F2D3A"/>
                </a:solidFill>
              </a:rPr>
              <a:t> overflowed it — silent wrong answer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Comparing C vs Java output caught it immediately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rolling update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(s &gt; 0)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tHash = ((tHash - text[s-1]*hPow % mod + mod)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* base + text[s+m-1]) % mod;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(tHash == pHash &amp;&amp; strncmp(...) == 0)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occ[c++] = s;   /* VERIFY, always */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Average case: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 + m)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O(1)</a:t>
            </a:r>
            <a:r>
              <a:rPr sz="2000" b="0">
                <a:solidFill>
                  <a:srgbClr val="1F2D3A"/>
                </a:solidFill>
              </a:rPr>
              <a:t> per window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O(m)</a:t>
            </a:r>
            <a:r>
              <a:rPr sz="2000" b="0">
                <a:solidFill>
                  <a:srgbClr val="1F2D3A"/>
                </a:solidFill>
              </a:rPr>
              <a:t> extra, only for windows whose hash actually matches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Worst case: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O(n*m)</a:t>
            </a:r>
            <a:r>
              <a:rPr sz="2000" b="0">
                <a:solidFill>
                  <a:srgbClr val="1F2D3A"/>
                </a:solidFill>
              </a:rPr>
              <a:t> if the modulus is small/poorly chosen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large prime modulus makes that worst case vanishingly rare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Skipping verification (correctness bug, not just speed)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Using too small a modulus "for simplicity"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Using a type too narrow for the arithmetic (the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long</a:t>
            </a:r>
            <a:r>
              <a:rPr sz="2000" b="0">
                <a:solidFill>
                  <a:srgbClr val="1F2D3A"/>
                </a:solidFill>
              </a:rPr>
              <a:t> bug above)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must every Rabin-Karp hash match still be verified character by character?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Pigeonhole principle</a:t>
            </a:r>
            <a:r>
              <a:rPr sz="2000" b="0">
                <a:solidFill>
                  <a:srgbClr val="1F2D3A"/>
                </a:solidFill>
              </a:rPr>
              <a:t> — more possible substrings than hash values means some MUST collide. Not a bug; math.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10. Boyer-Moore: the Bad-Character Rule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algorithm so far compares left to right. What if comparing RIGHT to LEFT let us jump further?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short 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Boyer and Moore, 1977 (Communications of the ACM)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course covers only the </a:t>
            </a:r>
            <a:r>
              <a:rPr sz="2000" b="1">
                <a:solidFill>
                  <a:srgbClr val="1F2D3A"/>
                </a:solidFill>
              </a:rPr>
              <a:t>bad-character</a:t>
            </a:r>
            <a:r>
              <a:rPr sz="2000" b="0">
                <a:solidFill>
                  <a:srgbClr val="1F2D3A"/>
                </a:solidFill>
              </a:rPr>
              <a:t> rule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full algorithm adds a second "good suffix" rule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Often the fastest string search in practice today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idea: scan backward, jump using what you saw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Compare </a:t>
            </a:r>
            <a:r>
              <a:rPr sz="2000" b="0">
                <a:solidFill>
                  <a:srgbClr val="A1123F"/>
                </a:solidFill>
                <a:latin typeface="Consolas"/>
              </a:rPr>
              <a:t>pattern[m-1]</a:t>
            </a:r>
            <a:r>
              <a:rPr sz="2000" b="0">
                <a:solidFill>
                  <a:srgbClr val="1F2D3A"/>
                </a:solidFill>
              </a:rPr>
              <a:t> first, then </a:t>
            </a:r>
            <a:r>
              <a:rPr sz="2000" b="0">
                <a:solidFill>
                  <a:srgbClr val="A1123F"/>
                </a:solidFill>
                <a:latin typeface="Consolas"/>
              </a:rPr>
              <a:t>m-2</a:t>
            </a:r>
            <a:r>
              <a:rPr sz="2000" b="0">
                <a:solidFill>
                  <a:srgbClr val="1F2D3A"/>
                </a:solidFill>
              </a:rPr>
              <a:t>, ... right to left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Mismatch: look up that character's LAST occurrence in the pattern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Character absent from pattern: jump the </a:t>
            </a:r>
            <a:r>
              <a:rPr sz="2000" b="1">
                <a:solidFill>
                  <a:srgbClr val="1F2D3A"/>
                </a:solidFill>
              </a:rPr>
              <a:t>whole pattern length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Shift never less than 1 (never backward, never stationary)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Boyer-Moore, step by step</a:t>
            </a:r>
          </a:p>
        </p:txBody>
      </p:sp>
      <p:pic>
        <p:nvPicPr>
          <p:cNvPr id="7" name="Picture 6" descr="boyer-moore-bad-character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73224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the biggest possible jump</a:t>
            </a:r>
          </a:p>
        </p:txBody>
      </p:sp>
      <p:pic>
        <p:nvPicPr>
          <p:cNvPr id="7" name="Picture 6" descr="boyer-moore-bad-character--max-jump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129024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bad-character table and shift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c = 0; c &lt; 256; c++) last[c] = -1;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j = 0; j &lt; m; j++) last[pattern[j]] = j;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...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shift = j - last[text[s + j]];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 += shift &gt; 1 ? shift : 1;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Best case: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O(n/m)</a:t>
            </a:r>
            <a:r>
              <a:rPr sz="2000" b="0">
                <a:solidFill>
                  <a:srgbClr val="1F2D3A"/>
                </a:solidFill>
              </a:rPr>
              <a:t> — large jumps, rich alphabet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Worst case: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O(n*m)</a:t>
            </a:r>
            <a:r>
              <a:rPr sz="2000" b="0">
                <a:solidFill>
                  <a:srgbClr val="1F2D3A"/>
                </a:solidFill>
              </a:rPr>
              <a:t> — low-diversity text (bad-character rule alone)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Often fastest in practice on natural-language text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good-suffix rule (not covered) fixes the worst case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the </a:t>
            </a:r>
            <a:r>
              <a:rPr sz="2000" b="0">
                <a:solidFill>
                  <a:srgbClr val="A1123F"/>
                </a:solidFill>
                <a:latin typeface="Consolas"/>
              </a:rPr>
              <a:t>shift &gt;= 1</a:t>
            </a:r>
            <a:r>
              <a:rPr sz="2000" b="0">
                <a:solidFill>
                  <a:srgbClr val="1F2D3A"/>
                </a:solidFill>
              </a:rPr>
              <a:t> guard (can loop forever without it)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Building the bad-character table from the TEXT, not the pattern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Comparing left to right out of habit — loses the whole advantage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can Boyer-Moore skip text characters naive search is forced to examine?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One comparison proves several shifts impossible</a:t>
            </a:r>
            <a:r>
              <a:rPr sz="2000" b="0">
                <a:solidFill>
                  <a:srgbClr val="1F2D3A"/>
                </a:solidFill>
              </a:rPr>
              <a:t> — no match can exist there, so they are never checked.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11. The Z-Algorithm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Every algorithm so far built its own bespoke table. Can ONE self-comparison answer the whole search?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idea: Z[i] and a combined string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Z[i]</a:t>
            </a:r>
            <a:r>
              <a:rPr sz="2000" b="0">
                <a:solidFill>
                  <a:srgbClr val="1F2D3A"/>
                </a:solidFill>
              </a:rPr>
              <a:t>: how much does </a:t>
            </a:r>
            <a:r>
              <a:rPr sz="2000" b="0">
                <a:solidFill>
                  <a:srgbClr val="A1123F"/>
                </a:solidFill>
                <a:latin typeface="Consolas"/>
              </a:rPr>
              <a:t>S[i..]</a:t>
            </a:r>
            <a:r>
              <a:rPr sz="2000" b="0">
                <a:solidFill>
                  <a:srgbClr val="1F2D3A"/>
                </a:solidFill>
              </a:rPr>
              <a:t> match </a:t>
            </a:r>
            <a:r>
              <a:rPr sz="2000" b="0">
                <a:solidFill>
                  <a:srgbClr val="A1123F"/>
                </a:solidFill>
                <a:latin typeface="Consolas"/>
              </a:rPr>
              <a:t>S</a:t>
            </a:r>
            <a:r>
              <a:rPr sz="2000" b="0">
                <a:solidFill>
                  <a:srgbClr val="1F2D3A"/>
                </a:solidFill>
              </a:rPr>
              <a:t>'s own start?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Let </a:t>
            </a:r>
            <a:r>
              <a:rPr sz="2000" b="0">
                <a:solidFill>
                  <a:srgbClr val="A1123F"/>
                </a:solidFill>
                <a:latin typeface="Consolas"/>
              </a:rPr>
              <a:t>S = pattern + '#' + text</a:t>
            </a:r>
            <a:r>
              <a:rPr sz="2000" b="0">
                <a:solidFill>
                  <a:srgbClr val="1F2D3A"/>
                </a:solidFill>
              </a:rPr>
              <a:t> (a separator, unused elsewhere)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Z[i] &gt;= |pattern|</a:t>
            </a:r>
            <a:r>
              <a:rPr sz="2000" b="0">
                <a:solidFill>
                  <a:srgbClr val="1F2D3A"/>
                </a:solidFill>
              </a:rPr>
              <a:t> in the text part: an occurrence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</a:t>
            </a:r>
            <a:r>
              <a:rPr sz="2000" b="0">
                <a:solidFill>
                  <a:srgbClr val="A1123F"/>
                </a:solidFill>
                <a:latin typeface="Consolas"/>
              </a:rPr>
              <a:t>[l, r)</a:t>
            </a:r>
            <a:r>
              <a:rPr sz="2000" b="0">
                <a:solidFill>
                  <a:srgbClr val="1F2D3A"/>
                </a:solidFill>
              </a:rPr>
              <a:t> window reuses known values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 + m)</a:t>
            </a:r>
            <a:r>
              <a:rPr sz="2000" b="0">
                <a:solidFill>
                  <a:srgbClr val="1F2D3A"/>
                </a:solidFill>
              </a:rPr>
              <a:t> total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Z-algorithm, step by step</a:t>
            </a:r>
          </a:p>
        </p:txBody>
      </p:sp>
      <p:pic>
        <p:nvPicPr>
          <p:cNvPr id="7" name="Picture 6" descr="z-algorithm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042227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the window is reused constantly</a:t>
            </a:r>
          </a:p>
        </p:txBody>
      </p:sp>
      <p:pic>
        <p:nvPicPr>
          <p:cNvPr id="7" name="Picture 6" descr="z-algorithm--hard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918233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Z-array construction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(i &lt; r)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z[i] = min(r - i, z[i - l]);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(i + z[i] &lt; n &amp;&amp; s[z[i]] == s[i + z[i]])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z[i]++;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(i + z[i] &gt; r) { l = i; r = i + z[i]; }</a:t>
            </a: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 + m)</a:t>
            </a:r>
            <a:r>
              <a:rPr sz="2000" b="0">
                <a:solidFill>
                  <a:srgbClr val="1F2D3A"/>
                </a:solidFill>
              </a:rPr>
              <a:t> for the whole combined-string Z-array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amortized argument as KMP's lps: window only grows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O(1)</a:t>
            </a:r>
            <a:r>
              <a:rPr sz="2000" b="0">
                <a:solidFill>
                  <a:srgbClr val="1F2D3A"/>
                </a:solidFill>
              </a:rPr>
              <a:t> per position to check for an occurrence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Conceptually the simplest of all five search algorithms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the separator, or picking one that appears in the text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Using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Z[i] == m</a:t>
            </a:r>
            <a:r>
              <a:rPr sz="2000" b="0">
                <a:solidFill>
                  <a:srgbClr val="1F2D3A"/>
                </a:solidFill>
              </a:rPr>
              <a:t> instead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Z[i] &gt;= 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Treating </a:t>
            </a:r>
            <a:r>
              <a:rPr sz="2000" b="0">
                <a:solidFill>
                  <a:srgbClr val="A1123F"/>
                </a:solidFill>
                <a:latin typeface="Consolas"/>
              </a:rPr>
              <a:t>Z[0]</a:t>
            </a:r>
            <a:r>
              <a:rPr sz="2000" b="0">
                <a:solidFill>
                  <a:srgbClr val="1F2D3A"/>
                </a:solidFill>
              </a:rPr>
              <a:t> as meaningful (it is conventionally unused)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How does the Z-algorithm avoid building a SEPARATE table like KMP's lps, in one sentence?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It doesn't avoid one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Z[]</a:t>
            </a:r>
            <a:r>
              <a:rPr sz="2000" b="0">
                <a:solidFill>
                  <a:srgbClr val="1F2D3A"/>
                </a:solidFill>
              </a:rPr>
              <a:t> IS the table, just describing overlap with the WHOLE combined string.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12. Comparing the Five Search Algorithms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Comparison table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3" cy="2221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1797"/>
                <a:gridCol w="2064344"/>
                <a:gridCol w="2359250"/>
                <a:gridCol w="4276142"/>
              </a:tblGrid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Algorithm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Worst case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Typical case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Extra idea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Naive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O(n·m)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Baseline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KMP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O(n+m)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O(n+m)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lps[], i never rewinds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Rabin-Karp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O(n·m)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O(n+m) avg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Rolling hash, verify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Boyer-Moore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O(n·m)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O(n/m)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Right-to-left, big jumps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033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Z-algorithm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O(n+m)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O(n+m)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One self-comparison array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13. A New Strategy: Dynamic Programming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How "different" are two strings? Spell checkers, </a:t>
            </a:r>
            <a:r>
              <a:rPr sz="2000" b="0">
                <a:solidFill>
                  <a:srgbClr val="A1123F"/>
                </a:solidFill>
                <a:latin typeface="Consolas"/>
              </a:rPr>
              <a:t>git diff</a:t>
            </a:r>
            <a:r>
              <a:rPr sz="2000" b="0">
                <a:solidFill>
                  <a:srgbClr val="1F2D3A"/>
                </a:solidFill>
              </a:rPr>
              <a:t>, and DNA tools all ask a version of this question.</a:t>
            </a: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Why brute force is too slow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Recursive definition: match, substitute, delete, or insert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Correct — but branches into 3 calls at nearly every step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SAME sub-problem gets recomputed, exponentially often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Overlapping sub-problems: the wasted work is fixable</a:t>
            </a: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idea: solve each sub-problem once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Optimal substructure:</a:t>
            </a:r>
            <a:r>
              <a:rPr sz="2000" b="0">
                <a:solidFill>
                  <a:srgbClr val="1F2D3A"/>
                </a:solidFill>
              </a:rPr>
              <a:t> best answer built from best sub-answers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Overlapping sub-problems:</a:t>
            </a:r>
            <a:r>
              <a:rPr sz="2000" b="0">
                <a:solidFill>
                  <a:srgbClr val="1F2D3A"/>
                </a:solidFill>
              </a:rPr>
              <a:t> the same one recurs many times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Solve each sub-problem exactly ONCE, store it in a table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This is dynamic programming — genuinely new this week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Edit distance: the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Fewest single-character edits to turn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 into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Insert, delete, or substitute — each costs 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Also called </a:t>
            </a:r>
            <a:r>
              <a:rPr sz="2000" b="1">
                <a:solidFill>
                  <a:srgbClr val="1F2D3A"/>
                </a:solidFill>
              </a:rPr>
              <a:t>Levenshtein distance</a:t>
            </a:r>
            <a:r>
              <a:rPr sz="2000" b="0">
                <a:solidFill>
                  <a:srgbClr val="1F2D3A"/>
                </a:solidFill>
              </a:rPr>
              <a:t> (1965)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dp[i][j]</a:t>
            </a:r>
            <a:r>
              <a:rPr sz="2000" b="0">
                <a:solidFill>
                  <a:srgbClr val="1F2D3A"/>
                </a:solidFill>
              </a:rPr>
              <a:t> = edit distance between </a:t>
            </a:r>
            <a:r>
              <a:rPr sz="2000" b="0">
                <a:solidFill>
                  <a:srgbClr val="A1123F"/>
                </a:solidFill>
                <a:latin typeface="Consolas"/>
              </a:rPr>
              <a:t>a</a:t>
            </a:r>
            <a:r>
              <a:rPr sz="2000" b="0">
                <a:solidFill>
                  <a:srgbClr val="1F2D3A"/>
                </a:solidFill>
              </a:rPr>
              <a:t>'s first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b</a:t>
            </a:r>
            <a:r>
              <a:rPr sz="2000" b="0">
                <a:solidFill>
                  <a:srgbClr val="1F2D3A"/>
                </a:solidFill>
              </a:rPr>
              <a:t>'s first </a:t>
            </a:r>
            <a:r>
              <a:rPr sz="2000" b="0">
                <a:solidFill>
                  <a:srgbClr val="A1123F"/>
                </a:solidFill>
                <a:latin typeface="Consolas"/>
              </a:rPr>
              <a:t>j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recurrence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Base case: </a:t>
            </a:r>
            <a:r>
              <a:rPr sz="2000" b="0">
                <a:solidFill>
                  <a:srgbClr val="A1123F"/>
                </a:solidFill>
                <a:latin typeface="Consolas"/>
              </a:rPr>
              <a:t>dp[i][0] = i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dp[0][j] = j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Characters match: </a:t>
            </a:r>
            <a:r>
              <a:rPr sz="2000" b="0">
                <a:solidFill>
                  <a:srgbClr val="A1123F"/>
                </a:solidFill>
                <a:latin typeface="Consolas"/>
              </a:rPr>
              <a:t>dp[i][j] = dp[i-1][j-1]</a:t>
            </a:r>
            <a:r>
              <a:rPr sz="2000" b="0">
                <a:solidFill>
                  <a:srgbClr val="1F2D3A"/>
                </a:solidFill>
              </a:rPr>
              <a:t> (free)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Otherwise: </a:t>
            </a:r>
            <a:r>
              <a:rPr sz="2000" b="0">
                <a:solidFill>
                  <a:srgbClr val="A1123F"/>
                </a:solidFill>
                <a:latin typeface="Consolas"/>
              </a:rPr>
              <a:t>1 + min(diagonal, up, left)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Fill row by row — every dependency is already computed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Edit distance, step by step</a:t>
            </a:r>
          </a:p>
        </p:txBody>
      </p:sp>
      <p:pic>
        <p:nvPicPr>
          <p:cNvPr id="7" name="Picture 6" descr="edit-distanc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899" y="1325880"/>
            <a:ext cx="842989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pure insertion</a:t>
            </a:r>
          </a:p>
        </p:txBody>
      </p:sp>
      <p:pic>
        <p:nvPicPr>
          <p:cNvPr id="7" name="Picture 6" descr="edit-distance--insertion-only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104225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filling the table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(a[i-1] == b[j-1])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dp[i][j] = dp[i-1][j-1];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best = min(dp[i-1][j-1],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min(dp[i-1][j], dp[i][j-1]));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dp[i][j] = 1 + best;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O(n*m)</a:t>
            </a:r>
            <a:r>
              <a:rPr sz="2000" b="0">
                <a:solidFill>
                  <a:srgbClr val="1F2D3A"/>
                </a:solidFill>
              </a:rPr>
              <a:t> time — every cell computed once, in </a:t>
            </a:r>
            <a:r>
              <a:rPr sz="2000" b="0">
                <a:solidFill>
                  <a:srgbClr val="A1123F"/>
                </a:solidFill>
                <a:latin typeface="Consolas"/>
              </a:rPr>
              <a:t>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O(n*m)</a:t>
            </a:r>
            <a:r>
              <a:rPr sz="2000" b="0">
                <a:solidFill>
                  <a:srgbClr val="1F2D3A"/>
                </a:solidFill>
              </a:rPr>
              <a:t> space for the full table (needed for traceback)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Dramatic improvement over the naive recursion's exponential time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row-only optimization gets space down to </a:t>
            </a:r>
            <a:r>
              <a:rPr sz="2000" b="0">
                <a:solidFill>
                  <a:srgbClr val="A1123F"/>
                </a:solidFill>
                <a:latin typeface="Consolas"/>
              </a:rPr>
              <a:t>O(m)</a:t>
            </a:r>
            <a:r>
              <a:rPr sz="2000" b="0">
                <a:solidFill>
                  <a:srgbClr val="1F2D3A"/>
                </a:solidFill>
              </a:rPr>
              <a:t> (length only)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Off-by-one: </a:t>
            </a:r>
            <a:r>
              <a:rPr sz="2000" b="0">
                <a:solidFill>
                  <a:srgbClr val="A1123F"/>
                </a:solidFill>
                <a:latin typeface="Consolas"/>
              </a:rPr>
              <a:t>dp[i][j]</a:t>
            </a:r>
            <a:r>
              <a:rPr sz="2000" b="0">
                <a:solidFill>
                  <a:srgbClr val="1F2D3A"/>
                </a:solidFill>
              </a:rPr>
              <a:t> compares </a:t>
            </a:r>
            <a:r>
              <a:rPr sz="2000" b="0">
                <a:solidFill>
                  <a:srgbClr val="A1123F"/>
                </a:solidFill>
                <a:latin typeface="Consolas"/>
              </a:rPr>
              <a:t>a[i-1]</a:t>
            </a:r>
            <a:r>
              <a:rPr sz="2000" b="0">
                <a:solidFill>
                  <a:srgbClr val="1F2D3A"/>
                </a:solidFill>
              </a:rPr>
              <a:t>, not </a:t>
            </a:r>
            <a:r>
              <a:rPr sz="2000" b="0">
                <a:solidFill>
                  <a:srgbClr val="A1123F"/>
                </a:solidFill>
                <a:latin typeface="Consolas"/>
              </a:rPr>
              <a:t>a[i]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Forgetting base cases are </a:t>
            </a:r>
            <a:r>
              <a:rPr sz="2000" b="0">
                <a:solidFill>
                  <a:srgbClr val="A1123F"/>
                </a:solidFill>
                <a:latin typeface="Consolas"/>
              </a:rPr>
              <a:t>i</a:t>
            </a:r>
            <a:r>
              <a:rPr sz="2000" b="0">
                <a:solidFill>
                  <a:srgbClr val="1F2D3A"/>
                </a:solidFill>
              </a:rPr>
              <a:t> and </a:t>
            </a:r>
            <a:r>
              <a:rPr sz="2000" b="0">
                <a:solidFill>
                  <a:srgbClr val="A1123F"/>
                </a:solidFill>
                <a:latin typeface="Consolas"/>
              </a:rPr>
              <a:t>j</a:t>
            </a:r>
            <a:r>
              <a:rPr sz="2000" b="0">
                <a:solidFill>
                  <a:srgbClr val="1F2D3A"/>
                </a:solidFill>
              </a:rPr>
              <a:t>, not zero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Filling the table in an inconsistent or wrong order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does dynamic programming need BOTH optimal substructure AND overlapping sub-problems?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Substructure makes it CORRECT. Overlap makes memoizing WORTH IT</a:t>
            </a:r>
            <a:r>
              <a:rPr sz="2000" b="0">
                <a:solidFill>
                  <a:srgbClr val="1F2D3A"/>
                </a:solidFill>
              </a:rPr>
              <a:t> — without overlap, nothing is recomputed.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Data Structures · Week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RTEU Computer Engineering · Fall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14. Longest Common Subsequence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 question to 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Not "how different" — but "what stayed the SAME, in order, even if not contiguous"?</a:t>
            </a: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Subsequence vs substring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Substring: </a:t>
            </a:r>
            <a:r>
              <a:rPr sz="2000" b="1">
                <a:solidFill>
                  <a:srgbClr val="1F2D3A"/>
                </a:solidFill>
              </a:rPr>
              <a:t>contiguous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"ACE"</a:t>
            </a:r>
            <a:r>
              <a:rPr sz="2000" b="0">
                <a:solidFill>
                  <a:srgbClr val="1F2D3A"/>
                </a:solidFill>
              </a:rPr>
              <a:t> is NOT a substring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"ABCDE"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Subsequence: order preserved, gaps allowed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"ACE"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IS</a:t>
            </a:r>
            <a:r>
              <a:rPr sz="2000" b="0">
                <a:solidFill>
                  <a:srgbClr val="1F2D3A"/>
                </a:solidFill>
              </a:rPr>
              <a:t> a subsequence of </a:t>
            </a:r>
            <a:r>
              <a:rPr sz="2000" b="0">
                <a:solidFill>
                  <a:srgbClr val="A1123F"/>
                </a:solidFill>
                <a:latin typeface="Consolas"/>
              </a:rPr>
              <a:t>"ABCDE"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LCS: the longest sequence common to BOTH strings</a:t>
            </a: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The recurrence — almost the same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Base case: </a:t>
            </a:r>
            <a:r>
              <a:rPr sz="2000" b="0">
                <a:solidFill>
                  <a:srgbClr val="A1123F"/>
                </a:solidFill>
                <a:latin typeface="Consolas"/>
              </a:rPr>
              <a:t>dp[i][0] = dp[0][j] = 0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Characters match: </a:t>
            </a:r>
            <a:r>
              <a:rPr sz="2000" b="0">
                <a:solidFill>
                  <a:srgbClr val="A1123F"/>
                </a:solidFill>
                <a:latin typeface="Consolas"/>
              </a:rPr>
              <a:t>dp[i][j] = dp[i-1][j-1] + 1</a:t>
            </a:r>
            <a:r>
              <a:rPr sz="2000" b="0">
                <a:solidFill>
                  <a:srgbClr val="1F2D3A"/>
                </a:solidFill>
              </a:rPr>
              <a:t> (extend)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Otherwise: </a:t>
            </a:r>
            <a:r>
              <a:rPr sz="2000" b="0">
                <a:solidFill>
                  <a:srgbClr val="A1123F"/>
                </a:solidFill>
                <a:latin typeface="Consolas"/>
              </a:rPr>
              <a:t>dp[i][j] = max(dp[i-1][j], dp[i][j-1])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No penalty for a mismatch — only matches ever add anything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LCS, step by step</a:t>
            </a:r>
          </a:p>
        </p:txBody>
      </p:sp>
      <p:pic>
        <p:nvPicPr>
          <p:cNvPr id="7" name="Picture 6" descr="longest-common-subsequence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884" y="1325880"/>
            <a:ext cx="6417927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Edge case — no shared letters at all</a:t>
            </a:r>
          </a:p>
        </p:txBody>
      </p:sp>
      <p:pic>
        <p:nvPicPr>
          <p:cNvPr id="7" name="Picture 6" descr="longest-common-subsequence--no-common.en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9731" y="1325880"/>
            <a:ext cx="605223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Code — the recurrence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if (a[i-1] == b[j-1])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dp[i][j] = dp[i-1][j-1] + 1;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else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dp[i][j] = max(dp[i-1][j], dp[i][j-1]);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Complexity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O(n*m)</a:t>
            </a:r>
            <a:r>
              <a:rPr sz="2000" b="0">
                <a:solidFill>
                  <a:srgbClr val="1F2D3A"/>
                </a:solidFill>
              </a:rPr>
              <a:t> time and space — identical to edit distance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table shape, filled the same way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Only the recurrence at each cell differs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 template you will recognize again in later algorithm design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Common mistakes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Confusing subsequence with substring (see two slides back)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Accidentally reusing edit distance's min+1 recurrence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Reporting only the length when the actual subsequence is wanted</a:t>
            </a: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Mini-quiz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Why does LCS use max, while edit distance uses min+1, even though both fill the same table shape?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Edit distance counts a COST</a:t>
            </a:r>
            <a:r>
              <a:rPr sz="2000" b="0">
                <a:solidFill>
                  <a:srgbClr val="1F2D3A"/>
                </a:solidFill>
              </a:rPr>
              <a:t> (min the cheapest). </a:t>
            </a:r>
            <a:r>
              <a:rPr sz="2000" b="1">
                <a:solidFill>
                  <a:srgbClr val="1F2D3A"/>
                </a:solidFill>
              </a:rPr>
              <a:t>LCS counts a LENGTH</a:t>
            </a:r>
            <a:r>
              <a:rPr sz="2000" b="0">
                <a:solidFill>
                  <a:srgbClr val="1F2D3A"/>
                </a:solidFill>
              </a:rPr>
              <a:t> of matches (max what is already best).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Summary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6735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Structures:</a:t>
            </a:r>
            <a:r>
              <a:rPr sz="2000" b="0">
                <a:solidFill>
                  <a:srgbClr val="1F2D3A"/>
                </a:solidFill>
              </a:rPr>
              <a:t> char array + </a:t>
            </a:r>
            <a:r>
              <a:rPr sz="2000" b="0">
                <a:solidFill>
                  <a:srgbClr val="A1123F"/>
                </a:solidFill>
                <a:latin typeface="Consolas"/>
              </a:rPr>
              <a:t>'0'</a:t>
            </a:r>
            <a:r>
              <a:rPr sz="2000" b="0">
                <a:solidFill>
                  <a:srgbClr val="1F2D3A"/>
                </a:solidFill>
              </a:rPr>
              <a:t>, growable buffers, tries,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0296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compressed tries, suffix arrays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2624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Search:</a:t>
            </a:r>
            <a:r>
              <a:rPr sz="2000" b="0">
                <a:solidFill>
                  <a:srgbClr val="1F2D3A"/>
                </a:solidFill>
              </a:rPr>
              <a:t> naive, KMP, Rabin-Karp, Boyer-Moore, Z-algorithm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New this week:</a:t>
            </a:r>
            <a:r>
              <a:rPr sz="2000" b="0">
                <a:solidFill>
                  <a:srgbClr val="1F2D3A"/>
                </a:solidFill>
              </a:rPr>
              <a:t> dynamic programming — edit distance, LCS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Same DP table shape, two different recurrences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Exercises and self-check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10 exercises in the week notes — trace tables and code by hand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10 self-check questions with full worked answers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Try every "edge" preset in the picker, not just "normal"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Run every program yourself — outputs are all real, captured output</a:t>
            </a: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Looking ahead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Weeks 13–14: more new material before project weeks 15–16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The DP table shape (</a:t>
            </a:r>
            <a:r>
              <a:rPr sz="2000" b="0">
                <a:solidFill>
                  <a:srgbClr val="A1123F"/>
                </a:solidFill>
                <a:latin typeface="Consolas"/>
              </a:rPr>
              <a:t>dp[i][j]</a:t>
            </a:r>
            <a:r>
              <a:rPr sz="2000" b="0">
                <a:solidFill>
                  <a:srgbClr val="1F2D3A"/>
                </a:solidFill>
              </a:rPr>
              <a:t>, filled once, read via traceback)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...reappears throughout algorithm design, not just for strings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Keep this week's table shape in mind as a template</a:t>
            </a: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Cormen, Leiserson, Rivest, Stein — </a:t>
            </a:r>
            <a:r>
              <a:rPr sz="2000" b="0" i="1">
                <a:solidFill>
                  <a:srgbClr val="1F2D3A"/>
                </a:solidFill>
              </a:rPr>
              <a:t>Introduction to Algorithms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Knuth, Morris, Pratt (1977) · Boyer, Moore (1977) · Karp, Rabin (1987)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Fredkin (1960) · Morrison (1968) · Levenshtein (1965)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Sedgewick &amp; Wayne — </a:t>
            </a:r>
            <a:r>
              <a:rPr sz="2000" b="0" i="1">
                <a:solidFill>
                  <a:srgbClr val="1F2D3A"/>
                </a:solidFill>
              </a:rPr>
              <a:t>Algorithms</a:t>
            </a:r>
            <a:r>
              <a:rPr sz="2000" b="0">
                <a:solidFill>
                  <a:srgbClr val="1F2D3A"/>
                </a:solidFill>
              </a:rPr>
              <a:t>, 4th ed. (Strings chapter)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Full list with details in the week notes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Data Structures · Week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RTEU Computer Engineering · Fall 2026–2027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Data Structures — Week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Next week: continuing new material before Weeks 15–16's project demonstrations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Week 12 — Strings: Structures and Algorithms</dc:title>
  <dc:subject/>
  <dc:creator>Asst. Prof. Dr.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