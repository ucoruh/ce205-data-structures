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mirrors the project guide page section by section — treat it as the quick-reference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 and Java versions are not two separate projects — the Java version extends the same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facts are the ones every question in this deck eventually traces back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"Mandatory for every topic" is the key phrase — the topic changes the story, not the requirement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milestones; the full weekly schedule lives in the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weekly schedule is in the syllabus — this is only the project's own milestones inside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formulas as the syllabus, now paired with which LOs each checkpoint actually measures.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RAP1/RAP2 are the two checkpoints this whole deck is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LO.6 (file organization) only appears in RAP2 — it is taught in weeks 13–14, after the midterm checkpoint.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toolchain from the Prerequisites deck, now with exact templates and repository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"PDF only, no HTML folder" is a real acceptance condition — an HTML Doxygen output in the archive is a rejection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Java repository additionally needs to produce a release — that is checked at demo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public repository during the term is itself an acceptance-condition problem, independent of code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templates live under github.com/ucoruh — that is where "fork"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Almost every rubric criterion maps to code that should live specifically in lib, not scattered into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200 topics, eight groups, one rule: first team to write it down gets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shows one representative topic near the end — the full 200 are only on the page,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is the one students forget — approval is tied to the plan, not to writing your name in the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requirement itself — which structure, which operation — never changes, only which feature in the app demonstrates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V1–V6 for the midterm (C), F1–F9 for the final (Java) — implemented by you, not from a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checked at the demo — walking through your OWN insert/delete code, not a call to a library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are due in the first three content weeks — start the project plan around them, not around the whole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 is the last midterm requirement, taught the week right before the midterm demo — plan the buffer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is the port of everything already built in C — it is not new functionality, but it is real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F6 is taught in two separate weeks (trie in 9, disjoint sets alongside strings in 12) — plan it in two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F7–F9 are the last three requirements, taught in the two weeks right before the final demo — the tightest part of the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"Persistent" is tested literally at the demo: add a record, close the program, reopen it, show the record is still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rules are the same four checked in "Acceptance conditions" later in this deck — they are not optional polish.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archive, uploaded once per checkpoint, with the repository link on the report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presentation and video are final-only — the midterm checkpoint is code, report and a live demo, nothing pre-recorded.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GitHub repo clone, gitignore-filtered — it extracts and builds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video/ is explicitly NOT committed to GitHub — it is added to the zip archive only, right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Inconsistent naming is a small but avoidable source of confusion when grading dozens of submissions.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graded, not just recommended — "Software engineering" is a rubric criterion worth 20 points on each checkpoint.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demo question directly asks "how were branches used, how were merges/conflicts resolved" — this is not a formality.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Meaningful commits from BOTH members is an explicit acceptance condition — one member's name on every commit is a red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version tag is what "the state you submit for grading" means precisely — tag it, do not just submit whatever main happens to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rubrics, 100 points each, seven criteria apiece — every criterion on a 1–5 achievement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formula matters: a level-3 criterion earns 60% of its points, not zero — partial credit is real and scales linearly.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Criteria 1–4 (65 points) are the four V-code groups; 5–7 (35 points) are analysis and engineering, not code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 organisation alone is worth 20 of 100 points on the final — the same weight as engineering and presentation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not rubric points lost — a submission failing any one of these is not accepted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hard gate, checked before the rubric is even applied — fix these first, then worry about the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demo is roughly 10 minutes per team — these are the categories of questions, not a fixed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"Both members" is checked literally — a repo with commits from only one teammate is itself a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"Line by line" is literal — being able to point at the code and narrate it is what is being assessed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literal "persistence" test from the rules slide, performed live in front of the instructor.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section is why "shared understanding" is graded, not just tested for — the demo checks it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review and the demo check exactly the honesty the ethics codes describe — this is not an abstract clause.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"Not graded" is stronger than "loses points" — an unexplainable section simply does not count toward the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few of the most common ones — the full list is on the project guide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answers trace back to the same rule: the team-and-topic table is first-come, first-served, then locked.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all point back to the same "Acceptance conditions" slide earlier in this deck — it is worth re-reading.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200 topics, eight groups of 25 — this deck shows the map and one worked example, not all 200.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data is synthetic and every application is network-free — that rule from §5.3 holds across all eight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next two slides show exactly one topic box, in full, as a worked example of this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topic 001 of 200, shown in full so the pattern is clear before you browse the rest on the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V1–V6 and F1–F9 appears exactly once — that is the rule every one of the 200 topic boxes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Putting only one topic in the deck is deliberate — 200 topic boxes belong on the page, not on 200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syllabus, prerequisites and this guide are the three pages every student should have open in week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CEN207 Term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Project Guide — Fall 2026-2027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One project, twice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One project</a:t>
            </a:r>
            <a:r>
              <a:rPr sz="2000" b="0">
                <a:solidFill>
                  <a:srgbClr val="1F2D3A"/>
                </a:solidFill>
              </a:rPr>
              <a:t> this term: an application you choose from the list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Implemented </a:t>
            </a:r>
            <a:r>
              <a:rPr sz="2000" b="1">
                <a:solidFill>
                  <a:srgbClr val="1F2D3A"/>
                </a:solidFill>
              </a:rPr>
              <a:t>twice</a:t>
            </a:r>
            <a:r>
              <a:rPr sz="2000" b="0">
                <a:solidFill>
                  <a:srgbClr val="1F2D3A"/>
                </a:solidFill>
              </a:rPr>
              <a:t> with the data structures and algorithms from class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First in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(midterm check), then extended in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(final check)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Goal: answer "why did I choose this structure?" with </a:t>
            </a:r>
            <a:r>
              <a:rPr sz="2000" b="1">
                <a:solidFill>
                  <a:srgbClr val="1F2D3A"/>
                </a:solidFill>
              </a:rPr>
              <a:t>numbers</a:t>
            </a:r>
            <a:r>
              <a:rPr sz="2000" b="0">
                <a:solidFill>
                  <a:srgbClr val="1F2D3A"/>
                </a:solidFill>
              </a:rPr>
              <a:t> — complexity and measurements, not opinions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At a glance — team and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Team:</a:t>
            </a:r>
            <a:r>
              <a:rPr sz="2000" b="0">
                <a:solidFill>
                  <a:srgbClr val="1F2D3A"/>
                </a:solidFill>
              </a:rPr>
              <a:t> at most 3 students (working alone is also allowed)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topic taken by </a:t>
            </a:r>
            <a:r>
              <a:rPr sz="2000" b="1">
                <a:solidFill>
                  <a:srgbClr val="1F2D3A"/>
                </a:solidFill>
              </a:rPr>
              <a:t>one team only</a:t>
            </a:r>
            <a:r>
              <a:rPr sz="2000" b="0">
                <a:solidFill>
                  <a:srgbClr val="1F2D3A"/>
                </a:solidFill>
              </a:rPr>
              <a:t>; no team changes after week 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Midterm check (RAP1):</a:t>
            </a:r>
            <a:r>
              <a:rPr sz="2000" b="0">
                <a:solidFill>
                  <a:srgbClr val="1F2D3A"/>
                </a:solidFill>
              </a:rPr>
              <a:t> C implementation, report, demo — week 7, 30.10.2026 — 60% of midterm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Final check (RAP2):</a:t>
            </a:r>
            <a:r>
              <a:rPr sz="2000" b="0">
                <a:solidFill>
                  <a:srgbClr val="1F2D3A"/>
                </a:solidFill>
              </a:rPr>
              <a:t> Java implementation, report, demo — week 15, 25.12.2026 — 70% of final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At a glance — tools, scope, deadlines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Tools:</a:t>
            </a:r>
            <a:r>
              <a:rPr sz="2000" b="0">
                <a:solidFill>
                  <a:srgbClr val="1F2D3A"/>
                </a:solidFill>
              </a:rPr>
              <a:t> CMake + GoogleTest + Doxygen (C); JDK 21 + Maven + JUnit 5 (Java); Git and GitHub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Scope:</a:t>
            </a:r>
            <a:r>
              <a:rPr sz="2000" b="0">
                <a:solidFill>
                  <a:srgbClr val="1F2D3A"/>
                </a:solidFill>
              </a:rPr>
              <a:t> every requirement code (V1–V6, F1–F9) is mandatory for every topic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topic box tells you what each code represents in that application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Deadlines:</a:t>
            </a:r>
            <a:r>
              <a:rPr sz="2000" b="0">
                <a:solidFill>
                  <a:srgbClr val="1F2D3A"/>
                </a:solidFill>
              </a:rPr>
              <a:t> topic/team selection by end of week 3 (04.10.2026); plan approval week 4 (09.10.2026)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Calendar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Project calendar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569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8329"/>
                <a:gridCol w="2409040"/>
                <a:gridCol w="2834164"/>
              </a:tblGrid>
              <a:tr h="36706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Milestone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Topic and team selection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end of week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04.10.2026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Project plan approval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09.10.2026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Midterm demo + interim report (RAP1)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30.10.2026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Quiz-1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8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31.10–08.11.2026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6706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Final demo + final report (RAP2)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25.12.2026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706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Quiz-2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16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04–17.01.2027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Assessment 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the project feeds into the grade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$$ Grade_{Midterm} = 0.6 cdot RAP1 + 0.4 cdot Quiztext{-}1 $$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$$ Grade_{Final} = 0.7 cdot RAP2 + 0.3 cdot Quiztext{-}2 $$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$$ Course grade = 0.4 cdot Midterm + 0.6 cdot Final $$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Which learning outcomes each checkpoint measures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368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7869"/>
                <a:gridCol w="2242096"/>
                <a:gridCol w="1195784"/>
                <a:gridCol w="1195784"/>
              </a:tblGrid>
              <a:tr h="42108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Bloom level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RAP1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RAP2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2108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LO.1 Linear/non-linear data structures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Understand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108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LO.2 Time/space complexity (Big-O)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Analyze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2108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LO.3 Sorting and searching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Apply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108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LO.4 Trees and hash tables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Apply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2108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LO.5 Graph algorithms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Apply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2108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LO.6 File organization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Evaluate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2108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LO.7 Structure/algorithm selection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Synthesize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Tools and Setup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Tools — C side (midterm)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59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6503"/>
                <a:gridCol w="2129080"/>
                <a:gridCol w="2661350"/>
                <a:gridCol w="3814601"/>
              </a:tblGrid>
              <a:tr h="46497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for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Condition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6497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GCC/Clang/MSVC + CMake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Build the C app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Executable (not submitted)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Zero errors, Windows + WSL/Linux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497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GoogleTest + gcov/lcov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Unit tests, coverage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HTML coverage report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100% statement coverage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649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Doxygen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Source documentation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PDF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100% coverage; PDF only, no HTML folder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Tools — Java side (final) and shared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50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2638"/>
                <a:gridCol w="2306503"/>
                <a:gridCol w="2129080"/>
                <a:gridCol w="3903313"/>
              </a:tblGrid>
              <a:tr h="41788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for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Condition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JDK 21 + Maven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Build the Java app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Release build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mvn clean verify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zero errors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JUnit 5 + JaCoCo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Unit tests, coverage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HTML coverage report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100% statement coverage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Javadoc/Doxygen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Source documentation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PDF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100% coverage; PDF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 + GitHub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Version control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Private repository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Meaningful commits, proper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.gitignore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1788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GitHub Actions (optional)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Continuous integration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CI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If enabled, must be green before merging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Fork, name, and share the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Fork</a:t>
            </a:r>
            <a:r>
              <a:rPr sz="2000" b="0">
                <a:solidFill>
                  <a:srgbClr val="1F2D3A"/>
                </a:solidFill>
              </a:rPr>
              <a:t> the template repository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Name it with the course code (see naming pattern next slide)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Make the repository </a:t>
            </a:r>
            <a:r>
              <a:rPr sz="2000" b="1">
                <a:solidFill>
                  <a:srgbClr val="1F2D3A"/>
                </a:solidFill>
              </a:rPr>
              <a:t>private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Add the </a:t>
            </a:r>
            <a:r>
              <a:rPr sz="2000" b="1">
                <a:solidFill>
                  <a:srgbClr val="1F2D3A"/>
                </a:solidFill>
              </a:rPr>
              <a:t>instructor</a:t>
            </a:r>
            <a:r>
              <a:rPr sz="2000" b="0">
                <a:solidFill>
                  <a:srgbClr val="1F2D3A"/>
                </a:solidFill>
              </a:rPr>
              <a:t> and your </a:t>
            </a:r>
            <a:r>
              <a:rPr sz="2000" b="1">
                <a:solidFill>
                  <a:srgbClr val="1F2D3A"/>
                </a:solidFill>
              </a:rPr>
              <a:t>teammate</a:t>
            </a:r>
            <a:r>
              <a:rPr sz="2000" b="0">
                <a:solidFill>
                  <a:srgbClr val="1F2D3A"/>
                </a:solidFill>
              </a:rPr>
              <a:t> as collaborators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Templates and repository names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719"/>
                <a:gridCol w="4138858"/>
                <a:gridCol w="4765957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Template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Repository name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Midterm (C)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cpp-cmake-ctest-template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cen207-project-name-surname-c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Final (Java)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eclipse-java-maven-template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cen207-project-name-surname-java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6151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Both templates already provide building, unit testing, documentation generation, coverage measurement and packaging — you build </a:t>
            </a:r>
            <a:r>
              <a:rPr sz="2000" b="1">
                <a:solidFill>
                  <a:srgbClr val="1F2D3A"/>
                </a:solidFill>
              </a:rPr>
              <a:t>on</a:t>
            </a:r>
            <a:r>
              <a:rPr sz="2000" b="0">
                <a:solidFill>
                  <a:srgbClr val="1F2D3A"/>
                </a:solidFill>
              </a:rPr>
              <a:t> them.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lib / app / test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`lib`</a:t>
            </a:r>
            <a:r>
              <a:rPr sz="2000" b="0">
                <a:solidFill>
                  <a:srgbClr val="1F2D3A"/>
                </a:solidFill>
              </a:rPr>
              <a:t> — data structures and algorithms live here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`app`</a:t>
            </a:r>
            <a:r>
              <a:rPr sz="2000" b="0">
                <a:solidFill>
                  <a:srgbClr val="1F2D3A"/>
                </a:solidFill>
              </a:rPr>
              <a:t> — console menus and user interaction; uses </a:t>
            </a:r>
            <a:r>
              <a:rPr sz="2000" b="0">
                <a:solidFill>
                  <a:srgbClr val="A1123F"/>
                </a:solidFill>
                <a:latin typeface="Consolas"/>
              </a:rPr>
              <a:t>lib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`test`</a:t>
            </a:r>
            <a:r>
              <a:rPr sz="2000" b="0">
                <a:solidFill>
                  <a:srgbClr val="1F2D3A"/>
                </a:solidFill>
              </a:rPr>
              <a:t> — unit tests; uses </a:t>
            </a:r>
            <a:r>
              <a:rPr sz="2000" b="0">
                <a:solidFill>
                  <a:srgbClr val="A1123F"/>
                </a:solidFill>
                <a:latin typeface="Consolas"/>
              </a:rPr>
              <a:t>lib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Before you start: make sure your environment is ready — see the </a:t>
            </a:r>
            <a:r>
              <a:rPr sz="2000" b="1">
                <a:solidFill>
                  <a:srgbClr val="1F2D3A"/>
                </a:solidFill>
              </a:rPr>
              <a:t>Prerequisites</a:t>
            </a:r>
            <a:r>
              <a:rPr sz="2000" b="0">
                <a:solidFill>
                  <a:srgbClr val="1F2D3A"/>
                </a:solidFill>
              </a:rPr>
              <a:t> page/deck.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Choosing a Topic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Where the topics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Appendix — Project topic list</a:t>
            </a:r>
            <a:r>
              <a:rPr sz="2000" b="0">
                <a:solidFill>
                  <a:srgbClr val="1F2D3A"/>
                </a:solidFill>
              </a:rPr>
              <a:t>, at the end of the project guide page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200 topics</a:t>
            </a:r>
            <a:r>
              <a:rPr sz="2000" b="0">
                <a:solidFill>
                  <a:srgbClr val="1F2D3A"/>
                </a:solidFill>
              </a:rPr>
              <a:t> in </a:t>
            </a:r>
            <a:r>
              <a:rPr sz="2000" b="1">
                <a:solidFill>
                  <a:srgbClr val="1F2D3A"/>
                </a:solidFill>
              </a:rPr>
              <a:t>eight groups</a:t>
            </a:r>
            <a:r>
              <a:rPr sz="2000" b="0">
                <a:solidFill>
                  <a:srgbClr val="1F2D3A"/>
                </a:solidFill>
              </a:rPr>
              <a:t> of 25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topic box: a short summary, then one sentence per requirement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saying what it stores and what operation it performs </a:t>
            </a:r>
            <a:r>
              <a:rPr sz="2000" b="1">
                <a:solidFill>
                  <a:srgbClr val="1F2D3A"/>
                </a:solidFill>
              </a:rPr>
              <a:t>in that application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to choose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Browse the list and pick a topic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Write your choice in the </a:t>
            </a:r>
            <a:r>
              <a:rPr sz="2000" b="1">
                <a:solidFill>
                  <a:srgbClr val="1F2D3A"/>
                </a:solidFill>
              </a:rPr>
              <a:t>team and topic table</a:t>
            </a:r>
            <a:r>
              <a:rPr sz="2000" b="0">
                <a:solidFill>
                  <a:srgbClr val="1F2D3A"/>
                </a:solidFill>
              </a:rPr>
              <a:t> on Microsoft Teams — one topic per team, first to write it gets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Get it approved together with your </a:t>
            </a:r>
            <a:r>
              <a:rPr sz="2000" b="1">
                <a:solidFill>
                  <a:srgbClr val="1F2D3A"/>
                </a:solidFill>
              </a:rPr>
              <a:t>project plan</a:t>
            </a:r>
            <a:r>
              <a:rPr sz="2000" b="0">
                <a:solidFill>
                  <a:srgbClr val="1F2D3A"/>
                </a:solidFill>
              </a:rPr>
              <a:t> — the topic cannot change after approval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Rules about the topic itself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mappings in a topic box are a </a:t>
            </a:r>
            <a:r>
              <a:rPr sz="2000" b="1">
                <a:solidFill>
                  <a:srgbClr val="1F2D3A"/>
                </a:solidFill>
              </a:rPr>
              <a:t>starting suggestion</a:t>
            </a:r>
            <a:r>
              <a:rPr sz="2000" b="0">
                <a:solidFill>
                  <a:srgbClr val="1F2D3A"/>
                </a:solidFill>
              </a:rPr>
              <a:t> — a more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natural feature meeting the same requirement is fine, justify it in the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idea </a:t>
            </a:r>
            <a:r>
              <a:rPr sz="2000" b="1">
                <a:solidFill>
                  <a:srgbClr val="1F2D3A"/>
                </a:solidFill>
              </a:rPr>
              <a:t>not on the list</a:t>
            </a:r>
            <a:r>
              <a:rPr sz="2000" b="0">
                <a:solidFill>
                  <a:srgbClr val="1F2D3A"/>
                </a:solidFill>
              </a:rPr>
              <a:t> is allowed with instructor approval, if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97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meets every requirement meaningfully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79368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Retaking the course:</a:t>
            </a:r>
            <a:r>
              <a:rPr sz="2000" b="0">
                <a:solidFill>
                  <a:srgbClr val="1F2D3A"/>
                </a:solidFill>
              </a:rPr>
              <a:t> choose a topic different from your previous project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Requirements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Implemented by you, not the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Each code lists the </a:t>
            </a:r>
            <a:r>
              <a:rPr sz="2000" b="1">
                <a:solidFill>
                  <a:srgbClr val="1F2D3A"/>
                </a:solidFill>
              </a:rPr>
              <a:t>week it is taught</a:t>
            </a:r>
            <a:r>
              <a:rPr sz="2000" b="0">
                <a:solidFill>
                  <a:srgbClr val="1F2D3A"/>
                </a:solidFill>
              </a:rPr>
              <a:t> and the </a:t>
            </a:r>
            <a:r>
              <a:rPr sz="2000" b="1">
                <a:solidFill>
                  <a:srgbClr val="1F2D3A"/>
                </a:solidFill>
              </a:rPr>
              <a:t>LO it measures</a:t>
            </a:r>
            <a:r>
              <a:rPr sz="2000" b="0">
                <a:solidFill>
                  <a:srgbClr val="1F2D3A"/>
                </a:solidFill>
              </a:rPr>
              <a:t>. You implement the basic operations of every structure (insert, delete, search, list…) </a:t>
            </a:r>
            <a:r>
              <a:rPr sz="2000" b="1">
                <a:solidFill>
                  <a:srgbClr val="1F2D3A"/>
                </a:solidFill>
              </a:rPr>
              <a:t>yourself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Ready-made library structures (e.g. Java's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java.util</a:t>
            </a:r>
            <a:r>
              <a:rPr sz="2000" b="0">
                <a:solidFill>
                  <a:srgbClr val="1F2D3A"/>
                </a:solidFill>
              </a:rPr>
              <a:t> collections) do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count towards these requirements.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5.1 Midterm scope (C, weeks 1–6) — V1–V3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2" cy="2501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0327"/>
                <a:gridCol w="8284683"/>
                <a:gridCol w="808261"/>
                <a:gridCol w="808261"/>
              </a:tblGrid>
              <a:tr h="62544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62544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Linked list: doubly + XOR/circular; insert, delete, search, traverse both ways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2544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V2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Sparse matrix: store only filled cells; read, write, walk rows/columns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62545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V3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Stack and queue: array or linked-list based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5.1 Midterm scope (C, weeks 1–6) — V4–V6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501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829"/>
                <a:gridCol w="7875281"/>
                <a:gridCol w="759063"/>
                <a:gridCol w="1328360"/>
              </a:tblGrid>
              <a:tr h="62544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62544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V4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Tree and heap: binary tree + 3 traversals; heap-based priority queue; heap sort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LO.1, LO.4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2544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V5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Graph and traversal: adjacency list/matrix; BFS and DFS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LO.1, LO.5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62545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V6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Search and hashing: binary search; hash table + collision resolution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LO.3, LO.4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5.2 Final scope (Java, weeks 9–14) — F1–F3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390"/>
                <a:gridCol w="7617486"/>
                <a:gridCol w="823512"/>
                <a:gridCol w="1441146"/>
              </a:tblGrid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Port to Java: V1–V6 with generics; all features in one menu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9–14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LO.1, LO.7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Graph algorithms: ≥2 of MST/shortest-path/topo-sort/SCC/cycle/max-flow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Sorting: ≥3 algorithms, timed comparison across data sizes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LO.2, LO.3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5.2 Final scope (Java, weeks 9–14) — F4–F6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390"/>
                <a:gridCol w="7514547"/>
                <a:gridCol w="926451"/>
                <a:gridCol w="1441146"/>
              </a:tblGrid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BST and AVL: balancing rotations; insert, delete, search, range query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String algorithms: KMP/Boyer–Moore search + edit distance/LCS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LO.1, LO.3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Trie and disjoint sets: prefix tree + union-find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9, 12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5.2 Final scope (Java, weeks 9–14) — F7–F9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2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294"/>
                <a:gridCol w="8001792"/>
                <a:gridCol w="727435"/>
                <a:gridCol w="1273012"/>
              </a:tblGrid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Code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File organization: sequential + direct-access file; collision resolution in the 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F8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B+ tree index: secondary-key index over file records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LO.4, LO.6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719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Growing files: extendible hashing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or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external merge sort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LO.3, LO.6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5.3 Rules for both checks — the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Console app, keyboard-navigable menus</a:t>
            </a:r>
            <a:r>
              <a:rPr sz="2000" b="0">
                <a:solidFill>
                  <a:srgbClr val="1F2D3A"/>
                </a:solidFill>
              </a:rPr>
              <a:t> — arrow keys/Tab, not number entry alone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Persistent data in binary files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.bin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.dat</a:t>
            </a:r>
            <a:r>
              <a:rPr sz="2000" b="0">
                <a:solidFill>
                  <a:srgbClr val="1F2D3A"/>
                </a:solidFill>
              </a:rPr>
              <a:t>) — records survive a restart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Complexity:</a:t>
            </a:r>
            <a:r>
              <a:rPr sz="2000" b="0">
                <a:solidFill>
                  <a:srgbClr val="1F2D3A"/>
                </a:solidFill>
              </a:rPr>
              <a:t> Big-O of every operation, in code comments </a:t>
            </a:r>
            <a:r>
              <a:rPr sz="2000" b="1">
                <a:solidFill>
                  <a:srgbClr val="1F2D3A"/>
                </a:solidFill>
              </a:rPr>
              <a:t>and</a:t>
            </a:r>
            <a:r>
              <a:rPr sz="2000" b="0">
                <a:solidFill>
                  <a:srgbClr val="1F2D3A"/>
                </a:solidFill>
              </a:rPr>
              <a:t> the report;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measurement table for at least two structures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5.3 Rules for both checks —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Tests and docs:</a:t>
            </a:r>
            <a:r>
              <a:rPr sz="2000" b="0">
                <a:solidFill>
                  <a:srgbClr val="1F2D3A"/>
                </a:solidFill>
              </a:rPr>
              <a:t> unit-test coverage </a:t>
            </a:r>
            <a:r>
              <a:rPr sz="2000" b="1">
                <a:solidFill>
                  <a:srgbClr val="1F2D3A"/>
                </a:solidFill>
              </a:rPr>
              <a:t>100%</a:t>
            </a:r>
            <a:r>
              <a:rPr sz="2000" b="0">
                <a:solidFill>
                  <a:srgbClr val="1F2D3A"/>
                </a:solidFill>
              </a:rPr>
              <a:t>, documentation coverage </a:t>
            </a:r>
            <a:r>
              <a:rPr sz="2000" b="1">
                <a:solidFill>
                  <a:srgbClr val="1F2D3A"/>
                </a:solidFill>
              </a:rPr>
              <a:t>100%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Platforms:</a:t>
            </a:r>
            <a:r>
              <a:rPr sz="2000" b="0">
                <a:solidFill>
                  <a:srgbClr val="1F2D3A"/>
                </a:solidFill>
              </a:rPr>
              <a:t> builds and runs on both </a:t>
            </a:r>
            <a:r>
              <a:rPr sz="2000" b="1">
                <a:solidFill>
                  <a:srgbClr val="1F2D3A"/>
                </a:solidFill>
              </a:rPr>
              <a:t>Windows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WSL/Linux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GitHub:</a:t>
            </a:r>
            <a:r>
              <a:rPr sz="2000" b="0">
                <a:solidFill>
                  <a:srgbClr val="1F2D3A"/>
                </a:solidFill>
              </a:rPr>
              <a:t> private repo, meaningful commits, branches, proper </a:t>
            </a:r>
            <a:r>
              <a:rPr sz="2000" b="0">
                <a:solidFill>
                  <a:srgbClr val="A1123F"/>
                </a:solidFill>
                <a:latin typeface="Consolas"/>
              </a:rPr>
              <a:t>.gitignore</a:t>
            </a:r>
            <a:r>
              <a:rPr sz="2000" b="0">
                <a:solidFill>
                  <a:srgbClr val="1F2D3A"/>
                </a:solidFill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compiled files (</a:t>
            </a:r>
            <a:r>
              <a:rPr sz="2000" b="0">
                <a:solidFill>
                  <a:srgbClr val="A1123F"/>
                </a:solidFill>
                <a:latin typeface="Consolas"/>
              </a:rPr>
              <a:t>.exe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.o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.class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.jar</a:t>
            </a:r>
            <a:r>
              <a:rPr sz="2000" b="0">
                <a:solidFill>
                  <a:srgbClr val="1F2D3A"/>
                </a:solidFill>
              </a:rPr>
              <a:t>); Java repo produces a </a:t>
            </a:r>
            <a:r>
              <a:rPr sz="2000" b="1">
                <a:solidFill>
                  <a:srgbClr val="1F2D3A"/>
                </a:solidFill>
              </a:rPr>
              <a:t>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Data:</a:t>
            </a:r>
            <a:r>
              <a:rPr sz="2000" b="0">
                <a:solidFill>
                  <a:srgbClr val="1F2D3A"/>
                </a:solidFill>
              </a:rPr>
              <a:t> all data is </a:t>
            </a:r>
            <a:r>
              <a:rPr sz="2000" b="1">
                <a:solidFill>
                  <a:srgbClr val="1F2D3A"/>
                </a:solidFill>
              </a:rPr>
              <a:t>synthetic</a:t>
            </a:r>
            <a:r>
              <a:rPr sz="2000" b="0">
                <a:solidFill>
                  <a:srgbClr val="1F2D3A"/>
                </a:solidFill>
              </a:rPr>
              <a:t> — no real personal data, ever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Deliverables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What you submit, per checkpoint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867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0163"/>
                <a:gridCol w="1176734"/>
                <a:gridCol w="1604637"/>
              </a:tblGrid>
              <a:tr h="483489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Midterm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Final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Source code archive (no compiled files)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Report (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.docx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): design, complexity, measurements, coverage screenshots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 (updated)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Doxygen/Javadoc output —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PDF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Test coverage report (HTML, inside the archive)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Presentation (≤10 slides)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Video (≤4 min per member)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✓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8348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Live demo and questions (~10 min per team)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Archive structure — midterm (C)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cen207-midterm-name-surname.zip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└── cen207-project-name-surname-c/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lib/          # V1–V6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app/          # console menus, uses lib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test/         # GoogleTest, uses lib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CMakeLists.txt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report/cen207-midterm-name-surname.docx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docs/cen207-midterm-name-surname-doxygen.pdf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coverage/     # gcov/lcov HTML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.gitignore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└── README.md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Archive structure — final (Java)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cen207-final-name-surname.zip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└── cen207-project-name-surname-java/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src/main/java/...   # F1 port of V1–V6, plus F2–F9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src/test/java/...   # JUnit 5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pom.xml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report/, docs/, coverage/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presentation/cen207-final-name-surname.pptx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video/               # added before zipping, not committed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.gitignore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└── README.md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Naming everything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Name every file with the </a:t>
            </a:r>
            <a:r>
              <a:rPr sz="2000" b="1">
                <a:solidFill>
                  <a:srgbClr val="1F2D3A"/>
                </a:solidFill>
              </a:rPr>
              <a:t>course code</a:t>
            </a:r>
            <a:r>
              <a:rPr sz="2000" b="0">
                <a:solidFill>
                  <a:srgbClr val="1F2D3A"/>
                </a:solidFill>
              </a:rPr>
              <a:t>, the </a:t>
            </a:r>
            <a:r>
              <a:rPr sz="2000" b="1">
                <a:solidFill>
                  <a:srgbClr val="1F2D3A"/>
                </a:solidFill>
              </a:rPr>
              <a:t>checkpoint</a:t>
            </a:r>
            <a:r>
              <a:rPr sz="2000" b="0">
                <a:solidFill>
                  <a:srgbClr val="1F2D3A"/>
                </a:solidFill>
              </a:rPr>
              <a:t>, and your </a:t>
            </a:r>
            <a:r>
              <a:rPr sz="2000" b="1">
                <a:solidFill>
                  <a:srgbClr val="1F2D3A"/>
                </a:solidFill>
              </a:rPr>
              <a:t>name-surname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cen207-midterm-name-surname.zip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cen207-final-name-surname.zip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cen207-midterm-name-surname.docx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Repository names follow the pattern from the tools/setup section.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Team Workflow and Engineering Practices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GitHub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`main`</a:t>
            </a:r>
            <a:r>
              <a:rPr sz="2000" b="0">
                <a:solidFill>
                  <a:srgbClr val="1F2D3A"/>
                </a:solidFill>
              </a:rPr>
              <a:t> is protected — all work happens on </a:t>
            </a:r>
            <a:r>
              <a:rPr sz="2000" b="1">
                <a:solidFill>
                  <a:srgbClr val="1F2D3A"/>
                </a:solidFill>
              </a:rPr>
              <a:t>feature branches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(</a:t>
            </a:r>
            <a:r>
              <a:rPr sz="2000" b="0">
                <a:solidFill>
                  <a:srgbClr val="A1123F"/>
                </a:solidFill>
                <a:latin typeface="Consolas"/>
              </a:rPr>
              <a:t>feature/hash-table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fix/avl-rotation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Branches merge through </a:t>
            </a:r>
            <a:r>
              <a:rPr sz="2000" b="1">
                <a:solidFill>
                  <a:srgbClr val="1F2D3A"/>
                </a:solidFill>
              </a:rPr>
              <a:t>pull requests</a:t>
            </a:r>
            <a:r>
              <a:rPr sz="2000" b="0">
                <a:solidFill>
                  <a:srgbClr val="1F2D3A"/>
                </a:solidFill>
              </a:rPr>
              <a:t>, not direct pushes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main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Commits and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Conventional Commits: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feat(lib): implement AVL rotation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fix(app): correct menu navigation</a:t>
            </a:r>
            <a:r>
              <a:rPr sz="2000" b="0">
                <a:solidFill>
                  <a:srgbClr val="1F2D3A"/>
                </a:solidFill>
              </a:rPr>
              <a:t> · </a:t>
            </a:r>
            <a:r>
              <a:rPr sz="2000" b="0">
                <a:solidFill>
                  <a:srgbClr val="A1123F"/>
                </a:solidFill>
                <a:latin typeface="Consolas"/>
              </a:rPr>
              <a:t>test(hash): add collision unit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Pull requests:</a:t>
            </a:r>
            <a:r>
              <a:rPr sz="2000" b="0">
                <a:solidFill>
                  <a:srgbClr val="1F2D3A"/>
                </a:solidFill>
              </a:rPr>
              <a:t> open from your branch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main</a:t>
            </a:r>
            <a:r>
              <a:rPr sz="2000" b="0">
                <a:solidFill>
                  <a:srgbClr val="1F2D3A"/>
                </a:solidFill>
              </a:rPr>
              <a:t>; your teammate reviews what changed and how it was tested, then approves before merging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Issues, CI, tags, Definition of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GitHub Issue</a:t>
            </a:r>
            <a:r>
              <a:rPr sz="2000" b="0">
                <a:solidFill>
                  <a:srgbClr val="1F2D3A"/>
                </a:solidFill>
              </a:rPr>
              <a:t> for every requirement code (V1–V6, F1–F9); tracked 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Projects board (Backlog → In progress → In review → Done)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CI (if enabled):</a:t>
            </a:r>
            <a:r>
              <a:rPr sz="2000" b="0">
                <a:solidFill>
                  <a:srgbClr val="1F2D3A"/>
                </a:solidFill>
              </a:rPr>
              <a:t> never merge while build/tests are red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Version tags: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midterm-v1.0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final-v1.0</a:t>
            </a:r>
            <a:r>
              <a:rPr sz="2000" b="0">
                <a:solidFill>
                  <a:srgbClr val="1F2D3A"/>
                </a:solidFill>
              </a:rPr>
              <a:t> for what you submit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Definition of Done:</a:t>
            </a:r>
            <a:r>
              <a:rPr sz="2000" b="0">
                <a:solidFill>
                  <a:srgbClr val="1F2D3A"/>
                </a:solidFill>
              </a:rPr>
              <a:t> builds without warnings, full test coverage,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8155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complexity documented, teammate has reviewed the code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Rubrics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2E7D32"/>
                </a:solidFill>
              </a:rPr>
              <a:t>Achievement levels (every criterion)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50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5003"/>
                <a:gridCol w="8376531"/>
              </a:tblGrid>
              <a:tr h="41788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5 — Excellent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Everything works, tested, documented; explained step by step in the demo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4 — Good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Minor gaps or edge-case bugs; complete and tested overall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3 — Adequate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Basic operations work; clear gaps in tests/docs/measurements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788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2 — Poor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Compiles, but most operations wrong or missing; weak explanation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17884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1 — No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Not submitted or not working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942892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Points = (level ÷ 5) × criterion points.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8.1 Midterm rubric — RAP1 (C, 100 points)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4105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087"/>
                <a:gridCol w="4188265"/>
                <a:gridCol w="5070006"/>
                <a:gridCol w="1102175"/>
              </a:tblGrid>
              <a:tr h="51320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Points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132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Linear structures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V1 lists, V2 sparse matrix, V3 stack/queue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32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Tree and heap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V4 traversals, heap, heap sort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132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Graph and traversal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V5 representation, BFS/DFS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32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Search and hashing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V6 binary search, hashing, collisions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132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Complexity analysis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Big-O + measurement table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32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Problem analysis, structure choice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"Why this structure?" in the report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132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Software engineering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CMake, tests 100%, docs 100%, GitHub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8.2 Final rubric — RAP2 (Java, 100 points)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973"/>
                <a:gridCol w="3719841"/>
                <a:gridCol w="5331772"/>
                <a:gridCol w="1239947"/>
              </a:tblGrid>
              <a:tr h="542925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Points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Port + integrated app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F1 generics, one menu, binary files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Graph algorithms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F2, two algorithms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Sorting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F3, three algorithms, comparison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Balanced trees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F4 BST/AVL, rotations, range query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Strings and structures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F5 search/alignment, F6 trie/union-find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File organisation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F7 files, F8 B+ index, F9 hashing/sort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42925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Engineering + presentation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Maven, tests 100%, docs, video, demo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Acceptance Conditions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Submissions are NOT accepted if…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GitHub repository, or it is not private, or a team member has no commits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Unit-test or documentation coverage is </a:t>
            </a:r>
            <a:r>
              <a:rPr sz="2000" b="1">
                <a:solidFill>
                  <a:srgbClr val="1F2D3A"/>
                </a:solidFill>
              </a:rPr>
              <a:t>below 100%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repository/archive contains compiled files, or the Java repo has no release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application does not build and run on </a:t>
            </a:r>
            <a:r>
              <a:rPr sz="2000" b="1">
                <a:solidFill>
                  <a:srgbClr val="1F2D3A"/>
                </a:solidFill>
              </a:rPr>
              <a:t>Windows or WSL/Linux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Plagiarism</a:t>
            </a:r>
            <a:r>
              <a:rPr sz="2000" b="0">
                <a:solidFill>
                  <a:srgbClr val="1F2D3A"/>
                </a:solidFill>
              </a:rPr>
              <a:t> is detected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Questions Asked in the Demo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Demo questions — Git/GitHub and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Fork named correctly? Both members have commits, branches used?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How were merges and conflicts resolved?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.gitignore</a:t>
            </a:r>
            <a:r>
              <a:rPr sz="2000" b="0">
                <a:solidFill>
                  <a:srgbClr val="1F2D3A"/>
                </a:solidFill>
              </a:rPr>
              <a:t> correct?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Build and run on </a:t>
            </a:r>
            <a:r>
              <a:rPr sz="2000" b="1">
                <a:solidFill>
                  <a:srgbClr val="1F2D3A"/>
                </a:solidFill>
              </a:rPr>
              <a:t>Windows and WSL</a:t>
            </a:r>
            <a:r>
              <a:rPr sz="2000" b="0">
                <a:solidFill>
                  <a:srgbClr val="1F2D3A"/>
                </a:solidFill>
              </a:rPr>
              <a:t>; show </a:t>
            </a:r>
            <a:r>
              <a:rPr sz="2000" b="0">
                <a:solidFill>
                  <a:srgbClr val="A1123F"/>
                </a:solidFill>
                <a:latin typeface="Consolas"/>
              </a:rPr>
              <a:t>lib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app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test</a:t>
            </a:r>
            <a:r>
              <a:rPr sz="2000" b="0">
                <a:solidFill>
                  <a:srgbClr val="1F2D3A"/>
                </a:solidFill>
              </a:rPr>
              <a:t> and their dependencies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Demo questions — data structures and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Explain a chosen operation (e.g. doubly-linked-list delete, AVL rotation,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hash collision) </a:t>
            </a:r>
            <a:r>
              <a:rPr sz="2000" b="1">
                <a:solidFill>
                  <a:srgbClr val="1F2D3A"/>
                </a:solidFill>
              </a:rPr>
              <a:t>line by line</a:t>
            </a:r>
            <a:r>
              <a:rPr sz="2000" b="0">
                <a:solidFill>
                  <a:srgbClr val="1F2D3A"/>
                </a:solidFill>
              </a:rPr>
              <a:t>, with a box-and-arrow memory drawing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What is its complexity, and why?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Open the test/documentation coverage reports; show an edge-case test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Demo questions — file ops and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Add a record, close and reopen the program, show it comes back from the binary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C:</a:t>
            </a:r>
            <a:r>
              <a:rPr sz="2000" b="0">
                <a:solidFill>
                  <a:srgbClr val="1F2D3A"/>
                </a:solidFill>
              </a:rPr>
              <a:t> pointers/arrays,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, file I/O, debugger call stack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Java:</a:t>
            </a:r>
            <a:r>
              <a:rPr sz="2000" b="0">
                <a:solidFill>
                  <a:srgbClr val="1F2D3A"/>
                </a:solidFill>
              </a:rPr>
              <a:t> generics, interfaces, exceptions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Professional Responsibility &amp; Integrity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Ethics, license, synthetic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Ethics:</a:t>
            </a:r>
            <a:r>
              <a:rPr sz="2000" b="0">
                <a:solidFill>
                  <a:srgbClr val="1F2D3A"/>
                </a:solidFill>
              </a:rPr>
              <a:t> IEEE/ACM codes ask for honesty about what your code does 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does not do, and for giving/accepting fair technical criticism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License and attribution:</a:t>
            </a:r>
            <a:r>
              <a:rPr sz="2000" b="0">
                <a:solidFill>
                  <a:srgbClr val="1F2D3A"/>
                </a:solidFill>
              </a:rPr>
              <a:t> cite external sources in the report; 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97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source/license of any reused code snippet in a comment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79368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Synthetic data:</a:t>
            </a:r>
            <a:r>
              <a:rPr sz="2000" b="0">
                <a:solidFill>
                  <a:srgbClr val="1F2D3A"/>
                </a:solidFill>
              </a:rPr>
              <a:t> all data is sample data you generate — never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564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personal data (see rule 5.3)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Plagiarism and shared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code and report belong to </a:t>
            </a:r>
            <a:r>
              <a:rPr sz="2000" b="1">
                <a:solidFill>
                  <a:srgbClr val="1F2D3A"/>
                </a:solidFill>
              </a:rPr>
              <a:t>your team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Copying from another team, a previous term, or an online project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plagiarism</a:t>
            </a:r>
            <a:r>
              <a:rPr sz="2000" b="0">
                <a:solidFill>
                  <a:srgbClr val="1F2D3A"/>
                </a:solidFill>
              </a:rPr>
              <a:t> — similarity checks run, and plagiarism gives </a:t>
            </a:r>
            <a:r>
              <a:rPr sz="2000" b="1">
                <a:solidFill>
                  <a:srgbClr val="1F2D3A"/>
                </a:solidFill>
              </a:rPr>
              <a:t>zero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member must be able to explain </a:t>
            </a:r>
            <a:r>
              <a:rPr sz="2000" b="1">
                <a:solidFill>
                  <a:srgbClr val="1F2D3A"/>
                </a:solidFill>
              </a:rPr>
              <a:t>all</a:t>
            </a:r>
            <a:r>
              <a:rPr sz="2000" b="0">
                <a:solidFill>
                  <a:srgbClr val="1F2D3A"/>
                </a:solidFill>
              </a:rPr>
              <a:t> of the team's code —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56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that cannot be explained in the demo is </a:t>
            </a:r>
            <a:r>
              <a:rPr sz="2000" b="1">
                <a:solidFill>
                  <a:srgbClr val="1F2D3A"/>
                </a:solidFill>
              </a:rPr>
              <a:t>not graded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12. Frequently Asked Questions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FAQ — team and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Work alone instead of a team of two?</a:t>
            </a:r>
            <a:r>
              <a:rPr sz="2000" b="0">
                <a:solidFill>
                  <a:srgbClr val="1F2D3A"/>
                </a:solidFill>
              </a:rPr>
              <a:t> Yes — at most 3, working alone is allowed. Teams are fixed at the end of week 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Two teams want the same topic?</a:t>
            </a:r>
            <a:r>
              <a:rPr sz="2000" b="0">
                <a:solidFill>
                  <a:srgbClr val="1F2D3A"/>
                </a:solidFill>
              </a:rPr>
              <a:t> First to write it in the Teams table gets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Change topic after approval?</a:t>
            </a:r>
            <a:r>
              <a:rPr sz="2000" b="0">
                <a:solidFill>
                  <a:srgbClr val="1F2D3A"/>
                </a:solidFill>
              </a:rPr>
              <a:t> No — it is fixed together with the project plan.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FAQ — coverage and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Coverage below 100%?</a:t>
            </a:r>
            <a:r>
              <a:rPr sz="2000" b="0">
                <a:solidFill>
                  <a:srgbClr val="1F2D3A"/>
                </a:solidFill>
              </a:rPr>
              <a:t> Not accepted (see acceptance conditions) — reach 100% before the deadline.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Do library collections (e.g. `java.util`) count?</a:t>
            </a:r>
            <a:r>
              <a:rPr sz="2000" b="0">
                <a:solidFill>
                  <a:srgbClr val="1F2D3A"/>
                </a:solidFill>
              </a:rPr>
              <a:t> No — implement the basic operations yourself.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Compiled files in the repo/archive?</a:t>
            </a:r>
            <a:r>
              <a:rPr sz="2000" b="0">
                <a:solidFill>
                  <a:srgbClr val="1F2D3A"/>
                </a:solidFill>
              </a:rPr>
              <a:t> No — remove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.gitignore</a:t>
            </a:r>
            <a:r>
              <a:rPr sz="2000" b="0">
                <a:solidFill>
                  <a:srgbClr val="1F2D3A"/>
                </a:solidFill>
              </a:rPr>
              <a:t>; their presence is grounds for rejection.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Appendix — Project Topic List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Eight topic groups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729675" cy="3264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448"/>
                <a:gridCol w="8729227"/>
              </a:tblGrid>
              <a:tr h="36271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Range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001–025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Transport, maps and routing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026–050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Games and puzzles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051–075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Text, language and 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076–100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Science, health and bioinformatics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101–125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Networks and computer systems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126–150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Logistics, manufacturing and commerce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6271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151–175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Media, social networks and culture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2719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176–200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City, environment, disasters and agriculture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a topic box 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short </a:t>
            </a:r>
            <a:r>
              <a:rPr sz="2000" b="1">
                <a:solidFill>
                  <a:srgbClr val="1F2D3A"/>
                </a:solidFill>
              </a:rPr>
              <a:t>summary</a:t>
            </a:r>
            <a:r>
              <a:rPr sz="2000" b="0">
                <a:solidFill>
                  <a:srgbClr val="1F2D3A"/>
                </a:solidFill>
              </a:rPr>
              <a:t> of the application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Then, for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requirement code (V1–V6 and F1–F9), one sentence: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it stores and what operation it performs — </a:t>
            </a:r>
            <a:r>
              <a:rPr sz="2000" b="1">
                <a:solidFill>
                  <a:srgbClr val="1F2D3A"/>
                </a:solidFill>
              </a:rPr>
              <a:t>in that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requirement, different story each time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Example — 001 Metro Network Route Planner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console app merging a city's metro/tram/funicular lines into one network; suggests the fastest or fewest-transfer route (~12 lines, 250 stations).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2346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V1</a:t>
            </a:r>
            <a:r>
              <a:rPr sz="2000" b="0">
                <a:solidFill>
                  <a:srgbClr val="1F2D3A"/>
                </a:solidFill>
              </a:rPr>
              <a:t> Each line: a doubly linked list of stations; ring lines use a circular list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V2</a:t>
            </a:r>
            <a:r>
              <a:rPr sz="2000" b="0">
                <a:solidFill>
                  <a:srgbClr val="1F2D3A"/>
                </a:solidFill>
              </a:rPr>
              <a:t> Time-slot × station density table stored as a sparse matrix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V3</a:t>
            </a:r>
            <a:r>
              <a:rPr sz="2000" b="0">
                <a:solidFill>
                  <a:srgbClr val="1F2D3A"/>
                </a:solidFill>
              </a:rPr>
              <a:t> Route adjustments undone with a stack; turnstile entries queued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V4</a:t>
            </a:r>
            <a:r>
              <a:rPr sz="2000" b="0">
                <a:solidFill>
                  <a:srgbClr val="1F2D3A"/>
                </a:solidFill>
              </a:rPr>
              <a:t> Fault reports kept in a heap by severity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V5</a:t>
            </a:r>
            <a:r>
              <a:rPr sz="2000" b="0">
                <a:solidFill>
                  <a:srgbClr val="1F2D3A"/>
                </a:solidFill>
              </a:rPr>
              <a:t> BFS finds the fewest-stop route; DFS finds regions cut off by a closure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V6</a:t>
            </a:r>
            <a:r>
              <a:rPr sz="2000" b="0">
                <a:solidFill>
                  <a:srgbClr val="1F2D3A"/>
                </a:solidFill>
              </a:rPr>
              <a:t> Station name → record in a hash table; binary search over sorted codes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Example — 001 Metro Network Route Planner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300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F2</a:t>
            </a:r>
            <a:r>
              <a:rPr sz="2000" b="0">
                <a:solidFill>
                  <a:srgbClr val="1F2D3A"/>
                </a:solidFill>
              </a:rPr>
              <a:t> Dijkstra: fastest route in minutes; Kruskal: cheapest new-line network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F3</a:t>
            </a:r>
            <a:r>
              <a:rPr sz="2000" b="0">
                <a:solidFill>
                  <a:srgbClr val="1F2D3A"/>
                </a:solidFill>
              </a:rPr>
              <a:t> Route options sorted by duration/transfers/distance, three algorithms compared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F4</a:t>
            </a:r>
            <a:r>
              <a:rPr sz="2000" b="0">
                <a:solidFill>
                  <a:srgbClr val="1F2D3A"/>
                </a:solidFill>
              </a:rPr>
              <a:t> Departure times per station in an AVL tree — fast "next train after X" queries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F5</a:t>
            </a:r>
            <a:r>
              <a:rPr sz="2000" b="0">
                <a:solidFill>
                  <a:srgbClr val="1F2D3A"/>
                </a:solidFill>
              </a:rPr>
              <a:t> Typed station name matched with KMP; misspelling corrected via edit distance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F6</a:t>
            </a:r>
            <a:r>
              <a:rPr sz="2000" b="0">
                <a:solidFill>
                  <a:srgbClr val="1F2D3A"/>
                </a:solidFill>
              </a:rPr>
              <a:t> Station names autocomplete via a trie; union-find groups reachable regions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F7–F9</a:t>
            </a:r>
            <a:r>
              <a:rPr sz="2000" b="0">
                <a:solidFill>
                  <a:srgbClr val="1F2D3A"/>
                </a:solidFill>
              </a:rPr>
              <a:t> Trip records (sequential file), station cards (direct-access + Brent's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4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method), a B+ tree index on card number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Where to find the other 199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full appendix — all eight groups, all 200 topic boxes — is on the </a:t>
            </a:r>
            <a:r>
              <a:rPr sz="2000" b="1">
                <a:solidFill>
                  <a:srgbClr val="1F2D3A"/>
                </a:solidFill>
              </a:rPr>
              <a:t>project guide page</a:t>
            </a:r>
            <a:r>
              <a:rPr sz="2000" b="0">
                <a:solidFill>
                  <a:srgbClr val="1F2D3A"/>
                </a:solidFill>
              </a:rPr>
              <a:t>, right after this deck's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Browse it, pick one, and write it in the team-and-topic table.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Course website:</a:t>
            </a:r>
            <a:r>
              <a:rPr sz="2000" b="0">
                <a:solidFill>
                  <a:srgbClr val="1F2D3A"/>
                </a:solidFill>
              </a:rPr>
              <a:t> ucoruh.github.io/ce205-data-structures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Next:</a:t>
            </a:r>
            <a:r>
              <a:rPr sz="2000" b="0">
                <a:solidFill>
                  <a:srgbClr val="1F2D3A"/>
                </a:solidFill>
              </a:rPr>
              <a:t> browse the full topic list on the project guide 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Data Structures — Project Guide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