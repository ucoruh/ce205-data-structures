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Geçen hafta bir kutu tek bir değeri tutuyordu; malloc onu yaratıyor, free onu geri veriyordu. Bu hafta o tek kutudan iki fikir çıkıyor: yan yana, aritmetikle erişilen çok sayıda kutu — dizi — ve bir sonrakini gösteren tek bir kutu — bağlı liste (linked list).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On yedi kısa animasyon dersin tamamını taşıyor; her biri, fikri tanıttığımız yerde bir kez görünüyor, ve her biri en can alıcı uç durumuna da bir kez daha bakıyor.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terim ilk geçtiği yerde tam olarak tanımlanır; bu tablo yalnızca onu nerede tekrar bulacağınızı söylüyor.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Canlı çalıştırmak isterseniz şimdi bir terminal açın; bugünün slaytlarındaki her parça, gösterildiği gibi derlenip çalışıyor.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Bugünün her şeyi tam olarak bu beş olguya dayanıyor — bellek hakkında yeni bir şey yok, yalnızca ondan kurulan yeni biçimler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haritadaki her kutunun aşağıda kendi slaytları var, çoğunda kısa bir animasyon ve eksiksiz bir C/Java programı.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1, bir dizinin içeriğini yalnızca okumanın değil değiştirmenin bedelini soruyor — ve boyutu yanlış tahmin edildiğinde ne yapılacağını.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tahmin etmesine izin verin, sonraki slayt yanıtlıyor: ekleme noktasından sonraki her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O(1) indis erişimi dizinin bütün çekiciliği — ve bedeli, bir şeyin hareket etmesi gerektiği an ortaya çıkıyor.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ilk sürümde CAP hiç değişmiyor; yalnızca size hareket ediyor, o da 0..CAP arasında.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Baştan bir ekleme ile sona bir ekleme arasında kaç hücrenin yandığına bakın — asıl ders o fark.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Dolu bir dizi, çökmek yerine eklemeyi doğrudan reddeder — bu kontrol, herhangi bir kaydırma başlamadan önce gelmeli.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Kaydırma döngüsü sondan k'ye doğru, geriye çalışır — ileri yönde çalışsaydı değerler kopyalanmadan üzerine yazılırdı.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döngü ileri yönde çalışır — insert'in geriye kaydırmasının ayna görüntüsü, ve tersine dönmesi de bir o kadar kolay.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Aynı fonksiyon, çağıranın seçtiği k indisine bağlı olarak O(1)'den O(n)'e kadar her şeye mal olabilir.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sonraki slayttan önce toplamasına izin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Beş değeri yerleştirmek için on kaydırma — baştan eklemenin pahalı olmasının nedeni tam olarak bu: en kötü durumu her seferinde tekrarlaması.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tam olarak Java'nın ArrayList'inin ve C++'ın std::vector'ünün perde arkasında yaptığı şey — aynı numara, endüstriyel ölçekte.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büyümede dizinin altında beliren geçici satıra bakın — o satır kopyanın kendisi, eski bloğun yerini almak üzere yukarı kaymadan önce.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Küçülme isteğe bağlı ve büyümenin simetriği — kullanım dörtte bire düştüğünde kapasite yarıya iniyor, belleği geri vermek için.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Var olan her değer yeni bloğa tek tek kopyalanıyor — büyümenin O(n) bedeli tam olarak o tam kopyadan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Yeniden boyutlandırma yalnızca blok zaten doluyken çalışıyor — çoğu çağrı doğrudan sondaki tek satırlık yazmaya atlıyor.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Amortize etmek, uzun bir işlem dizisi üzerinden ortalama almak demektir — bir ekleme pahalı olabilir, ama ortalama hiçbir zaman pahalı değildir.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ikiye katlamaları saymasına izin verin: 1, 2, 4, 8... sonraki slayttan önce.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İkiye katlama, büyüme sayısının yalnızca son boyutun logaritması kadar artması demek — toplam kopyalamanın ucuz kalmasının nedeni tam olarak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2, hiçbir zaman tek boyutlu olmaktan başka bir şey olmamış bellekte "iki boyutlu" bir dizinin aslında neye benzediğini soruyor.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Gerçekten iki boyutlu bir bellek diye bir şey yok — her "2B" dizi aslında kılık değiştirmiş bir 1B dizidir.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Satır öncelikli ile sütun öncelikli tamamen bir kural meselesi — "satır" ya da "sütun"un belleğe daha doğal geleni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formül var, ve bu bölümün sorduğu her "2B dizi" sorusu doğru olanı seçip uygulamaya iniyor.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Izgaranın altındaki bellek satırına bakın — satır öncelikli bir gezinme, birbirini izleyen bellek hücrelerine, adım adım 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Buradaki gezinme sırası depolama sırasıyla çelişiyor — artık her adım bir sonraki hücreye değil, bellekte bir sıçramaya karşılık geliyor.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Dıştaki i döngüsü ve içteki j döngüsü, satır öncelikli formülü birebir izliyor — sırayla, her adres için bir ziyaret.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Formülün bedeli hiç değişmiyor — değişen, art arda gelen ziyaretlerin gerçek bellekte ne kadar uzağa düştüğü, ve işlemcinizin önbelleğinin asıl hissettiği de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formülü kendisinin uygulamasına izin verin, sonraki slayttan önce.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bir adımlık bitişiklik tam olarak "satır öncelikli"nin kazandırdığı şey, ve sütun öncelikli bir gezinmenin harcayacağı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3, tek bir fikri paylaşan iki dizi numarasını kapsıyor — değerleri yalnızca O(1) ek alanla, hiçbir zaman ikinci bir dizi kullanmadan hareket ettirmek.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Bariz yaklaşım — yeni bir diziye kopyalamak — tam olarak bu bölümün dışladığı yaklaşım.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numara ilk seferde büyü gibi hissettiriyor; animasyonda bir ters çevirmeyi tek tek izlemek, işte o zaman oturuyor.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ters çevirme tek başına yanlış görünür; yalnızca üçüncüsü, dizinin tamamı üzerinde, her şeyi yeniden düzeltir.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ters çevirmenin sonucu altta yeni bir satır olarak tutuluyor, böylece üç aşama da bir arada, yan yana görünür kalıyor.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10 değer üzerinde d=23 yine de çalışır, çünkü tek bir ters çevirme bile başlamadan d % n onu 3'e indirger.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farklı aralıkla üç kez çağrılan bu tek yardımcı fonksiyon, döndürme algoritmasının tamamı.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çağrı, üç aralık — bu fonksiyonda başka hiçbir şey iş yapmıyor.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geçiş, üç kat yavaş olması gerekiyormuş gibi geliyor, ama üç kere O(n) yine sadece O(n)'dir.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tam olarak bir quicksort bölümleme adımıyla aynı iki-işaretçi biçimi — aynı fikir gelecek dönem yeniden karşımıza çıkacak.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left ve right'ın birbirine doğru yürüyüşünü izleyin, her biri zaten doğru tarafta olan değerleri atlayarak.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Hiç takas gerekmese bile işaretçiler burada dizinin tamamını yine de yürür — kontrolün kendisi yine de O(n) tutar.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İki iç while döngüsü, zaten doğru tarafta olan değerleri atlar; yalnızca ikisi de durunca gerçek bir takas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iç döngü ayrıca left &lt; right'ı kontrol eder, yoksa iki işaretçi birbirini geçip birbirinin ötesini okuyabilir.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segregate'in aslında neyi karşılaştırdığını düşünmesine izin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Ayırmak ve sıralamak farklı işler; bu algoritma yalnızca "negatif mi" diye sorar, hiçbir zaman "hangisi büyük" diye sormaz.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4, bir matrisin çoğunlukla sıfırlardan oluştuğu — gerçek bilimsel ve çizge hesaplamalarında çok yaygın olan — durumda ne yapılacağını soruyor.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milyon int, yalnızca bu tek matris için 4 MB — ve matris %99,98 boş; israf hiç de varsayımsal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Kimse her boş otopark yerini fotoğraflayıp boş olduğunu kanıtlamaz — yalnızca arabaların nerede olduğunu yazar.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sıfır olmayan hücre için üç sayı, çoğunlukla sıfırlardan oluşan koca bir satırın yerini alır — kazanç, matris ne kadar seyrekse o kadar büyür.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Kaç hücrenin sessizce atlandığına bakın — yalnızca bir avuç sıfır olmayan hücre bir triplet satırı üretir.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hücre taranır ve atlanır — triplet tablosu tamamen boş kalır, ve bu da kendi başına geçerli, doğru bir sonuçtur.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İç içe döngüler her hücreyi ne olursa olsun tarar, ama if kontrolü sayesinde yalnızca sıfır olmayan hücreler out[]'a yazılır.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Taramanın kendisi tüm matristen daha ucuz olamaz, ama sonuçtan sonra kurulan her şey küçük çıktıdan faydalanır.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gerçekten zekice bir numara — her kaydın nereye ait olduğunu önceden bilmek, hiç sıralamaya gerek kalmaması demek.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Önce count[]'un, sonra bu sayıları başlangıç ofsetlerine çeviren pos[]'un dolduğuna bakın — tek bir çıktı triplet'i yerleşmeden önce.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hücre sıfır olmasa bile hızlı devrik yine çalışır — yalnızca yerleştireceği triplet sayısı, matrisin hücre sayısı kadar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pos[c], c'den önceki her sütunun toplamı — c sütununun triplet'lerinin çıktıda tam olarak başlaması gereken 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pos[c]++, hem c sütunu için bir sonraki boş hücreyi okur hem de oraya inecek bir sonraki triplet için o hücreyi ayırır.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Önek toplamı adımını atlayın, her triplet yine de bir yere yerleşir — sadece algoritmanın vaat ettiği sıralı düzende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iki girdi de zaten sıralı olduğu için, toplama hiçbir zaman arama yapmak zorunda kalmıyor — yalnızca iki mevcut konumu karşılaştırması gerekiyor.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 ve j işaretçilerinin bağımsız ilerlediğine bakın, her biri yalnızca kendi listesinde adım atarak — tam olarak iki sıralı diziyi birleştirmek gibi.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İptal olan bir hücre çıktıya hiç yazılmaz — sonuç seyrek kalır, yeni bir sıfır kayıt hiç kazanmaz.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Yalnızca üç durum: a daha erken, b daha erken, ya da ikisi de tam olarak aynı hücreye düşer ve değerleri toplanır.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yaklaşımın tamamı, iki listenin de zaten sıralı olmasına dayanıyor — sırasız triplet'ler verin, birleştirme sessizce yanlış yanıt verir.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hesabı yapmasına izin verin, sonraki slayttan önce.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Sıfır değerli bir triplet'i tutmak, tüm gösterimin dayandığı "yalnızca sıfır olmayan hücreler" sözünü sessizce bozardı.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5, haftanın ikinci büyük fikrini tanıtıyor — ekleme yapmanın hiçbir zaman başka bir şeyi kaydırmak zorunda olmadığı bir yapı.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Sınıfa bir an verin — yanıt, bugünün geri kalanının üzerine kurulduğu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McCarthy "veri yapıları" diye bir konu düşünmüyordu, sembolik akıl yürütme için bir dil kuruyordu — bu fikir sadece her yerde çıktı karşımıza.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dizi bir kerede tuttuğunuz bir harita; bir bağlı liste yalnızca tek seferde bir adım yürüyebildiğiniz bir 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 ve gelecek haftaki her bağlı liste programı, tam olarak bu beş satırlık struct üzerine kuruluyor.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head'i kaybedin, ondan sonraki her düğüm erişilemez hale gelir — head, tüm listenin asılı durduğu tek iplik.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kendine gönderme ilk seferde birçok öğrenciyi takıldırıyor — anahtar nokta, bir işaretçinin neyi gösterdiğine bakmaksızın hep aynı küçük, sabit boyutta olması.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NULL bir işaretçiyi dereferans etmek, bu dönemin her bağlı liste programındaki en yaygın çökme nedeni.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bunu "inception" slaytıyla bağlantılandırmasına izin verin, yanıttan önce.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işaretçi, neyi gösterdiğine bakmaksızın hep aynı küçük bayt sayısı — döngüsel bağımlılığı kıran şey tam olarak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6, sonraki her liste türünün — çift yönlü, dairesel, XOR, atlamalı — yeniden kullandığı ya da genişlettiği dört işlemi kuruyor.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tamamen listenin ayrı bir son (tail) işaretçisi tutup tutmadığına bağlı — bu sürüm tutmuyor.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"Sırayla" burada bir üslup tercihi değil — çalışan bir liste ile koparılmış bir liste arasındaki fark.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Özellikle insert_tail'i izleyin — son işaretçisi olmadığı için önce var olan her düğümü geçmesi gerekiyor.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gösterim gerçek listeye hiç dokunmaz — yalnızca insert_after'daki yazım sırasının neden gerçekten önemli olduğunu göstermek için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malloc, bir işaretçi yazımı, bir dönüş — insert_head listenin geri kalanına hiç bakmaz 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iki satırı takas edin, 1. adım onu okuduğunda prev-&gt;next zaten n'e eşit olur — yeni düğüm kendini gösterir hale gelir.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insert_after'ın kendisi O(1), ama prev'i baştan bulmak, yani arama yapmak, genellikle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Bypass oku tüm numaranın kendisi: artık kimse cur'u göstermiyor, o yüzden erişilemez hale geliyor, serbest bırakılmaya hazır.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prev ve cur'un birlikte hareket etmesini izleyin — prev her zaman cur'un bir adım gerisinde, cur bulunur bulunmaz yeniden bağlanmaya hazır.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kodda son düğümü silmek ayrı bir durum bile değil — aynı prev/cur taramasından doğal olarak çıkıyor.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Baş durumu burada ayrı ele alınıyor, çünkü değişmesi gereken yalnızca bir düğümün next alanı değil, head'in kendisi.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prev, cur ile aynı adımda güncellenmezse, bypass oku tamamen yanlış düğümden çıkmış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bir listenin bir diziye göre feda ettiği en büyük şey — k konumuna doğrudan atlamanın hiçbir yolu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Karşılaştırma sayacının yükselmesine bakın — ziyaret edilen her düğüm, aranan değer olsun olmasın, bir karşılaştırmaya mal olur.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 bir liste, for döngüsünün koşulu olan cur != NULL'ın hemen başarısız olması demek — arama hiçbir şeyi karşılaştırmadan -1 döner.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fonksiyonun tamamı bir slayta sığıyor — bugünkü derste ondan hiçbir şey kesilmiyor.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O(n) sayısını aklınızda tutun — üç bölüm sonraki diziler-listeler tablosundaki en büyük argüman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işaretçinin bir seferde bir düğüm üzerinde uyum içinde dans etmesi, algoritmanın tamamı — ne özyineleme, ne ek bellek.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okun teker teker, hep aynı sırayla çevrilmesini izleyin: next'i kaydet, curr'un okunu çevir, ikisini de ilerlet.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 küçük önemsiz olmayan durum bile aynı üç-işaretçi dansından geçiyor, yalnızca çok yerine tek bir tekrarla.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fonksiyonun tamamı da bir slayta sığıyor, ve onu en az bir kez satır satır, sesli okumaya değer.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Üç işaretçinin ötesinde hiç ek bellek gerektirmeyen yerinde tersine çevirme, bu algoritmayı ezbere bilmeye değer kılan asıl neden.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yanıttan önce her adımda curr-&gt;next'in gerçekte neyi tuttuğunu izlemesine izin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Bu, insert_after'ın adım sırasıyla tamamen aynı "önce kaydet, sonra üzerine yaz" dersi, yalnızca farklı bir işlemde yeniden karşımıza çıkıyor.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7, düğüm başına ikinci bir işaretçi ekliyor, karşılığında iki yönde de yürüyebilmek için.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 söylendiğinde neredeyse fazla bariz geliyor — ama her işlemin nasıl yazılması gerektiğini değiştiriyor.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Ama ek işaretçi bedavaya gelmiyor — her ekleme ve silmede doğru tutulması gereken bir alan daha.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Ekleme noktasını atlayan her işaretçinin artık geri yönde eşleşen bir işaretçisi var — ikisinin de düzeltilmesi gerekiyor.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düğümdeki iki oka bakın — satırın üstünde kavis çizen next, altında kavis çizen prev — birlikte güncelleniyor, hiçbir zaman yalnızca biri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Şu anki tail'den sonra eklemek, yeni düğümün yeni tail olması demek — sadece bir next işaretçisi değil, list-&gt;tail'in kendisi güncellenmeli.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Toplamda dört işaretçi yazımı: yeni düğümün kendi prev'i ve next'i, eski sonraki'nin prev'i (ya da list-&gt;tail), ve cur'un next'i.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cur-&gt;prev burada doğrudan okunuyor — tekil sürüm, tararken ayrı bir prev değişkenini elle takip etmek zorundaydı.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Arama bedeli ikinci bir işaretçiyle hiç iyileşmiyor — yalnızca yeniden bağlama adımı, ve geriye yürüyebilme değişiyor.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Yanıttan önce delete_value kod slaytına geri işaret edin.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Saklanan o prev alanı, çift yönlü listelerin var olmasının tüm nedeni — geri kalan her şey, her düğümde onun bulunmasından çıkıyor.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8, NULL'ı tamamen kaldırıyor — liste sona ermek yerine sarılıyor — ve bu biçimi çok eski bir bulmacayı çözmek için kullanıyor.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denememek için bariz bir neden yok — ve tam olarak Josephus probleminin ihtiyaç duyduğu şey olduğu ortaya çıkıyor.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Bunu unutmak klasik dairesel liste hatası: NULL'da durmak üzere yazılmış bir döngü hiçbir zaman durmaz.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Yalnızca tail'i tutup head'i tail-&gt;next'ten türetmek, bu programın bilinçli, küçük bir tasarım tercihi.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Satırın altında bir eğri olarak çizilen sarılma okuna bakın — son düğümü doğrudan ilk düğüme bağlıyor.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Tek düğümlü dairesel bir liste kendini gösterir; o tek düğümü silmek, listeyi gerçekten boş bırakmalı, tail geri NULL'a dönmeli.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 liste durumu özel, çünkü korunacak henüz bir head-&gt;next ilişkisi yok — yeni düğümün kendine dönmesi gerekiyor.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hafta yalnız başına, bu haftaki materyalin diğer her hatasından daha fazla sonsuz döngüye neden oluyor.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Efsane tam olarak doğru olsun ya da olmasın, tarif ettiği eleme örüntüsü tam olarak bu algoritmanın simüle ettiği şey.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eleme, tıpkı dairesel silme gibi, yalnızca tek bir bypass oku — tüm problem az önce gösterilen işleme indirgeniyor.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elemede çemberin tam olarak bir düğüm küçülmesine, sarılma okunun her seferinde yeniden çizilmesine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Çemberde yalnızca bir kişi varken, eleme döngüsünün remaining &gt; 1 koşulu hemen yanlış olur — kimse hiç elenmez.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İç for döngüsü tam olarak k-1 adım ileriyi sayar — dairesel silmeden aynı bypass oku, sonra üzerine geldiğini kaldırır.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Simülasyon, animasyonun adım adım gösterdiği şey; yineleme ise hiç çembere gerek kalmadan yalnızca son yanıta giden bir kısayol.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k=1'in gerçekte ne anlama geldiğini düşünmesine izin verin, yanıttan önce.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k=1 mümkün olan en basit durum, ve genel algoritmanın hâlâ sade sezginin beklediği gibi davrandığını gösteren iyi bir sağlama.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9, bilinmeye değer bir bellek tasarrufu numarası, ama sonundaki hatalar slaytı en çok önemli olan kısım.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İlk başta imkânsız geliyor — iki adresi tek bir alanın boşluğunda gerçekten saklayamazsınız — ama bir numara var.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değeri kendisiyle XOR'lamak her zaman sıfır verir — bu tek olgu, bu yapının tamamının arkasındaki numara.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Ekrandaki her düğümün hex adresine ve npx değerine bakın — gezinme, bir sonraki adresi her adımda gerçekten hesaplıyor.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Boş bir listedeki tek düğüm hem baş hem son birden — npx'i yalnızca tek gerçek komşusunun NULL ile XOR'u.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xor_node, bu programdaki her başka fonksiyonun çağırdığı tek yardımcı — numaranın gerçekte yaşadığı yer burası.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prev, tıpkı sıradan bir tekil gezinmenin başladığı gibi NULL'dan başlıyor — döngünün biçimi hakkında değişen başka bir şey yok.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Zaman karmaşıklığı çift yönlü bir listeye göre aslında iyileşmiyor — buradaki tüm kazanç hız değil, bellek.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bölümdeki en önemli tek slayt burası — numara zekice, ama gerçekten üretime çıkarılacak bir şey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bunu bir çöp toplayıcının gerçekte ne yapması gerektiğiyle bağlantılandırmasına izin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Demodaki Java simülasyonu, gerçek bellek adresleri yerine dizi indisleri kullanarak tam olarak bunun çevresinden dolanıyor.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10, bir bağlı listenin ikili aramanın O(log n)'ini hiç alıp alamayacağını soruyor, ve bir fazladan fikirle "evet" diyor.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Engel şu ki bir listenin hiç indisi yok, yani "ortaya sıçra" henüz anlamlı bir işlem bile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Pugh'un kendi savı tam olarak buydu: dengeli bir ağacın beklenen performansı, doğru yazması çok daha az kod 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Daha fazla hızlı şerit, daha fazla seviye, durak sayısını daha da küçültüyor — bu demo görünür kalması için yalnızca iki seviye kullanıyor.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Her arama en yüksek seviyede başlar ve aşağı doğru ilerler, bir kez indikten sonra asla yukarı çıkmaz.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Aramanın hızlı şeritte başlayıp, yalnızca fazla ileri gidince seviye 0'a indiğine, sonra bir son adım attığına bakın.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Hızlı şeritte neredeyse hiçbir şey yokken, aramanın büyük kısmı yine de seviye 0'da geçmek zorunda kalıyor.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Dıştaki for döngüsü seviyeleri en yüksekten aşağı sayar; içteki while döngüsü cur'u yalnızca sağa hareket ettiren tek 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Gerçek bir uygulama her anahtarın seviyesi için ekleme anında yazı tura atar — bu demo her çalıştırma tekrarlanabilir olsun diye seviyeleri önceden sabitliyor.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bunu yalnızca seviye 0'ın gerçekte ne olduğuyla bağlantılandırmasına izin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Üzerinde durmaya değer: bir atlamalı listenin hızı hiçbir zaman garanti değil, yalnızca beklenen — en kötü durumu tam olarak düz bir liste.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11, bugünün her şeyini tek bir tabloda yan yana koyuyor, ödünleşimi açıkça göstermek için.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Yalnızca iki satır gerçekten farklı — indise erişim ve baştan ekleme — ve zıt yönlerde farklılar.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Burada evrensel olarak "daha iyi" bir yapı yok — doğru seçim, tamamen programın en çok hangi işlemi yaptığına bağlı.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Sınıfın bir yığının gerçekte tek bir işleme ihtiyaç duyduğunu düşünmesine izin verin.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Gelecek haftanın yığınları ve kuyrukları bu seçimi somutlaştıracak, ikisi üzerine de gerçek uygulamalarla.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Dört fikir, ve her biri gerçekte aynı soruyla ilgili: veri değiştiğinde ne hareket etmek zorunda, ve ne kadar.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 beş liste türünün her biri, altında hâlâ yalnızca düğümler ve işaretçiler — hiçbiri yeni bir bellek türü gerektirmedi.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öğrenci bugünden yalnızca bir cümle hatırlayacaksa, hatırlamaya değer olan bu.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 yazılı notun sonundaki kendi kendine kontrol sınavını, burada daha kısa bir set olarak yansıtıyor.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Sorun, bekleyin, sonra ilerleyin.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Günün ilk mini sorusundaki aynı en kötü durum, yalnızca daha büyük bir dizide.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1'deki amortize maliyet argümanını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Amortize etmek, birçok işlem üzerinden bir ortalama — hiçbir zaman tek bir işlem hakkında bir söz değil.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6'daki sıra-takası uç durumunu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Böyle bir kendine döngü, prev'i o zamana kadar izleyen her şeyi sessizce koparır.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Bölüm 10'un son mini sorusunu hatırlayın.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Bir atlamalı listenin hızı her zaman seviye 0'ın üstünde gerçekten kaç hızlı seviye olduğuna bağlıdır.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Gelecek haftaki her yığın ve kuyruk, bugünün iki yapısından tam olarak birinin üzerine kuruluyor, işlemler yalnızca tek bir uca kısıtlanmış halde.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Bunlar, haftanın yazılı notunun sonunda listelenen aynı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Konuşma notu: Tarihsel kaynaklar — Pugh, McCarthy, Josephus — bugünkü "kısa tarihçe" slaytlarının dayandığı kaynaklar.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gif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4.gif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6.gif"/><Relationship Id="rId4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7.gif"/><Relationship Id="rId4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8.gif"/><Relationship Id="rId4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9.gif"/><Relationship Id="rId4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0.gif"/><Relationship Id="rId4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1.gif"/><Relationship Id="rId4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2.gif"/><Relationship Id="rId4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3.gif"/><Relationship Id="rId4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4.gif"/><Relationship Id="rId4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5.gif"/><Relationship Id="rId4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6.gif"/><Relationship Id="rId4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7.gif"/><Relationship Id="rId4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18.gif"/><Relationship Id="rId4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7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Diziler, Matrisler ve Bağlı Listeler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CEN207 Veri Yapıları — Hafta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05180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Dr. Öğr. Üyesi Uğur CORUH · 2026-2027 Güz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Bugünün planı (3 saat)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9765"/>
                <a:gridCol w="10171769"/>
              </a:tblGrid>
              <a:tr h="560070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Saat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Konu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Diziler: ekleme/silme, dinamik büyüme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1–2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2B yerleşim, döndürme, yeniden düzenleme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3–5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Seyrek matrisler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6–8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listeler: düğüm/baş/NULL, tekil işlemler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9–12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560070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Çift yönlü, dairesel, Josephus, XOR, atlamalı liste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Anim 13–17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· diziler ve listeler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675888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Öğrenme çıktıları:</a:t>
            </a:r>
            <a:r>
              <a:rPr sz="2000" b="0">
                <a:solidFill>
                  <a:srgbClr val="1F2D3A"/>
                </a:solidFill>
              </a:rPr>
              <a:t> ÖÇ.1 (temel veri yapılarını açıklama) · ÖÇ.2 (karmaşıklık analizi) · ÖÇ.7 (doğru yapıyı seçme)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 haftanın kavramları — nerede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22219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4636"/>
                <a:gridCol w="2386898"/>
              </a:tblGrid>
              <a:tr h="370331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Kavram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Nerede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Diziler: kaydırma, dinamik büyüme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2B diziler, döndürme, yeniden düzenleme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2–3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Seyrek matrisler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4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0331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Tekil/çift yönlü/dairesel listeler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5–8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0336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XOR liste, atlamalı liste, diziler ve listeler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Bölüm 9–11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örnekleri nasıl çalışıyor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fikrin eksiksiz bir </a:t>
            </a:r>
            <a:r>
              <a:rPr sz="2000" b="1">
                <a:solidFill>
                  <a:srgbClr val="1F2D3A"/>
                </a:solidFill>
              </a:rPr>
              <a:t>C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1">
                <a:solidFill>
                  <a:srgbClr val="1F2D3A"/>
                </a:solidFill>
              </a:rPr>
              <a:t>Java</a:t>
            </a:r>
            <a:r>
              <a:rPr sz="2000" b="0">
                <a:solidFill>
                  <a:srgbClr val="1F2D3A"/>
                </a:solidFill>
              </a:rPr>
              <a:t> programı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C: </a:t>
            </a:r>
            <a:r>
              <a:rPr sz="2000" b="0">
                <a:solidFill>
                  <a:srgbClr val="A1123F"/>
                </a:solidFill>
                <a:latin typeface="Consolas"/>
              </a:rPr>
              <a:t>gcc -std=c11 -Wall -Wextra -o /tmp/x file.c &amp;&amp; /tmp/x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Java: </a:t>
            </a:r>
            <a:r>
              <a:rPr sz="2000" b="0">
                <a:solidFill>
                  <a:srgbClr val="A1123F"/>
                </a:solidFill>
                <a:latin typeface="Consolas"/>
              </a:rPr>
              <a:t>javac -d /tmp/j File.java &amp;&amp; java -cp /tmp/j File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Kaynaklar: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code/week-02/c/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code/week-02/java/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programın beklenen çıktısı hafta notunda var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Hatırlatma — Hafta 1: bellek ve işaretçiler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değişken, bellekte etiketli bir </a:t>
            </a:r>
            <a:r>
              <a:rPr sz="2000" b="1">
                <a:solidFill>
                  <a:srgbClr val="1F2D3A"/>
                </a:solidFill>
              </a:rPr>
              <a:t>kutu</a:t>
            </a:r>
            <a:r>
              <a:rPr sz="2000" b="0">
                <a:solidFill>
                  <a:srgbClr val="1F2D3A"/>
                </a:solidFill>
              </a:rPr>
              <a:t>dur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işaretçi (pointer) bir </a:t>
            </a:r>
            <a:r>
              <a:rPr sz="2000" b="1">
                <a:solidFill>
                  <a:srgbClr val="1F2D3A"/>
                </a:solidFill>
              </a:rPr>
              <a:t>adres saklar</a:t>
            </a:r>
            <a:r>
              <a:rPr sz="2000" b="0">
                <a:solidFill>
                  <a:srgbClr val="1F2D3A"/>
                </a:solidFill>
              </a:rPr>
              <a:t> — bir kutuyu gösterir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malloc(n)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bayt ayırır, bir adres döndürür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free(p)</a:t>
            </a:r>
            <a:r>
              <a:rPr sz="2000" b="0">
                <a:solidFill>
                  <a:srgbClr val="1F2D3A"/>
                </a:solidFill>
              </a:rPr>
              <a:t>: kutuyu geri verir;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p = NULL</a:t>
            </a:r>
            <a:r>
              <a:rPr sz="2000" b="0">
                <a:solidFill>
                  <a:srgbClr val="1F2D3A"/>
                </a:solidFill>
              </a:rPr>
              <a:t> yapın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hiçbir şeyi</a:t>
            </a:r>
            <a:r>
              <a:rPr sz="2000" b="0">
                <a:solidFill>
                  <a:srgbClr val="1F2D3A"/>
                </a:solidFill>
              </a:rPr>
              <a:t> göstermeyen bir işaretçi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Haftanın haritası — genel bakış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78923"/>
                <a:gridCol w="4932611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Diziler ve matrisler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Bağlı listeler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Kaydırma, dinamik büyüme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Düğüm, baş, NULL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Satır öncelikli, döndürme, düzenleme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Tekil, çift yönlü, dairesel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Seyrek: triplet, devrik, toplama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Josephus, XOR, atlamalı liste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1. Bellekte Diziler: Ekleme, Silme, Büyüme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dizi, art arda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kutudur. Ortasına bir değer eklendiğinde, yeni değer yerine oturmadan önce ne hareket etmek zorunda?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numaralı dolaplardan oluşan bir sıra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kutu, başlangıçtan </a:t>
            </a:r>
            <a:r>
              <a:rPr sz="2000" b="1">
                <a:solidFill>
                  <a:srgbClr val="1F2D3A"/>
                </a:solidFill>
              </a:rPr>
              <a:t>indis × kutu boyutu</a:t>
            </a:r>
            <a:r>
              <a:rPr sz="2000" b="0">
                <a:solidFill>
                  <a:srgbClr val="1F2D3A"/>
                </a:solidFill>
              </a:rPr>
              <a:t> uzaklıkta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 saf aritmetik — arama gerekmez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 dolaplar kendi kendine kayıp ayrılmaz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Yer açmak, ondan sonraki her dolabı hareket ettirmek demek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size</a:t>
            </a:r>
            <a:r>
              <a:rPr sz="3000" b="1">
                <a:solidFill>
                  <a:srgbClr val="2E7D32"/>
                </a:solidFill>
              </a:rPr>
              <a:t> ve kapasite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Sabit bir dizi baştan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 kutu ayırır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gerçekte</a:t>
            </a:r>
            <a:r>
              <a:rPr sz="2000" b="0">
                <a:solidFill>
                  <a:srgbClr val="1F2D3A"/>
                </a:solidFill>
              </a:rPr>
              <a:t> kaç kutunun kullanıldığını takip eder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insert_at(k, v)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indisinde yer aç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delete_at(k)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k</a:t>
            </a:r>
            <a:r>
              <a:rPr sz="2000" b="0">
                <a:solidFill>
                  <a:srgbClr val="1F2D3A"/>
                </a:solidFill>
              </a:rPr>
              <a:t> indisindeki boşluğu kapat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Dizide ekleme ve silme, adım adım</a:t>
            </a:r>
          </a:p>
        </p:txBody>
      </p:sp>
      <p:pic>
        <p:nvPicPr>
          <p:cNvPr id="7" name="Picture 6" descr="array-insert-delet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186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taşma: dizi dolu</a:t>
            </a:r>
          </a:p>
        </p:txBody>
      </p:sp>
      <p:pic>
        <p:nvPicPr>
          <p:cNvPr id="7" name="Picture 6" descr="array-insert-delet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161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insert_at()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insert_at(int k,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(size == CAP)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false;          /* full: overflow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size; i &gt; k; i--)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arr[i] = arr[i - 1];   /* shift right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arr[k] =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delete_at()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delete_at(int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(size == 0)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false;          /* empty: underflow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k; i &lt; size - 1;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arr[i] = arr[i + 1];   /* shift left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size--;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0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elemanı kaydırır —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k = size</a:t>
            </a:r>
            <a:r>
              <a:rPr sz="2000" b="0">
                <a:solidFill>
                  <a:srgbClr val="1F2D3A"/>
                </a:solidFill>
              </a:rPr>
              <a:t> (sona ekleme): hiç kaydırma yok —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önce taşma/alttan taşma kontrolünü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yanlış yönde kaydırıp veriyi ezmek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5 değeri hep 0. indise eklediniz. Toplam kaç eleman-kaydırması oldu?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0+1+2+3+4 = 10 kaydırma.</a:t>
            </a:r>
            <a:r>
              <a:rPr sz="2000" b="0">
                <a:solidFill>
                  <a:srgbClr val="1F2D3A"/>
                </a:solidFill>
              </a:rPr>
              <a:t> Her baştan ekleme, o an var olan her elemanı kaydırır — klasik O(n) en kötü durum, beş kez tekrarlanmış.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Peki ya boyut önceden bilinmiyorsa?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Sabit bir dizinin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CAP</a:t>
            </a:r>
            <a:r>
              <a:rPr sz="2000" b="0">
                <a:solidFill>
                  <a:srgbClr val="1F2D3A"/>
                </a:solidFill>
              </a:rPr>
              <a:t>'i katı bir tavandır. Bir </a:t>
            </a:r>
            <a:r>
              <a:rPr sz="2000" b="1">
                <a:solidFill>
                  <a:srgbClr val="1F2D3A"/>
                </a:solidFill>
              </a:rPr>
              <a:t>dinamik dizi</a:t>
            </a:r>
            <a:r>
              <a:rPr sz="2000" b="0">
                <a:solidFill>
                  <a:srgbClr val="1F2D3A"/>
                </a:solidFill>
              </a:rPr>
              <a:t>, eklemeyi reddetmek yerine kendi kapasitesini talep üzerine büyütür.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Dinamik dizi büyümesi, adım adım</a:t>
            </a:r>
          </a:p>
        </p:txBody>
      </p:sp>
      <p:pic>
        <p:nvPicPr>
          <p:cNvPr id="7" name="Picture 6" descr="dynamic-array-growt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6637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geri küçülme</a:t>
            </a:r>
          </a:p>
        </p:txBody>
      </p:sp>
      <p:pic>
        <p:nvPicPr>
          <p:cNvPr id="7" name="Picture 6" descr="dynamic-array-growt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806637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da_resize()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void da_resize(DynArray *a, int new_cap)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*fresh = malloc(new_cap * sizeof(int));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a-&gt;size;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fresh[i] = a-&gt;data[i];   /* copy every value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free(a-&gt;data);               /* old block freed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a-&gt;data = fresh;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a-&gt;cap = new_cap;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da_append()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da_append(DynArray *a,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(a-&gt;size == a-&gt;cap)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new_cap = a-&gt;cap * 2;   /* growth factor 2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da_resize(a, new_cap);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a-&gt;data[a-&gt;size++] = 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971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Büyüyen bir ekleme </a:t>
            </a:r>
            <a:r>
              <a:rPr sz="2000" b="0">
                <a:solidFill>
                  <a:srgbClr val="A1123F"/>
                </a:solidFill>
                <a:latin typeface="Consolas"/>
              </a:rPr>
              <a:t>size</a:t>
            </a:r>
            <a:r>
              <a:rPr sz="2000" b="0">
                <a:solidFill>
                  <a:srgbClr val="1F2D3A"/>
                </a:solidFill>
              </a:rPr>
              <a:t> elemanı kopyalar: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Çoğu ekleme yalnızca bir hücre yazar: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eklemede toplam kopya sayısı </a:t>
            </a:r>
            <a:r>
              <a:rPr sz="2000" b="1">
                <a:solidFill>
                  <a:srgbClr val="1F2D3A"/>
                </a:solidFill>
              </a:rPr>
              <a:t>2n'nin altında</a:t>
            </a:r>
            <a:r>
              <a:rPr sz="2000" b="0">
                <a:solidFill>
                  <a:srgbClr val="1F2D3A"/>
                </a:solidFill>
              </a:rPr>
              <a:t> kalır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Yani ekleme başına </a:t>
            </a:r>
            <a:r>
              <a:rPr sz="2000" b="1">
                <a:solidFill>
                  <a:srgbClr val="1F2D3A"/>
                </a:solidFill>
              </a:rPr>
              <a:t>amortize edilmiş</a:t>
            </a:r>
            <a:r>
              <a:rPr sz="2000" b="0">
                <a:solidFill>
                  <a:srgbClr val="1F2D3A"/>
                </a:solidFill>
              </a:rPr>
              <a:t> maliyet O(1)'dir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her tek eklemeyi O(n) sanmak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cap = 1</a:t>
            </a:r>
            <a:r>
              <a:rPr sz="2000" b="0">
                <a:solidFill>
                  <a:srgbClr val="1F2D3A"/>
                </a:solidFill>
              </a:rPr>
              <a:t>'den başlayıp ikiye katlayarak, 100 değer teker teker eklenirken dizi kaç kez büyür?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7 kez</a:t>
            </a:r>
            <a:r>
              <a:rPr sz="2000" b="0">
                <a:solidFill>
                  <a:srgbClr val="1F2D3A"/>
                </a:solidFill>
              </a:rPr>
              <a:t> (1→2→4→8→16→32→64→128). </a:t>
            </a:r>
            <a:r>
              <a:rPr sz="2000" b="0">
                <a:solidFill>
                  <a:srgbClr val="A1123F"/>
                </a:solidFill>
                <a:latin typeface="Consolas"/>
              </a:rPr>
              <a:t>log2(100) ≈ 6.6</a:t>
            </a:r>
            <a:r>
              <a:rPr sz="2000" b="0">
                <a:solidFill>
                  <a:srgbClr val="1F2D3A"/>
                </a:solidFill>
              </a:rPr>
              <a:t>, yukarı yuvarlanmış — büyüme son boyuta göre </a:t>
            </a:r>
            <a:r>
              <a:rPr sz="2000" b="1">
                <a:solidFill>
                  <a:srgbClr val="1F2D3A"/>
                </a:solidFill>
              </a:rPr>
              <a:t>logaritmiktir</a:t>
            </a:r>
            <a:r>
              <a:rPr sz="2000" b="0">
                <a:solidFill>
                  <a:srgbClr val="1F2D3A"/>
                </a:solidFill>
              </a:rPr>
              <a:t>, doğrusal değil.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2. İki Boyutlu Diziler: Satır Öncelikli mi, Sütun Öncelikli mi?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Bellek, baytlardan oluşan tek uzun bir sıra. Bir matris iki boyutlu görünür — satır ve sütun.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mat[i][j]</a:t>
            </a:r>
            <a:r>
              <a:rPr sz="2000" b="0">
                <a:solidFill>
                  <a:srgbClr val="1F2D3A"/>
                </a:solidFill>
              </a:rPr>
              <a:t> nasıl tek bir adrese döner?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kitaplık, bir raf sırayla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Matrisin satırlarını uç uca dizildiğini hayal edin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0. satırın hücreleri, sonra 1. satırınki, böyle devam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yerleşime </a:t>
            </a:r>
            <a:r>
              <a:rPr sz="2000" b="1">
                <a:solidFill>
                  <a:srgbClr val="1F2D3A"/>
                </a:solidFill>
              </a:rPr>
              <a:t>satır öncelikli (row-major)</a:t>
            </a:r>
            <a:r>
              <a:rPr sz="2000" b="0">
                <a:solidFill>
                  <a:srgbClr val="1F2D3A"/>
                </a:solidFill>
              </a:rPr>
              <a:t> denir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Bazı diller (Fortran, MATLAB) önce </a:t>
            </a:r>
            <a:r>
              <a:rPr sz="2000" b="1">
                <a:solidFill>
                  <a:srgbClr val="1F2D3A"/>
                </a:solidFill>
              </a:rPr>
              <a:t>sütunları</a:t>
            </a:r>
            <a:r>
              <a:rPr sz="2000" b="0">
                <a:solidFill>
                  <a:srgbClr val="1F2D3A"/>
                </a:solidFill>
              </a:rPr>
              <a:t> dizer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Adres formülleri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Satır öncelikli: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addr(i,j) = i * COLS + j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Sütun öncelikli: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addr(i,j) = j * ROWS + 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 ve Java: satır öncelikli; Fortran, MATLAB: sütun öncelikli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Formül aritmetik — hiç arama yok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Bellekte matris, adım adım</a:t>
            </a:r>
          </a:p>
        </p:txBody>
      </p:sp>
      <p:pic>
        <p:nvPicPr>
          <p:cNvPr id="7" name="Picture 6" descr="matrix-row-majo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sütun öncelikli depolama, satır satır gezinme</a:t>
            </a:r>
          </a:p>
        </p:txBody>
      </p:sp>
      <p:pic>
        <p:nvPicPr>
          <p:cNvPr id="7" name="Picture 6" descr="matrix-row-major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7416" y="1325880"/>
            <a:ext cx="7696862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addr()</a:t>
            </a:r>
            <a:r>
              <a:rPr sz="3000" b="1">
                <a:solidFill>
                  <a:srgbClr val="2E7D32"/>
                </a:solidFill>
              </a:rPr>
              <a:t> ve satır öncelikli bir gezinme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mat[ROWS][COLS];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/* address of mat[i][j], in ints from the start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addr(int i, int j)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i * COLS + j;   /* row-major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traverse_row_major(int mat[ROWS][COLS])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ROWS;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j = 0; j &lt; COLS; j++)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visit(mat[i][j]);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Adres hesabı: saf aritmetik —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Satır öncelikli gezinme, satır öncelikli depolama: her adım </a:t>
            </a:r>
            <a:r>
              <a:rPr sz="2000" b="1">
                <a:solidFill>
                  <a:srgbClr val="1F2D3A"/>
                </a:solidFill>
              </a:rPr>
              <a:t>Δ=1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Gezinmeyle uyuşmayan yerleşim: </a:t>
            </a:r>
            <a:r>
              <a:rPr sz="2000" b="1">
                <a:solidFill>
                  <a:srgbClr val="1F2D3A"/>
                </a:solidFill>
              </a:rPr>
              <a:t>her</a:t>
            </a:r>
            <a:r>
              <a:rPr sz="2000" b="0">
                <a:solidFill>
                  <a:srgbClr val="1F2D3A"/>
                </a:solidFill>
              </a:rPr>
              <a:t> adımda bir sıçrama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her dilin satır öncelikli olduğunu varsaymak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Satır öncelikli bir matrisin 5 sütunu var.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mat[3][2]</a:t>
            </a:r>
            <a:r>
              <a:rPr sz="2000" b="0">
                <a:solidFill>
                  <a:srgbClr val="1F2D3A"/>
                </a:solidFill>
              </a:rPr>
              <a:t> adres 17'de. </a:t>
            </a:r>
            <a:r>
              <a:rPr sz="2000" b="0">
                <a:solidFill>
                  <a:srgbClr val="A1123F"/>
                </a:solidFill>
                <a:latin typeface="Consolas"/>
              </a:rPr>
              <a:t>mat[3][3]</a:t>
            </a:r>
            <a:r>
              <a:rPr sz="2000" b="0">
                <a:solidFill>
                  <a:srgbClr val="1F2D3A"/>
                </a:solidFill>
              </a:rPr>
              <a:t>'ün adresi ne?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18.</a:t>
            </a:r>
            <a:r>
              <a:rPr sz="2000" b="0">
                <a:solidFill>
                  <a:srgbClr val="1F2D3A"/>
                </a:solidFill>
              </a:rPr>
              <a:t> Bir sütun sağa gitmek, satır öncelikli düzende tam olarak </a:t>
            </a:r>
            <a:r>
              <a:rPr sz="2000" b="0">
                <a:solidFill>
                  <a:srgbClr val="A1123F"/>
                </a:solidFill>
                <a:latin typeface="Consolas"/>
              </a:rPr>
              <a:t>1</a:t>
            </a:r>
            <a:r>
              <a:rPr sz="2000" b="0">
                <a:solidFill>
                  <a:srgbClr val="1F2D3A"/>
                </a:solidFill>
              </a:rPr>
              <a:t> ekler — bir sonraki hücre her zaman bir sonraki adrestir.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3. Döndürme ve Yeniden Düzenleme: İki İşaretçi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12 değerlik bir diziyi, ikinci bir dizi kullanmadan 4 sola döndürün. Yalnızca O(1) ek alan varken nereden başlarsınız?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üç kez ters çevirme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Önce ilk parçayı ters çevirin, sonra kalanını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dizinin </a:t>
            </a:r>
            <a:r>
              <a:rPr sz="2000" b="1">
                <a:solidFill>
                  <a:srgbClr val="1F2D3A"/>
                </a:solidFill>
              </a:rPr>
              <a:t>tamamını</a:t>
            </a:r>
            <a:r>
              <a:rPr sz="2000" b="0">
                <a:solidFill>
                  <a:srgbClr val="1F2D3A"/>
                </a:solidFill>
              </a:rPr>
              <a:t> bir kez daha ters çevirin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Üç ters çevirme her değeri tam yerine oturtur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İkinci dizi yok, tek tek kaydırma yok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rotate_left</a:t>
            </a:r>
            <a:r>
              <a:rPr sz="3000" b="1">
                <a:solidFill>
                  <a:srgbClr val="2E7D32"/>
                </a:solidFill>
              </a:rPr>
              <a:t>: üç ters çevirme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d = d % n</a:t>
            </a:r>
            <a:r>
              <a:rPr sz="2000" b="0">
                <a:solidFill>
                  <a:srgbClr val="1F2D3A"/>
                </a:solidFill>
              </a:rPr>
              <a:t> — gerçek döndürme miktarı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arr[0..d-1]</a:t>
            </a:r>
            <a:r>
              <a:rPr sz="2000" b="0">
                <a:solidFill>
                  <a:srgbClr val="1F2D3A"/>
                </a:solidFill>
              </a:rPr>
              <a:t>'i ters çevir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arr[d..n-1]</a:t>
            </a:r>
            <a:r>
              <a:rPr sz="2000" b="0">
                <a:solidFill>
                  <a:srgbClr val="1F2D3A"/>
                </a:solidFill>
              </a:rPr>
              <a:t>'i ters çevir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arr[0..n-1]</a:t>
            </a:r>
            <a:r>
              <a:rPr sz="2000" b="0">
                <a:solidFill>
                  <a:srgbClr val="1F2D3A"/>
                </a:solidFill>
              </a:rPr>
              <a:t>'i ters çevir — bitti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 döndürme, adım adım</a:t>
            </a:r>
          </a:p>
        </p:txBody>
      </p:sp>
      <p:pic>
        <p:nvPicPr>
          <p:cNvPr id="7" name="Picture 6" descr="array-rota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387" y="1325880"/>
            <a:ext cx="913692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n'den büyük d</a:t>
            </a:r>
          </a:p>
        </p:txBody>
      </p:sp>
      <p:pic>
        <p:nvPicPr>
          <p:cNvPr id="7" name="Picture 6" descr="array-rota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7387" y="1325880"/>
            <a:ext cx="913692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reverse()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97510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reverse(int arr[], int lo, int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(lo &lt; hi)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tmp = arr[lo];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arr[lo] = arr[hi];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arr[hi]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lo++;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hi--;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rotate_left()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rotate_left(int arr[], int n, int 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d = d %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reverse(arr, 0, d - 1);    /* first 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reverse(arr, d, n - 1);    /* the rest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reverse(arr, 0, n - 1);    /* whole array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Dizi üzerinde üç geçiş, her biri O(n) — yine de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ek alan: hiçbir yerde ikinci bir dizi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önce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d = d % n</a:t>
            </a:r>
            <a:r>
              <a:rPr sz="2000" b="0">
                <a:solidFill>
                  <a:srgbClr val="1F2D3A"/>
                </a:solidFill>
              </a:rPr>
              <a:t>'i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reverse</a:t>
            </a:r>
            <a:r>
              <a:rPr sz="2000" b="0">
                <a:solidFill>
                  <a:srgbClr val="1F2D3A"/>
                </a:solidFill>
              </a:rPr>
              <a:t> içinde birer-fazla sınır hatası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Yeniden düzenleme: iki işaretçi birbirine yaklaşır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Amaç: negatifler solda, negatif olmayanlar sağda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left</a:t>
            </a:r>
            <a:r>
              <a:rPr sz="2000" b="0">
                <a:solidFill>
                  <a:srgbClr val="1F2D3A"/>
                </a:solidFill>
              </a:rPr>
              <a:t>, zaten negatif olan değerleri atlar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right</a:t>
            </a:r>
            <a:r>
              <a:rPr sz="2000" b="0">
                <a:solidFill>
                  <a:srgbClr val="1F2D3A"/>
                </a:solidFill>
              </a:rPr>
              <a:t>, zaten negatif olmayan değerleri atlar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 de durunca, takas edip içe doğru ilerleyin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Diziyi yeniden düzenleme, adım adım</a:t>
            </a:r>
          </a:p>
        </p:txBody>
      </p:sp>
      <p:pic>
        <p:nvPicPr>
          <p:cNvPr id="7" name="Picture 6" descr="array-rearrang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0905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zaten ayrılmış</a:t>
            </a:r>
          </a:p>
        </p:txBody>
      </p:sp>
      <p:pic>
        <p:nvPicPr>
          <p:cNvPr id="7" name="Picture 6" descr="array-rearrang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50905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segregate()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segregate(int arr[], int 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left = 0, right = n - 1;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(left &lt; right)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(left&lt;right &amp;&amp; arr[left]&lt;0) left++;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(left&lt;right &amp;&amp; arr[right]&gt;=0) right--;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(left &lt; right)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int tmp = arr[left];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arr[left] = arr[right];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arr[right] = tmp;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left++; right--;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işaretçi de yalnızca </a:t>
            </a:r>
            <a:r>
              <a:rPr sz="2000" b="1">
                <a:solidFill>
                  <a:srgbClr val="1F2D3A"/>
                </a:solidFill>
              </a:rPr>
              <a:t>içe doğru</a:t>
            </a:r>
            <a:r>
              <a:rPr sz="2000" b="0">
                <a:solidFill>
                  <a:srgbClr val="1F2D3A"/>
                </a:solidFill>
              </a:rPr>
              <a:t> ilerler — toplam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geçiş, O(1) ek alan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0</a:t>
            </a:r>
            <a:r>
              <a:rPr sz="2000" b="0">
                <a:solidFill>
                  <a:srgbClr val="1F2D3A"/>
                </a:solidFill>
              </a:rPr>
              <a:t>'ı negatif saymak — </a:t>
            </a:r>
            <a:r>
              <a:rPr sz="2000" b="1">
                <a:solidFill>
                  <a:srgbClr val="1F2D3A"/>
                </a:solidFill>
              </a:rPr>
              <a:t>değildir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iç döngülerde </a:t>
            </a:r>
            <a:r>
              <a:rPr sz="2000" b="0">
                <a:solidFill>
                  <a:srgbClr val="A1123F"/>
                </a:solidFill>
                <a:latin typeface="Consolas"/>
              </a:rPr>
              <a:t>left &lt; right</a:t>
            </a:r>
            <a:r>
              <a:rPr sz="2000" b="0">
                <a:solidFill>
                  <a:srgbClr val="1F2D3A"/>
                </a:solidFill>
              </a:rPr>
              <a:t> korumasını unutmak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segregate</a:t>
            </a:r>
            <a:r>
              <a:rPr sz="2000" b="0">
                <a:solidFill>
                  <a:srgbClr val="1F2D3A"/>
                </a:solidFill>
              </a:rPr>
              <a:t>'ten sonra dizi her yarı içinde </a:t>
            </a:r>
            <a:r>
              <a:rPr sz="2000" b="1">
                <a:solidFill>
                  <a:srgbClr val="1F2D3A"/>
                </a:solidFill>
              </a:rPr>
              <a:t>sıralı</a:t>
            </a:r>
            <a:r>
              <a:rPr sz="2000" b="0">
                <a:solidFill>
                  <a:srgbClr val="1F2D3A"/>
                </a:solidFill>
              </a:rPr>
              <a:t> mı, yoksa yalnızca ikiye mi ayrılmış?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Yalnızca ayrılmış.</a:t>
            </a:r>
            <a:r>
              <a:rPr sz="2000" b="0">
                <a:solidFill>
                  <a:srgbClr val="1F2D3A"/>
                </a:solidFill>
              </a:rPr>
              <a:t> Negatifler negatif olmayanların soluna geçer, ama hiçbir yarı sıralı değildir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segregate</a:t>
            </a:r>
            <a:r>
              <a:rPr sz="2000" b="0">
                <a:solidFill>
                  <a:srgbClr val="1F2D3A"/>
                </a:solidFill>
              </a:rPr>
              <a:t> sıralamak için değerleri hiç karşılaştırmaz.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52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4. Seyrek Matrisler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1000×1000'lik bir matrisin bir milyon hücresi var. Yalnızca 200'ü sıfır değil. Diğer 999.800 sıfırı neden saklayasınız ki?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büyük ölçüde boş bir otopark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Çoğu yer, gün boyu, her gün boş durur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Yalnızca </a:t>
            </a:r>
            <a:r>
              <a:rPr sz="2000" b="1">
                <a:solidFill>
                  <a:srgbClr val="1F2D3A"/>
                </a:solidFill>
              </a:rPr>
              <a:t>dolu</a:t>
            </a:r>
            <a:r>
              <a:rPr sz="2000" b="0">
                <a:solidFill>
                  <a:srgbClr val="1F2D3A"/>
                </a:solidFill>
              </a:rPr>
              <a:t> yerleri listeleyen bir pano yeterlidir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Konum + değer, hatırlanması gereken her şey budur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O pano, </a:t>
            </a:r>
            <a:r>
              <a:rPr sz="2000" b="1">
                <a:solidFill>
                  <a:srgbClr val="1F2D3A"/>
                </a:solidFill>
              </a:rPr>
              <a:t>triplet</a:t>
            </a:r>
            <a:r>
              <a:rPr sz="2000" b="0">
                <a:solidFill>
                  <a:srgbClr val="1F2D3A"/>
                </a:solidFill>
              </a:rPr>
              <a:t> gösterimidir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Triplet: </a:t>
            </a:r>
            <a:r>
              <a:rPr sz="3000" b="1">
                <a:solidFill>
                  <a:srgbClr val="2E7D32"/>
                </a:solidFill>
                <a:latin typeface="Consolas"/>
              </a:rPr>
              <a:t>(row, col, value)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</a:t>
            </a:r>
            <a:r>
              <a:rPr sz="2000" b="1">
                <a:solidFill>
                  <a:srgbClr val="1F2D3A"/>
                </a:solidFill>
              </a:rPr>
              <a:t>sıfır olmayan</a:t>
            </a:r>
            <a:r>
              <a:rPr sz="2000" b="0">
                <a:solidFill>
                  <a:srgbClr val="1F2D3A"/>
                </a:solidFill>
              </a:rPr>
              <a:t> hücre için bir kayıt, başka hiçbir şey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Satır öncelikli tara, her sıfırı atla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seyrek matrisin triplet tablosu çok küçük olabilir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Yoğun matrisi geri kurmak yalnızca triplet'leri gerektirir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Seyrek matris triplet olarak, adım adım</a:t>
            </a:r>
          </a:p>
        </p:txBody>
      </p:sp>
      <p:pic>
        <p:nvPicPr>
          <p:cNvPr id="7" name="Picture 6" descr="sparse-matrix-triple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238" y="1325880"/>
            <a:ext cx="33012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tamamen sıfır bir matris</a:t>
            </a:r>
          </a:p>
        </p:txBody>
      </p:sp>
      <p:pic>
        <p:nvPicPr>
          <p:cNvPr id="7" name="Picture 6" descr="sparse-matrix-triple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238" y="1325880"/>
            <a:ext cx="3301218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to_triplets()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54203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to_triplets(int mat[ROWS][COLS], Triplet out[])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k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0; i &lt; ROWS;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j = 0; j &lt; COLS; j++)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(mat[i][j] != 0)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out[k].row = i;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out[k].col = j;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out[k].value = mat[i][j];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k++;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k;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Yoğun matrisi tarama: </a:t>
            </a:r>
            <a:r>
              <a:rPr sz="2000" b="1">
                <a:solidFill>
                  <a:srgbClr val="1F2D3A"/>
                </a:solidFill>
              </a:rPr>
              <a:t>O(satır × sütun)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Çıktı boyutu, </a:t>
            </a:r>
            <a:r>
              <a:rPr sz="2000" b="1">
                <a:solidFill>
                  <a:srgbClr val="1F2D3A"/>
                </a:solidFill>
              </a:rPr>
              <a:t>sıfır olmayan sayısına</a:t>
            </a:r>
            <a:r>
              <a:rPr sz="2000" b="0">
                <a:solidFill>
                  <a:srgbClr val="1F2D3A"/>
                </a:solidFill>
              </a:rPr>
              <a:t> eşit, asla fazla değil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Çok seyrek bir matriste: triplet'ler çok daha küçük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Hızlı devrik: yeniden sıralama gerekmez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Basit devrik: </a:t>
            </a:r>
            <a:r>
              <a:rPr sz="2000" b="0">
                <a:solidFill>
                  <a:srgbClr val="A1123F"/>
                </a:solidFill>
                <a:latin typeface="Consolas"/>
              </a:rPr>
              <a:t>(row,col)</a:t>
            </a:r>
            <a:r>
              <a:rPr sz="2000" b="0">
                <a:solidFill>
                  <a:srgbClr val="1F2D3A"/>
                </a:solidFill>
              </a:rPr>
              <a:t>'u takas et, sonra </a:t>
            </a:r>
            <a:r>
              <a:rPr sz="2000" b="1">
                <a:solidFill>
                  <a:srgbClr val="1F2D3A"/>
                </a:solidFill>
              </a:rPr>
              <a:t>sırala</a:t>
            </a:r>
            <a:r>
              <a:rPr sz="2000" b="0">
                <a:solidFill>
                  <a:srgbClr val="1F2D3A"/>
                </a:solidFill>
              </a:rPr>
              <a:t> — O(nnz log nnz)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Daha iyisi: önce sütun başına sıfır olmayanları </a:t>
            </a:r>
            <a:r>
              <a:rPr sz="2000" b="1">
                <a:solidFill>
                  <a:srgbClr val="1F2D3A"/>
                </a:solidFill>
              </a:rPr>
              <a:t>say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Sayıları başlangıç </a:t>
            </a:r>
            <a:r>
              <a:rPr sz="2000" b="1">
                <a:solidFill>
                  <a:srgbClr val="1F2D3A"/>
                </a:solidFill>
              </a:rPr>
              <a:t>konumlarına</a:t>
            </a:r>
            <a:r>
              <a:rPr sz="2000" b="0">
                <a:solidFill>
                  <a:srgbClr val="1F2D3A"/>
                </a:solidFill>
              </a:rPr>
              <a:t> çevir (önek toplamı)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geçiş daha, her triplet'i zaten sıralı yerleştirir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Hızlı devrik, adım adım</a:t>
            </a:r>
          </a:p>
        </p:txBody>
      </p:sp>
      <p:pic>
        <p:nvPicPr>
          <p:cNvPr id="7" name="Picture 6" descr="sparse-matrix-transpos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188" y="1325880"/>
            <a:ext cx="37833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tamamen dolu bir matris</a:t>
            </a:r>
          </a:p>
        </p:txBody>
      </p:sp>
      <p:pic>
        <p:nvPicPr>
          <p:cNvPr id="7" name="Picture 6" descr="sparse-matrix-transpos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4188" y="1325880"/>
            <a:ext cx="3783319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sayma ve önek toplamları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count[COLS] = {0};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pos[COLS];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nnz; i++)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count[a[i].col]++;        /* per column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pos[0]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c = 1; c &lt; COLS; c++)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pos[c] = pos[c - 1] + count[c - 1];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her triplet'i yerleştirme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597152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for (int i = 0; i &lt; nnz; i++)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c = a[i].col;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p = pos[c]++;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b[p].row = a[i].col;    /* row/col swap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b[p].col = a[i].row;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b[p].value = a[i].value;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geçiş, </a:t>
            </a:r>
            <a:r>
              <a:rPr sz="2000" b="0">
                <a:solidFill>
                  <a:srgbClr val="A1123F"/>
                </a:solidFill>
                <a:latin typeface="Consolas"/>
              </a:rPr>
              <a:t>O(nnz + COLS)</a:t>
            </a:r>
            <a:r>
              <a:rPr sz="2000" b="0">
                <a:solidFill>
                  <a:srgbClr val="1F2D3A"/>
                </a:solidFill>
              </a:rPr>
              <a:t> — hiç sıralama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Genel bir sıralamanın O(nnz log nnz)'sinden çok daha hızlı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önek toplamını atlamak — çıktı sırasız kalır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row</a:t>
            </a:r>
            <a:r>
              <a:rPr sz="2000" b="0">
                <a:solidFill>
                  <a:srgbClr val="1F2D3A"/>
                </a:solidFill>
              </a:rPr>
              <a:t> ile </a:t>
            </a:r>
            <a:r>
              <a:rPr sz="2000" b="0">
                <a:solidFill>
                  <a:srgbClr val="A1123F"/>
                </a:solidFill>
                <a:latin typeface="Consolas"/>
              </a:rPr>
              <a:t>col</a:t>
            </a:r>
            <a:r>
              <a:rPr sz="2000" b="0">
                <a:solidFill>
                  <a:srgbClr val="1F2D3A"/>
                </a:solidFill>
              </a:rPr>
              <a:t>'u takas etmeyi unutmak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İki seyrek matrisi toplama: bir birleştirme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 triplet listesi de zaten satır öncelikli </a:t>
            </a:r>
            <a:r>
              <a:rPr sz="2000" b="1">
                <a:solidFill>
                  <a:srgbClr val="1F2D3A"/>
                </a:solidFill>
              </a:rPr>
              <a:t>sıralı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İkisini birlikte, merge sort'un birleştirme adımı gibi yürü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Erken gelen </a:t>
            </a:r>
            <a:r>
              <a:rPr sz="2000" b="0">
                <a:solidFill>
                  <a:srgbClr val="A1123F"/>
                </a:solidFill>
                <a:latin typeface="Consolas"/>
              </a:rPr>
              <a:t>(row,col)</a:t>
            </a:r>
            <a:r>
              <a:rPr sz="2000" b="0">
                <a:solidFill>
                  <a:srgbClr val="1F2D3A"/>
                </a:solidFill>
              </a:rPr>
              <a:t> kazanır ve doğrudan kopyalanır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İkisinde de aynı </a:t>
            </a:r>
            <a:r>
              <a:rPr sz="2000" b="0">
                <a:solidFill>
                  <a:srgbClr val="A1123F"/>
                </a:solidFill>
                <a:latin typeface="Consolas"/>
              </a:rPr>
              <a:t>(row,col)</a:t>
            </a:r>
            <a:r>
              <a:rPr sz="2000" b="0">
                <a:solidFill>
                  <a:srgbClr val="1F2D3A"/>
                </a:solidFill>
              </a:rPr>
              <a:t>: değerleri </a:t>
            </a:r>
            <a:r>
              <a:rPr sz="2000" b="1">
                <a:solidFill>
                  <a:srgbClr val="1F2D3A"/>
                </a:solidFill>
              </a:rPr>
              <a:t>topla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Seyrek matris toplama, adım adım</a:t>
            </a:r>
          </a:p>
        </p:txBody>
      </p:sp>
      <p:pic>
        <p:nvPicPr>
          <p:cNvPr id="7" name="Picture 6" descr="sparse-matrix-addi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867" y="1325880"/>
            <a:ext cx="423596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birbirini götüren değerler</a:t>
            </a:r>
          </a:p>
        </p:txBody>
      </p:sp>
      <p:pic>
        <p:nvPicPr>
          <p:cNvPr id="7" name="Picture 6" descr="sparse-matrix-addition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867" y="1325880"/>
            <a:ext cx="4235960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birleştirme döngüsü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while (i &lt; na &amp;&amp; j &lt; nb)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(/* … a[i]'s (row,col) comes first … */)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out[k++] = a[i++];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if (/* … b[j]'s comes first … */)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out[k++] = b[j++];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 else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int sum = a[i].value + b[j].value;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(sum != 0) /* … out[k++] = sum entry … */;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i++; j++;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birleştirme geçişi: </a:t>
            </a:r>
            <a:r>
              <a:rPr sz="2000" b="1">
                <a:solidFill>
                  <a:srgbClr val="1F2D3A"/>
                </a:solidFill>
              </a:rPr>
              <a:t>O(na + nb)</a:t>
            </a:r>
            <a:r>
              <a:rPr sz="2000" b="0">
                <a:solidFill>
                  <a:srgbClr val="1F2D3A"/>
                </a:solidFill>
              </a:rPr>
              <a:t>, yeniden sıralama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İkisinde de</a:t>
            </a:r>
            <a:r>
              <a:rPr sz="2000" b="0">
                <a:solidFill>
                  <a:srgbClr val="1F2D3A"/>
                </a:solidFill>
              </a:rPr>
              <a:t> olmayan bir hücreye hiç dokunmaz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toplam 0 olduğunda hücreyi düşürmeyi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sırasız triplet listelerinin yine de birleşeceğini varsaymak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(1,2) hücresi A matrisinde 6, B matrisinde −6. Toplamın triplet listesinde ne kalır?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Hiçbir şey.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6 + (-6) = 0</a:t>
            </a:r>
            <a:r>
              <a:rPr sz="2000" b="0">
                <a:solidFill>
                  <a:srgbClr val="1F2D3A"/>
                </a:solidFill>
              </a:rPr>
              <a:t>, ve toplamı sıfır olan bir hücre tamamen düşürülür — triplet listesi yalnızca sıfır olmayan değerleri tutar.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73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5. Bağlı Listeler: Düğüm, Baş, NULL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diziye her ekleme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elemana kadarını kaydırabilir. Ekleme yapmanın var olan değerleri </a:t>
            </a:r>
            <a:r>
              <a:rPr sz="2000" b="1">
                <a:solidFill>
                  <a:srgbClr val="1F2D3A"/>
                </a:solidFill>
              </a:rPr>
              <a:t>hiçbir zaman</a:t>
            </a:r>
            <a:r>
              <a:rPr sz="2000" b="0">
                <a:solidFill>
                  <a:srgbClr val="1F2D3A"/>
                </a:solidFill>
              </a:rPr>
              <a:t> hareket ettirmediği bir yapı var mı?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1956</a:t>
            </a:r>
            <a:r>
              <a:rPr sz="2000" b="0">
                <a:solidFill>
                  <a:srgbClr val="1F2D3A"/>
                </a:solidFill>
              </a:rPr>
              <a:t> — John McCarthy, Lisp'in </a:t>
            </a:r>
            <a:r>
              <a:rPr sz="2000" b="1">
                <a:solidFill>
                  <a:srgbClr val="1F2D3A"/>
                </a:solidFill>
              </a:rPr>
              <a:t>cons hücresi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cons hücresi: bir değer, artı bir sonrakine işaretçi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Altı on yıl sonra hâlâ her dilde bu fikir kullanılıyor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C'nin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{ data; next; }</a:t>
            </a:r>
            <a:r>
              <a:rPr sz="2000" b="0">
                <a:solidFill>
                  <a:srgbClr val="1F2D3A"/>
                </a:solidFill>
              </a:rPr>
              <a:t>'i aynı fikir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define avı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ipucu bir sonraki ipucunun </a:t>
            </a:r>
            <a:r>
              <a:rPr sz="2000" b="1">
                <a:solidFill>
                  <a:srgbClr val="1F2D3A"/>
                </a:solidFill>
              </a:rPr>
              <a:t>nerede</a:t>
            </a:r>
            <a:r>
              <a:rPr sz="2000" b="0">
                <a:solidFill>
                  <a:srgbClr val="1F2D3A"/>
                </a:solidFill>
              </a:rPr>
              <a:t> olduğunu söyler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Haritanın tamamını asla bir kerede görmezsiniz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işaretçiyi izle, var, oku, bir sonrakini izle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ipucu "burada bir şey yok" der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Tüm fikir, tek bir struct'ta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030224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struct Node *next;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5832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değer, bir işaretçi — bağlı liste bu kadar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Kaydırma yok: yeni bir düğüm yalnızca bir işaretçi alır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head</a:t>
            </a:r>
            <a:r>
              <a:rPr sz="3000" b="1">
                <a:solidFill>
                  <a:srgbClr val="2E7D32"/>
                </a:solidFill>
              </a:rPr>
              <a:t> ve </a:t>
            </a:r>
            <a:r>
              <a:rPr sz="3000" b="1">
                <a:solidFill>
                  <a:srgbClr val="2E7D32"/>
                </a:solidFill>
                <a:latin typeface="Consolas"/>
              </a:rPr>
              <a:t>NULL</a:t>
            </a:r>
            <a:r>
              <a:rPr sz="3000" b="1">
                <a:solidFill>
                  <a:srgbClr val="2E7D32"/>
                </a:solidFill>
              </a:rPr>
              <a:t> sonlandırıcısı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head</a:t>
            </a:r>
            <a:r>
              <a:rPr sz="2000" b="0">
                <a:solidFill>
                  <a:srgbClr val="1F2D3A"/>
                </a:solidFill>
              </a:rPr>
              <a:t>, listeye giren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sabit referanstır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başka düğüme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i izleyerek ulaşılır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düğümün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i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dır — "başka düğüm yok"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Boş bir liste 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head == NULL</a:t>
            </a:r>
            <a:r>
              <a:rPr sz="2000" b="0">
                <a:solidFill>
                  <a:srgbClr val="1F2D3A"/>
                </a:solidFill>
              </a:rPr>
              <a:t>dır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79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"İnception": kendini içeren bir struct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</a:t>
            </a:r>
            <a:r>
              <a:rPr sz="2000" b="0">
                <a:solidFill>
                  <a:srgbClr val="1F2D3A"/>
                </a:solidFill>
              </a:rPr>
              <a:t>'un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*</a:t>
            </a:r>
            <a:r>
              <a:rPr sz="2000" b="0">
                <a:solidFill>
                  <a:srgbClr val="1F2D3A"/>
                </a:solidFill>
              </a:rPr>
              <a:t> türünde bir alanı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sonsuz özyineleme </a:t>
            </a:r>
            <a:r>
              <a:rPr sz="2000" b="1">
                <a:solidFill>
                  <a:srgbClr val="1F2D3A"/>
                </a:solidFill>
              </a:rPr>
              <a:t>değil</a:t>
            </a:r>
            <a:r>
              <a:rPr sz="2000" b="0">
                <a:solidFill>
                  <a:srgbClr val="1F2D3A"/>
                </a:solidFill>
              </a:rPr>
              <a:t> — bir işaretçi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işaretçinin boyutu sabit,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</a:t>
            </a:r>
            <a:r>
              <a:rPr sz="2000" b="0">
                <a:solidFill>
                  <a:srgbClr val="1F2D3A"/>
                </a:solidFill>
              </a:rPr>
              <a:t> tamamlanmadan bile bilinir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yüzden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*next;</a:t>
            </a:r>
            <a:r>
              <a:rPr sz="2000" b="0">
                <a:solidFill>
                  <a:srgbClr val="1F2D3A"/>
                </a:solidFill>
              </a:rPr>
              <a:t> derlenir, 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 next;</a:t>
            </a:r>
            <a:r>
              <a:rPr sz="2000" b="0">
                <a:solidFill>
                  <a:srgbClr val="1F2D3A"/>
                </a:solidFill>
              </a:rPr>
              <a:t> derlenemez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-&gt;next</a:t>
            </a:r>
            <a:r>
              <a:rPr sz="2000" b="0">
                <a:solidFill>
                  <a:srgbClr val="1F2D3A"/>
                </a:solidFill>
              </a:rPr>
              <a:t>'ten önce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kontrolünü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</a:t>
            </a:r>
            <a:r>
              <a:rPr sz="2000" b="1">
                <a:solidFill>
                  <a:srgbClr val="1F2D3A"/>
                </a:solidFill>
              </a:rPr>
              <a:t>düğümü</a:t>
            </a:r>
            <a:r>
              <a:rPr sz="2000" b="0">
                <a:solidFill>
                  <a:srgbClr val="1F2D3A"/>
                </a:solidFill>
              </a:rPr>
              <a:t> (struct) ona giden bir </a:t>
            </a:r>
            <a:r>
              <a:rPr sz="2000" b="1">
                <a:solidFill>
                  <a:srgbClr val="1F2D3A"/>
                </a:solidFill>
              </a:rPr>
              <a:t>işaretçiyle</a:t>
            </a:r>
            <a:r>
              <a:rPr sz="2000" b="0">
                <a:solidFill>
                  <a:srgbClr val="1F2D3A"/>
                </a:solidFill>
              </a:rPr>
              <a:t> karıştırmak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Bir işaretçi gerekirken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 next;</a:t>
            </a:r>
            <a:r>
              <a:rPr sz="2000" b="0">
                <a:solidFill>
                  <a:srgbClr val="1F2D3A"/>
                </a:solidFill>
              </a:rPr>
              <a:t> yazmak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neden düz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</a:t>
            </a:r>
            <a:r>
              <a:rPr sz="2000" b="0">
                <a:solidFill>
                  <a:srgbClr val="1F2D3A"/>
                </a:solidFill>
              </a:rPr>
              <a:t> değil, mutlaka </a:t>
            </a:r>
            <a:r>
              <a:rPr sz="2000" b="0">
                <a:solidFill>
                  <a:srgbClr val="A1123F"/>
                </a:solidFill>
                <a:latin typeface="Consolas"/>
              </a:rPr>
              <a:t>struct Node *</a:t>
            </a:r>
            <a:r>
              <a:rPr sz="2000" b="0">
                <a:solidFill>
                  <a:srgbClr val="1F2D3A"/>
                </a:solidFill>
              </a:rPr>
              <a:t> olarak tanımlanmalı?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Düz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</a:t>
            </a:r>
            <a:r>
              <a:rPr sz="2000" b="0">
                <a:solidFill>
                  <a:srgbClr val="1F2D3A"/>
                </a:solidFill>
              </a:rPr>
              <a:t> alanı,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</a:t>
            </a:r>
            <a:r>
              <a:rPr sz="2000" b="0">
                <a:solidFill>
                  <a:srgbClr val="1F2D3A"/>
                </a:solidFill>
              </a:rPr>
              <a:t>'un </a:t>
            </a:r>
            <a:r>
              <a:rPr sz="2000" b="1">
                <a:solidFill>
                  <a:srgbClr val="1F2D3A"/>
                </a:solidFill>
              </a:rPr>
              <a:t>boyutunun</a:t>
            </a:r>
            <a:r>
              <a:rPr sz="2000" b="0">
                <a:solidFill>
                  <a:srgbClr val="1F2D3A"/>
                </a:solidFill>
              </a:rPr>
              <a:t> önceden bilinmesini gerektirirdi — ama </a:t>
            </a:r>
            <a:r>
              <a:rPr sz="2000" b="0">
                <a:solidFill>
                  <a:srgbClr val="A1123F"/>
                </a:solidFill>
                <a:latin typeface="Consolas"/>
              </a:rPr>
              <a:t>Node</a:t>
            </a:r>
            <a:r>
              <a:rPr sz="2000" b="0">
                <a:solidFill>
                  <a:srgbClr val="1F2D3A"/>
                </a:solidFill>
              </a:rPr>
              <a:t> henüz tanımlanmayı bitirmedi. Bir işaretçinin boyutu buna hiç bağlı değildir.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83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6. Tekil Bağlı Listeler: Ekleme, Silme, Arama, Tersine Çevirme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Üç ekleme konumu — baş, son ve "belirli bir düğümden sonra" — çok farklı bedellere mal oluyor. Hangisi ucuz, hangisi değil?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Eklemenin üç yolu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insert_head</a:t>
            </a:r>
            <a:r>
              <a:rPr sz="2000" b="0">
                <a:solidFill>
                  <a:srgbClr val="1F2D3A"/>
                </a:solidFill>
              </a:rPr>
              <a:t>: yeni düğüm eski başı gösterir —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insert_tail</a:t>
            </a:r>
            <a:r>
              <a:rPr sz="2000" b="0">
                <a:solidFill>
                  <a:srgbClr val="1F2D3A"/>
                </a:solidFill>
              </a:rPr>
              <a:t>: burada son işaretçisi yok — sona kadar yürü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insert_after(prev, v)</a:t>
            </a:r>
            <a:r>
              <a:rPr sz="2000" b="0">
                <a:solidFill>
                  <a:srgbClr val="1F2D3A"/>
                </a:solidFill>
              </a:rPr>
              <a:t>: iki işaretçi yazımı, </a:t>
            </a:r>
            <a:r>
              <a:rPr sz="2000" b="1">
                <a:solidFill>
                  <a:srgbClr val="1F2D3A"/>
                </a:solidFill>
              </a:rPr>
              <a:t>sırayla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sırayı ters çevirmek listeyi </a:t>
            </a:r>
            <a:r>
              <a:rPr sz="2000" b="1">
                <a:solidFill>
                  <a:srgbClr val="1F2D3A"/>
                </a:solidFill>
              </a:rPr>
              <a:t>koparır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Tekil listede ekleme, adım adım</a:t>
            </a:r>
          </a:p>
        </p:txBody>
      </p:sp>
      <p:pic>
        <p:nvPicPr>
          <p:cNvPr id="7" name="Picture 6" descr="singly-inse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53018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iki adım, ters sırayla</a:t>
            </a:r>
          </a:p>
        </p:txBody>
      </p:sp>
      <p:pic>
        <p:nvPicPr>
          <p:cNvPr id="7" name="Picture 6" descr="singly-inser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253018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insert_head()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*insert_head(Node *head,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head;    /* points at the old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n;           /* new node is head now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insert_after()</a:t>
            </a:r>
            <a:r>
              <a:rPr sz="3000" b="1">
                <a:solidFill>
                  <a:srgbClr val="2E7D32"/>
                </a:solidFill>
              </a:rPr>
              <a:t>: sıra önemli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40817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insert_after(Node *prev,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prev-&gt;next;   /* STEP 1: new first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prev-&gt;next = n;         /* STEP 2: then link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insert_head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— hiç yürüme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insert_tail</a:t>
            </a:r>
            <a:r>
              <a:rPr sz="2000" b="0">
                <a:solidFill>
                  <a:srgbClr val="1F2D3A"/>
                </a:solidFill>
              </a:rPr>
              <a:t> (son işaretçisi yok): sona kadar yürür —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insert_after</a:t>
            </a:r>
            <a:r>
              <a:rPr sz="2000" b="0">
                <a:solidFill>
                  <a:srgbClr val="1F2D3A"/>
                </a:solidFill>
              </a:rPr>
              <a:t>: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zaten bulunmuşsa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1. ve 2. ADIM'ı takas etmek — listeyi koparır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Değere göre silme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Özel durum: değer </a:t>
            </a:r>
            <a:r>
              <a:rPr sz="2000" b="1">
                <a:solidFill>
                  <a:srgbClr val="1F2D3A"/>
                </a:solidFill>
              </a:rPr>
              <a:t>baş</a:t>
            </a:r>
            <a:r>
              <a:rPr sz="2000" b="0">
                <a:solidFill>
                  <a:srgbClr val="1F2D3A"/>
                </a:solidFill>
              </a:rPr>
              <a:t>ta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Aksi halde: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/</a:t>
            </a:r>
            <a:r>
              <a:rPr sz="2000" b="0">
                <a:solidFill>
                  <a:srgbClr val="A1123F"/>
                </a:solidFill>
                <a:latin typeface="Consolas"/>
              </a:rPr>
              <a:t>cur</a:t>
            </a:r>
            <a:r>
              <a:rPr sz="2000" b="0">
                <a:solidFill>
                  <a:srgbClr val="1F2D3A"/>
                </a:solidFill>
              </a:rPr>
              <a:t> birlikte yürüyerek arar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Bulunduğunda: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prev-&gt;next = cur-&gt;next</a:t>
            </a:r>
            <a:r>
              <a:rPr sz="2000" b="0">
                <a:solidFill>
                  <a:srgbClr val="1F2D3A"/>
                </a:solidFill>
              </a:rPr>
              <a:t> — </a:t>
            </a:r>
            <a:r>
              <a:rPr sz="2000" b="1">
                <a:solidFill>
                  <a:srgbClr val="1F2D3A"/>
                </a:solidFill>
              </a:rPr>
              <a:t>bypass oku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free(cur)</a:t>
            </a:r>
            <a:r>
              <a:rPr sz="2000" b="0">
                <a:solidFill>
                  <a:srgbClr val="1F2D3A"/>
                </a:solidFill>
              </a:rPr>
              <a:t> — düğüm gitti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Tekil listede silme, adım adım</a:t>
            </a:r>
          </a:p>
        </p:txBody>
      </p:sp>
      <p:pic>
        <p:nvPicPr>
          <p:cNvPr id="7" name="Picture 6" descr="singly-delet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01812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son düğümü, sonra olmayan bir değeri silmek</a:t>
            </a:r>
          </a:p>
        </p:txBody>
      </p:sp>
      <p:pic>
        <p:nvPicPr>
          <p:cNvPr id="7" name="Picture 6" descr="singly-delet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401812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delete_value()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*delete_value(Node *head, int value,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     bool *removed)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*removed =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(head == NULL) return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(head-&gt;data == value) {   /* delete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*tmp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head = head-&gt;next;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free(tmp);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*removed =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/* … prev/cur scan, bypass, free(cur)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Başı silmek: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, arama gerekmez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Başka herhangi bir yeri silmek: bulmak için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başın </a:t>
            </a:r>
            <a:r>
              <a:rPr sz="2000" b="1">
                <a:solidFill>
                  <a:srgbClr val="1F2D3A"/>
                </a:solidFill>
              </a:rPr>
              <a:t>özel</a:t>
            </a:r>
            <a:r>
              <a:rPr sz="2000" b="0">
                <a:solidFill>
                  <a:srgbClr val="1F2D3A"/>
                </a:solidFill>
              </a:rPr>
              <a:t> bir durum olduğunu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'i kaydetmeden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</a:t>
            </a:r>
            <a:r>
              <a:rPr sz="2000" b="0">
                <a:solidFill>
                  <a:srgbClr val="1F2D3A"/>
                </a:solidFill>
              </a:rPr>
              <a:t>'u ilerletmek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Doğrusal arama: kısayol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İndis aritmetiği yok — bir listede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 yoktur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head</a:t>
            </a:r>
            <a:r>
              <a:rPr sz="2000" b="0">
                <a:solidFill>
                  <a:srgbClr val="1F2D3A"/>
                </a:solidFill>
              </a:rPr>
              <a:t>'den başlayıp bir seferde bir düğümü karşılaştır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Bulundu: </a:t>
            </a:r>
            <a:r>
              <a:rPr sz="2000" b="1">
                <a:solidFill>
                  <a:srgbClr val="1F2D3A"/>
                </a:solidFill>
              </a:rPr>
              <a:t>konumunu</a:t>
            </a:r>
            <a:r>
              <a:rPr sz="2000" b="0">
                <a:solidFill>
                  <a:srgbClr val="1F2D3A"/>
                </a:solidFill>
              </a:rPr>
              <a:t> döndür; bitti: </a:t>
            </a:r>
            <a:r>
              <a:rPr sz="2000" b="0">
                <a:solidFill>
                  <a:srgbClr val="A1123F"/>
                </a:solidFill>
                <a:latin typeface="Consolas"/>
              </a:rPr>
              <a:t>-1</a:t>
            </a:r>
            <a:r>
              <a:rPr sz="2000" b="0">
                <a:solidFill>
                  <a:srgbClr val="1F2D3A"/>
                </a:solidFill>
              </a:rPr>
              <a:t> döndür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Tekil listede arama, adım adım</a:t>
            </a:r>
          </a:p>
        </p:txBody>
      </p:sp>
      <p:pic>
        <p:nvPicPr>
          <p:cNvPr id="7" name="Picture 6" descr="singly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29024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boş bir listede arama</a:t>
            </a:r>
          </a:p>
        </p:txBody>
      </p:sp>
      <p:pic>
        <p:nvPicPr>
          <p:cNvPr id="7" name="Picture 6" descr="singly-search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129024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99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search()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164079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search(Node *head,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index = 0;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(Node *cur = head; cur !=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cur = cur-&gt;next)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(cur-&gt;data == value)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index;      /* found here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index++;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-1;                 /* not found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arama: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— atlanacak bir indis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Karşılaştırma: dizide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dir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fark, üç bölüm sonraki karşılaştırmayı yönlendirir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Yerinde tersine çevirme: üç işaretçi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arkada,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</a:t>
            </a:r>
            <a:r>
              <a:rPr sz="2000" b="0">
                <a:solidFill>
                  <a:srgbClr val="1F2D3A"/>
                </a:solidFill>
              </a:rPr>
              <a:t> önde,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ileriye bakar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  <a:r>
              <a:rPr sz="2000" b="0">
                <a:solidFill>
                  <a:srgbClr val="1F2D3A"/>
                </a:solidFill>
              </a:rPr>
              <a:t>'in üzerine yazmadan </a:t>
            </a:r>
            <a:r>
              <a:rPr sz="2000" b="1">
                <a:solidFill>
                  <a:srgbClr val="1F2D3A"/>
                </a:solidFill>
              </a:rPr>
              <a:t>önce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'i kaydet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  <a:r>
              <a:rPr sz="2000" b="0">
                <a:solidFill>
                  <a:srgbClr val="1F2D3A"/>
                </a:solidFill>
              </a:rPr>
              <a:t>'i çevirip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'i gösterecek şekilde yap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Sonra her iki işaretçi de bir düğüm ileri gider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Tekil listede tersine çevirme, adım adım</a:t>
            </a:r>
          </a:p>
        </p:txBody>
      </p:sp>
      <p:pic>
        <p:nvPicPr>
          <p:cNvPr id="7" name="Picture 6" descr="singly-revers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5873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yalnızca iki düğüm</a:t>
            </a:r>
          </a:p>
        </p:txBody>
      </p:sp>
      <p:pic>
        <p:nvPicPr>
          <p:cNvPr id="7" name="Picture 6" descr="singly-reverse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75873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reverse()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*reverse(Node *head)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*prev = NULL;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*curr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*next = curr-&gt;next;  /* save rest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curr-&gt;next = prev;         /* flip arrow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prev = curr;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curr = 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prev;                   /* new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geçiş, düğüm başına bir çevirme —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zaman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Yeni düğüm ayrılmıyor —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 alan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Karşılaştırma: bir diziyi tersine çevirmek de ekstra işaretçi gerektirmez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  <a:r>
              <a:rPr sz="2000" b="0">
                <a:solidFill>
                  <a:srgbClr val="1F2D3A"/>
                </a:solidFill>
              </a:rPr>
              <a:t>'i geçici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değişkenine kaydetmeden </a:t>
            </a:r>
            <a:r>
              <a:rPr sz="2000" b="1">
                <a:solidFill>
                  <a:srgbClr val="1F2D3A"/>
                </a:solidFill>
              </a:rPr>
              <a:t>önce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'i göstermek üzere çevirirseniz ne bozulur?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Listenin geri kalanı kaybolur.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curr-&gt;next</a:t>
            </a:r>
            <a:r>
              <a:rPr sz="2000" b="0">
                <a:solidFill>
                  <a:srgbClr val="1F2D3A"/>
                </a:solidFill>
              </a:rPr>
              <a:t> geriye işaret ettiği an, ondan sonra gelen düğümlere ulaşmanın hiçbir yolu kalmaz.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7. Çift Yönlü Bağlı Listeler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Tekil bir liste yalnızca </a:t>
            </a:r>
            <a:r>
              <a:rPr sz="2000" b="1">
                <a:solidFill>
                  <a:srgbClr val="1F2D3A"/>
                </a:solidFill>
              </a:rPr>
              <a:t>ileri</a:t>
            </a:r>
            <a:r>
              <a:rPr sz="2000" b="0">
                <a:solidFill>
                  <a:srgbClr val="1F2D3A"/>
                </a:solidFill>
              </a:rPr>
              <a:t> yürüyebilir. Geriye de yürüyebilmek için ne değişmeli?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çift yönlü bir cadde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Tekil liste: tek yönlü bir cadde, yalnızca ileri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Çift yönlü liste: çift yönlü bir cadde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düğüm </a:t>
            </a:r>
            <a:r>
              <a:rPr sz="2000" b="1">
                <a:solidFill>
                  <a:srgbClr val="1F2D3A"/>
                </a:solidFill>
              </a:rPr>
              <a:t>iki</a:t>
            </a:r>
            <a:r>
              <a:rPr sz="2000" b="0">
                <a:solidFill>
                  <a:srgbClr val="1F2D3A"/>
                </a:solidFill>
              </a:rPr>
              <a:t> tabela taşır: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 ve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Geri dönmek hiçbir ek bedele mal olmaz — 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'i izleyin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insert_after</a:t>
            </a:r>
            <a:r>
              <a:rPr sz="3000" b="1">
                <a:solidFill>
                  <a:srgbClr val="2E7D32"/>
                </a:solidFill>
              </a:rPr>
              <a:t>: ikisi değil, dört işaretçi düzeltilir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Tekil listenin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insert_after</a:t>
            </a:r>
            <a:r>
              <a:rPr sz="2000" b="0">
                <a:solidFill>
                  <a:srgbClr val="1F2D3A"/>
                </a:solidFill>
              </a:rPr>
              <a:t>'ı: 2 işaretçiyi düzeltir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Çift yönlü liste: </a:t>
            </a:r>
            <a:r>
              <a:rPr sz="2000" b="1">
                <a:solidFill>
                  <a:srgbClr val="1F2D3A"/>
                </a:solidFill>
              </a:rPr>
              <a:t>yeni</a:t>
            </a:r>
            <a:r>
              <a:rPr sz="2000" b="0">
                <a:solidFill>
                  <a:srgbClr val="1F2D3A"/>
                </a:solidFill>
              </a:rPr>
              <a:t> düğümün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'ini de düzeltir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Ve </a:t>
            </a:r>
            <a:r>
              <a:rPr sz="2000" b="1">
                <a:solidFill>
                  <a:srgbClr val="1F2D3A"/>
                </a:solidFill>
              </a:rPr>
              <a:t>eski sonraki</a:t>
            </a:r>
            <a:r>
              <a:rPr sz="2000" b="0">
                <a:solidFill>
                  <a:srgbClr val="1F2D3A"/>
                </a:solidFill>
              </a:rPr>
              <a:t>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'ini, varsa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tail</a:t>
            </a:r>
            <a:r>
              <a:rPr sz="2000" b="0">
                <a:solidFill>
                  <a:srgbClr val="1F2D3A"/>
                </a:solidFill>
              </a:rPr>
              <a:t> idiyse </a:t>
            </a:r>
            <a:r>
              <a:rPr sz="2000" b="0">
                <a:solidFill>
                  <a:srgbClr val="A1123F"/>
                </a:solidFill>
                <a:latin typeface="Consolas"/>
              </a:rPr>
              <a:t>list-&gt;tail</a:t>
            </a:r>
            <a:r>
              <a:rPr sz="2000" b="0">
                <a:solidFill>
                  <a:srgbClr val="1F2D3A"/>
                </a:solidFill>
              </a:rPr>
              <a:t>'i de güncelleyin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Çift yönlü listede ekleme, adım adım</a:t>
            </a:r>
          </a:p>
        </p:txBody>
      </p:sp>
      <p:pic>
        <p:nvPicPr>
          <p:cNvPr id="7" name="Picture 6" descr="doubly-linked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191" y="1325880"/>
            <a:ext cx="911731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tail'in gösterdiği düğümden hemen sonra ekleme</a:t>
            </a:r>
          </a:p>
        </p:txBody>
      </p:sp>
      <p:pic>
        <p:nvPicPr>
          <p:cNvPr id="7" name="Picture 6" descr="doubly-linked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7191" y="1325880"/>
            <a:ext cx="9117313" cy="4828032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insert_after()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insert_after(List *list, int target, int v)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(Node *cur = list-&gt;head; cur; cur = cur-&gt;next)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(cur-&gt;data == target)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n-&gt;data = v; n-&gt;prev = cur; n-&gt;next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(cur-&gt;next) cur-&gt;next-&gt;prev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else list-&gt;tail = n;   /* cur was the tail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cur-&gt;next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delete_value()</a:t>
            </a:r>
            <a:r>
              <a:rPr sz="3000" b="1">
                <a:solidFill>
                  <a:srgbClr val="2E7D32"/>
                </a:solidFill>
              </a:rPr>
              <a:t>: </a:t>
            </a:r>
            <a:r>
              <a:rPr sz="3000" b="1">
                <a:solidFill>
                  <a:srgbClr val="2E7D32"/>
                </a:solidFill>
                <a:latin typeface="Consolas"/>
              </a:rPr>
              <a:t>prev</a:t>
            </a:r>
            <a:r>
              <a:rPr sz="3000" b="1">
                <a:solidFill>
                  <a:srgbClr val="2E7D32"/>
                </a:solidFill>
              </a:rPr>
              <a:t> için tarama yok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bool delete_value(List *list,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(Node *cur = list-&gt;head; cur; cur = cur-&gt;next)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if (cur-&gt;data ==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(cur-&gt;prev) cur-&gt;prev-&gt;next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else list-&gt;head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if (cur-&gt;next) cur-&gt;next-&gt;prev = cur-&gt;prev;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else list-&gt;tail = cur-&gt;prev;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free(cur);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return true;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false;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Hedefi bulmak: tekildekiyle aynı </a:t>
            </a:r>
            <a:r>
              <a:rPr sz="2000" b="1">
                <a:solidFill>
                  <a:srgbClr val="1F2D3A"/>
                </a:solidFill>
              </a:rPr>
              <a:t>O(n)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Bulunduktan sonra yeniden bağlamak: her iki yönde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tail değiştikten sonra </a:t>
            </a:r>
            <a:r>
              <a:rPr sz="2000" b="0">
                <a:solidFill>
                  <a:srgbClr val="A1123F"/>
                </a:solidFill>
                <a:latin typeface="Consolas"/>
              </a:rPr>
              <a:t>tail</a:t>
            </a:r>
            <a:r>
              <a:rPr sz="2000" b="0">
                <a:solidFill>
                  <a:srgbClr val="1F2D3A"/>
                </a:solidFill>
              </a:rPr>
              <a:t>'i güncellemeyi unutmak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yeni düğümün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bağını atlamak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Çift yönlü bir listenin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delete_value</a:t>
            </a:r>
            <a:r>
              <a:rPr sz="2000" b="0">
                <a:solidFill>
                  <a:srgbClr val="1F2D3A"/>
                </a:solidFill>
              </a:rPr>
              <a:t>'u, tekil sürümün aksine, neden ayrı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-izleme değişkenine hiç ihtiyaç duymaz?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Her düğüm zaten kendi `prev`'ini saklar.</a:t>
            </a:r>
            <a:r>
              <a:rPr sz="2000" b="0">
                <a:solidFill>
                  <a:srgbClr val="1F2D3A"/>
                </a:solidFill>
              </a:rPr>
              <a:t> Tekil sürüm tararken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'i elle takip etmek zorundaydı; çift yönlü sürüm yalnızca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cur-&gt;prev</a:t>
            </a:r>
            <a:r>
              <a:rPr sz="2000" b="0">
                <a:solidFill>
                  <a:srgbClr val="1F2D3A"/>
                </a:solidFill>
              </a:rPr>
              <a:t>'i doğrudan okur.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8. Dairesel Listeler ve Josephus Problemi</a:t>
            </a: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 </a:t>
            </a:r>
            <a:r>
              <a:rPr sz="2000" b="1">
                <a:solidFill>
                  <a:srgbClr val="1F2D3A"/>
                </a:solidFill>
              </a:rPr>
              <a:t>son</a:t>
            </a:r>
            <a:r>
              <a:rPr sz="2000" b="0">
                <a:solidFill>
                  <a:srgbClr val="1F2D3A"/>
                </a:solidFill>
              </a:rPr>
              <a:t> düğümün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i,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yerine ilk düğümü gösterseydi?</a:t>
            </a: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çemberde oturan insanlar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Aslında ne "ilk" koltuk ne de "son" koltuk var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Yeterince yürürseniz başladığınız yere geri dönersiniz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Dairesel bir listenin yürüyüşü durduracak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'ı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Başka bir şey — bir sayaç, bir koşul — durdurmalı</a:t>
            </a: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Tek işaretçi, ayrı bir </a:t>
            </a:r>
            <a:r>
              <a:rPr sz="3000" b="1">
                <a:solidFill>
                  <a:srgbClr val="2E7D32"/>
                </a:solidFill>
                <a:latin typeface="Consolas"/>
              </a:rPr>
              <a:t>head</a:t>
            </a:r>
            <a:r>
              <a:rPr sz="3000" b="1">
                <a:solidFill>
                  <a:srgbClr val="2E7D32"/>
                </a:solidFill>
              </a:rPr>
              <a:t> yok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tail</a:t>
            </a:r>
            <a:r>
              <a:rPr sz="2000" b="0">
                <a:solidFill>
                  <a:srgbClr val="1F2D3A"/>
                </a:solidFill>
              </a:rPr>
              <a:t>, en son eklenen düğümü gösterir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tail-&gt;next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1">
                <a:solidFill>
                  <a:srgbClr val="1F2D3A"/>
                </a:solidFill>
              </a:rPr>
              <a:t>baştır</a:t>
            </a:r>
            <a:r>
              <a:rPr sz="2000" b="0">
                <a:solidFill>
                  <a:srgbClr val="1F2D3A"/>
                </a:solidFill>
              </a:rPr>
              <a:t> — ekstra bir alan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düğüm </a:t>
            </a:r>
            <a:r>
              <a:rPr sz="2000" b="1">
                <a:solidFill>
                  <a:srgbClr val="1F2D3A"/>
                </a:solidFill>
              </a:rPr>
              <a:t>kendini</a:t>
            </a:r>
            <a:r>
              <a:rPr sz="2000" b="0">
                <a:solidFill>
                  <a:srgbClr val="1F2D3A"/>
                </a:solidFill>
              </a:rPr>
              <a:t> gösterir — küçük bir döngü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Silmek ileri bir tarama ister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yok</a:t>
            </a: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Dairesel liste işlemleri, adım adım</a:t>
            </a:r>
          </a:p>
        </p:txBody>
      </p:sp>
      <p:pic>
        <p:nvPicPr>
          <p:cNvPr id="7" name="Picture 6" descr="circular-linked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57039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son düğüm silinir</a:t>
            </a:r>
          </a:p>
        </p:txBody>
      </p:sp>
      <p:pic>
        <p:nvPicPr>
          <p:cNvPr id="7" name="Picture 6" descr="circular-linked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757039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insert_tail()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353056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Node *insert_tail(Node *tail, int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*n = malloc(sizeof(Node));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n-&gt;data 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if (tail ==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n-&gt;next = n;       /* points at itself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return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n-&gt;next = tail-&gt;next;  /* new node -&gt; old head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tail-&gt;next = n;        /* old tail -&gt; new node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Sona ekleme: </a:t>
            </a:r>
            <a:r>
              <a:rPr sz="2000" b="1">
                <a:solidFill>
                  <a:srgbClr val="1F2D3A"/>
                </a:solidFill>
              </a:rPr>
              <a:t>O(1)</a:t>
            </a:r>
            <a:r>
              <a:rPr sz="2000" b="0">
                <a:solidFill>
                  <a:srgbClr val="1F2D3A"/>
                </a:solidFill>
              </a:rPr>
              <a:t>, öncekiyle aynı numara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Değere göre silme: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 tarama —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 bağı yok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bir gezinmeyi durdurmak için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 == NULL</a:t>
            </a:r>
            <a:r>
              <a:rPr sz="2000" b="0">
                <a:solidFill>
                  <a:srgbClr val="1F2D3A"/>
                </a:solidFill>
              </a:rPr>
              <a:t> kontrolü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Dairesel bir liste bir </a:t>
            </a:r>
            <a:r>
              <a:rPr sz="2000" b="0">
                <a:solidFill>
                  <a:srgbClr val="A1123F"/>
                </a:solidFill>
                <a:latin typeface="Consolas"/>
              </a:rPr>
              <a:t>NULL</a:t>
            </a:r>
            <a:r>
              <a:rPr sz="2000" b="0">
                <a:solidFill>
                  <a:srgbClr val="1F2D3A"/>
                </a:solidFill>
              </a:rPr>
              <a:t> değil, bir </a:t>
            </a:r>
            <a:r>
              <a:rPr sz="2000" b="1">
                <a:solidFill>
                  <a:srgbClr val="1F2D3A"/>
                </a:solidFill>
              </a:rPr>
              <a:t>adım sayacı</a:t>
            </a:r>
            <a:r>
              <a:rPr sz="2000" b="0">
                <a:solidFill>
                  <a:srgbClr val="1F2D3A"/>
                </a:solidFill>
              </a:rPr>
              <a:t> ister</a:t>
            </a:r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M.S. 67 civarı</a:t>
            </a:r>
            <a:r>
              <a:rPr sz="2000" b="0">
                <a:solidFill>
                  <a:srgbClr val="1F2D3A"/>
                </a:solidFill>
              </a:rPr>
              <a:t> — Flavius Josephus, Yodfat kuşatması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Efsane: 41 asker, her 3. asker elenir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Josephus'un kendini hayatta kalan yere yerleştirdiği söylenir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Tek bir dairesel liste bugün tüm bulmacayı çözüyor</a:t>
            </a: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Her </a:t>
            </a:r>
            <a:r>
              <a:rPr sz="3000" b="1" i="1">
                <a:solidFill>
                  <a:srgbClr val="2E7D32"/>
                </a:solidFill>
              </a:rPr>
              <a:t>k</a:t>
            </a:r>
            <a:r>
              <a:rPr sz="3000" b="1">
                <a:solidFill>
                  <a:srgbClr val="2E7D32"/>
                </a:solidFill>
              </a:rPr>
              <a:t>. kişi elenir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Çember içinde </a:t>
            </a:r>
            <a:r>
              <a:rPr sz="2000" b="0">
                <a:solidFill>
                  <a:srgbClr val="A1123F"/>
                </a:solidFill>
                <a:latin typeface="Consolas"/>
              </a:rPr>
              <a:t>n</a:t>
            </a:r>
            <a:r>
              <a:rPr sz="2000" b="0">
                <a:solidFill>
                  <a:srgbClr val="1F2D3A"/>
                </a:solidFill>
              </a:rPr>
              <a:t> kişi, 1..n numaralı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Son hayatta kalandan </a:t>
            </a:r>
            <a:r>
              <a:rPr sz="2000" b="0">
                <a:solidFill>
                  <a:srgbClr val="A1123F"/>
                </a:solidFill>
                <a:latin typeface="Consolas"/>
              </a:rPr>
              <a:t>k-1</a:t>
            </a:r>
            <a:r>
              <a:rPr sz="2000" b="0">
                <a:solidFill>
                  <a:srgbClr val="1F2D3A"/>
                </a:solidFill>
              </a:rPr>
              <a:t> adım ileri say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Üzerine geldiğiniz kişiyi eleyin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Yalnızca </a:t>
            </a:r>
            <a:r>
              <a:rPr sz="2000" b="1">
                <a:solidFill>
                  <a:srgbClr val="1F2D3A"/>
                </a:solidFill>
              </a:rPr>
              <a:t>bir</a:t>
            </a:r>
            <a:r>
              <a:rPr sz="2000" b="0">
                <a:solidFill>
                  <a:srgbClr val="1F2D3A"/>
                </a:solidFill>
              </a:rPr>
              <a:t> kişi kalana kadar tekrarlayın</a:t>
            </a: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Josephus problemi, adım adım</a:t>
            </a:r>
          </a:p>
        </p:txBody>
      </p:sp>
      <p:pic>
        <p:nvPicPr>
          <p:cNvPr id="7" name="Picture 6" descr="josephu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01476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tek kişilik bir çember</a:t>
            </a:r>
          </a:p>
        </p:txBody>
      </p:sp>
      <p:pic>
        <p:nvPicPr>
          <p:cNvPr id="7" name="Picture 6" descr="josephus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2901476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josephus()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919983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josephus(int n, int k)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remaining = n;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(remaining &gt; 1)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for (int s = 1; s &lt; k; s++) {  /* k-1 steps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prev = cur;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cur = cur-&gt;next;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prev-&gt;next = cur-&gt;next;   /* remove cur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cur = prev-&gt;next;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remaining--;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cur-&gt;id;                /* the survivor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Doğrudan simüle etmek: en kötü durumda </a:t>
            </a:r>
            <a:r>
              <a:rPr sz="2000" b="1">
                <a:solidFill>
                  <a:srgbClr val="1F2D3A"/>
                </a:solidFill>
              </a:rPr>
              <a:t>O(n · k)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Kapalı biçimli bir yineleme, hayatta kalanı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'de verir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J(1)=0</a:t>
            </a:r>
            <a:r>
              <a:rPr sz="2000" b="0">
                <a:solidFill>
                  <a:srgbClr val="1F2D3A"/>
                </a:solidFill>
              </a:rPr>
              <a:t>, </a:t>
            </a:r>
            <a:r>
              <a:rPr sz="2000" b="0">
                <a:solidFill>
                  <a:srgbClr val="A1123F"/>
                </a:solidFill>
                <a:latin typeface="Consolas"/>
              </a:rPr>
              <a:t>J(n) = (J(n-1) + k) mod n</a:t>
            </a: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A1123F"/>
                </a:solidFill>
                <a:latin typeface="Consolas"/>
              </a:rPr>
              <a:t>k = 1</a:t>
            </a:r>
            <a:r>
              <a:rPr sz="2000" b="0">
                <a:solidFill>
                  <a:srgbClr val="1F2D3A"/>
                </a:solidFill>
              </a:rPr>
              <a:t> iken her sayım yalnızca "bir sonraki kişi". 10 kişilik bir çemberde kim hayatta kalır?</a:t>
            </a: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10. kişi — sıradaki son kişi.</a:t>
            </a:r>
            <a:r>
              <a:rPr sz="2000" b="0">
                <a:solidFill>
                  <a:srgbClr val="1F2D3A"/>
                </a:solidFill>
              </a:rPr>
              <a:t> </a:t>
            </a:r>
            <a:r>
              <a:rPr sz="2000" b="0">
                <a:solidFill>
                  <a:srgbClr val="A1123F"/>
                </a:solidFill>
                <a:latin typeface="Consolas"/>
              </a:rPr>
              <a:t>k=1</a:t>
            </a:r>
            <a:r>
              <a:rPr sz="2000" b="0">
                <a:solidFill>
                  <a:srgbClr val="1F2D3A"/>
                </a:solidFill>
              </a:rPr>
              <a:t> ile hiç atlama yok: eleme yalnızca düz sırayla ilerler, 1'den 9'a kadar.</a:t>
            </a: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9. XOR Bağlı Listeler: Bir Merak Konusu</a:t>
            </a: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Çift yönlü bir liste düğüm başına iki işaretçi alanı harcar.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bir alan bir şekilde iki komşuyu birden tutabilir mi?</a:t>
            </a: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  <a:latin typeface="Consolas"/>
              </a:rPr>
              <a:t>npx = prev XOR next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Tek</a:t>
            </a:r>
            <a:r>
              <a:rPr sz="2000" b="0">
                <a:solidFill>
                  <a:srgbClr val="1F2D3A"/>
                </a:solidFill>
              </a:rPr>
              <a:t> alan sakla: </a:t>
            </a:r>
            <a:r>
              <a:rPr sz="2000" b="0">
                <a:solidFill>
                  <a:srgbClr val="A1123F"/>
                </a:solidFill>
                <a:latin typeface="Consolas"/>
              </a:rPr>
              <a:t>prev</a:t>
            </a:r>
            <a:r>
              <a:rPr sz="2000" b="0">
                <a:solidFill>
                  <a:srgbClr val="1F2D3A"/>
                </a:solidFill>
              </a:rPr>
              <a:t>'in adresi XOR </a:t>
            </a:r>
            <a:r>
              <a:rPr sz="2000" b="0">
                <a:solidFill>
                  <a:srgbClr val="A1123F"/>
                </a:solidFill>
                <a:latin typeface="Consolas"/>
              </a:rPr>
              <a:t>next</a:t>
            </a:r>
            <a:r>
              <a:rPr sz="2000" b="0">
                <a:solidFill>
                  <a:srgbClr val="1F2D3A"/>
                </a:solidFill>
              </a:rPr>
              <a:t>'in adresi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Bilinen bir komşu </a:t>
            </a:r>
            <a:r>
              <a:rPr sz="2000" b="0">
                <a:solidFill>
                  <a:srgbClr val="A1123F"/>
                </a:solidFill>
                <a:latin typeface="Consolas"/>
              </a:rPr>
              <a:t>known</a:t>
            </a:r>
            <a:r>
              <a:rPr sz="2000" b="0">
                <a:solidFill>
                  <a:srgbClr val="1F2D3A"/>
                </a:solidFill>
              </a:rPr>
              <a:t>'dan gelindiğinde diğerini kur: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other = npx XOR known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XOR, geldiğiniz komşuyu sessizce "iptal" eder</a:t>
            </a: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XOR listede gezinme, adım adım</a:t>
            </a:r>
          </a:p>
        </p:txBody>
      </p:sp>
      <p:pic>
        <p:nvPicPr>
          <p:cNvPr id="7" name="Picture 6" descr="xor-linked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75068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boş bir listenin sonuna ekleme</a:t>
            </a:r>
          </a:p>
        </p:txBody>
      </p:sp>
      <p:pic>
        <p:nvPicPr>
          <p:cNvPr id="7" name="Picture 6" descr="xor-linked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3075068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struct ve XOR numarası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typedef struct Node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int data;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uintptr_t npx;   /* XOR of prev and next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 Node;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static Node *xor_node(uintptr_t npx, Node *known)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(Node *)(npx ^ (uintptr_t)known);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traverse_forward()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178612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void traverse_forward(Node *head)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*prev = NULL, *cur = head;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while (cur != NULL)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printf(" %d", cur-&gt;data);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Node *next = xor_node(cur-&gt;npx, prev);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prev = cur; cur = next;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219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Başa veya sona ekleme: öncekiyle aynı </a:t>
            </a:r>
            <a:r>
              <a:rPr sz="2000" b="1">
                <a:solidFill>
                  <a:srgbClr val="1F2D3A"/>
                </a:solidFill>
              </a:rPr>
              <a:t>O(1)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gezinme adımı: bir fazladan </a:t>
            </a:r>
            <a:r>
              <a:rPr sz="2000" b="1">
                <a:solidFill>
                  <a:srgbClr val="1F2D3A"/>
                </a:solidFill>
              </a:rPr>
              <a:t>XOR</a:t>
            </a:r>
            <a:r>
              <a:rPr sz="2000" b="0">
                <a:solidFill>
                  <a:srgbClr val="1F2D3A"/>
                </a:solidFill>
              </a:rPr>
              <a:t> — yine de O(1) her biri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Tasarruf edilen bellek: düğüm başına bir işaretçi alanı</a:t>
            </a: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Bunun neden bir merak konusu olduğu, alışkanlık değil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C, işaretçi↔tamsayı gidiş-dönüşlerini bu şekilde </a:t>
            </a:r>
            <a:r>
              <a:rPr sz="2000" b="1">
                <a:solidFill>
                  <a:srgbClr val="1F2D3A"/>
                </a:solidFill>
              </a:rPr>
              <a:t>garanti etmez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A1123F"/>
                </a:solidFill>
                <a:latin typeface="Consolas"/>
              </a:rPr>
              <a:t>uintptr_t</a:t>
            </a:r>
            <a:r>
              <a:rPr sz="2000" b="0">
                <a:solidFill>
                  <a:srgbClr val="1F2D3A"/>
                </a:solidFill>
              </a:rPr>
              <a:t>'i işaretçiye geri çevirmek </a:t>
            </a:r>
            <a:r>
              <a:rPr sz="2000" b="1">
                <a:solidFill>
                  <a:srgbClr val="1F2D3A"/>
                </a:solidFill>
              </a:rPr>
              <a:t>derleyiciye bağlıdır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Çöp toplayıcılı bir dil (Java) bunu hiç yapamaz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Gerçek kod: bunun yerine düz bir çift yönlü liste kullanın</a:t>
            </a: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çöp toplayıcı, C'nin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malloc</a:t>
            </a:r>
            <a:r>
              <a:rPr sz="2000" b="0">
                <a:solidFill>
                  <a:srgbClr val="1F2D3A"/>
                </a:solidFill>
              </a:rPr>
              <a:t>'unun yaptığı gibi bir XOR bağlı listeyi neden hiç destekleyemez?</a:t>
            </a: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Bir GC, izlemek ve gerekirse taşımak için her canlı işaretçiyi bulmalıdır.</a:t>
            </a:r>
            <a:r>
              <a:rPr sz="2000" b="0">
                <a:solidFill>
                  <a:srgbClr val="1F2D3A"/>
                </a:solidFill>
              </a:rPr>
              <a:t> XOR'lanmış bir tamsayının içine gizlenmiş bir adres, o taramaya görünmezdir — GC onu bir işaretçi olarak göremez.</a:t>
            </a: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146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10. Atlamalı Listeler</a:t>
            </a: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Bir soru ile başlayalım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Sıralı bir dizi ikili arama alır, O(log n). Sıralı bir bağlı liste ortaya sıçrayamaz. Yine de O(log n) arama mümkün mü?</a:t>
            </a: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Kısa bir tarihçe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1">
                <a:solidFill>
                  <a:srgbClr val="1F2D3A"/>
                </a:solidFill>
              </a:rPr>
              <a:t>1990</a:t>
            </a:r>
            <a:r>
              <a:rPr sz="2000" b="0">
                <a:solidFill>
                  <a:srgbClr val="1F2D3A"/>
                </a:solidFill>
              </a:rPr>
              <a:t> — William Pugh, Maryland Üniversitesi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Dengeli arama ağaçlarına rastgele bir alternatif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anahtar rastgele bir "yazı-tura" yüksekliği alır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Doğru uygulamak, dengeli bir ağaçtan çok daha kolay</a:t>
            </a: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Sezgi — bir ara yol ve bir hızlı şerit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Seviye 0: tam sıralı liste — her anahtar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Seviye 1: bir </a:t>
            </a:r>
            <a:r>
              <a:rPr sz="2000" b="1">
                <a:solidFill>
                  <a:srgbClr val="1F2D3A"/>
                </a:solidFill>
              </a:rPr>
              <a:t>hızlı şerit</a:t>
            </a:r>
            <a:r>
              <a:rPr sz="2000" b="0">
                <a:solidFill>
                  <a:srgbClr val="1F2D3A"/>
                </a:solidFill>
              </a:rPr>
              <a:t> — yalnızca bazı anahtarlar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Hızlı şeritte başlayın; fazla ileri gidince </a:t>
            </a:r>
            <a:r>
              <a:rPr sz="2000" b="1">
                <a:solidFill>
                  <a:srgbClr val="1F2D3A"/>
                </a:solidFill>
              </a:rPr>
              <a:t>aşağı inin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anahtarı teker teker kontrol etmekten daha az durak</a:t>
            </a: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Arama: sağa git, ya da aşağı 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Şu anki seviyede, </a:t>
            </a:r>
            <a:r>
              <a:rPr sz="2000" b="0">
                <a:solidFill>
                  <a:srgbClr val="A1123F"/>
                </a:solidFill>
                <a:latin typeface="Consolas"/>
              </a:rPr>
              <a:t>cur-&gt;forward[i]-&gt;value &lt; hedef</a:t>
            </a:r>
            <a:r>
              <a:rPr sz="2000" b="0">
                <a:solidFill>
                  <a:srgbClr val="1F2D3A"/>
                </a:solidFill>
              </a:rPr>
              <a:t> mi?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Evet: bu seviyede kalarak sağa adım at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Hayır: bir seviye </a:t>
            </a:r>
            <a:r>
              <a:rPr sz="2000" b="1">
                <a:solidFill>
                  <a:srgbClr val="1F2D3A"/>
                </a:solidFill>
              </a:rPr>
              <a:t>aşağı in</a:t>
            </a:r>
            <a:r>
              <a:rPr sz="2000" b="0">
                <a:solidFill>
                  <a:srgbClr val="1F2D3A"/>
                </a:solidFill>
              </a:rPr>
              <a:t> ve yeniden dene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Seviye 0'a ulaşıp bir kez daha adım atmak: yanıt</a:t>
            </a: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Atlamalı liste araması, adım adım</a:t>
            </a:r>
          </a:p>
        </p:txBody>
      </p:sp>
      <p:pic>
        <p:nvPicPr>
          <p:cNvPr id="7" name="Picture 6" descr="skip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75405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Uç durum — hızlı şeritte yalnızca bir düğüm</a:t>
            </a:r>
          </a:p>
        </p:txBody>
      </p:sp>
      <p:pic>
        <p:nvPicPr>
          <p:cNvPr id="7" name="Picture 6" descr="skip-list.tr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25880"/>
            <a:ext cx="10911535" cy="4575405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Kod — </a:t>
            </a:r>
            <a:r>
              <a:rPr sz="3000" b="1">
                <a:solidFill>
                  <a:srgbClr val="2E7D32"/>
                </a:solidFill>
                <a:latin typeface="Consolas"/>
              </a:rPr>
              <a:t>sl_search()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11535" cy="2731008"/>
          </a:xfrm>
          <a:prstGeom prst="rect">
            <a:avLst/>
          </a:prstGeom>
          <a:solidFill>
            <a:srgbClr val="F3F4F6"/>
          </a:solidFill>
          <a:ln>
            <a:solidFill>
              <a:srgbClr val="D9DE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none" lIns="137160" rIns="137160" tIns="91440" bIns="91440"/>
          <a:lstStyle/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int sl_search(SkipList *sl, int value, int *cmp)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Node *cur = sl-&gt;header;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for (int i = MAX_LEVEL-1; i &gt;= 0; i--)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while (cur-&gt;forward[i] &amp;&amp;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   cur-&gt;forward[i]-&gt;value &lt; value) {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cur = cur-&gt;forward[i];   /* go right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    (*cmp)++;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    /* … else: drop down one level … */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}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cur = cur-&gt;forward[0];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    return cur &amp;&amp; cur-&gt;value == value;</a:t>
            </a:r>
          </a:p>
          <a:p>
            <a:pPr algn="l"/>
            <a:r>
              <a:rPr sz="1240">
                <a:solidFill>
                  <a:srgbClr val="1F2D3A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Karmaşıklık ve sık yapılan hatalar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Yeterli hızlı seviye: </a:t>
            </a:r>
            <a:r>
              <a:rPr sz="2000" b="1">
                <a:solidFill>
                  <a:srgbClr val="1F2D3A"/>
                </a:solidFill>
              </a:rPr>
              <a:t>O(log n)</a:t>
            </a:r>
            <a:r>
              <a:rPr sz="2000" b="0">
                <a:solidFill>
                  <a:srgbClr val="1F2D3A"/>
                </a:solidFill>
              </a:rPr>
              <a:t> beklenen arama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Her anahtar yalnızca seviye 0'da: </a:t>
            </a:r>
            <a:r>
              <a:rPr sz="2000" b="1">
                <a:solidFill>
                  <a:srgbClr val="1F2D3A"/>
                </a:solidFill>
              </a:rPr>
              <a:t>O(n)</a:t>
            </a:r>
            <a:r>
              <a:rPr sz="2000" b="0">
                <a:solidFill>
                  <a:srgbClr val="1F2D3A"/>
                </a:solidFill>
              </a:rPr>
              <a:t>'ye düşer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Hata: bir seviye aşağı inmek yerine durmak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Bu demonun seviyeleri sabit, gerçekten canlı atılmış değil</a:t>
            </a: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Bir atlamalı listedeki her anahtar yalnızca seviye 1'i alsaydı (hiç hızlı şerit olmasaydı), arama Big-O olarak ne tutar?</a:t>
            </a: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O(n).</a:t>
            </a:r>
            <a:r>
              <a:rPr sz="2000" b="0">
                <a:solidFill>
                  <a:srgbClr val="1F2D3A"/>
                </a:solidFill>
              </a:rPr>
              <a:t> Hiç hızlı şerit yokken, seviye 0 kalan tek seviyedir — arama düz bir bağlı listeyle aynı doğrusal taramaya düşer.</a:t>
            </a: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D8F0F2"/>
                </a:solidFill>
              </a:rPr>
              <a:t>CEN207 Veri Yapıları · Hafta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D8F0F2"/>
                </a:solidFill>
              </a:rPr>
              <a:t>RTEÜ Bilgisayar Mühendisliği · 2026-2027 Güz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D8F0F2"/>
                </a:solidFill>
              </a:rPr>
              <a:t>157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11. Diziler ve Bağlı Listeler</a:t>
            </a: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Diziler ve bağlı listeler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8365509" cy="1527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82755"/>
                <a:gridCol w="1454871"/>
                <a:gridCol w="2727883"/>
              </a:tblGrid>
              <a:tr h="381762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İşlem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Dizi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Bağlı liste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İndise erişim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Baştan ekleme/silme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O(1)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81762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Değere göre arama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O(n)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Hangisini ne zaman seçmeli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Sürekli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 mi gerekiyor? Diziler açık ara kazanır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Sık baştan ekleme, bilinmeyen son boyut? Listeler kazanır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Önbellek dostu, bitişik taramalar? Diziler kazanır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Eklerken var olan veriyi hiç kaydırmamak? Listeler kazanır</a:t>
            </a: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Mini soru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Yalnızca bir uçtan büyüyüp küçülen bir yığın (stack) kuruyorsunuz. Dizi mi, liste mi?</a:t>
            </a:r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Yanıt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1F2D3A"/>
                </a:solidFill>
              </a:rPr>
              <a:t>İkisi de iyi çalışır</a:t>
            </a:r>
            <a:r>
              <a:rPr sz="2000" b="0">
                <a:solidFill>
                  <a:srgbClr val="1F2D3A"/>
                </a:solidFill>
              </a:rPr>
              <a:t> — ikisi de bir uçta O(1) verir: bir dinamik dizinin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append</a:t>
            </a:r>
            <a:r>
              <a:rPr sz="2000" b="0">
                <a:solidFill>
                  <a:srgbClr val="1F2D3A"/>
                </a:solidFill>
              </a:rPr>
              <a:t>'i, ya da bir listenin </a:t>
            </a:r>
            <a:r>
              <a:rPr sz="2000" b="0">
                <a:solidFill>
                  <a:srgbClr val="A1123F"/>
                </a:solidFill>
                <a:latin typeface="Consolas"/>
              </a:rPr>
              <a:t>insert_head</a:t>
            </a:r>
            <a:r>
              <a:rPr sz="2000" b="0">
                <a:solidFill>
                  <a:srgbClr val="1F2D3A"/>
                </a:solidFill>
              </a:rPr>
              <a:t>'i. Asıl belirleyici, ayrıca </a:t>
            </a:r>
            <a:r>
              <a:rPr sz="2000" b="0">
                <a:solidFill>
                  <a:srgbClr val="A1123F"/>
                </a:solidFill>
                <a:latin typeface="Consolas"/>
              </a:rPr>
              <a:t>arr[k]</a:t>
            </a:r>
            <a:r>
              <a:rPr sz="2000" b="0">
                <a:solidFill>
                  <a:srgbClr val="1F2D3A"/>
                </a:solidFill>
              </a:rPr>
              <a:t>'ye ihtiyaç duyup duymadığınız.</a:t>
            </a:r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diziler ve matrisler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3140"/>
                <a:gridCol w="6608394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Anahtar olgu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Dizide ekleme/silme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Kaydırma; en kötü O(n), sonda O(1)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Dinamik dizi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İkiye katlama; O(1) </a:t>
                      </a:r>
                      <a:r>
                        <a:rPr sz="1439" b="1">
                          <a:solidFill>
                            <a:srgbClr val="1F2D3A"/>
                          </a:solidFill>
                        </a:rPr>
                        <a:t>amortize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ekleme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Satır öncelikli yerleşim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i*COLS+j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; gezinmeyi yerleşime eşle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Seyrek matris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Triplet'ler; hızlı devrik O(nnz+COLS)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Özet — bağlı listeler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11534" cy="18745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88727"/>
                <a:gridCol w="7122807"/>
              </a:tblGrid>
              <a:tr h="374903"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Fikir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1">
                          <a:solidFill>
                            <a:srgbClr val="FFFFFF"/>
                          </a:solidFill>
                        </a:rPr>
                        <a:t>Anahtar olgu</a:t>
                      </a:r>
                    </a:p>
                  </a:txBody>
                  <a:tcPr marL="54864" marR="54864" marT="27432" marB="27432" anchor="ctr">
                    <a:solidFill>
                      <a:srgbClr val="2E7D32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Tekil liste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insert_head O(1); insert_after: sıra önemli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Çift yönlü / dairesel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İki bağ; </a:t>
                      </a:r>
                      <a:r>
                        <a:rPr sz="1439" b="0">
                          <a:solidFill>
                            <a:srgbClr val="A1123F"/>
                          </a:solidFill>
                          <a:latin typeface="Consolas"/>
                        </a:rPr>
                        <a:t>tail-&gt;next</a:t>
                      </a:r>
                      <a:r>
                        <a:rPr sz="1439" b="0">
                          <a:solidFill>
                            <a:srgbClr val="1F2D3A"/>
                          </a:solidFill>
                        </a:rPr>
                        <a:t> baştır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  <a:tr h="374903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Josephus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Dairesel liste, eleme başına bir bypass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74907"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XOR / atlamalı liste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39" b="0">
                          <a:solidFill>
                            <a:srgbClr val="1F2D3A"/>
                          </a:solidFill>
                        </a:rPr>
                        <a:t>Tek-alan numarası; rastgele O(log n)</a:t>
                      </a:r>
                    </a:p>
                  </a:txBody>
                  <a:tcPr marL="54864" marR="54864" marT="27432" marB="27432" anchor="ctr">
                    <a:solidFill>
                      <a:srgbClr val="EA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Büyük resim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Diziler, esnek eklemeyi O(1) indisleme karşılığında feda eder; bağlı listeler, indislemeyi zaten bulunduğunuz her yerde O(1) ekleme karşılığında feda eder. Bu haftaki her yapı, aynı ödünleşimin bir tarafını seçiyor.</a:t>
            </a: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Kendi kendine kontrol turu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7701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Dört kısa soru. Yanıt bir sonraki slaytta görünmeden önce düşünün. Tam alıştırmalar hafta notunda.</a:t>
            </a: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1. 20 elemanlı bir dizide 0. indise eklemek: kaç eleman hareket eder?</a:t>
            </a: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Tam 20'si — dizinin tamamı bir hücre sağa kayar.</a:t>
            </a: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2. Büyümesi O(n)'e mal oluyorsa, bir dinamik dizinin eklemesi neden hâlâ O(1) deniyor?</a:t>
            </a: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169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O(n) büyüme nadirdir, ve bedeli </a:t>
            </a:r>
            <a:r>
              <a:rPr sz="3000" b="1">
                <a:solidFill>
                  <a:srgbClr val="2E7D32"/>
                </a:solidFill>
              </a:rPr>
              <a:t>amortize olur</a:t>
            </a:r>
            <a:r>
              <a:rPr sz="3000" b="1">
                <a:solidFill>
                  <a:srgbClr val="2E7D32"/>
                </a:solidFill>
              </a:rPr>
              <a:t>: n ekleme üzerinden ortalandığında toplam 2n'nin altında kalır.</a:t>
            </a: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3. </a:t>
            </a:r>
            <a:r>
              <a:rPr sz="3000" b="1">
                <a:solidFill>
                  <a:srgbClr val="2E7D32"/>
                </a:solidFill>
                <a:latin typeface="Consolas"/>
              </a:rPr>
              <a:t>insert_after</a:t>
            </a:r>
            <a:r>
              <a:rPr sz="3000" b="1">
                <a:solidFill>
                  <a:srgbClr val="2E7D32"/>
                </a:solidFill>
              </a:rPr>
              <a:t>'da </a:t>
            </a:r>
            <a:r>
              <a:rPr sz="3000" b="1">
                <a:solidFill>
                  <a:srgbClr val="2E7D32"/>
                </a:solidFill>
                <a:latin typeface="Consolas"/>
              </a:rPr>
              <a:t>n-&gt;next = prev-&gt;next</a:t>
            </a:r>
            <a:r>
              <a:rPr sz="3000" b="1">
                <a:solidFill>
                  <a:srgbClr val="2E7D32"/>
                </a:solidFill>
              </a:rPr>
              <a:t>, neden </a:t>
            </a:r>
            <a:r>
              <a:rPr sz="3000" b="1">
                <a:solidFill>
                  <a:srgbClr val="2E7D32"/>
                </a:solidFill>
                <a:latin typeface="Consolas"/>
              </a:rPr>
              <a:t>prev-&gt;next = n</a:t>
            </a:r>
            <a:r>
              <a:rPr sz="3000" b="1">
                <a:solidFill>
                  <a:srgbClr val="2E7D32"/>
                </a:solidFill>
              </a:rPr>
              <a:t>'den önce olmalı?</a:t>
            </a: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Ters çevrilirse, 1. adım onu okuduğunda </a:t>
            </a:r>
            <a:r>
              <a:rPr sz="3000" b="1">
                <a:solidFill>
                  <a:srgbClr val="2E7D32"/>
                </a:solidFill>
                <a:latin typeface="Consolas"/>
              </a:rPr>
              <a:t>prev-&gt;next</a:t>
            </a:r>
            <a:r>
              <a:rPr sz="3000" b="1">
                <a:solidFill>
                  <a:srgbClr val="2E7D32"/>
                </a:solidFill>
              </a:rPr>
              <a:t> zaten </a:t>
            </a:r>
            <a:r>
              <a:rPr sz="3000" b="1">
                <a:solidFill>
                  <a:srgbClr val="2E7D32"/>
                </a:solidFill>
                <a:latin typeface="Consolas"/>
              </a:rPr>
              <a:t>n</a:t>
            </a:r>
            <a:r>
              <a:rPr sz="3000" b="1">
                <a:solidFill>
                  <a:srgbClr val="2E7D32"/>
                </a:solidFill>
              </a:rPr>
              <a:t>'e eşittir — yeni düğüm kendini gösterir hale gelir.</a:t>
            </a: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4. Bir atlamalı listenin arama maliyeti, hızlı şerit olmadığında neden O(n)'e düşer?</a:t>
            </a:r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Üst seviye yokken, seviye 0 kalan tek seviyedir — arama düz bir bağlı listeyle aynı, bir seferde bir anahtarlık yürüyüşe dönüşür.</a:t>
            </a:r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911535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000" b="1">
                <a:solidFill>
                  <a:srgbClr val="2E7D32"/>
                </a:solidFill>
              </a:rPr>
              <a:t>Gelecek hafta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566160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1F2D3A"/>
                </a:solidFill>
              </a:rPr>
              <a:t>Hafta 3 — Yığınlar ve Kuyruklar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051808"/>
            <a:ext cx="10911535" cy="110032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0">
                <a:solidFill>
                  <a:srgbClr val="1F2D3A"/>
                </a:solidFill>
              </a:rPr>
              <a:t>LIFO ve FIFO, bu haftanın dizi ve bağlı liste araçları üzerine doğrudan kurulacak — aynı düğümler, aynı kaydıran dizi, artık tek bir giriş/çıkış noktasına disiplinlenmiş.</a:t>
            </a: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(1/2)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Ders izlencesi, Hafta 2: </a:t>
            </a:r>
            <a:r>
              <a:rPr sz="2000" b="0">
                <a:solidFill>
                  <a:srgbClr val="A1123F"/>
                </a:solidFill>
                <a:latin typeface="Consolas"/>
              </a:rPr>
              <a:t>docs/syllabus/syllabus.tr.md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Cormen, Leiserson, Rivest, Stein. *Introduction 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78888"/>
            <a:ext cx="10911535" cy="43992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1F2D3A"/>
                </a:solidFill>
              </a:rPr>
              <a:t>Algorithms*, 4. baskı. MIT 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28544"/>
            <a:ext cx="10911535" cy="843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Sedgewick, Wayne. </a:t>
            </a:r>
            <a:r>
              <a:rPr sz="2000" b="0" i="1">
                <a:solidFill>
                  <a:srgbClr val="1F2D3A"/>
                </a:solidFill>
              </a:rPr>
              <a:t>Algorithms</a:t>
            </a:r>
            <a:r>
              <a:rPr sz="2000" b="0">
                <a:solidFill>
                  <a:srgbClr val="1F2D3A"/>
                </a:solidFill>
              </a:rPr>
              <a:t>, 4. baskı. Addison-Wesley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Knuth. </a:t>
            </a:r>
            <a:r>
              <a:rPr sz="2000" b="0" i="1">
                <a:solidFill>
                  <a:srgbClr val="1F2D3A"/>
                </a:solidFill>
              </a:rPr>
              <a:t>The Art of Computer Programming, Cilt 1</a:t>
            </a:r>
            <a:r>
              <a:rPr sz="2000" b="0">
                <a:solidFill>
                  <a:srgbClr val="1F2D3A"/>
                </a:solidFill>
              </a:rPr>
              <a:t>, 3. baskı.</a:t>
            </a: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teu-logo-smal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64592"/>
            <a:ext cx="242773" cy="32918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051560" y="182880"/>
            <a:ext cx="7315200" cy="3200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100" b="0">
                <a:solidFill>
                  <a:srgbClr val="5B6770"/>
                </a:solidFill>
              </a:rPr>
              <a:t>CEN207 Veri Yapıları · Hafta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r>
              <a:rPr sz="1000" b="0">
                <a:solidFill>
                  <a:srgbClr val="5B6770"/>
                </a:solidFill>
              </a:rPr>
              <a:t>RTEÜ Bilgisayar Mühendisliği · 2026-2027 Güz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B6770"/>
                </a:solidFill>
              </a:rPr>
              <a:t>176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48640"/>
            <a:ext cx="10911535" cy="731520"/>
          </a:xfrm>
          <a:prstGeom prst="rect">
            <a:avLst/>
          </a:prstGeom>
          <a:noFill/>
        </p:spPr>
        <p:txBody>
          <a:bodyPr wrap="square" lIns="45720" rIns="45720" anchor="ctr">
            <a:spAutoFit/>
          </a:bodyPr>
          <a:lstStyle/>
          <a:p>
            <a:r>
              <a:rPr sz="3000" b="1">
                <a:solidFill>
                  <a:srgbClr val="2E7D32"/>
                </a:solidFill>
              </a:rPr>
              <a:t>Kaynaklar (2/2)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11535" cy="15951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Pugh (1990) — atlamalı listeler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McCarthy (1956) — Lisp cons hücreleri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Flavius Josephus, </a:t>
            </a:r>
            <a:r>
              <a:rPr sz="2000" b="0" i="1">
                <a:solidFill>
                  <a:srgbClr val="1F2D3A"/>
                </a:solidFill>
              </a:rPr>
              <a:t>The Jewish War</a:t>
            </a:r>
            <a:r>
              <a:rPr sz="2000" b="0">
                <a:solidFill>
                  <a:srgbClr val="1F2D3A"/>
                </a:solidFill>
              </a:rPr>
              <a:t> — eleme problemi</a:t>
            </a:r>
          </a:p>
          <a:p>
            <a:pPr>
              <a:spcAft>
                <a:spcPts val="300"/>
              </a:spcAft>
            </a:pPr>
            <a:r>
              <a:rPr sz="2000" b="1">
                <a:solidFill>
                  <a:srgbClr val="2E7D32"/>
                </a:solidFill>
              </a:rPr>
              <a:t>• </a:t>
            </a:r>
            <a:r>
              <a:rPr sz="2000" b="0">
                <a:solidFill>
                  <a:srgbClr val="1F2D3A"/>
                </a:solidFill>
              </a:rPr>
              <a:t>williamfiset/Algorithms · Programiz DSA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CEN207 Hafta 2 — Diziler, Matrisler ve Bağlı Listeler</dc:title>
  <dc:subject/>
  <dc:creator>Dr. Öğr. Üyesi Uğur CORUH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