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  <p:sldId id="383" r:id="rId135"/>
    <p:sldId id="384" r:id="rId136"/>
    <p:sldId id="385" r:id="rId137"/>
    <p:sldId id="386" r:id="rId138"/>
    <p:sldId id="387" r:id="rId139"/>
    <p:sldId id="388" r:id="rId140"/>
    <p:sldId id="389" r:id="rId141"/>
    <p:sldId id="390" r:id="rId142"/>
    <p:sldId id="391" r:id="rId143"/>
    <p:sldId id="392" r:id="rId144"/>
    <p:sldId id="393" r:id="rId145"/>
    <p:sldId id="394" r:id="rId146"/>
    <p:sldId id="395" r:id="rId147"/>
    <p:sldId id="396" r:id="rId148"/>
    <p:sldId id="397" r:id="rId14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Relationship Id="rId131" Type="http://schemas.openxmlformats.org/officeDocument/2006/relationships/slide" Target="slides/slide124.xml"/><Relationship Id="rId132" Type="http://schemas.openxmlformats.org/officeDocument/2006/relationships/slide" Target="slides/slide125.xml"/><Relationship Id="rId133" Type="http://schemas.openxmlformats.org/officeDocument/2006/relationships/slide" Target="slides/slide126.xml"/><Relationship Id="rId134" Type="http://schemas.openxmlformats.org/officeDocument/2006/relationships/slide" Target="slides/slide127.xml"/><Relationship Id="rId135" Type="http://schemas.openxmlformats.org/officeDocument/2006/relationships/slide" Target="slides/slide128.xml"/><Relationship Id="rId136" Type="http://schemas.openxmlformats.org/officeDocument/2006/relationships/slide" Target="slides/slide129.xml"/><Relationship Id="rId137" Type="http://schemas.openxmlformats.org/officeDocument/2006/relationships/slide" Target="slides/slide130.xml"/><Relationship Id="rId138" Type="http://schemas.openxmlformats.org/officeDocument/2006/relationships/slide" Target="slides/slide131.xml"/><Relationship Id="rId139" Type="http://schemas.openxmlformats.org/officeDocument/2006/relationships/slide" Target="slides/slide132.xml"/><Relationship Id="rId140" Type="http://schemas.openxmlformats.org/officeDocument/2006/relationships/slide" Target="slides/slide133.xml"/><Relationship Id="rId141" Type="http://schemas.openxmlformats.org/officeDocument/2006/relationships/slide" Target="slides/slide134.xml"/><Relationship Id="rId142" Type="http://schemas.openxmlformats.org/officeDocument/2006/relationships/slide" Target="slides/slide135.xml"/><Relationship Id="rId143" Type="http://schemas.openxmlformats.org/officeDocument/2006/relationships/slide" Target="slides/slide136.xml"/><Relationship Id="rId144" Type="http://schemas.openxmlformats.org/officeDocument/2006/relationships/slide" Target="slides/slide137.xml"/><Relationship Id="rId145" Type="http://schemas.openxmlformats.org/officeDocument/2006/relationships/slide" Target="slides/slide138.xml"/><Relationship Id="rId146" Type="http://schemas.openxmlformats.org/officeDocument/2006/relationships/slide" Target="slides/slide139.xml"/><Relationship Id="rId147" Type="http://schemas.openxmlformats.org/officeDocument/2006/relationships/slide" Target="slides/slide140.xml"/><Relationship Id="rId148" Type="http://schemas.openxmlformats.org/officeDocument/2006/relationships/slide" Target="slides/slide141.xml"/><Relationship Id="rId149" Type="http://schemas.openxmlformats.org/officeDocument/2006/relationships/slide" Target="slides/slide14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1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1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1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5.xml"/></Relationships>
</file>

<file path=ppt/notesSlides/_rels/notesSlide1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6.xml"/></Relationships>
</file>

<file path=ppt/notesSlides/_rels/notesSlide1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7.xml"/></Relationships>
</file>

<file path=ppt/notesSlides/_rels/notesSlide1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8.xml"/></Relationships>
</file>

<file path=ppt/notesSlides/_rels/notesSlide1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9.xml"/></Relationships>
</file>

<file path=ppt/notesSlides/_rels/notesSlide1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0.xml"/></Relationships>
</file>

<file path=ppt/notesSlides/_rels/notesSlide1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1.xml"/></Relationships>
</file>

<file path=ppt/notesSlides/_rels/notesSlide1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2.xml"/></Relationships>
</file>

<file path=ppt/notesSlides/_rels/notesSlide1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3.xml"/></Relationships>
</file>

<file path=ppt/notesSlides/_rels/notesSlide1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4.xml"/></Relationships>
</file>

<file path=ppt/notesSlides/_rels/notesSlide1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5.xml"/></Relationships>
</file>

<file path=ppt/notesSlides/_rels/notesSlide1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6.xml"/></Relationships>
</file>

<file path=ppt/notesSlides/_rels/notesSlide1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7.xml"/></Relationships>
</file>

<file path=ppt/notesSlides/_rels/notesSlide1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8.xml"/></Relationships>
</file>

<file path=ppt/notesSlides/_rels/notesSlide1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9.xml"/></Relationships>
</file>

<file path=ppt/notesSlides/_rels/notesSlide1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0.xml"/></Relationships>
</file>

<file path=ppt/notesSlides/_rels/notesSlide1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1.xml"/></Relationships>
</file>

<file path=ppt/notesSlides/_rels/notesSlide1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2.xml"/></Relationships>
</file>

<file path=ppt/notesSlides/_rels/notesSlide1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3.xml"/></Relationships>
</file>

<file path=ppt/notesSlides/_rels/notesSlide1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4.xml"/></Relationships>
</file>

<file path=ppt/notesSlides/_rels/notesSlide1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5.xml"/></Relationships>
</file>

<file path=ppt/notesSlides/_rels/notesSlide1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6.xml"/></Relationships>
</file>

<file path=ppt/notesSlides/_rels/notesSlide1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7.xml"/></Relationships>
</file>

<file path=ppt/notesSlides/_rels/notesSlide1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8.xml"/></Relationships>
</file>

<file path=ppt/notesSlides/_rels/notesSlide1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9.xml"/></Relationships>
</file>

<file path=ppt/notesSlides/_rels/notesSlide1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0.xml"/></Relationships>
</file>

<file path=ppt/notesSlides/_rels/notesSlide1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1.xml"/></Relationships>
</file>

<file path=ppt/notesSlides/_rels/notesSlide1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2.xml"/></Relationships>
</file>

<file path=ppt/notesSlides/_rels/notesSlide1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3.xml"/></Relationships>
</file>

<file path=ppt/notesSlides/_rels/notesSlide1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4.xml"/></Relationships>
</file>

<file path=ppt/notesSlides/_rels/notesSlide1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5.xml"/></Relationships>
</file>

<file path=ppt/notesSlides/_rels/notesSlide1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6.xml"/></Relationships>
</file>

<file path=ppt/notesSlides/_rels/notesSlide1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7.xml"/></Relationships>
</file>

<file path=ppt/notesSlides/_rels/notesSlide1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8.xml"/></Relationships>
</file>

<file path=ppt/notesSlides/_rels/notesSlide1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9.xml"/></Relationships>
</file>

<file path=ppt/notesSlides/_rels/notesSlide1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0.xml"/></Relationships>
</file>

<file path=ppt/notesSlides/_rels/notesSlide1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1.xml"/></Relationships>
</file>

<file path=ppt/notesSlides/_rels/notesSlide1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Bir ağaçta bir düğüm birden çok çocuğa işaret edebiliyordu, ama asla geriye ya da yana dönemiyordu. Bu iki kısıtı da kaldırın -- herhangi bir düğüm herhangi bir düğüme işaret edebilsin -- ağaç bir ÇİZGEYE (graph) dönüşür, bu dersteki en genel şekle.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Sekiz kısa animasyon dersin tamamını taşıyor; her biri fikrin tanıtıldığı yerde tam olarak bir kez görünüyor ve her biri zor ya da uç bir girdiyle ikinci kez ele alınıyor.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Her terim ilk geçtiği yerde tam tanımlanır; bu tablo yalnızca onu tekrar nerede bulacağınızı söylüyor.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Canlı çalıştırmak isterseniz şimdi bir terminal açın; bugünkü her slaytın kodu tam gösterildiği gibi derlenir ve çalışır.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Mekanizmada yeni hiçbir şey yok -- bu iki yapının tuttuğu veri için yeni bir şekil var, o kadar.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Geçen haftaki "n düğüm, n-1 kenar, döngü yok" kuralı özel bir durumdu; bugün bu kısıt tamamen kalkıyor.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 haritadaki her kutunun kendi slaytları var, çoğunda kısa bir animasyon ve eksiksiz bir C/Java programı var.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Bölüm 1, çizge teorisinin en eski problemiyle bütün haftayı motive ediyor, sonra aynı şeklin haritalarda, arkadaşlıklarda ve web'de nasıl saklandığını gösteriyor.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Bu, 1700'lerde küçük bir şehrin kendine sorduğu gerçek bir soru -- ve matematiğe tamamen yeni bir dal kazandırdı.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Euler makalesinde tek bir köprü bile çizmedi -- hangi kara parçasının hangisine bağlı olduğu dışında her şeyi attı, ki bu tam olarak bir çizge fikridir.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Haritayı atıp yalnızca "neyin neye bağlı olduğunu" tutmak, bu dersteki en önemli tek hamledir.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 tek sayma argümanı, derece paritesi, yanıtın yalnızca o şehir için değil, Königsberg gibi şekillenmiş her şehir için "hayır" olmasının nedenidir.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"Düğümler ve kenarlar", bilgisayar biliminin en tekrar kullanılabilir fikirlerinden biri olduğunu kanıtladı.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Bastığınız her "yol tarifi al" düğmesinin altında bir çizge en kısa yol algoritmasının bir biçimi çalışıyordu.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Bir arkadaş önerisi özelliği, altta neredeyse her zaman kendi düğümünüzden kısa bir genişlik öncelikli aramadır.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PageRank, Google'ın özgün sıralama fikri, temelde tam olarak bu yönlü bağlantı çizgesi üzerinde yapılan bir hesaplamadır.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 tabloyu haftanın geri kalanı boyunca aklınızda tutun -- aşağıdaki her dolaşma fikri, bu üç kısıt kaldırılmış bir ağaç fikridir.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Bugünün her algoritması, bu slaytın listelediği tuhaf durumlarda da doğru çalışmalı -- aşağıdaki "uç durum" animasyonları tam olarak bunu sınıyor.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Birkaç slayt önceki parite kuralını uygulayın.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Sıfır tek düğüm başlangıca dönen bir tur verir; tam olarak iki düğüm tek yönlü bir yürüyüş verir -- başka her durumda hiç yürüyüş yoktur.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Bölüm 2, sonraki her bölümün dayandığı terimleri kuruyor -- düğüm, kenar, derece, yol, döngü -- hepsi tek bir işlenmiş örnek üzerinde.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Neredeyse her şey -- şaşırtıcı biçimde, bu iki kümelik tanım bütün temeldir.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 biçimsel tanım kasıtlı olarak yalın görünüyor -- gücü, tam olarak ne kadar az varsayım yapmasından geliyor.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Bunların her biri, bu tablodan hemen sonraki animasyonda birer birer işaret ediliyor.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Ağırlıksız bir kenar aslında ağırlığı hep 1 olan ağırlıklı bir kenardır.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Derece ancak yön varsa ikiye ayrılır -- yönsüz bir çizgede "gelen" ya da "giden" hiç gerekmez.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Öz-döngüye ve çoklu kenara izin veren bir çizgeye bazen özellikle MULTIGRAPH denir.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 ayrım, Bölüm 3'te bir çizgeyi nasıl saklayacağınızı seçerken çok önemli oluyor.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 haftaki her algoritma, tekrar tekrar sorulan bu üç küçük soru üzerine kuruludur.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Normal örnek: 8 düğüm, ağırlıklı, bir döngü, bir öz-döngü, bir çoklu kenar ve 2 bileşenle -- bu bölümün her terimi, tek bir çizge üzerinde.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8 düğüm, yönlü, iki ayrı döngü, bir öz-döngü, bir çoklu kenar ve 2 zayıf bileşenle -- artık gelen derece ile giden derece düğüm başına gerçekten farklılaşıyor.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Bir kenar için bir yapı, bütün çizge için bir yapı -- bu haftaki her algoritma tam olarak bu iki şekil üzerine kurulu.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Yönsüz bir çizgede bu tek fonksiyon bir düğümün ihtiyacı olan her şeyi zaten sayar -- ayrı bir "gelen" sürümü gerekmez.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v'ye kimin işaret ettiğini bulmak, DİĞER her düğümün listesini taramak demek -- ek bir kayıt tutmadan bir kısayol yok.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 asimetri, yalnızca giden kenarları saklama seçiminin doğrudan bir sonucudur -- Bölüm 3'ün açıkladığı komşuluk listesi seçimi.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Yukarıdaki zor ön ayar animasyonu, özellikle çoğu düğümde gelen ve giden derecenin farklılaşması için kuruldu.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Bir öz-döngünün tek kenarının hangi yöne "işaret ettiğini" düşünün.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Yönsüz bir çizgede aynı öz-döngü düz dereceyi 1 değil 2 artırır -- yön sayma kuralını değiştiriyor.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Çizge bir fikirdir; bir programın onu saklayacak somut bir yola ihtiyacı var. Bu bölüm iki standart seçimi, aynı çizgeler üzerinde, yan yana kuruyor.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Tek bir en iyi yanıt yok -- aşağıdaki iki yapı, birinin hızını diğerinin belleğiyle takas ediyor.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Aşağıdaki iki bölüm, bunları tam olarak aynı kenar listelerinden kuruyor, böylece iki gösterim doğrudan karşılaştırılabiliyor.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Yönsüz bir çizgenin matrisi her zaman köşegene göre simetriktir -- bu simetri, "her iki yön"ün sayı olarak ifadesidir.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Normal örnek: 7 düğüm, yönsüz, ağırlıksız, 10 kenar -- matrisin simetrik hücre çiftleri halinde dolduğunu izleyin.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5 düğüm, her çift bağlı, 10 kenar -- 5 düğüm için mümkün olan en fazlası, ve matris köşegen dışında tamamen doluyor.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Yönlü bir kenar için bir atama, yönsüz için -- aynalanmış -- iki atama; tüm fark bu tek "if".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Önce bütün tabloyu sıfırla, sonra kenarları teker teker ekle -- sıra önemli değil, her kenar yalnız kendi iki hücresine dokunur.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Matrisin maliyeti kaç kenarın gerçekten var olduğuna değil, kaç düğümün mümkün olabileceğine bağlıdır.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Bu, Hafta 2'nin tam olarak aynı bağlı liste düğümü, yeniden kullanılmış: bir alan komşunun kimliği için, bir alan "sonraki" için.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Matrisle aynı normal örnek: 7 düğüm, yönsüz, ağırlıksız, 10 kenar -- her kenarın bir ya da iki listeye eklenmesini izleyin.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8 düğüm, yönlü, ağırlıklı, ters bir çift `P&gt;R` ve `R&gt;P` dahil 10 kenar -- bazı düğümlerin listesi tamamen boş kalıyor, hiç giden kenarı olmadığı için.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Tam olarak Hafta 2'nin tek yönlü bağlı liste eklemesi: sona kadar yürü, sonra ekle -- çizgeler bu kalıpta hiçbir şeyi değiştirmiyor.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`a != b` öz-döngü kontrolü, yönsüz bir öz-döngünün aynı listeye iki kez eklenmemesi için var.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has_edge, matrisin kesinlikle kazandığı tek işlem -- liste aramak zorunda, matris hiç aramaz.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Üç satır, ve sonraki her algoritmanın karmaşıklığı doğrudan bu küçük tabloya dayanıyor.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 dersin gerçekten önemsediği çizgeler için yakın bir karar bile değil -- liste açık farkla kazanıyor.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İki yapı da tam olarak aynı bilgiyi saklıyor -- bu seçim tamamen bir mühendislik takası, asla bir doğruluk meselesi değil.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Yönlü bir matrisin iki "ayna" hücresi, matrix[a][b] ve matrix[b][a], gerçekten birbirinden tamamen farklı iki değer tutabilir.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Düğüm sayısının karesini alın, sonra kenar sayısıyla karşılaştırın.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 tam olarak Bölüm 3'ün "seyrek mi yoğun mu" kuralının yazıldığı durum.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BFS, Hafta 4'ün seviye sırasının bir ağaçtan herhangi bir çizgeye genelleşmiş hali -- tek başına bir kuyruk bütün algoritmayı yürütüyor.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"En yakından başlayarak" fikrin tamamı; aşağıdaki algoritma tam olarak bu sırayı garanti etmek için kurulu.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Moore fiziksel bir labirent kablolama sorununu çözüyordu -- aynı kuyruk tabanlı fikir her çizgeye genelleşti.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Hiçbir dalga bir öncekini geçmez -- bu sıralama garantisi, BFS'nin en kısa yolu bulmasını sağlayan tam olarak budur.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BFS ağacı, her düğüm için, ona ilk ulaşan tam olarak bir kenarı kaydeder -- bu, Bölüm 8'in yeniden kullandığı ebeveyn işaretçisidir.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Normal örnek: 7 düğüm, yönsüz, A'dan başlıyor, 10 kenar -- kuyruğun ve seviye[] satırının birlikte dolmasını izleyin.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9 düğüm, 2 bileşen -- G, H, I başlangıç düğümü A'dan basitçe erişilemez ve bütün çalışma boyunca gri kalırlar.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Hafta 3'ün tam olarak aynı dairesel kuyruğu -- yalnızca eleman türü değişti, int puanlardan çizge düğüm kimliklerine.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Ziyaret edilmemiş her komşu, kuyruğa eklendiği anda işaretlenir, seviyelendirilir ve bir ebeveyn işaretçisi kazanır.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 O(V + E) sınırı, çizge algoritmalarındaki en yaygın karmaşıklık sonucu, ve bu hafta boyunca tekrar tekrar karşımıza çıkıyor.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BFS aslında zaten ağırlıksız en kısa yol problemini çözüyor; Bölüm 8 yalnızca bu gerçeği açıkça ortaya koyuyor.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Soru "ağırlıklı en kısa mesafe" değil de "en az adım" olduğunda, BFS genellikle başvurulacak ilk doğru araçtır.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"Ziyaret edildi" işaretini çok geç koymak, en yaygın BFS hatasıdır -- aynı düğüm birden fazla kez eklenebilir.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Birkaç slayt önce "seviye"nin tam olarak ne anlama geldiğini hatırlayın.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Bu, Bölüm 8'in tam bir algoritmaya dönüştürdüğü gerçek: seviye, ağırlıksız çizgeler için en kısa yol uzunluğunun TA KENDİSİDİR.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DFS, Hafta 4'ün ön sırasının bir ağaçtan herhangi bir çizgeye genelleşmiş hali -- tek başına özyineleme bütün algoritmayı yürütüyor.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"Bağlan, sonra geri dön", derinlik öncelikli aramayı tek cümlede anlatır -- BFS'in halka halka yaklaşımının tam tersi bir strateji.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Özyineleme aslında bir yığındır, Hafta 3'ten -- her özyinelemeli dfs_visit çağrısı bir çerçeve ekler, her dönüş bir çerçeve çıkarır.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Bir düğüm, çağrı yığınında olduğu sürece grıdir -- döndüğü an siyaha döner.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İleri ve çapraz kenarlar yönsüz bir çizgede oluşamaz -- orada bulunan her ağaç-dışı kenar bir geri kenardır.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Normal örnek: 7 düğüm, yönsüz, 4 geri kenar, 10 kenar -- çağrı yığını sütununun ve disc/fin[]'in birlikte dolmasını izleyin.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6 düğüm, yönlü, özellikle bir ağaç, bir geri, bir ileri ve bir çapraz kenarın hepsinin tek bir çalışmada görünmesi için kurulmuş.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Tek paylaşılan bir saat, hem her keşifte hem her bitişte ilerler -- disc/fin aralıklarının doğru iç içe geçmesini sağlayan budur.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Üç renk, üç dal -- birkaç slayt önceki kenar sınıflama fikrinin tamamı, tek bir if/else zinciri olarak.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Bağlı olmayan bir çizgenin DFS'i tek bir ağaç değil bir DFS ORMANI üretir -- bileşen başına bir ağaç, tam olarak Bölüm 7'nin bileşenleri gibi.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BFS ve DFS tam olarak aynı düğüm ve kenar kümesini ziyaret eder -- yalnızca SIRA değişir, toplam iş asla.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 varsayımsal değil: bir milyon düğümlük bir zincir çizge, saf özyinelemeli DFS'i pratikte gerçekten çökertebilir.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Yönsüz bir çizgede, doğrudan ebeveyninize giden kenar gerçek bir geri kenar değildir -- az önce geldiğiniz aynı kenardır.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"Gri"nin tam olarak ne anlama geldiğini ve gri bir düğümün şu anda nerede olduğunu hatırlayın.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Bölüm 2'nin animasyonunda graph-terminology.js'nin döngüyü tam olarak bu şekilde bulduğunu hatırlayın.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Bölüm 5'in özyineleme riski bu bölümü doğrudan motive ediyor: aynı algoritma, aynı ziyaret sırası, ama çağrı yığını yerine kendi dizi tabanlı yığınımızla.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Evet -- ve teknik, bu dersin daha önce bir kez kullandığı bir teknik: Hafta 4'ün yinelemeli orta sıra dolaşması.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Bu, Hafta 4'ün yinelemeli orta sıra dolaşmasıyla tam olarak aynı motivasyon, şimdi bir ağaç yerine bir çizgeye uygulanıyor.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 tek hile, "açık bir yığın" ile "özyinelemeyle tam eşleşen açık bir yığın" arasındaki tüm farktır.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Bölüm 5'le aynı normal örnek: 7 düğüm, yönsüz, 4 geri kenar, 10 kenar -- ziyaret sırası birebir aynı çıkıyor.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10 düğüm, 2 ayrı bileşen -- ziyaret edilmemiş her düğümden yeni bir yığın başlar, bileşen başına bir ağaç üretir, tam olarak Bölüm 5'teki gibi.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Mümkün olan en yalın dizi tabanlı yığın -- eklemede bir artırma, çıkarmada bir azaltma, başka hiçbir şey yok.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"if (visited[u]) continue" satırı önemli: bir düğüm birden fazla kez eklenebilir, ve yalnızca İLK çıkarma sayılmalı.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Asıl amaç hiçbir zaman hız değildi -- özyinelemeli sürümün derin çizgelerde riske attığı bir çağrı yığını taşmasından kaçınmaktı.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Aynı sıra, aynı karmaşıklık, aynı çıktı -- bu tablo gerçekte hangi yığının kayıt tuttuğuyla ilgili.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Eskimiş-kayıt kontrolünü atlamak, özyinelemeyi elle açık bir yığına çevirirken en yaygın hatadır.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Bir önceki kod slaytındaki eskimiş-kayıt kontrolünün tam olarak neyi önlemek için orada olduğunu hatırlayın.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 atma, kodun `if (visited[u]) continue` satırının ele aldığı tam olarak "eskimiş kayıt" durumudur.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Bölüm 7, BFS'in kendisini değiştirmeden bir alt yordam olarak yeniden kullanıyor -- tek yeni fikir, onu ziyaret edilmemiş her düğüm için bir kez çağırmak ve her çalıştırmaya kendi etiketini vermek.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Bölüm 1 zaten bir çizgenin bağlı olmak zorunda olmadığını söylemişti; bu bölüm "tam olarak ne kadar bağlı değil?" sorusunu yanıtlıyor.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"Zayıf" bağlılık, yalnızca bu tek soru için, her yönlü kenarı yönsüzmüş gibi ele almak demektir.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Normal örnek: 10 düğüm, yönsüz, 2 bileşen (iki ayrı 5-döngüsü), 10 kenar -- her BFS'in kendi çemberini almasını izleyin.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12 düğüm, yönsüz, 4 ayrı üçgen bileşen, 12 kenar -- bu bölümün animasyonunun aynı anda gösterdiği en fazla bileşen sayısı.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Bu, Bölüm 4'ün yalın BFS'i, hiç değişmeden -- yalnız "ziyaret edildi" artık "comp_of == -1" oldu ve bırakılan iz true/false değil bir kimlik.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next_id hem bileşenleri sayar HEM de her yeni bileşenin etiketi olur -- tek bir değişken, iki görev.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BFS'i birkaç kez, bileşen başına bir kez çalıştırmak, yine de bütün çizge üzerinde tek bir BFS ile aynı O(V + E) toplamına ulaşır.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Flood fill özellikle anılmaya değer -- bir çizge düğümü yerine bir piksel ızgarası üzerinde çalışan tam olarak bu algoritmadır.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Güçlü bağlılık (yönü dikkate alan), yalın BFS'den fazlasını gerektiren, gerçekten daha zor bir problem -- bu haftanın kapsamı dışında.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Birkaç slayt önce "yön göz ardı edilir"in tam olarak ne anlama geldiğini hatırlayın.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Güçlü bağlılık hem A&gt;B'yi HEM de B'den A'ya geri bir yolu gerektirirdi -- daha katı, tamamen farklı bir soru.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Bölüm 4 zaten her düğümün seviyesini hesaplamıştı; bu bölüm yalnızca uzunluğu değil gerçek en kısa yolu yeniden kurarak bu gerçeği tam olarak açık hale getiriyor.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Evet -- ve mekanizma zaten BFS'in çıktısının içinde oturuyor: her düğüme ilk ulaşıldığı anda kaydedilen ebeveyn işaretçisi.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Burada yeni bir mekanizma yok -- Bölüm 4'ün BFS'i, artı zaten kurduğu ebeveyn işaretçilerinde geriye doğru kısa bir yürüyüş.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Normal örnek: 7 düğüm, yönsüz, s=A, t=F, 10 kenar -- BFS sırasında ebeveyn[]'in dolmasını, sonunda geriye izlenmesini gözlemleyin.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9 düğüm, s=A, t=H, 2 ayrı bileşende -- kuyruk boşalır ve t hiç ziyaret edilmez, o yüzden hiçbir yol bildirilemez.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Bölüm 4'ün BFS döngüsüyle birebir aynı, tek farkla: bu sürümün TEK amacı parent_of'u doğru doldurmak.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Yürüyüş yolu geriye, t'den s'ye doğru kurar, çünkü ebeveyn işaretçilerinin gittiği tek yön budur -- sonunda tersine çevirmek sırayı düzeltir.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Gerçek yolu yeniden kurmak, zaten çoğu zaman çalıştırıyor olacağınız bir BFS'in üstüne neredeyse bedavaya geliyor.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Yalnızca UZUNLUK garantili biçimde tekildir -- tam düğüm dizisi, alfabetik sıra gibi eşit-kırma seçimlerine bağlıdır.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BFS'in yalın kuyruğu her zaman kenar sayısına göre en yakın ZİYARET EDİLMEMİŞ düğümü genişletir; Dijkstra bunun yerine bir öncelik kuyruğu koyar ve gerçek mesafeye göre genişletir.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 üç hatanın her biri çökmeden çalışmaya devam eder -- hata yalnızca yazdırılan yolun kendisinde ortaya çıkar.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Geriye izleme kodunun yaptığı ilk kontrolü, birkaç slayt önce, hatırlayın.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Bu, yukarıdaki "yol yok" uç durum animasyonunun göstermek için kurulduğu durumun ta kendisi.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İki gösterim, bir takas tablosu -- sonraki her algoritmanın karmaşıklığı bu satıra dayanıyor.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 dört satırın her biri aynı iki hareketten kuruludur: ekle/çıkar (kuyruk), ya da it/çek (yığın).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Bir öğrenci bugünden yalnızca bir cümle hatırlayacaksa, hatırlamaya değer olan bu.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Bunlar, yazılı notların sonundaki öz-değerlendirme sınavını yansıtıyor, burada slayt başına bir soru, daha kısa bir seçkiyle.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Sor, bekle, sonra devam 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n düğümlü, yönsüz bir tam çizgenin her zaman n(n-1)/2 kenarı vardır.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Bölüm 4'ün gölete atılan taş sezgisini hatırlayın.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Yalnızca veri yapısını değiştirmek, bu iki dolaşma sırası arasındaki tüm farktır.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Bölüm 5'in kenar türü tablosunu hatırlayın.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Bu, graph-terminology.js'in Bölüm 2'de döngüyü bulmak için kullandığı tam olarak aynı teknik.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Birkaç slayt önce Bölüm 7'nin terimini hatırlayın.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 ayrımı tam olarak hatırlamaya değer, çünkü ikisi aynı çizgede gerçekten farklı yanıtlar verir.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Karma tablolar (hashing), bu haftanın "her şeyi keşfet" fikrini tamamen farklı bir fikirle takas ediyor: nereye bakacağını tek adımda tam olarak hesapla.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Bunlar, haftanın yazılı notlarının sonunda listelenen aynı kaynaklar.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Tarihsel kaynaklar -- Euler, Moore, Hopcroft ve Tarjan -- bugünkü "kısa tarihçe" slaytlarının dayandığı kaynaklardı.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gif"/><Relationship Id="rId4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gif"/><Relationship Id="rId4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gif"/><Relationship Id="rId4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gif"/><Relationship Id="rId4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.gif"/><Relationship Id="rId4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.gif"/><Relationship Id="rId4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5.gif"/><Relationship Id="rId4" Type="http://schemas.openxmlformats.org/officeDocument/2006/relationships/notesSlide" Target="../notesSlides/notesSlide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5.gif"/><Relationship Id="rId4" Type="http://schemas.openxmlformats.org/officeDocument/2006/relationships/notesSlide" Target="../notesSlides/notesSlide6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8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9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0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3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4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6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8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9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gif"/><Relationship Id="rId4" Type="http://schemas.openxmlformats.org/officeDocument/2006/relationships/notesSlide" Target="../notesSlides/notesSlide80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gif"/><Relationship Id="rId4" Type="http://schemas.openxmlformats.org/officeDocument/2006/relationships/notesSlide" Target="../notesSlides/notesSlide81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2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3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4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5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6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8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9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0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1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2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3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7.gif"/><Relationship Id="rId4" Type="http://schemas.openxmlformats.org/officeDocument/2006/relationships/notesSlide" Target="../notesSlides/notesSlide94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7.gif"/><Relationship Id="rId4" Type="http://schemas.openxmlformats.org/officeDocument/2006/relationships/notesSlide" Target="../notesSlides/notesSlide95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6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8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9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00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01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02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3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04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05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8.gif"/><Relationship Id="rId4" Type="http://schemas.openxmlformats.org/officeDocument/2006/relationships/notesSlide" Target="../notesSlides/notesSlide106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8.gif"/><Relationship Id="rId4" Type="http://schemas.openxmlformats.org/officeDocument/2006/relationships/notesSlide" Target="../notesSlides/notesSlide10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08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09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0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1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2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3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4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5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6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9.gif"/><Relationship Id="rId4" Type="http://schemas.openxmlformats.org/officeDocument/2006/relationships/notesSlide" Target="../notesSlides/notesSlide118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9.gif"/><Relationship Id="rId4" Type="http://schemas.openxmlformats.org/officeDocument/2006/relationships/notesSlide" Target="../notesSlides/notesSlide119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0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1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2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3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4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5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6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8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9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0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1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2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3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4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5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6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8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9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40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41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4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4000" b="1">
                <a:solidFill>
                  <a:srgbClr val="2E7D32"/>
                </a:solidFill>
              </a:rPr>
              <a:t>Çizgeler ve Dolaşmalar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56616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>
                <a:solidFill>
                  <a:srgbClr val="1F2D3A"/>
                </a:solidFill>
              </a:rPr>
              <a:t>CEN207 Veri Yapıları — Hafta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0518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0">
                <a:solidFill>
                  <a:srgbClr val="1F2D3A"/>
                </a:solidFill>
              </a:rPr>
              <a:t>Dr. Öğr. Üyesi Uğur CORUH · 2026-2027 Güz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Bugünün planı (3 saat)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7647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9193"/>
                <a:gridCol w="9872341"/>
              </a:tblGrid>
              <a:tr h="441197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Saat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Konu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441197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Neden çizgeler, terimler </a:t>
                      </a:r>
                      <a:r>
                        <a:rPr sz="1439" b="1">
                          <a:solidFill>
                            <a:srgbClr val="1F2D3A"/>
                          </a:solidFill>
                        </a:rPr>
                        <a:t>Anim 1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· matris/liste </a:t>
                      </a:r>
                      <a:r>
                        <a:rPr sz="1439" b="1">
                          <a:solidFill>
                            <a:srgbClr val="1F2D3A"/>
                          </a:solidFill>
                        </a:rPr>
                        <a:t>Anim 2–3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41197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BFS </a:t>
                      </a:r>
                      <a:r>
                        <a:rPr sz="1439" b="1">
                          <a:solidFill>
                            <a:srgbClr val="1F2D3A"/>
                          </a:solidFill>
                        </a:rPr>
                        <a:t>Anim 4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· özyinelemeli DFS </a:t>
                      </a:r>
                      <a:r>
                        <a:rPr sz="1439" b="1">
                          <a:solidFill>
                            <a:srgbClr val="1F2D3A"/>
                          </a:solidFill>
                        </a:rPr>
                        <a:t>Anim 5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· yinelemeli DFS </a:t>
                      </a:r>
                      <a:r>
                        <a:rPr sz="1439" b="1">
                          <a:solidFill>
                            <a:srgbClr val="1F2D3A"/>
                          </a:solidFill>
                        </a:rPr>
                        <a:t>Anim 6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441200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Bağlı bileşenler </a:t>
                      </a:r>
                      <a:r>
                        <a:rPr sz="1439" b="1">
                          <a:solidFill>
                            <a:srgbClr val="1F2D3A"/>
                          </a:solidFill>
                        </a:rPr>
                        <a:t>Anim 7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· en kısa yol </a:t>
                      </a:r>
                      <a:r>
                        <a:rPr sz="1439" b="1">
                          <a:solidFill>
                            <a:srgbClr val="1F2D3A"/>
                          </a:solidFill>
                        </a:rPr>
                        <a:t>Anim 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200399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Öğrenme çıktıları:</a:t>
            </a:r>
            <a:r>
              <a:rPr sz="2000" b="0">
                <a:solidFill>
                  <a:srgbClr val="1F2D3A"/>
                </a:solidFill>
              </a:rPr>
              <a:t> LO.1 (temel veri yapılarını açıklar) · LO.2 (karmaşıklığı çözümler) · LO.7 (doğru yapıyı seçer)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Bu haftanın konuları — nerede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9820380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56215"/>
                <a:gridCol w="2364165"/>
              </a:tblGrid>
              <a:tr h="374903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Konu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Nerede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Neden çizgeler, terimler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Bölüm 1–2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Komşuluk matrisi ve komşuluk listesi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Bölüm 3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BFS, DFS (özyinelemeli ve yinelemeli)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Bölüm 4–6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7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Bağlı bileşenler, en kısa yol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Bölüm 7–8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Kod örnekleri nasıl çalışır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971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fikrin eksiksiz bir </a:t>
            </a:r>
            <a:r>
              <a:rPr sz="2000" b="1">
                <a:solidFill>
                  <a:srgbClr val="1F2D3A"/>
                </a:solidFill>
              </a:rPr>
              <a:t>C</a:t>
            </a:r>
            <a:r>
              <a:rPr sz="2000" b="0">
                <a:solidFill>
                  <a:srgbClr val="1F2D3A"/>
                </a:solidFill>
              </a:rPr>
              <a:t> ve </a:t>
            </a:r>
            <a:r>
              <a:rPr sz="2000" b="1">
                <a:solidFill>
                  <a:srgbClr val="1F2D3A"/>
                </a:solidFill>
              </a:rPr>
              <a:t>Java</a:t>
            </a:r>
            <a:r>
              <a:rPr sz="2000" b="0">
                <a:solidFill>
                  <a:srgbClr val="1F2D3A"/>
                </a:solidFill>
              </a:rPr>
              <a:t> programı var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C: </a:t>
            </a:r>
            <a:r>
              <a:rPr sz="2000" b="0">
                <a:solidFill>
                  <a:srgbClr val="A1123F"/>
                </a:solidFill>
                <a:latin typeface="Consolas"/>
              </a:rPr>
              <a:t>gcc -std=c11 -Wall -Wextra -o /tmp/x file.c &amp;&amp; /tmp/x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Java: </a:t>
            </a:r>
            <a:r>
              <a:rPr sz="2000" b="0">
                <a:solidFill>
                  <a:srgbClr val="A1123F"/>
                </a:solidFill>
                <a:latin typeface="Consolas"/>
              </a:rPr>
              <a:t>javac -d /tmp/j File.java &amp;&amp; java -cp /tmp/j File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Kaynaklar: </a:t>
            </a:r>
            <a:r>
              <a:rPr sz="2000" b="0">
                <a:solidFill>
                  <a:srgbClr val="A1123F"/>
                </a:solidFill>
                <a:latin typeface="Consolas"/>
              </a:rPr>
              <a:t>code/week-05/c/</a:t>
            </a:r>
            <a:r>
              <a:rPr sz="2000" b="0">
                <a:solidFill>
                  <a:srgbClr val="1F2D3A"/>
                </a:solidFill>
              </a:rPr>
              <a:t> ve </a:t>
            </a:r>
            <a:r>
              <a:rPr sz="2000" b="0">
                <a:solidFill>
                  <a:srgbClr val="A1123F"/>
                </a:solidFill>
                <a:latin typeface="Consolas"/>
              </a:rPr>
              <a:t>code/week-05/java/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programın beklenen çıktısı hafta notlarında var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Hatırlatma — yığın, kuyruk, özyineleme (Hafta 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Bir </a:t>
            </a:r>
            <a:r>
              <a:rPr sz="2000" b="1">
                <a:solidFill>
                  <a:srgbClr val="1F2D3A"/>
                </a:solidFill>
              </a:rPr>
              <a:t>yığın</a:t>
            </a:r>
            <a:r>
              <a:rPr sz="2000" b="0">
                <a:solidFill>
                  <a:srgbClr val="1F2D3A"/>
                </a:solidFill>
              </a:rPr>
              <a:t> (stack, LIFO): son eklenen, ilk çıkarılan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Bir </a:t>
            </a:r>
            <a:r>
              <a:rPr sz="2000" b="1">
                <a:solidFill>
                  <a:srgbClr val="1F2D3A"/>
                </a:solidFill>
              </a:rPr>
              <a:t>kuyruk</a:t>
            </a:r>
            <a:r>
              <a:rPr sz="2000" b="0">
                <a:solidFill>
                  <a:srgbClr val="1F2D3A"/>
                </a:solidFill>
              </a:rPr>
              <a:t> (queue, FIFO): ilk eklenen, ilk çıkarılan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Özyineleme</a:t>
            </a:r>
            <a:r>
              <a:rPr sz="2000" b="0">
                <a:solidFill>
                  <a:srgbClr val="1F2D3A"/>
                </a:solidFill>
              </a:rPr>
              <a:t> (recursion) aslında bir yığındır: çağrı ekler, dönüş çıkarır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Bugün: aynı yığın ve kuyruk, artık çizge düğümleri tutuyor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Hatırlatma — ağaçlar özel çizgelerdir (Hafta 4)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Bir ağaç: tek kök, döngü yok, herhangi bir düğüme tam bir yol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Bir çizge: kök </a:t>
            </a:r>
            <a:r>
              <a:rPr sz="2000" b="1">
                <a:solidFill>
                  <a:srgbClr val="1F2D3A"/>
                </a:solidFill>
              </a:rPr>
              <a:t>zorunlu değil</a:t>
            </a:r>
            <a:r>
              <a:rPr sz="2000" b="0">
                <a:solidFill>
                  <a:srgbClr val="1F2D3A"/>
                </a:solidFill>
              </a:rPr>
              <a:t>, döngüye izin var, birden çok yol olabilir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ağaç bir çizge</a:t>
            </a:r>
            <a:r>
              <a:rPr sz="2000" b="1">
                <a:solidFill>
                  <a:srgbClr val="1F2D3A"/>
                </a:solidFill>
              </a:rPr>
              <a:t>dir</a:t>
            </a:r>
            <a:r>
              <a:rPr sz="2000" b="0">
                <a:solidFill>
                  <a:srgbClr val="1F2D3A"/>
                </a:solidFill>
              </a:rPr>
              <a:t>; her çizge bir ağaç değildir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Dolaşmalar (ön/orta/son/seviye sırası) bugün çizge aramasına genelleşiyor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Haftanın haritası — genel bakış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527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60044"/>
                <a:gridCol w="6351490"/>
              </a:tblGrid>
              <a:tr h="38176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Temeller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Dolaşma ve uygulamalar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Neden çizgeler, terimler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BFS, DFS (özyinelemeli, yinelemeli)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Matris ve liste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Bağlı bileşenler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En kısa yol (ağırlıksız)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Veri Yapıları · Hafta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1. Neden Çizgeler? Köprülerden Ağlara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Başlangıç sorusu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Bir şehirde yedi köprüyle birbirine bağlı dört kara parçası var. Şehri, her köprüden tam bir kez geçerek dolaşıp eve dönebilir misiniz?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Kısa bir tarihçe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1736</a:t>
            </a:r>
            <a:r>
              <a:rPr sz="2000" b="0">
                <a:solidFill>
                  <a:srgbClr val="1F2D3A"/>
                </a:solidFill>
              </a:rPr>
              <a:t> — Leonhard Euler, Königsberg köprü bulmacasını çözer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Königsberg (bugün Kaliningrad): 4 kara parçası, 7 köprü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Euler'in makalesi yazılmış </a:t>
            </a:r>
            <a:r>
              <a:rPr sz="2000" b="1">
                <a:solidFill>
                  <a:srgbClr val="1F2D3A"/>
                </a:solidFill>
              </a:rPr>
              <a:t>ilk</a:t>
            </a:r>
            <a:r>
              <a:rPr sz="2000" b="0">
                <a:solidFill>
                  <a:srgbClr val="1F2D3A"/>
                </a:solidFill>
              </a:rPr>
              <a:t> çizge teorisi makalesidir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Yanıt "hayır" oldu -- ve nedenini, her şehir için, tam olarak açıkladı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Köprüler, yeniden ifade edilirse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</a:t>
            </a:r>
            <a:r>
              <a:rPr sz="2000" b="1">
                <a:solidFill>
                  <a:srgbClr val="1F2D3A"/>
                </a:solidFill>
              </a:rPr>
              <a:t>kara parçası</a:t>
            </a:r>
            <a:r>
              <a:rPr sz="2000" b="0">
                <a:solidFill>
                  <a:srgbClr val="1F2D3A"/>
                </a:solidFill>
              </a:rPr>
              <a:t> bir </a:t>
            </a:r>
            <a:r>
              <a:rPr sz="2000" b="1">
                <a:solidFill>
                  <a:srgbClr val="1F2D3A"/>
                </a:solidFill>
              </a:rPr>
              <a:t>düğüm</a:t>
            </a:r>
            <a:r>
              <a:rPr sz="2000" b="0">
                <a:solidFill>
                  <a:srgbClr val="1F2D3A"/>
                </a:solidFill>
              </a:rPr>
              <a:t> (vertex) olur (4 tane)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</a:t>
            </a:r>
            <a:r>
              <a:rPr sz="2000" b="1">
                <a:solidFill>
                  <a:srgbClr val="1F2D3A"/>
                </a:solidFill>
              </a:rPr>
              <a:t>köprü</a:t>
            </a:r>
            <a:r>
              <a:rPr sz="2000" b="0">
                <a:solidFill>
                  <a:srgbClr val="1F2D3A"/>
                </a:solidFill>
              </a:rPr>
              <a:t> bir </a:t>
            </a:r>
            <a:r>
              <a:rPr sz="2000" b="1">
                <a:solidFill>
                  <a:srgbClr val="1F2D3A"/>
                </a:solidFill>
              </a:rPr>
              <a:t>kenar</a:t>
            </a:r>
            <a:r>
              <a:rPr sz="2000" b="0">
                <a:solidFill>
                  <a:srgbClr val="1F2D3A"/>
                </a:solidFill>
              </a:rPr>
              <a:t> (edge) olur (7 tane)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Yürüyüş şuna dönüşür: kalemi kaldırmadan her kenarı bir kez çiz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Buna </a:t>
            </a:r>
            <a:r>
              <a:rPr sz="2000" b="1">
                <a:solidFill>
                  <a:srgbClr val="1F2D3A"/>
                </a:solidFill>
              </a:rPr>
              <a:t>Euler yolu</a:t>
            </a:r>
            <a:r>
              <a:rPr sz="2000" b="0">
                <a:solidFill>
                  <a:srgbClr val="1F2D3A"/>
                </a:solidFill>
              </a:rPr>
              <a:t> (Eulerian path) denir -- Euler'in kendi adından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Euler'in içgörüsü: derece paritesi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Bir düğümden </a:t>
            </a:r>
            <a:r>
              <a:rPr sz="2000" b="1">
                <a:solidFill>
                  <a:srgbClr val="1F2D3A"/>
                </a:solidFill>
              </a:rPr>
              <a:t>geçerken</a:t>
            </a:r>
            <a:r>
              <a:rPr sz="2000" b="0">
                <a:solidFill>
                  <a:srgbClr val="1F2D3A"/>
                </a:solidFill>
              </a:rPr>
              <a:t> her seferinde 2 kenar kullanılır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Yalnızca başlangıç ve bitiş düğümü </a:t>
            </a:r>
            <a:r>
              <a:rPr sz="2000" b="1">
                <a:solidFill>
                  <a:srgbClr val="1F2D3A"/>
                </a:solidFill>
              </a:rPr>
              <a:t>tek</a:t>
            </a:r>
            <a:r>
              <a:rPr sz="2000" b="0">
                <a:solidFill>
                  <a:srgbClr val="1F2D3A"/>
                </a:solidFill>
              </a:rPr>
              <a:t> sayıda kenar kullanabilir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Bir Euler yürüyüşü için </a:t>
            </a:r>
            <a:r>
              <a:rPr sz="2000" b="1">
                <a:solidFill>
                  <a:srgbClr val="1F2D3A"/>
                </a:solidFill>
              </a:rPr>
              <a:t>0 ya da 2</a:t>
            </a:r>
            <a:r>
              <a:rPr sz="2000" b="0">
                <a:solidFill>
                  <a:srgbClr val="1F2D3A"/>
                </a:solidFill>
              </a:rPr>
              <a:t> tek dereceli düğüm gerekir, fazlası değil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Königsberg'de </a:t>
            </a:r>
            <a:r>
              <a:rPr sz="2000" b="1">
                <a:solidFill>
                  <a:srgbClr val="1F2D3A"/>
                </a:solidFill>
              </a:rPr>
              <a:t>4</a:t>
            </a:r>
            <a:r>
              <a:rPr sz="2000" b="0">
                <a:solidFill>
                  <a:srgbClr val="1F2D3A"/>
                </a:solidFill>
              </a:rPr>
              <a:t> tek dereceli düğüm var -- o yüzden yürüyüş yok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Neden önemli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Sayarak çözülen bir bulmaca, </a:t>
            </a:r>
            <a:r>
              <a:rPr sz="2000" b="1">
                <a:solidFill>
                  <a:srgbClr val="1F2D3A"/>
                </a:solidFill>
              </a:rPr>
              <a:t>çizge teorisini</a:t>
            </a:r>
            <a:r>
              <a:rPr sz="2000" b="0">
                <a:solidFill>
                  <a:srgbClr val="1F2D3A"/>
                </a:solidFill>
              </a:rPr>
              <a:t> kurdu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Aynı düğüm/kenar fikri artık neredeyse her ilişkiyi modelliyor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Modern kullanımlar: haritalar, sosyal ağlar, web ve çok daha fazlası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Sonraki üç slayt bunlardan üçünü gösteriyor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Çizgeler her yerde — yol haritaları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Düğümler:</a:t>
            </a:r>
            <a:r>
              <a:rPr sz="2000" b="0">
                <a:solidFill>
                  <a:srgbClr val="1F2D3A"/>
                </a:solidFill>
              </a:rPr>
              <a:t> kavşaklar, şehirler, adresler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Kenarlar:</a:t>
            </a:r>
            <a:r>
              <a:rPr sz="2000" b="0">
                <a:solidFill>
                  <a:srgbClr val="1F2D3A"/>
                </a:solidFill>
              </a:rPr>
              <a:t> yollar, bir </a:t>
            </a:r>
            <a:r>
              <a:rPr sz="2000" b="1">
                <a:solidFill>
                  <a:srgbClr val="1F2D3A"/>
                </a:solidFill>
              </a:rPr>
              <a:t>ağırlıkla</a:t>
            </a:r>
            <a:r>
              <a:rPr sz="2000" b="0">
                <a:solidFill>
                  <a:srgbClr val="1F2D3A"/>
                </a:solidFill>
              </a:rPr>
              <a:t> -- mesafe ya da sürüş süresi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GPS yönlendirmesi sorar: A'dan B'ye en kısa ağırlıklı yol nedir?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Hafta 9'daki Dijkstra algoritması tam olarak bu soruyu yanıtlıyor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Çizgeler her yerde — sosyal ağlar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Düğümler:</a:t>
            </a:r>
            <a:r>
              <a:rPr sz="2000" b="0">
                <a:solidFill>
                  <a:srgbClr val="1F2D3A"/>
                </a:solidFill>
              </a:rPr>
              <a:t> kişiler ya da hesaplar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Kenarlar:</a:t>
            </a:r>
            <a:r>
              <a:rPr sz="2000" b="0">
                <a:solidFill>
                  <a:srgbClr val="1F2D3A"/>
                </a:solidFill>
              </a:rPr>
              <a:t> "takip ediyor" (yönlü) ya da "arkadaş" (yönsüz)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"Arkadaşımın arkadaşı" -- tam olarak 2 kenarla erişilebilen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Bölüm 4'teki BFS bu soruyu, bir seviye seviye yanıtlıyor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Çizgeler her yerde — web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Düğümler:</a:t>
            </a:r>
            <a:r>
              <a:rPr sz="2000" b="0">
                <a:solidFill>
                  <a:srgbClr val="1F2D3A"/>
                </a:solidFill>
              </a:rPr>
              <a:t> web sayfaları; </a:t>
            </a:r>
            <a:r>
              <a:rPr sz="2000" b="1">
                <a:solidFill>
                  <a:srgbClr val="1F2D3A"/>
                </a:solidFill>
              </a:rPr>
              <a:t>kenarlar:</a:t>
            </a:r>
            <a:r>
              <a:rPr sz="2000" b="0">
                <a:solidFill>
                  <a:srgbClr val="1F2D3A"/>
                </a:solidFill>
              </a:rPr>
              <a:t> hiper bağlantılar (yönlü)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A&gt;B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A</a:t>
            </a:r>
            <a:r>
              <a:rPr sz="2000" b="0">
                <a:solidFill>
                  <a:srgbClr val="1F2D3A"/>
                </a:solidFill>
              </a:rPr>
              <a:t> sayfasının </a:t>
            </a:r>
            <a:r>
              <a:rPr sz="2000" b="0">
                <a:solidFill>
                  <a:srgbClr val="A1123F"/>
                </a:solidFill>
                <a:latin typeface="Consolas"/>
              </a:rPr>
              <a:t>B</a:t>
            </a:r>
            <a:r>
              <a:rPr sz="2000" b="0">
                <a:solidFill>
                  <a:srgbClr val="1F2D3A"/>
                </a:solidFill>
              </a:rPr>
              <a:t> sayfasına bağlandığı anlamına gelir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Bir tarayıcı (crawler) erişilebilir her sayfayı tam bir kez ziyaret eder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Bölüm 6'daki DFS, bir web tarayıcısı yazmanın klasik yollarından biri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Çizge ve ağaç, yeniden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5" cy="1527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83745"/>
                <a:gridCol w="4927790"/>
              </a:tblGrid>
              <a:tr h="38176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Ağaç (Hafta 4)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Çizge (bu hafta)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Tek kök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Zorunlu kök yok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Döngüye izin yok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Döngüye izin var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İki düğüm arasında tam bir yol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Sıfır, bir ya da çok yol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Sık yapılan hatalar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Bir çizgenin </a:t>
            </a:r>
            <a:r>
              <a:rPr sz="2000" b="1">
                <a:solidFill>
                  <a:srgbClr val="1F2D3A"/>
                </a:solidFill>
              </a:rPr>
              <a:t>bağlı</a:t>
            </a:r>
            <a:r>
              <a:rPr sz="2000" b="0">
                <a:solidFill>
                  <a:srgbClr val="1F2D3A"/>
                </a:solidFill>
              </a:rPr>
              <a:t> olması gerektiğini varsaymak -- olmayabilir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Bir kenarın her zaman </a:t>
            </a:r>
            <a:r>
              <a:rPr sz="2000" b="1">
                <a:solidFill>
                  <a:srgbClr val="1F2D3A"/>
                </a:solidFill>
              </a:rPr>
              <a:t>iki yönde</a:t>
            </a:r>
            <a:r>
              <a:rPr sz="2000" b="0">
                <a:solidFill>
                  <a:srgbClr val="1F2D3A"/>
                </a:solidFill>
              </a:rPr>
              <a:t> çalıştığını varsaymak -- yalnız yönsüzse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Hiç kenarı olmayan tek bir düğümün geçerli bir çizge olduğunu unutmak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 soru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Bir şehirde tam olarak </a:t>
            </a:r>
            <a:r>
              <a:rPr sz="2000" b="1">
                <a:solidFill>
                  <a:srgbClr val="1F2D3A"/>
                </a:solidFill>
              </a:rPr>
              <a:t>iki</a:t>
            </a:r>
            <a:r>
              <a:rPr sz="2000" b="0">
                <a:solidFill>
                  <a:srgbClr val="1F2D3A"/>
                </a:solidFill>
              </a:rPr>
              <a:t> tek dereceli kara parçası var, geri kalanı çift. Her köprüden bir kez geçen bir yürüyüş var mı? Nereden başlamalı?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Yanıt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Evet.</a:t>
            </a:r>
            <a:r>
              <a:rPr sz="2000" b="0">
                <a:solidFill>
                  <a:srgbClr val="1F2D3A"/>
                </a:solidFill>
              </a:rPr>
              <a:t> Tam olarak iki tek dereceli düğümle, bir Euler </a:t>
            </a:r>
            <a:r>
              <a:rPr sz="2000" b="1">
                <a:solidFill>
                  <a:srgbClr val="1F2D3A"/>
                </a:solidFill>
              </a:rPr>
              <a:t>yolu</a:t>
            </a:r>
            <a:r>
              <a:rPr sz="2000" b="0">
                <a:solidFill>
                  <a:srgbClr val="1F2D3A"/>
                </a:solidFill>
              </a:rPr>
              <a:t> (tam bir tur değil) vardır; bir tek düğümden başlar, diğerinde biter.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Veri Yapıları · Hafta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2. Çizge Terimleri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Başlangıç sorusu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Bir çizge yalnızca iki kümedir: düğümlerin kümesi </a:t>
            </a:r>
            <a:r>
              <a:rPr sz="2000" b="1">
                <a:solidFill>
                  <a:srgbClr val="1F2D3A"/>
                </a:solidFill>
              </a:rPr>
              <a:t>V</a:t>
            </a:r>
            <a:r>
              <a:rPr sz="2000" b="0">
                <a:solidFill>
                  <a:srgbClr val="1F2D3A"/>
                </a:solidFill>
              </a:rPr>
              <a:t>, kenarların kümesi </a:t>
            </a:r>
            <a:r>
              <a:rPr sz="2000" b="1">
                <a:solidFill>
                  <a:srgbClr val="1F2D3A"/>
                </a:solidFill>
              </a:rPr>
              <a:t>E</a:t>
            </a:r>
            <a:r>
              <a:rPr sz="2000" b="0">
                <a:solidFill>
                  <a:srgbClr val="1F2D3A"/>
                </a:solidFill>
              </a:rPr>
              <a:t>. Bu kadar küçük bir fikirden gerçekten ne kadar yapı çıkar?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Bir çizge, biçimsel olarak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Bir çizge </a:t>
            </a:r>
            <a:r>
              <a:rPr sz="2000" b="0">
                <a:solidFill>
                  <a:srgbClr val="A1123F"/>
                </a:solidFill>
                <a:latin typeface="Consolas"/>
              </a:rPr>
              <a:t>G = (V, E)</a:t>
            </a:r>
            <a:r>
              <a:rPr sz="2000" b="0">
                <a:solidFill>
                  <a:srgbClr val="1F2D3A"/>
                </a:solidFill>
              </a:rPr>
              <a:t>: bir düğüm kümesi, bir kenar kümesi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kenar </a:t>
            </a:r>
            <a:r>
              <a:rPr sz="2000" b="1">
                <a:solidFill>
                  <a:srgbClr val="1F2D3A"/>
                </a:solidFill>
              </a:rPr>
              <a:t>iki</a:t>
            </a:r>
            <a:r>
              <a:rPr sz="2000" b="0">
                <a:solidFill>
                  <a:srgbClr val="1F2D3A"/>
                </a:solidFill>
              </a:rPr>
              <a:t> düğümü bağlar (aynı düğüm de olabilir)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|V|</a:t>
            </a:r>
            <a:r>
              <a:rPr sz="2000" b="0">
                <a:solidFill>
                  <a:srgbClr val="1F2D3A"/>
                </a:solidFill>
              </a:rPr>
              <a:t> düğüm, </a:t>
            </a:r>
            <a:r>
              <a:rPr sz="2000" b="0">
                <a:solidFill>
                  <a:srgbClr val="A1123F"/>
                </a:solidFill>
                <a:latin typeface="Consolas"/>
              </a:rPr>
              <a:t>|E|</a:t>
            </a:r>
            <a:r>
              <a:rPr sz="2000" b="0">
                <a:solidFill>
                  <a:srgbClr val="1F2D3A"/>
                </a:solidFill>
              </a:rPr>
              <a:t> kenar -- kısaca: </a:t>
            </a:r>
            <a:r>
              <a:rPr sz="2000" b="0">
                <a:solidFill>
                  <a:srgbClr val="A1123F"/>
                </a:solidFill>
                <a:latin typeface="Consolas"/>
              </a:rPr>
              <a:t>V</a:t>
            </a:r>
            <a:r>
              <a:rPr sz="2000" b="0">
                <a:solidFill>
                  <a:srgbClr val="1F2D3A"/>
                </a:solidFill>
              </a:rPr>
              <a:t> ve </a:t>
            </a:r>
            <a:r>
              <a:rPr sz="2000" b="0">
                <a:solidFill>
                  <a:srgbClr val="A1123F"/>
                </a:solidFill>
                <a:latin typeface="Consolas"/>
              </a:rPr>
              <a:t>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Aşağıdaki her şey yalnızca bu iki kümeden inşa edilir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Terimler (1/4)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2643"/>
                <a:gridCol w="7228891"/>
              </a:tblGrid>
              <a:tr h="374903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Terim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Anlamı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Düğüm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(vertex)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Çizgedeki tek bir nokta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Kenar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(edge)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İki düğüm arasındaki bağlantı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Yönsüz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(undirected)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A-B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kenarı her iki yönde kullanılabilir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7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Yönlü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(directed)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A&gt;B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kenarı yalnız </a:t>
                      </a:r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A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'dan </a:t>
                      </a:r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B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'ye kullanılabilir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Terimler (2/4)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527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1048"/>
                <a:gridCol w="6340486"/>
              </a:tblGrid>
              <a:tr h="38176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Terim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Anlamı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Ağırlıklı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(weighted)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Her kenar bir sayı, ağırlığını taşır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Ağırlıksız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(unweighted)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Kenarlar yalnızca "bağlı" der, sayı yok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Derece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(degree, yönsüz)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Bir düğüme değen kenar sayısı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Terimler (3/4)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37903"/>
                <a:gridCol w="6173631"/>
              </a:tblGrid>
              <a:tr h="374903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Terim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Anlamı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Gelen derece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(in-degree)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Bir düğüme </a:t>
                      </a:r>
                      <a:r>
                        <a:rPr sz="1439" b="1">
                          <a:solidFill>
                            <a:srgbClr val="1F2D3A"/>
                          </a:solidFill>
                        </a:rPr>
                        <a:t>giren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kenarlar (yönlü)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Giden derece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(out-degree)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Bir düğümden </a:t>
                      </a:r>
                      <a:r>
                        <a:rPr sz="1439" b="1">
                          <a:solidFill>
                            <a:srgbClr val="1F2D3A"/>
                          </a:solidFill>
                        </a:rPr>
                        <a:t>çıkan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kenarlar (yönlü)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Yol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(path)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Düğüm tekrarsız bir kenar dizisi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7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Döngü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(cycle)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Başladığı düğüme dönen bir yol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Terimler (4/4)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527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83138"/>
                <a:gridCol w="6128396"/>
              </a:tblGrid>
              <a:tr h="38176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Terim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Anlamı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Bağlı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(connected)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Her düğüme her düğümden erişilebilir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Öz-döngü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(self-loop)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Bir düğümden kendisine giden kenar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Çoklu kenar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(multi-edge)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Aynı çift arasında birden fazla kenar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Seyrek ve yoğun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Seyrek</a:t>
            </a:r>
            <a:r>
              <a:rPr sz="2000" b="0">
                <a:solidFill>
                  <a:srgbClr val="1F2D3A"/>
                </a:solidFill>
              </a:rPr>
              <a:t> (sparse): </a:t>
            </a:r>
            <a:r>
              <a:rPr sz="2000" b="0">
                <a:solidFill>
                  <a:srgbClr val="A1123F"/>
                </a:solidFill>
                <a:latin typeface="Consolas"/>
              </a:rPr>
              <a:t>E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V</a:t>
            </a:r>
            <a:r>
              <a:rPr sz="2000" b="0">
                <a:solidFill>
                  <a:srgbClr val="1F2D3A"/>
                </a:solidFill>
              </a:rPr>
              <a:t>'ye yakın -- düğüm başına az kenar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Yoğun</a:t>
            </a:r>
            <a:r>
              <a:rPr sz="2000" b="0">
                <a:solidFill>
                  <a:srgbClr val="1F2D3A"/>
                </a:solidFill>
              </a:rPr>
              <a:t> (dense): </a:t>
            </a:r>
            <a:r>
              <a:rPr sz="2000" b="0">
                <a:solidFill>
                  <a:srgbClr val="A1123F"/>
                </a:solidFill>
                <a:latin typeface="Consolas"/>
              </a:rPr>
              <a:t>E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V²</a:t>
            </a:r>
            <a:r>
              <a:rPr sz="2000" b="0">
                <a:solidFill>
                  <a:srgbClr val="1F2D3A"/>
                </a:solidFill>
              </a:rPr>
              <a:t>'ye yakın -- çiftlerin çoğu bağlı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Bir yol haritası: seyrek (bir şehrin kavşak başına az yolu var)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Küçük bir takımın "kim kimi takip ediyor" çizgesi: çoğu zaman yoğun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Bir çizgeye ne sorabiliriz?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9638521" cy="1527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178"/>
                <a:gridCol w="6001343"/>
              </a:tblGrid>
              <a:tr h="38176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İşlem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Neyi yanıtlar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has_edge(a, b)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a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ve </a:t>
                      </a:r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b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doğrudan bağlı mı?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neighbors(v)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v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hangi düğümlere bağlı?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degree(v)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v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'ye kaç kenar değiyor?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Çizge terimleri, tek tek</a:t>
            </a:r>
          </a:p>
        </p:txBody>
      </p:sp>
      <p:pic>
        <p:nvPicPr>
          <p:cNvPr id="7" name="Picture 6" descr="graph-terminology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1108" y="1325880"/>
            <a:ext cx="4689479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Uç durum — yönlü, iki döngü, bir öz-döngü</a:t>
            </a:r>
          </a:p>
        </p:txBody>
      </p:sp>
      <p:pic>
        <p:nvPicPr>
          <p:cNvPr id="7" name="Picture 6" descr="graph-terminology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1108" y="1325880"/>
            <a:ext cx="4689479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Kod — Edge ve Graph yapıları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2353056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typedef struct Edge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int to;             /* diğer uç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int weight;         /* ağırlıksızsa 1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struct Edge *next;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 Edge;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typedef struct Graph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Edge *adj[MAX_V];   /* düğüm başına bir liste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int vertex_count;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int directed;        /* 0 ya da 1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 Graph;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Kod — out_degree()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408176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out_degree(Graph *g, int v)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int d = 0;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for (Edge *e = g-&gt;adj[v]; e; e = e-&gt;next)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d++;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return d;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Kod — in_degree() (yalnız yönlü)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59715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in_degree(Graph *g, int v)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int d = 0;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for (int u = 0; u &lt; g-&gt;vertex_count; u++)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for (Edge *e = g-&gt;adj[u]; e; e = e-&gt;next)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if (e-&gt;to == v) d++;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return d;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Karmaşıklık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out_degree</a:t>
            </a:r>
            <a:r>
              <a:rPr sz="2000" b="0">
                <a:solidFill>
                  <a:srgbClr val="1F2D3A"/>
                </a:solidFill>
              </a:rPr>
              <a:t>: bir listede yürü -- </a:t>
            </a:r>
            <a:r>
              <a:rPr sz="2000" b="1">
                <a:solidFill>
                  <a:srgbClr val="1F2D3A"/>
                </a:solidFill>
              </a:rPr>
              <a:t>O(v'nin derecesi)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in_degree</a:t>
            </a:r>
            <a:r>
              <a:rPr sz="2000" b="0">
                <a:solidFill>
                  <a:srgbClr val="1F2D3A"/>
                </a:solidFill>
              </a:rPr>
              <a:t>: </a:t>
            </a:r>
            <a:r>
              <a:rPr sz="2000" b="1">
                <a:solidFill>
                  <a:srgbClr val="1F2D3A"/>
                </a:solidFill>
              </a:rPr>
              <a:t>her</a:t>
            </a:r>
            <a:r>
              <a:rPr sz="2000" b="0">
                <a:solidFill>
                  <a:srgbClr val="1F2D3A"/>
                </a:solidFill>
              </a:rPr>
              <a:t> düğümün listesini tara -- </a:t>
            </a:r>
            <a:r>
              <a:rPr sz="2000" b="1">
                <a:solidFill>
                  <a:srgbClr val="1F2D3A"/>
                </a:solidFill>
              </a:rPr>
              <a:t>O(V + E)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Yönlü çizgeler "gelen"i "giden"den kesinlikle daha pahalı yapar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Sık yapılan hatalar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Bir çoklu-çizgede </a:t>
            </a:r>
            <a:r>
              <a:rPr sz="2000" b="1">
                <a:solidFill>
                  <a:srgbClr val="1F2D3A"/>
                </a:solidFill>
              </a:rPr>
              <a:t>derece</a:t>
            </a:r>
            <a:r>
              <a:rPr sz="2000" b="0">
                <a:solidFill>
                  <a:srgbClr val="1F2D3A"/>
                </a:solidFill>
              </a:rPr>
              <a:t>yi </a:t>
            </a:r>
            <a:r>
              <a:rPr sz="2000" b="1">
                <a:solidFill>
                  <a:srgbClr val="1F2D3A"/>
                </a:solidFill>
              </a:rPr>
              <a:t>komşu sayısıyla</a:t>
            </a:r>
            <a:r>
              <a:rPr sz="2000" b="0">
                <a:solidFill>
                  <a:srgbClr val="1F2D3A"/>
                </a:solidFill>
              </a:rPr>
              <a:t> karıştırmak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Bir öz-döngünün dereceye </a:t>
            </a:r>
            <a:r>
              <a:rPr sz="2000" b="1">
                <a:solidFill>
                  <a:srgbClr val="1F2D3A"/>
                </a:solidFill>
              </a:rPr>
              <a:t>iki kez</a:t>
            </a:r>
            <a:r>
              <a:rPr sz="2000" b="0">
                <a:solidFill>
                  <a:srgbClr val="1F2D3A"/>
                </a:solidFill>
              </a:rPr>
              <a:t> eklendiğini unutmak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Gelen ve giden derecenin hep eşit olduğunu varsaymak -- yalnız özel durumlarda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 soru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Yönlü bir çizgede </a:t>
            </a:r>
            <a:r>
              <a:rPr sz="2000" b="0">
                <a:solidFill>
                  <a:srgbClr val="A1123F"/>
                </a:solidFill>
                <a:latin typeface="Consolas"/>
              </a:rPr>
              <a:t>X</a:t>
            </a:r>
            <a:r>
              <a:rPr sz="2000" b="0">
                <a:solidFill>
                  <a:srgbClr val="1F2D3A"/>
                </a:solidFill>
              </a:rPr>
              <a:t> düğümünde bir öz-döngü var. Bu öz-döngü </a:t>
            </a:r>
            <a:r>
              <a:rPr sz="2000" b="0">
                <a:solidFill>
                  <a:srgbClr val="A1123F"/>
                </a:solidFill>
                <a:latin typeface="Consolas"/>
              </a:rPr>
              <a:t>X</a:t>
            </a:r>
            <a:r>
              <a:rPr sz="2000" b="0">
                <a:solidFill>
                  <a:srgbClr val="1F2D3A"/>
                </a:solidFill>
              </a:rPr>
              <a:t>'in gelen derecesini ne kadar artırır? Giden derecesini?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Yanıt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Her birini 1'er.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0">
                <a:solidFill>
                  <a:srgbClr val="A1123F"/>
                </a:solidFill>
                <a:latin typeface="Consolas"/>
              </a:rPr>
              <a:t>X&gt;X</a:t>
            </a:r>
            <a:r>
              <a:rPr sz="2000" b="0">
                <a:solidFill>
                  <a:srgbClr val="1F2D3A"/>
                </a:solidFill>
              </a:rPr>
              <a:t> öz-döngüsü bir kez </a:t>
            </a:r>
            <a:r>
              <a:rPr sz="2000" b="0">
                <a:solidFill>
                  <a:srgbClr val="A1123F"/>
                </a:solidFill>
                <a:latin typeface="Consolas"/>
              </a:rPr>
              <a:t>X</a:t>
            </a:r>
            <a:r>
              <a:rPr sz="2000" b="0">
                <a:solidFill>
                  <a:srgbClr val="1F2D3A"/>
                </a:solidFill>
              </a:rPr>
              <a:t>'e </a:t>
            </a:r>
            <a:r>
              <a:rPr sz="2000" b="1">
                <a:solidFill>
                  <a:srgbClr val="1F2D3A"/>
                </a:solidFill>
              </a:rPr>
              <a:t>giren</a:t>
            </a:r>
            <a:r>
              <a:rPr sz="2000" b="0">
                <a:solidFill>
                  <a:srgbClr val="1F2D3A"/>
                </a:solidFill>
              </a:rPr>
              <a:t> kenar, bir kez </a:t>
            </a:r>
            <a:r>
              <a:rPr sz="2000" b="0">
                <a:solidFill>
                  <a:srgbClr val="A1123F"/>
                </a:solidFill>
                <a:latin typeface="Consolas"/>
              </a:rPr>
              <a:t>X</a:t>
            </a:r>
            <a:r>
              <a:rPr sz="2000" b="0">
                <a:solidFill>
                  <a:srgbClr val="1F2D3A"/>
                </a:solidFill>
              </a:rPr>
              <a:t>'ten </a:t>
            </a:r>
            <a:r>
              <a:rPr sz="2000" b="1">
                <a:solidFill>
                  <a:srgbClr val="1F2D3A"/>
                </a:solidFill>
              </a:rPr>
              <a:t>çıkan</a:t>
            </a:r>
            <a:r>
              <a:rPr sz="2000" b="0">
                <a:solidFill>
                  <a:srgbClr val="1F2D3A"/>
                </a:solidFill>
              </a:rPr>
              <a:t> kenar olarak sayılır -- ikisi de 1 artar.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Veri Yapıları · Hafta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3. Çizgeyi Saklamak: Matris ve Liste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Başlangıç sorusu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has_edge(a, b)</a:t>
            </a:r>
            <a:r>
              <a:rPr sz="2000" b="0">
                <a:solidFill>
                  <a:srgbClr val="1F2D3A"/>
                </a:solidFill>
              </a:rPr>
              <a:t> ve </a:t>
            </a:r>
            <a:r>
              <a:rPr sz="2000" b="0">
                <a:solidFill>
                  <a:srgbClr val="A1123F"/>
                </a:solidFill>
                <a:latin typeface="Consolas"/>
              </a:rPr>
              <a:t>neighbors(v)</a:t>
            </a:r>
            <a:r>
              <a:rPr sz="2000" b="0">
                <a:solidFill>
                  <a:srgbClr val="1F2D3A"/>
                </a:solidFill>
              </a:rPr>
              <a:t>, bu haftaki her algoritmanın soracağı iki soru. Her ikisini de yanıtlayan en yalın yapı nedir?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İki gösterim, genel bakış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527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98376"/>
                <a:gridCol w="3580347"/>
                <a:gridCol w="4432811"/>
              </a:tblGrid>
              <a:tr h="381762">
                <a:tc>
                  <a:txBody>
                    <a:bodyPr wrap="square"/>
                    <a:lstStyle/>
                    <a:p/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Komşuluk matrisi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Komşuluk listesi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Sakladığı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Bir </a:t>
                      </a:r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V x V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tablo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Düğüm başına bir liste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En iyi olduğu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Yoğun çizgeler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Seyrek çizgeler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has_edge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O(1)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O(derece)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Komşuluk matrisi — fikir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10032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V x V</a:t>
            </a:r>
            <a:r>
              <a:rPr sz="2000" b="0">
                <a:solidFill>
                  <a:srgbClr val="1F2D3A"/>
                </a:solidFill>
              </a:rPr>
              <a:t> boyutunda bir tablo. </a:t>
            </a:r>
            <a:r>
              <a:rPr sz="2000" b="0">
                <a:solidFill>
                  <a:srgbClr val="A1123F"/>
                </a:solidFill>
                <a:latin typeface="Consolas"/>
              </a:rPr>
              <a:t>matrix[i][j]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i</a:t>
            </a:r>
            <a:r>
              <a:rPr sz="2000" b="0">
                <a:solidFill>
                  <a:srgbClr val="1F2D3A"/>
                </a:solidFill>
              </a:rPr>
              <a:t> düğümünden </a:t>
            </a:r>
            <a:r>
              <a:rPr sz="2000" b="0">
                <a:solidFill>
                  <a:srgbClr val="A1123F"/>
                </a:solidFill>
                <a:latin typeface="Consolas"/>
              </a:rPr>
              <a:t>j</a:t>
            </a:r>
            <a:r>
              <a:rPr sz="2000" b="0">
                <a:solidFill>
                  <a:srgbClr val="1F2D3A"/>
                </a:solidFill>
              </a:rPr>
              <a:t> düğümüne bir kenar varsa </a:t>
            </a:r>
            <a:r>
              <a:rPr sz="2000" b="1">
                <a:solidFill>
                  <a:srgbClr val="1F2D3A"/>
                </a:solidFill>
              </a:rPr>
              <a:t>1</a:t>
            </a:r>
            <a:r>
              <a:rPr sz="2000" b="0">
                <a:solidFill>
                  <a:srgbClr val="1F2D3A"/>
                </a:solidFill>
              </a:rPr>
              <a:t> (ya da ağırlığı) tutar, yoksa </a:t>
            </a:r>
            <a:r>
              <a:rPr sz="2000" b="1">
                <a:solidFill>
                  <a:srgbClr val="1F2D3A"/>
                </a:solidFill>
              </a:rPr>
              <a:t>0</a:t>
            </a:r>
            <a:r>
              <a:rPr sz="2000" b="0">
                <a:solidFill>
                  <a:srgbClr val="1F2D3A"/>
                </a:solidFill>
              </a:rPr>
              <a:t>. Yönsüz çizgeler hem </a:t>
            </a:r>
            <a:r>
              <a:rPr sz="2000" b="0">
                <a:solidFill>
                  <a:srgbClr val="A1123F"/>
                </a:solidFill>
                <a:latin typeface="Consolas"/>
              </a:rPr>
              <a:t>matrix[i][j]</a:t>
            </a:r>
            <a:r>
              <a:rPr sz="2000" b="0">
                <a:solidFill>
                  <a:srgbClr val="1F2D3A"/>
                </a:solidFill>
              </a:rPr>
              <a:t> hem </a:t>
            </a:r>
            <a:r>
              <a:rPr sz="2000" b="0">
                <a:solidFill>
                  <a:srgbClr val="A1123F"/>
                </a:solidFill>
                <a:latin typeface="Consolas"/>
              </a:rPr>
              <a:t>matrix[j][i]</a:t>
            </a:r>
            <a:r>
              <a:rPr sz="2000" b="0">
                <a:solidFill>
                  <a:srgbClr val="1F2D3A"/>
                </a:solidFill>
              </a:rPr>
              <a:t>'yi doldurur.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Komşuluk matrisi, adım adım</a:t>
            </a:r>
          </a:p>
        </p:txBody>
      </p:sp>
      <p:pic>
        <p:nvPicPr>
          <p:cNvPr id="7" name="Picture 6" descr="adjacency-matrix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8319" y="1325880"/>
            <a:ext cx="4515056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Uç durum — tam çizge</a:t>
            </a:r>
          </a:p>
        </p:txBody>
      </p:sp>
      <p:pic>
        <p:nvPicPr>
          <p:cNvPr id="7" name="Picture 6" descr="adjacency-matrix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8319" y="1325880"/>
            <a:ext cx="4515056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Kod — add_edge() (matris)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void add_edge(int a, int b, int w, int dir)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matrix[a][b] = w;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if (!dir)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matrix[b][a] = w;  /* köşegene ayna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Kod — build_adjacency_matrix()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975104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void build_adjacency_matrix(Edge *edges, int n,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                 int directed)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for (int i = 0; i &lt; MAX_V; i++)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for (int j = 0; j &lt; MAX_V; j++)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matrix[i][j] = 0;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for (int k = 0; k &lt; n; k++)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add_edge(edges[k].a, edges[k].b,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     edges[k].weight, directed);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Karmaşıklık — matris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has_edge(a, b)</a:t>
            </a:r>
            <a:r>
              <a:rPr sz="2000" b="0">
                <a:solidFill>
                  <a:srgbClr val="1F2D3A"/>
                </a:solidFill>
              </a:rPr>
              <a:t>: tek bir bakış -- </a:t>
            </a:r>
            <a:r>
              <a:rPr sz="2000" b="1">
                <a:solidFill>
                  <a:srgbClr val="1F2D3A"/>
                </a:solidFill>
              </a:rPr>
              <a:t>O(1)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Bellek: yoğun ya da seyrek fark etmez, hep </a:t>
            </a:r>
            <a:r>
              <a:rPr sz="2000" b="1">
                <a:solidFill>
                  <a:srgbClr val="1F2D3A"/>
                </a:solidFill>
              </a:rPr>
              <a:t>O(V²)</a:t>
            </a:r>
            <a:r>
              <a:rPr sz="2000" b="0">
                <a:solidFill>
                  <a:srgbClr val="1F2D3A"/>
                </a:solidFill>
              </a:rPr>
              <a:t> hücre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neighbors(v)</a:t>
            </a:r>
            <a:r>
              <a:rPr sz="2000" b="0">
                <a:solidFill>
                  <a:srgbClr val="1F2D3A"/>
                </a:solidFill>
              </a:rPr>
              <a:t>: bütün bir satırı tara -- </a:t>
            </a:r>
            <a:r>
              <a:rPr sz="2000" b="1">
                <a:solidFill>
                  <a:srgbClr val="1F2D3A"/>
                </a:solidFill>
              </a:rPr>
              <a:t>O(V)</a:t>
            </a:r>
            <a:r>
              <a:rPr sz="2000" b="0">
                <a:solidFill>
                  <a:srgbClr val="1F2D3A"/>
                </a:solidFill>
              </a:rPr>
              <a:t>, v'nin 1 kenarı olsa bile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Komşuluk listesi — fikir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Her düğüm için bir bağlı liste, yalnızca gerçek komşularını tutar. Yönsüz </a:t>
            </a:r>
            <a:r>
              <a:rPr sz="2000" b="0">
                <a:solidFill>
                  <a:srgbClr val="A1123F"/>
                </a:solidFill>
                <a:latin typeface="Consolas"/>
              </a:rPr>
              <a:t>A-B</a:t>
            </a:r>
            <a:r>
              <a:rPr sz="2000" b="0">
                <a:solidFill>
                  <a:srgbClr val="1F2D3A"/>
                </a:solidFill>
              </a:rPr>
              <a:t> kenarı </a:t>
            </a:r>
            <a:r>
              <a:rPr sz="2000" b="0">
                <a:solidFill>
                  <a:srgbClr val="A1123F"/>
                </a:solidFill>
                <a:latin typeface="Consolas"/>
              </a:rPr>
              <a:t>B</a:t>
            </a:r>
            <a:r>
              <a:rPr sz="2000" b="0">
                <a:solidFill>
                  <a:srgbClr val="1F2D3A"/>
                </a:solidFill>
              </a:rPr>
              <a:t>'yi </a:t>
            </a:r>
            <a:r>
              <a:rPr sz="2000" b="0">
                <a:solidFill>
                  <a:srgbClr val="A1123F"/>
                </a:solidFill>
                <a:latin typeface="Consolas"/>
              </a:rPr>
              <a:t>A</a:t>
            </a:r>
            <a:r>
              <a:rPr sz="2000" b="0">
                <a:solidFill>
                  <a:srgbClr val="1F2D3A"/>
                </a:solidFill>
              </a:rPr>
              <a:t>'nın listesine </a:t>
            </a:r>
            <a:r>
              <a:rPr sz="2000" b="1">
                <a:solidFill>
                  <a:srgbClr val="1F2D3A"/>
                </a:solidFill>
              </a:rPr>
              <a:t>ve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0">
                <a:solidFill>
                  <a:srgbClr val="A1123F"/>
                </a:solidFill>
                <a:latin typeface="Consolas"/>
              </a:rPr>
              <a:t>A</a:t>
            </a:r>
            <a:r>
              <a:rPr sz="2000" b="0">
                <a:solidFill>
                  <a:srgbClr val="1F2D3A"/>
                </a:solidFill>
              </a:rPr>
              <a:t>'yı </a:t>
            </a:r>
            <a:r>
              <a:rPr sz="2000" b="0">
                <a:solidFill>
                  <a:srgbClr val="A1123F"/>
                </a:solidFill>
                <a:latin typeface="Consolas"/>
              </a:rPr>
              <a:t>B</a:t>
            </a:r>
            <a:r>
              <a:rPr sz="2000" b="0">
                <a:solidFill>
                  <a:srgbClr val="1F2D3A"/>
                </a:solidFill>
              </a:rPr>
              <a:t>'nin listesine ekler -- iki düğüm, iki liste.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Komşuluk listesi, adım adım</a:t>
            </a:r>
          </a:p>
        </p:txBody>
      </p:sp>
      <p:pic>
        <p:nvPicPr>
          <p:cNvPr id="7" name="Picture 6" descr="adjacency-list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0761" y="1325880"/>
            <a:ext cx="3730173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Uç durum — yönlü, boş bir liste</a:t>
            </a:r>
          </a:p>
        </p:txBody>
      </p:sp>
      <p:pic>
        <p:nvPicPr>
          <p:cNvPr id="7" name="Picture 6" descr="adjacency-list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0761" y="1325880"/>
            <a:ext cx="3730173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Kod — append() (liste)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975104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void append(int v, int neighbour)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AdjNode *n = malloc(sizeof(AdjNode));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n-&gt;to = neighbour;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n-&gt;next = NULL;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if (adj[v] == NULL) { adj[v] = n; return;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AdjNode *cur = adj[v];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while (cur-&gt;next) cur = cur-&gt;next;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cur-&gt;next = n;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Kod — add_edge() (liste)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void add_edge(int a, int b, int directed)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append(a, b);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if (!directed &amp;&amp; a != b)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append(b, a);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Karmaşıklık — liste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Bellek: </a:t>
            </a:r>
            <a:r>
              <a:rPr sz="2000" b="1">
                <a:solidFill>
                  <a:srgbClr val="1F2D3A"/>
                </a:solidFill>
              </a:rPr>
              <a:t>O(V + E)</a:t>
            </a:r>
            <a:r>
              <a:rPr sz="2000" b="0">
                <a:solidFill>
                  <a:srgbClr val="1F2D3A"/>
                </a:solidFill>
              </a:rPr>
              <a:t> -- yalnız gerçek kenarlar yer kaplar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neighbors(v)</a:t>
            </a:r>
            <a:r>
              <a:rPr sz="2000" b="0">
                <a:solidFill>
                  <a:srgbClr val="1F2D3A"/>
                </a:solidFill>
              </a:rPr>
              <a:t>: kendi listesinde yürü -- </a:t>
            </a:r>
            <a:r>
              <a:rPr sz="2000" b="1">
                <a:solidFill>
                  <a:srgbClr val="1F2D3A"/>
                </a:solidFill>
              </a:rPr>
              <a:t>O(v'nin derecesi)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has_edge(a, b)</a:t>
            </a:r>
            <a:r>
              <a:rPr sz="2000" b="0">
                <a:solidFill>
                  <a:srgbClr val="1F2D3A"/>
                </a:solidFill>
              </a:rPr>
              <a:t>: </a:t>
            </a:r>
            <a:r>
              <a:rPr sz="2000" b="0">
                <a:solidFill>
                  <a:srgbClr val="A1123F"/>
                </a:solidFill>
                <a:latin typeface="Consolas"/>
              </a:rPr>
              <a:t>a</a:t>
            </a:r>
            <a:r>
              <a:rPr sz="2000" b="0">
                <a:solidFill>
                  <a:srgbClr val="1F2D3A"/>
                </a:solidFill>
              </a:rPr>
              <a:t>'nın listesinde </a:t>
            </a:r>
            <a:r>
              <a:rPr sz="2000" b="0">
                <a:solidFill>
                  <a:srgbClr val="A1123F"/>
                </a:solidFill>
                <a:latin typeface="Consolas"/>
              </a:rPr>
              <a:t>b</a:t>
            </a:r>
            <a:r>
              <a:rPr sz="2000" b="0">
                <a:solidFill>
                  <a:srgbClr val="1F2D3A"/>
                </a:solidFill>
              </a:rPr>
              <a:t>'yi ara -- </a:t>
            </a:r>
            <a:r>
              <a:rPr sz="2000" b="1">
                <a:solidFill>
                  <a:srgbClr val="1F2D3A"/>
                </a:solidFill>
              </a:rPr>
              <a:t>O(derece)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Bellek ve zaman, yan yana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6910636" cy="1527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7883"/>
                <a:gridCol w="1818588"/>
                <a:gridCol w="2364165"/>
              </a:tblGrid>
              <a:tr h="381762">
                <a:tc>
                  <a:txBody>
                    <a:bodyPr wrap="square"/>
                    <a:lstStyle/>
                    <a:p/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Matris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Liste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Bellek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O(V²)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O(V + E)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has_edge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O(1)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O(derece)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neighbors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O(V)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O(derece)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Seyrek çizgeler: listeyi seçin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Bir yol haritası, web, bir arkadaşlık çizgesi: hepsi </a:t>
            </a:r>
            <a:r>
              <a:rPr sz="2000" b="1">
                <a:solidFill>
                  <a:srgbClr val="1F2D3A"/>
                </a:solidFill>
              </a:rPr>
              <a:t>seyrek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E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V²</a:t>
            </a:r>
            <a:r>
              <a:rPr sz="2000" b="0">
                <a:solidFill>
                  <a:srgbClr val="1F2D3A"/>
                </a:solidFill>
              </a:rPr>
              <a:t>'nin çok altında, </a:t>
            </a:r>
            <a:r>
              <a:rPr sz="2000" b="0">
                <a:solidFill>
                  <a:srgbClr val="A1123F"/>
                </a:solidFill>
                <a:latin typeface="Consolas"/>
              </a:rPr>
              <a:t>V</a:t>
            </a:r>
            <a:r>
              <a:rPr sz="2000" b="0">
                <a:solidFill>
                  <a:srgbClr val="1F2D3A"/>
                </a:solidFill>
              </a:rPr>
              <a:t>'ye yakın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Listenin O(V + E) belleği küçük kalır; matris O(V²) boşa gider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Bölüm 4'ten sonraki her algoritma </a:t>
            </a:r>
            <a:r>
              <a:rPr sz="2000" b="1">
                <a:solidFill>
                  <a:srgbClr val="1F2D3A"/>
                </a:solidFill>
              </a:rPr>
              <a:t>listeyi</a:t>
            </a:r>
            <a:r>
              <a:rPr sz="2000" b="0">
                <a:solidFill>
                  <a:srgbClr val="1F2D3A"/>
                </a:solidFill>
              </a:rPr>
              <a:t> kullanıyor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Yoğun çizgeler: matris kazanabilir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Küçük, yoğun bağlı bir çizge: </a:t>
            </a:r>
            <a:r>
              <a:rPr sz="2000" b="0">
                <a:solidFill>
                  <a:srgbClr val="A1123F"/>
                </a:solidFill>
                <a:latin typeface="Consolas"/>
              </a:rPr>
              <a:t>E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V²</a:t>
            </a:r>
            <a:r>
              <a:rPr sz="2000" b="0">
                <a:solidFill>
                  <a:srgbClr val="1F2D3A"/>
                </a:solidFill>
              </a:rPr>
              <a:t>'ye yakın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Matrisin "boşa giden" O(V²) belleği neredeyse hiç boşa gitmez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O(1) </a:t>
            </a:r>
            <a:r>
              <a:rPr sz="2000" b="0">
                <a:solidFill>
                  <a:srgbClr val="A1123F"/>
                </a:solidFill>
                <a:latin typeface="Consolas"/>
              </a:rPr>
              <a:t>has_edge</a:t>
            </a:r>
            <a:r>
              <a:rPr sz="2000" b="0">
                <a:solidFill>
                  <a:srgbClr val="1F2D3A"/>
                </a:solidFill>
              </a:rPr>
              <a:t>, bellekten tasarruftan daha önemli olabilir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Kural: küçük ve yoğunsa → matris; seyrek ya da büyükse → liste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Sık yapılan hatalar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Büyük, seyrek bir çizge için matris kullanmak -- devasa bellek israfı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Listenin bir yönsüz kenar için </a:t>
            </a:r>
            <a:r>
              <a:rPr sz="2000" b="1">
                <a:solidFill>
                  <a:srgbClr val="1F2D3A"/>
                </a:solidFill>
              </a:rPr>
              <a:t>iki</a:t>
            </a:r>
            <a:r>
              <a:rPr sz="2000" b="0">
                <a:solidFill>
                  <a:srgbClr val="1F2D3A"/>
                </a:solidFill>
              </a:rPr>
              <a:t> ekleme gerektirdiğini unutmak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Yönlü</a:t>
            </a:r>
            <a:r>
              <a:rPr sz="2000" b="0">
                <a:solidFill>
                  <a:srgbClr val="1F2D3A"/>
                </a:solidFill>
              </a:rPr>
              <a:t> bir çizgede </a:t>
            </a:r>
            <a:r>
              <a:rPr sz="2000" b="0">
                <a:solidFill>
                  <a:srgbClr val="A1123F"/>
                </a:solidFill>
                <a:latin typeface="Consolas"/>
              </a:rPr>
              <a:t>matrix[a][b]</a:t>
            </a:r>
            <a:r>
              <a:rPr sz="2000" b="0">
                <a:solidFill>
                  <a:srgbClr val="1F2D3A"/>
                </a:solidFill>
              </a:rPr>
              <a:t>'yi simetrik okumak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 soru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Bir çizgede 1.000 düğüm, yalnızca 2.000 kenar var. Komşuluk matrisi kabaca kaç hücreye ihtiyaç duyar? Bu çizge seyrek mi?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Yanıt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Yaklaşık 1.000.000 hücre</a:t>
            </a:r>
            <a:r>
              <a:rPr sz="2000" b="0">
                <a:solidFill>
                  <a:srgbClr val="1F2D3A"/>
                </a:solidFill>
              </a:rPr>
              <a:t> (1000²), yalnızca 2.000 gerçek kenar için -- neredeyse hepsi boşa gidiyor. Evet, </a:t>
            </a:r>
            <a:r>
              <a:rPr sz="2000" b="1">
                <a:solidFill>
                  <a:srgbClr val="1F2D3A"/>
                </a:solidFill>
              </a:rPr>
              <a:t>çok seyrek</a:t>
            </a:r>
            <a:r>
              <a:rPr sz="2000" b="0">
                <a:solidFill>
                  <a:srgbClr val="1F2D3A"/>
                </a:solidFill>
              </a:rPr>
              <a:t>: burada açık seçim bir komşuluk listesi.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Veri Yapıları · Hafta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4. Genişlik Öncelikli Arama (BFS)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Başlangıç sorusu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Bir kişiden başlayarak, doğrudan arkadaşları kimler? Arkadaşlarının arkadaşları? Herkesi, </a:t>
            </a:r>
            <a:r>
              <a:rPr sz="2000" b="1">
                <a:solidFill>
                  <a:srgbClr val="1F2D3A"/>
                </a:solidFill>
              </a:rPr>
              <a:t>en yakından başlayarak</a:t>
            </a:r>
            <a:r>
              <a:rPr sz="2000" b="0">
                <a:solidFill>
                  <a:srgbClr val="1F2D3A"/>
                </a:solidFill>
              </a:rPr>
              <a:t> ziyaret et -- nasıl?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Kısa bir tarihçe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1959</a:t>
            </a:r>
            <a:r>
              <a:rPr sz="2000" b="0">
                <a:solidFill>
                  <a:srgbClr val="1F2D3A"/>
                </a:solidFill>
              </a:rPr>
              <a:t> — Edward F. Moore, "Labirentte en kısa yol" makalesini yayımlar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Kısa süre sonra, bağımsız olarak, farklı alanlarda yeniden bulundu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Buradaki kuyruk tabanlı yöntem, esasen Moore'un algoritmasıdır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Bugün pratikte en çok kullanılan çizge algoritmalarından biri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Sezgi — bir gölete atılan taş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Bir taş at: ilk dalga en yakın noktalara ulaşır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Sonraki dalga, bir adım daha uzaktaki her şeye ulaşır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BFS bir çizgeyi aynı şekilde dolaşır -- halka halka, dışarı doğru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Buradaki her "halka" bir </a:t>
            </a:r>
            <a:r>
              <a:rPr sz="2000" b="1">
                <a:solidFill>
                  <a:srgbClr val="1F2D3A"/>
                </a:solidFill>
              </a:rPr>
              <a:t>seviye</a:t>
            </a:r>
            <a:r>
              <a:rPr sz="2000" b="0">
                <a:solidFill>
                  <a:srgbClr val="1F2D3A"/>
                </a:solidFill>
              </a:rPr>
              <a:t> (level) olarak adlandırılır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BFS fikri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Bir </a:t>
            </a:r>
            <a:r>
              <a:rPr sz="2000" b="1">
                <a:solidFill>
                  <a:srgbClr val="1F2D3A"/>
                </a:solidFill>
              </a:rPr>
              <a:t>kuyruk</a:t>
            </a:r>
            <a:r>
              <a:rPr sz="2000" b="0">
                <a:solidFill>
                  <a:srgbClr val="1F2D3A"/>
                </a:solidFill>
              </a:rPr>
              <a:t> (FIFO) kullan -- Hafta 3'ün yapısı, artık düğüm tutuyor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Başlangıç düğümü: kuyruğa ekle, ziyaret edildi işaretle, seviye 0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Bir düğümü çıkar, ziyaret edilmemiş komşularını ekle, seviye + 1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Ziyaret edilen kenarlar bir </a:t>
            </a:r>
            <a:r>
              <a:rPr sz="2000" b="1">
                <a:solidFill>
                  <a:srgbClr val="1F2D3A"/>
                </a:solidFill>
              </a:rPr>
              <a:t>BFS ağacı</a:t>
            </a:r>
            <a:r>
              <a:rPr sz="2000" b="0">
                <a:solidFill>
                  <a:srgbClr val="1F2D3A"/>
                </a:solidFill>
              </a:rPr>
              <a:t> oluşturur, kökü başlangıç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BFS, adım adım</a:t>
            </a:r>
          </a:p>
        </p:txBody>
      </p:sp>
      <p:pic>
        <p:nvPicPr>
          <p:cNvPr id="7" name="Picture 6" descr="bfs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2614" y="1325880"/>
            <a:ext cx="3546467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Uç durum — bağlı olmayan bir çizge</a:t>
            </a:r>
          </a:p>
        </p:txBody>
      </p:sp>
      <p:pic>
        <p:nvPicPr>
          <p:cNvPr id="7" name="Picture 6" descr="bfs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2614" y="1325880"/>
            <a:ext cx="3546467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Kod — enqueue / dequeue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2353056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void enqueue(int v)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queue_data[rear] = v;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rear = (rear + 1) % MAX_V;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count++;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dequeue(void)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int v = queue_data[front];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front = (front + 1) % MAX_V;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count--;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return v;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Kod — bfs() ana döngüsü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2919983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visited[start] = 1;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level_of[start] = 0;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enqueue(start);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while (count &gt; 0)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int u = dequeue();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for (Edge *e = g-&gt;adj[u]; e; e = e-&gt;next)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if (!visited[e-&gt;to])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visited[e-&gt;to] = 1;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level_of[e-&gt;to] = level_of[u] + 1;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parent_of[e-&gt;to] = u;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enqueue(e-&gt;to);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Karmaşıklık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düğüm bir kez eklenir, bir kez çıkarılır -- </a:t>
            </a:r>
            <a:r>
              <a:rPr sz="2000" b="1">
                <a:solidFill>
                  <a:srgbClr val="1F2D3A"/>
                </a:solidFill>
              </a:rPr>
              <a:t>O(V)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kenar en fazla iki kez incelenir (her uçtan bir kez) -- </a:t>
            </a:r>
            <a:r>
              <a:rPr sz="2000" b="1">
                <a:solidFill>
                  <a:srgbClr val="1F2D3A"/>
                </a:solidFill>
              </a:rPr>
              <a:t>O(E)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Toplam: </a:t>
            </a:r>
            <a:r>
              <a:rPr sz="2000" b="1">
                <a:solidFill>
                  <a:srgbClr val="1F2D3A"/>
                </a:solidFill>
              </a:rPr>
              <a:t>O(V + E)</a:t>
            </a:r>
            <a:r>
              <a:rPr sz="2000" b="0">
                <a:solidFill>
                  <a:srgbClr val="1F2D3A"/>
                </a:solidFill>
              </a:rPr>
              <a:t> -- her liste işleminde gördüğümüz aynı sınır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BFS ağacı ve en kısa yollar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BFS ağacının kök-düğüm yolu </a:t>
            </a:r>
            <a:r>
              <a:rPr sz="2000" b="1">
                <a:solidFill>
                  <a:srgbClr val="1F2D3A"/>
                </a:solidFill>
              </a:rPr>
              <a:t>en az kenarı</a:t>
            </a:r>
            <a:r>
              <a:rPr sz="2000" b="0">
                <a:solidFill>
                  <a:srgbClr val="1F2D3A"/>
                </a:solidFill>
              </a:rPr>
              <a:t> kullanır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level_of[v]</a:t>
            </a:r>
            <a:r>
              <a:rPr sz="2000" b="0">
                <a:solidFill>
                  <a:srgbClr val="1F2D3A"/>
                </a:solidFill>
              </a:rPr>
              <a:t>, başlangıçtan tam olarak bu en kısa kenar sayısıdır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Bu yalnızca </a:t>
            </a:r>
            <a:r>
              <a:rPr sz="2000" b="1">
                <a:solidFill>
                  <a:srgbClr val="1F2D3A"/>
                </a:solidFill>
              </a:rPr>
              <a:t>ağırlıksız</a:t>
            </a:r>
            <a:r>
              <a:rPr sz="2000" b="0">
                <a:solidFill>
                  <a:srgbClr val="1F2D3A"/>
                </a:solidFill>
              </a:rPr>
              <a:t> çizgelerde geçerlidir -- Bölüm 8 bunu doğrudan kullanır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Ağırlıklı en kısa yollar Dijkstra algoritmasını gerektirir, Hafta 9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Uygulamalar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925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"Arkadaşımın arkadaşı" -- Bölüm 4'ün sosyal ağ motivasyonu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Web'i seviye seviye taramak, önce en yakın sayfalar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Bulmaca çözücüler: bir labirenti ya da bir kayan bulmacayı en az hamleyle çözmek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Ağ yayını: her makineye en az sıçramada ulaşmak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Sık yapılan hatalar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Kuyruk yerine bir </a:t>
            </a:r>
            <a:r>
              <a:rPr sz="2000" b="1">
                <a:solidFill>
                  <a:srgbClr val="1F2D3A"/>
                </a:solidFill>
              </a:rPr>
              <a:t>yığın</a:t>
            </a:r>
            <a:r>
              <a:rPr sz="2000" b="0">
                <a:solidFill>
                  <a:srgbClr val="1F2D3A"/>
                </a:solidFill>
              </a:rPr>
              <a:t> kullanmak -- sessizce derinlik öncelikliye döner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Bir düğümü </a:t>
            </a:r>
            <a:r>
              <a:rPr sz="2000" b="1">
                <a:solidFill>
                  <a:srgbClr val="1F2D3A"/>
                </a:solidFill>
              </a:rPr>
              <a:t>ekleme anında</a:t>
            </a:r>
            <a:r>
              <a:rPr sz="2000" b="0">
                <a:solidFill>
                  <a:srgbClr val="1F2D3A"/>
                </a:solidFill>
              </a:rPr>
              <a:t> değil çıkarma anında ziyaret edildi işaretlemek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Zaten ziyaret edilmiş bir düğümü yeniden eklemek -- iş kaybı, döngü riski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 soru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Ağırlıksız bir çizgede, A'dan başlayan BFS </a:t>
            </a:r>
            <a:r>
              <a:rPr sz="2000" b="0">
                <a:solidFill>
                  <a:srgbClr val="A1123F"/>
                </a:solidFill>
                <a:latin typeface="Consolas"/>
              </a:rPr>
              <a:t>B</a:t>
            </a:r>
            <a:r>
              <a:rPr sz="2000" b="0">
                <a:solidFill>
                  <a:srgbClr val="1F2D3A"/>
                </a:solidFill>
              </a:rPr>
              <a:t>'ye seviye 2 veriyor. A'dan B'ye en kısa yolda kaç kenar var?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Yanıt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Tam olarak 2 kenar.</a:t>
            </a:r>
            <a:r>
              <a:rPr sz="2000" b="0">
                <a:solidFill>
                  <a:srgbClr val="1F2D3A"/>
                </a:solidFill>
              </a:rPr>
              <a:t> BFS'in seviyesi, başlangıçtan en az kenar sayısı olarak tanımlanır -- bu, tam olarak en kısa yol kenar sayısıdır.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Veri Yapıları · Hafta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75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5. Derinlik Öncelikli Arama (DFS) — Özyinelemeli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Başlangıç sorusu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Bir labirentte çok sayıda dallanan yol var. Her yönü azar azar keşfetmek yerine, geri dönmeden önce </a:t>
            </a:r>
            <a:r>
              <a:rPr sz="2000" b="1">
                <a:solidFill>
                  <a:srgbClr val="1F2D3A"/>
                </a:solidFill>
              </a:rPr>
              <a:t>tek</a:t>
            </a:r>
            <a:r>
              <a:rPr sz="2000" b="0">
                <a:solidFill>
                  <a:srgbClr val="1F2D3A"/>
                </a:solidFill>
              </a:rPr>
              <a:t> bir yola sonuna kadar bağlı kalsanız ne olur?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Sezgi — bir labirent, önce derine 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Bir yön seç, gidebildiği kadar yürü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Çıkmaz sokak mı? Son seçime geri dön, sıradaki yönü dene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"Geri dönmek", bir </a:t>
            </a:r>
            <a:r>
              <a:rPr sz="2000" b="1">
                <a:solidFill>
                  <a:srgbClr val="1F2D3A"/>
                </a:solidFill>
              </a:rPr>
              <a:t>yığının</a:t>
            </a:r>
            <a:r>
              <a:rPr sz="2000" b="0">
                <a:solidFill>
                  <a:srgbClr val="1F2D3A"/>
                </a:solidFill>
              </a:rPr>
              <a:t> (ya da özyinelemenin) sizin için yaptığı şey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Genişlik değil derinlik öncelikli -- bir dal, tamamen, sonrakinden önce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Renkler ve zamanlar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Beyaz</a:t>
            </a:r>
            <a:r>
              <a:rPr sz="2000" b="0">
                <a:solidFill>
                  <a:srgbClr val="1F2D3A"/>
                </a:solidFill>
              </a:rPr>
              <a:t> (0): henüz keşfedilmedi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Gri</a:t>
            </a:r>
            <a:r>
              <a:rPr sz="2000" b="0">
                <a:solidFill>
                  <a:srgbClr val="1F2D3A"/>
                </a:solidFill>
              </a:rPr>
              <a:t> (1): keşfedildi, komşuları hâlâ araştırılıyor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Siyah</a:t>
            </a:r>
            <a:r>
              <a:rPr sz="2000" b="0">
                <a:solidFill>
                  <a:srgbClr val="1F2D3A"/>
                </a:solidFill>
              </a:rPr>
              <a:t> (2): bitti, her komşu araştırıldı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disc[v]</a:t>
            </a:r>
            <a:r>
              <a:rPr sz="2000" b="0">
                <a:solidFill>
                  <a:srgbClr val="1F2D3A"/>
                </a:solidFill>
              </a:rPr>
              <a:t> / </a:t>
            </a:r>
            <a:r>
              <a:rPr sz="2000" b="0">
                <a:solidFill>
                  <a:srgbClr val="A1123F"/>
                </a:solidFill>
                <a:latin typeface="Consolas"/>
              </a:rPr>
              <a:t>fin[v]</a:t>
            </a:r>
            <a:r>
              <a:rPr sz="2000" b="0">
                <a:solidFill>
                  <a:srgbClr val="1F2D3A"/>
                </a:solidFill>
              </a:rPr>
              <a:t>: her renk değişiminin gerçekleştiği saat tıkırtısı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Kenar türleri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527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41309"/>
                <a:gridCol w="6870225"/>
              </a:tblGrid>
              <a:tr h="38176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Tür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Anlamı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Ağaç kenarı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Yeni, beyaz bir düğüme götürür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Geri kenar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(back edge)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Gri bir </a:t>
                      </a:r>
                      <a:r>
                        <a:rPr sz="1439" b="1">
                          <a:solidFill>
                            <a:srgbClr val="1F2D3A"/>
                          </a:solidFill>
                        </a:rPr>
                        <a:t>ataya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götürür -- bir döngü!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İleri / çapraz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Bitmiş, siyah bir düğüme götürür (yalnız yönlü)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Özyinelemeli DFS, adım adım</a:t>
            </a:r>
          </a:p>
        </p:txBody>
      </p:sp>
      <p:pic>
        <p:nvPicPr>
          <p:cNvPr id="7" name="Picture 6" descr="dfs-recursive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3112" y="1325880"/>
            <a:ext cx="3465471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Uç durum — dört kenar türü bir arada</a:t>
            </a:r>
          </a:p>
        </p:txBody>
      </p:sp>
      <p:pic>
        <p:nvPicPr>
          <p:cNvPr id="7" name="Picture 6" descr="dfs-recursive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3112" y="1325880"/>
            <a:ext cx="3465471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Kod — dfs_visit(): keşif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2164079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void dfs_visit(Graph *g, int u)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color_of[u] = 1;         /* gri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disc_time[u] = ++clock_;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for (Edge *e = g-&gt;adj[u]; e; e = e-&gt;next)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int v = e-&gt;to;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/* ... v'ye giden kenarı sınıfla ...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color_of[u] = 2;         /* siyah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fin_time[u] = ++clock_;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Kod — bir kenarı sınıflamak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786128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if (color_of[v] == 0)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parent_of[v] = u;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dfs_visit(g, v);     /* ağaç kenarı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 else if (color_of[v] == 1)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/* geri kenar: v bir ata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 else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/* v siyah: ileri ya da çapraz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Kod — bileşen başına bir ağaç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59715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void dfs(Graph *g)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for (int i = 0; i &lt; g-&gt;vertex_count; i++)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color_of[i] = 0;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for (int i = 0; i &lt; g-&gt;vertex_count; i++)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if (color_of[i] == 0)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dfs_visit(g, i);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Karmaşıklık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düğüm beyaz → gri → siyah olarak </a:t>
            </a:r>
            <a:r>
              <a:rPr sz="2000" b="1">
                <a:solidFill>
                  <a:srgbClr val="1F2D3A"/>
                </a:solidFill>
              </a:rPr>
              <a:t>bir kez</a:t>
            </a:r>
            <a:r>
              <a:rPr sz="2000" b="0">
                <a:solidFill>
                  <a:srgbClr val="1F2D3A"/>
                </a:solidFill>
              </a:rPr>
              <a:t> renklenir -- O(V)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kenar tam bir kez incelenir (yönsüzse iki kez) -- O(E)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Toplam: </a:t>
            </a:r>
            <a:r>
              <a:rPr sz="2000" b="1">
                <a:solidFill>
                  <a:srgbClr val="1F2D3A"/>
                </a:solidFill>
              </a:rPr>
              <a:t>O(V + E)</a:t>
            </a:r>
            <a:r>
              <a:rPr sz="2000" b="0">
                <a:solidFill>
                  <a:srgbClr val="1F2D3A"/>
                </a:solidFill>
              </a:rPr>
              <a:t> -- BFS'in sınırıyla aynı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Özyineleme derinliği: gizli bir risk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</a:t>
            </a:r>
            <a:r>
              <a:rPr sz="2000" b="0">
                <a:solidFill>
                  <a:srgbClr val="A1123F"/>
                </a:solidFill>
                <a:latin typeface="Consolas"/>
              </a:rPr>
              <a:t>dfs_visit</a:t>
            </a:r>
            <a:r>
              <a:rPr sz="2000" b="0">
                <a:solidFill>
                  <a:srgbClr val="1F2D3A"/>
                </a:solidFill>
              </a:rPr>
              <a:t> çağrısı </a:t>
            </a:r>
            <a:r>
              <a:rPr sz="2000" b="1">
                <a:solidFill>
                  <a:srgbClr val="1F2D3A"/>
                </a:solidFill>
              </a:rPr>
              <a:t>çağrı yığınına</a:t>
            </a:r>
            <a:r>
              <a:rPr sz="2000" b="0">
                <a:solidFill>
                  <a:srgbClr val="1F2D3A"/>
                </a:solidFill>
              </a:rPr>
              <a:t> bir çerçeve ekler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Uzun bir zincir çizge, </a:t>
            </a:r>
            <a:r>
              <a:rPr sz="2000" b="0">
                <a:solidFill>
                  <a:srgbClr val="A1123F"/>
                </a:solidFill>
                <a:latin typeface="Consolas"/>
              </a:rPr>
              <a:t>V</a:t>
            </a:r>
            <a:r>
              <a:rPr sz="2000" b="0">
                <a:solidFill>
                  <a:srgbClr val="1F2D3A"/>
                </a:solidFill>
              </a:rPr>
              <a:t> çağrı kadar derinleşebilir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Çok büyük ya da çok "ipliksi" bir çizge bu yığını </a:t>
            </a:r>
            <a:r>
              <a:rPr sz="2000" b="1">
                <a:solidFill>
                  <a:srgbClr val="1F2D3A"/>
                </a:solidFill>
              </a:rPr>
              <a:t>taşırabilir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Bölüm 6, tam olarak bunu önlemek için DFS'i açık bir yığınla yeniden kuruyor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Sık yapılan hatalar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Doğrudan kendi </a:t>
            </a:r>
            <a:r>
              <a:rPr sz="2000" b="1">
                <a:solidFill>
                  <a:srgbClr val="1F2D3A"/>
                </a:solidFill>
              </a:rPr>
              <a:t>ebeveynine</a:t>
            </a:r>
            <a:r>
              <a:rPr sz="2000" b="0">
                <a:solidFill>
                  <a:srgbClr val="1F2D3A"/>
                </a:solidFill>
              </a:rPr>
              <a:t> geri giden kenarı atlamayı unutmak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Yönlü</a:t>
            </a:r>
            <a:r>
              <a:rPr sz="2000" b="0">
                <a:solidFill>
                  <a:srgbClr val="1F2D3A"/>
                </a:solidFill>
              </a:rPr>
              <a:t> bir çizgede her ağaç-dışı kenarı "döngü" saymak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color_of</a:t>
            </a:r>
            <a:r>
              <a:rPr sz="2000" b="0">
                <a:solidFill>
                  <a:srgbClr val="1F2D3A"/>
                </a:solidFill>
              </a:rPr>
              <a:t>'u sıfırlamadan çalıştırmalar arasında yeniden kullanmak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 soru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Yönsüz bir çizgede, DFS şu anda </a:t>
            </a:r>
            <a:r>
              <a:rPr sz="2000" b="1">
                <a:solidFill>
                  <a:srgbClr val="1F2D3A"/>
                </a:solidFill>
              </a:rPr>
              <a:t>gri</a:t>
            </a:r>
            <a:r>
              <a:rPr sz="2000" b="0">
                <a:solidFill>
                  <a:srgbClr val="1F2D3A"/>
                </a:solidFill>
              </a:rPr>
              <a:t> olan bir düğüme giden bir kenar buluyor. Bu, çizge hakkında ne söyler?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Yanıt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Çizgede bir döngü var.</a:t>
            </a:r>
            <a:r>
              <a:rPr sz="2000" b="0">
                <a:solidFill>
                  <a:srgbClr val="1F2D3A"/>
                </a:solidFill>
              </a:rPr>
              <a:t> Gri bir düğüm hâlâ çağrı yığınındadır -- şu anki düğümün bir </a:t>
            </a:r>
            <a:r>
              <a:rPr sz="2000" b="1">
                <a:solidFill>
                  <a:srgbClr val="1F2D3A"/>
                </a:solidFill>
              </a:rPr>
              <a:t>atasıdır</a:t>
            </a:r>
            <a:r>
              <a:rPr sz="2000" b="0">
                <a:solidFill>
                  <a:srgbClr val="1F2D3A"/>
                </a:solidFill>
              </a:rPr>
              <a:t>, yani bu kenar bir geri kenardır.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Veri Yapıları · Hafta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90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6. DFS — Yinelemeli (Açık Yığın)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Başlangıç sorusu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Bölüm 5 bir uyarıyla bitti: derin özyineleme çağrı yığınını taşırabilir. </a:t>
            </a:r>
            <a:r>
              <a:rPr sz="2000" b="0" i="1">
                <a:solidFill>
                  <a:srgbClr val="1F2D3A"/>
                </a:solidFill>
              </a:rPr>
              <a:t>Tam olarak aynı</a:t>
            </a:r>
            <a:r>
              <a:rPr sz="2000" b="0">
                <a:solidFill>
                  <a:srgbClr val="1F2D3A"/>
                </a:solidFill>
              </a:rPr>
              <a:t> dolaşma özyinelemesiz yazılabilir mi?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Neden yinelemeliye geçmeli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Özyinelemenin çağrı yığınının sabit bir boyutu var, işletim sistemi belirler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Kendi</a:t>
            </a:r>
            <a:r>
              <a:rPr sz="2000" b="0">
                <a:solidFill>
                  <a:srgbClr val="1F2D3A"/>
                </a:solidFill>
              </a:rPr>
              <a:t> yığınımız (Hafta 3'ün dizi tabanlısı) ihtiyaca göre boyutlanabilir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Aynı algoritma, aynı ziyaret sırası -- yalnızca kayıt tutma yer değiştiriyor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Toplamda bellek tasarrufu yok, yalnızca daha güvenli bir yere taşınıyor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Ters sıra hilesi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Komşular, özyinelemedeki gibi </a:t>
            </a:r>
            <a:r>
              <a:rPr sz="2000" b="1">
                <a:solidFill>
                  <a:srgbClr val="1F2D3A"/>
                </a:solidFill>
              </a:rPr>
              <a:t>alfabetik</a:t>
            </a:r>
            <a:r>
              <a:rPr sz="2000" b="0">
                <a:solidFill>
                  <a:srgbClr val="1F2D3A"/>
                </a:solidFill>
              </a:rPr>
              <a:t> sırayla ziyaret edilmeli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Alfabetik sırayla eklemek onları </a:t>
            </a:r>
            <a:r>
              <a:rPr sz="2000" b="1">
                <a:solidFill>
                  <a:srgbClr val="1F2D3A"/>
                </a:solidFill>
              </a:rPr>
              <a:t>tersten</a:t>
            </a:r>
            <a:r>
              <a:rPr sz="2000" b="0">
                <a:solidFill>
                  <a:srgbClr val="1F2D3A"/>
                </a:solidFill>
              </a:rPr>
              <a:t> çıkarır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Çözüm: komşuları </a:t>
            </a:r>
            <a:r>
              <a:rPr sz="2000" b="1">
                <a:solidFill>
                  <a:srgbClr val="1F2D3A"/>
                </a:solidFill>
              </a:rPr>
              <a:t>ters</a:t>
            </a:r>
            <a:r>
              <a:rPr sz="2000" b="0">
                <a:solidFill>
                  <a:srgbClr val="1F2D3A"/>
                </a:solidFill>
              </a:rPr>
              <a:t> alfabetik sırayla yığına ekle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Tersten eklenen sıra, çıkarılınca özgün sırayı geri verir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Yinelemeli DFS, adım adım</a:t>
            </a:r>
          </a:p>
        </p:txBody>
      </p:sp>
      <p:pic>
        <p:nvPicPr>
          <p:cNvPr id="7" name="Picture 6" descr="dfs-iterative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9293" y="1325880"/>
            <a:ext cx="3993109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Uç durum — bir DFS ormanı</a:t>
            </a:r>
          </a:p>
        </p:txBody>
      </p:sp>
      <p:pic>
        <p:nvPicPr>
          <p:cNvPr id="7" name="Picture 6" descr="dfs-iterative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9293" y="1325880"/>
            <a:ext cx="3993109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Kod — push / pop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65227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void push(int v) { stack_data[++top] = v;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 pop(void)   { return stack_data[top--]; }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Kod — dfs_iterative() ana döngüsü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975104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push(start);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while (top &gt;= 0)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int u = pop();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if (visited[u]) continue;   /* eskimiş kayıt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visited[u] = 1;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for (int i = deg[u] - 1; i &gt;= 0; i--)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if (!visited[adj[u][i]])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push(adj[u][i]);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Karmaşıklık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düğüm sınırlı sayıda eklenir ve çıkarılır -- O(V)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kenar bir kez incelenir (yönsüzse iki kez) -- O(E)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Toplam: </a:t>
            </a:r>
            <a:r>
              <a:rPr sz="2000" b="1">
                <a:solidFill>
                  <a:srgbClr val="1F2D3A"/>
                </a:solidFill>
              </a:rPr>
              <a:t>O(V + E)</a:t>
            </a:r>
            <a:r>
              <a:rPr sz="2000" b="0">
                <a:solidFill>
                  <a:srgbClr val="1F2D3A"/>
                </a:solidFill>
              </a:rPr>
              <a:t> -- özyinelemeli sürümden ne daha iyi ne daha kötü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Özyinelemeli ve yinelemeli, yan yana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3" cy="1527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55229"/>
                <a:gridCol w="3637178"/>
                <a:gridCol w="4219126"/>
              </a:tblGrid>
              <a:tr h="381762">
                <a:tc>
                  <a:txBody>
                    <a:bodyPr wrap="square"/>
                    <a:lstStyle/>
                    <a:p/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Özyinelemeli (Böl. 5)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Yinelemeli (Böl. 6)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Yığın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Çağrı yığını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Kendi dizimiz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Ziyaret sırası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Alfabetik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Alfabetik (ters eklenmiş)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Derin çizge riski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Taşabilir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Dizi boyutuyla sınırlı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Sık yapılan hatalar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Komşuları ters yerine </a:t>
            </a:r>
            <a:r>
              <a:rPr sz="2000" b="1">
                <a:solidFill>
                  <a:srgbClr val="1F2D3A"/>
                </a:solidFill>
              </a:rPr>
              <a:t>düz</a:t>
            </a:r>
            <a:r>
              <a:rPr sz="2000" b="0">
                <a:solidFill>
                  <a:srgbClr val="1F2D3A"/>
                </a:solidFill>
              </a:rPr>
              <a:t> alfabetik sırayla eklemek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Eskimiş-kayıt kontrolünü unutmak -- çift ziyaret, yanlış disc/fin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Çıkarılan, ziyaret edilmemiş bir düğümün hep yeni keşfedildiğini varsaymak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 soru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Bir düğüm, hiçbir çıkarma olmadan, iki farklı komşudan </a:t>
            </a:r>
            <a:r>
              <a:rPr sz="2000" b="1">
                <a:solidFill>
                  <a:srgbClr val="1F2D3A"/>
                </a:solidFill>
              </a:rPr>
              <a:t>iki kez</a:t>
            </a:r>
            <a:r>
              <a:rPr sz="2000" b="0">
                <a:solidFill>
                  <a:srgbClr val="1F2D3A"/>
                </a:solidFill>
              </a:rPr>
              <a:t> yığına ekleniyor. Gerçekte kaç kez ziyaret edilir?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Yanıt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Bir kez.</a:t>
            </a:r>
            <a:r>
              <a:rPr sz="2000" b="0">
                <a:solidFill>
                  <a:srgbClr val="1F2D3A"/>
                </a:solidFill>
              </a:rPr>
              <a:t> İlk </a:t>
            </a:r>
            <a:r>
              <a:rPr sz="2000" b="0">
                <a:solidFill>
                  <a:srgbClr val="A1123F"/>
                </a:solidFill>
                <a:latin typeface="Consolas"/>
              </a:rPr>
              <a:t>pop()</a:t>
            </a:r>
            <a:r>
              <a:rPr sz="2000" b="0">
                <a:solidFill>
                  <a:srgbClr val="1F2D3A"/>
                </a:solidFill>
              </a:rPr>
              <a:t> onu ziyaret eder ve ziyaret edildi işaretler; ikinci </a:t>
            </a:r>
            <a:r>
              <a:rPr sz="2000" b="0">
                <a:solidFill>
                  <a:srgbClr val="A1123F"/>
                </a:solidFill>
                <a:latin typeface="Consolas"/>
              </a:rPr>
              <a:t>pop()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visited[u]</a:t>
            </a:r>
            <a:r>
              <a:rPr sz="2000" b="0">
                <a:solidFill>
                  <a:srgbClr val="1F2D3A"/>
                </a:solidFill>
              </a:rPr>
              <a:t>'yu zaten doğru bulup atılır.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Veri Yapıları · Hafta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7. Bağlı Bileşenler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Başlangıç sorusu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Bir çizge tek bir bağlı parça olmayabilir -- birkaç ayrı parçadan oluşabilir. Kaç tane? Hangi düğüm hangi parçaya ait?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Fikir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Ziyaret edilmemiş her düğüm, yeni bir kimlikle </a:t>
            </a:r>
            <a:r>
              <a:rPr sz="2000" b="1">
                <a:solidFill>
                  <a:srgbClr val="1F2D3A"/>
                </a:solidFill>
              </a:rPr>
              <a:t>yeni</a:t>
            </a:r>
            <a:r>
              <a:rPr sz="2000" b="0">
                <a:solidFill>
                  <a:srgbClr val="1F2D3A"/>
                </a:solidFill>
              </a:rPr>
              <a:t> bir BFS başlatır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 BFS, </a:t>
            </a:r>
            <a:r>
              <a:rPr sz="2000" b="1">
                <a:solidFill>
                  <a:srgbClr val="1F2D3A"/>
                </a:solidFill>
              </a:rPr>
              <a:t>erişebildiği her şeyi</a:t>
            </a:r>
            <a:r>
              <a:rPr sz="2000" b="0">
                <a:solidFill>
                  <a:srgbClr val="1F2D3A"/>
                </a:solidFill>
              </a:rPr>
              <a:t> aynı kimlikle etiketler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Kuyruk boşalınca, ziyaret edilmemiş bir sonraki düğüm başlar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Yön </a:t>
            </a:r>
            <a:r>
              <a:rPr sz="2000" b="1">
                <a:solidFill>
                  <a:srgbClr val="1F2D3A"/>
                </a:solidFill>
              </a:rPr>
              <a:t>göz ardı edilir</a:t>
            </a:r>
            <a:r>
              <a:rPr sz="2000" b="0">
                <a:solidFill>
                  <a:srgbClr val="1F2D3A"/>
                </a:solidFill>
              </a:rPr>
              <a:t> -- bu, </a:t>
            </a:r>
            <a:r>
              <a:rPr sz="2000" b="1">
                <a:solidFill>
                  <a:srgbClr val="1F2D3A"/>
                </a:solidFill>
              </a:rPr>
              <a:t>zayıf</a:t>
            </a:r>
            <a:r>
              <a:rPr sz="2000" b="0">
                <a:solidFill>
                  <a:srgbClr val="1F2D3A"/>
                </a:solidFill>
              </a:rPr>
              <a:t> bağlılığı bulur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Bağlı bileşenler, adım adım</a:t>
            </a:r>
          </a:p>
        </p:txBody>
      </p:sp>
      <p:pic>
        <p:nvPicPr>
          <p:cNvPr id="7" name="Picture 6" descr="connected-components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9168" y="1325880"/>
            <a:ext cx="7213358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Uç durum — birçok küçük bileşen</a:t>
            </a:r>
          </a:p>
        </p:txBody>
      </p:sp>
      <p:pic>
        <p:nvPicPr>
          <p:cNvPr id="7" name="Picture 6" descr="connected-components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9168" y="1325880"/>
            <a:ext cx="7213358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Kod — bfs_label()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2731008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void bfs_label(Graph *g, int start, int id)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int q[MAX_V], front = 0, rear = 0;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comp_of[start] = id;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q[rear++] = start;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while (front &lt; rear)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int u = q[front++];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for (Edge *e = g-&gt;adj[u]; e; e = e-&gt;next)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if (comp_of[e-&gt;to] == -1)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    comp_of[e-&gt;to] = id;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    q[rear++] = e-&gt;to;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Kod — count_components()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975104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count_components(Graph *g)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int next_id = 0;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for (int i = 0; i &lt; g-&gt;vertex_count; i++)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comp_of[i] = -1;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for (int i = 0; i &lt; g-&gt;vertex_count; i++)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if (comp_of[i] == -1)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bfs_label(g, i, next_id++);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return next_id;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Karmaşıklık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düğüm tam olarak bir </a:t>
            </a:r>
            <a:r>
              <a:rPr sz="2000" b="0">
                <a:solidFill>
                  <a:srgbClr val="A1123F"/>
                </a:solidFill>
                <a:latin typeface="Consolas"/>
              </a:rPr>
              <a:t>bfs_label</a:t>
            </a:r>
            <a:r>
              <a:rPr sz="2000" b="0">
                <a:solidFill>
                  <a:srgbClr val="1F2D3A"/>
                </a:solidFill>
              </a:rPr>
              <a:t> çağrısına girer -- O(V)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kenar, tüm çağrılar boyunca toplamda en fazla iki kez incelenir -- O(E)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Toplam: </a:t>
            </a:r>
            <a:r>
              <a:rPr sz="2000" b="1">
                <a:solidFill>
                  <a:srgbClr val="1F2D3A"/>
                </a:solidFill>
              </a:rPr>
              <a:t>O(V + E)</a:t>
            </a:r>
            <a:r>
              <a:rPr sz="2000" b="0">
                <a:solidFill>
                  <a:srgbClr val="1F2D3A"/>
                </a:solidFill>
              </a:rPr>
              <a:t> -- bileşen başına bir kez çalıştırılan tek bir BFS'in maliyeti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Uygulamalar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Sosyal ağlar: hangi arkadaş çevreleri var, kim hangisinde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Görüntü işleme: hangi piksellerin tek bir bağlı bölge oluşturduğu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Ağ: hangi makinelerin şu an birbirine erişebildiği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Bulmaca oyunları: "flood fill" -- boya kovası aracı, esasen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Sık yapılan hatalar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Burada yönün </a:t>
            </a:r>
            <a:r>
              <a:rPr sz="2000" b="1">
                <a:solidFill>
                  <a:srgbClr val="1F2D3A"/>
                </a:solidFill>
              </a:rPr>
              <a:t>göz ardı edildiğini</a:t>
            </a:r>
            <a:r>
              <a:rPr sz="2000" b="0">
                <a:solidFill>
                  <a:srgbClr val="1F2D3A"/>
                </a:solidFill>
              </a:rPr>
              <a:t> unutmak -- bu zayıf bağlılıktır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comp_of</a:t>
            </a:r>
            <a:r>
              <a:rPr sz="2000" b="0">
                <a:solidFill>
                  <a:srgbClr val="1F2D3A"/>
                </a:solidFill>
              </a:rPr>
              <a:t> değerlerini sıfırlamadan ayrı çizgeler arasında yeniden kullanmak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Tek düğümlü bir çizgenin </a:t>
            </a:r>
            <a:r>
              <a:rPr sz="2000" b="1">
                <a:solidFill>
                  <a:srgbClr val="1F2D3A"/>
                </a:solidFill>
              </a:rPr>
              <a:t>sıfır</a:t>
            </a:r>
            <a:r>
              <a:rPr sz="2000" b="0">
                <a:solidFill>
                  <a:srgbClr val="1F2D3A"/>
                </a:solidFill>
              </a:rPr>
              <a:t> bileşeni olduğunu varsaymak -- bir tane vardır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 soru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Yönlü bir çizgede </a:t>
            </a:r>
            <a:r>
              <a:rPr sz="2000" b="0">
                <a:solidFill>
                  <a:srgbClr val="A1123F"/>
                </a:solidFill>
                <a:latin typeface="Consolas"/>
              </a:rPr>
              <a:t>A&gt;B</a:t>
            </a:r>
            <a:r>
              <a:rPr sz="2000" b="0">
                <a:solidFill>
                  <a:srgbClr val="1F2D3A"/>
                </a:solidFill>
              </a:rPr>
              <a:t> kenarı var ama </a:t>
            </a:r>
            <a:r>
              <a:rPr sz="2000" b="0">
                <a:solidFill>
                  <a:srgbClr val="A1123F"/>
                </a:solidFill>
                <a:latin typeface="Consolas"/>
              </a:rPr>
              <a:t>B&gt;A</a:t>
            </a:r>
            <a:r>
              <a:rPr sz="2000" b="0">
                <a:solidFill>
                  <a:srgbClr val="1F2D3A"/>
                </a:solidFill>
              </a:rPr>
              <a:t> yok. Zayıf anlamda, </a:t>
            </a:r>
            <a:r>
              <a:rPr sz="2000" b="0">
                <a:solidFill>
                  <a:srgbClr val="A1123F"/>
                </a:solidFill>
                <a:latin typeface="Consolas"/>
              </a:rPr>
              <a:t>A</a:t>
            </a:r>
            <a:r>
              <a:rPr sz="2000" b="0">
                <a:solidFill>
                  <a:srgbClr val="1F2D3A"/>
                </a:solidFill>
              </a:rPr>
              <a:t> ve </a:t>
            </a:r>
            <a:r>
              <a:rPr sz="2000" b="0">
                <a:solidFill>
                  <a:srgbClr val="A1123F"/>
                </a:solidFill>
                <a:latin typeface="Consolas"/>
              </a:rPr>
              <a:t>B</a:t>
            </a:r>
            <a:r>
              <a:rPr sz="2000" b="0">
                <a:solidFill>
                  <a:srgbClr val="1F2D3A"/>
                </a:solidFill>
              </a:rPr>
              <a:t> aynı bileşende mi?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Yanıt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Evet.</a:t>
            </a:r>
            <a:r>
              <a:rPr sz="2000" b="0">
                <a:solidFill>
                  <a:srgbClr val="1F2D3A"/>
                </a:solidFill>
              </a:rPr>
              <a:t> Zayıf bağlılık yönü tamamen göz ardı eder, o yüzden yalnızca </a:t>
            </a:r>
            <a:r>
              <a:rPr sz="2000" b="0">
                <a:solidFill>
                  <a:srgbClr val="A1123F"/>
                </a:solidFill>
                <a:latin typeface="Consolas"/>
              </a:rPr>
              <a:t>A&gt;B</a:t>
            </a:r>
            <a:r>
              <a:rPr sz="2000" b="0">
                <a:solidFill>
                  <a:srgbClr val="1F2D3A"/>
                </a:solidFill>
              </a:rPr>
              <a:t> bile </a:t>
            </a:r>
            <a:r>
              <a:rPr sz="2000" b="0">
                <a:solidFill>
                  <a:srgbClr val="A1123F"/>
                </a:solidFill>
                <a:latin typeface="Consolas"/>
              </a:rPr>
              <a:t>A</a:t>
            </a:r>
            <a:r>
              <a:rPr sz="2000" b="0">
                <a:solidFill>
                  <a:srgbClr val="1F2D3A"/>
                </a:solidFill>
              </a:rPr>
              <a:t> ve </a:t>
            </a:r>
            <a:r>
              <a:rPr sz="2000" b="0">
                <a:solidFill>
                  <a:srgbClr val="A1123F"/>
                </a:solidFill>
                <a:latin typeface="Consolas"/>
              </a:rPr>
              <a:t>B</a:t>
            </a:r>
            <a:r>
              <a:rPr sz="2000" b="0">
                <a:solidFill>
                  <a:srgbClr val="1F2D3A"/>
                </a:solidFill>
              </a:rPr>
              <a:t>'yi aynı bileşene koymaya yeter.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Veri Yapıları · Hafta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8. Ağırlıksız Çizgelerde En Kısa Yol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Başlangıç sorusu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BFS zaten </a:t>
            </a:r>
            <a:r>
              <a:rPr sz="2000" b="0">
                <a:solidFill>
                  <a:srgbClr val="A1123F"/>
                </a:solidFill>
                <a:latin typeface="Consolas"/>
              </a:rPr>
              <a:t>A</a:t>
            </a:r>
            <a:r>
              <a:rPr sz="2000" b="0">
                <a:solidFill>
                  <a:srgbClr val="1F2D3A"/>
                </a:solidFill>
              </a:rPr>
              <a:t>'dan her düğüme en az kaç kenarla gidileceğini biliyor. </a:t>
            </a:r>
            <a:r>
              <a:rPr sz="2000" b="1">
                <a:solidFill>
                  <a:srgbClr val="1F2D3A"/>
                </a:solidFill>
              </a:rPr>
              <a:t>Tam güzergâhı</a:t>
            </a:r>
            <a:r>
              <a:rPr sz="2000" b="0">
                <a:solidFill>
                  <a:srgbClr val="1F2D3A"/>
                </a:solidFill>
              </a:rPr>
              <a:t> da -- yalnızca uzaklığı değil -- bildirebilir mi?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Fikir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s</a:t>
            </a:r>
            <a:r>
              <a:rPr sz="2000" b="0">
                <a:solidFill>
                  <a:srgbClr val="1F2D3A"/>
                </a:solidFill>
              </a:rPr>
              <a:t>'den BFS çalıştır, her düğümün her zamanki gibi </a:t>
            </a:r>
            <a:r>
              <a:rPr sz="2000" b="1">
                <a:solidFill>
                  <a:srgbClr val="1F2D3A"/>
                </a:solidFill>
              </a:rPr>
              <a:t>ebeveynini</a:t>
            </a:r>
            <a:r>
              <a:rPr sz="2000" b="0">
                <a:solidFill>
                  <a:srgbClr val="1F2D3A"/>
                </a:solidFill>
              </a:rPr>
              <a:t> kaydet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t</a:t>
            </a:r>
            <a:r>
              <a:rPr sz="2000" b="0">
                <a:solidFill>
                  <a:srgbClr val="1F2D3A"/>
                </a:solidFill>
              </a:rPr>
              <a:t>'ye giden yolu bulmak için: </a:t>
            </a:r>
            <a:r>
              <a:rPr sz="2000" b="0">
                <a:solidFill>
                  <a:srgbClr val="A1123F"/>
                </a:solidFill>
                <a:latin typeface="Consolas"/>
              </a:rPr>
              <a:t>t</a:t>
            </a:r>
            <a:r>
              <a:rPr sz="2000" b="0">
                <a:solidFill>
                  <a:srgbClr val="1F2D3A"/>
                </a:solidFill>
              </a:rPr>
              <a:t>'den başla, </a:t>
            </a:r>
            <a:r>
              <a:rPr sz="2000" b="0">
                <a:solidFill>
                  <a:srgbClr val="A1123F"/>
                </a:solidFill>
                <a:latin typeface="Consolas"/>
              </a:rPr>
              <a:t>ebeveyn</a:t>
            </a:r>
            <a:r>
              <a:rPr sz="2000" b="0">
                <a:solidFill>
                  <a:srgbClr val="1F2D3A"/>
                </a:solidFill>
              </a:rPr>
              <a:t>i geriye izle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s</a:t>
            </a:r>
            <a:r>
              <a:rPr sz="2000" b="0">
                <a:solidFill>
                  <a:srgbClr val="1F2D3A"/>
                </a:solidFill>
              </a:rPr>
              <a:t>'ye ulaşınca dur -- sonra toplanan listeyi </a:t>
            </a:r>
            <a:r>
              <a:rPr sz="2000" b="1">
                <a:solidFill>
                  <a:srgbClr val="1F2D3A"/>
                </a:solidFill>
              </a:rPr>
              <a:t>tersine çevir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Sonuç, kenar sayısına göre en kısa </a:t>
            </a:r>
            <a:r>
              <a:rPr sz="2000" b="0">
                <a:solidFill>
                  <a:srgbClr val="A1123F"/>
                </a:solidFill>
                <a:latin typeface="Consolas"/>
              </a:rPr>
              <a:t>s</a:t>
            </a:r>
            <a:r>
              <a:rPr sz="2000" b="0">
                <a:solidFill>
                  <a:srgbClr val="1F2D3A"/>
                </a:solidFill>
              </a:rPr>
              <a:t>-</a:t>
            </a:r>
            <a:r>
              <a:rPr sz="2000" b="0">
                <a:solidFill>
                  <a:srgbClr val="A1123F"/>
                </a:solidFill>
                <a:latin typeface="Consolas"/>
              </a:rPr>
              <a:t>t</a:t>
            </a:r>
            <a:r>
              <a:rPr sz="2000" b="0">
                <a:solidFill>
                  <a:srgbClr val="1F2D3A"/>
                </a:solidFill>
              </a:rPr>
              <a:t> yoludur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BFS ile yol bulma, adım adım</a:t>
            </a:r>
          </a:p>
        </p:txBody>
      </p:sp>
      <p:pic>
        <p:nvPicPr>
          <p:cNvPr id="7" name="Picture 6" descr="path-finding-bfs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5382" y="1325880"/>
            <a:ext cx="3700930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Uç durum — hiçbir yol yok</a:t>
            </a:r>
          </a:p>
        </p:txBody>
      </p:sp>
      <p:pic>
        <p:nvPicPr>
          <p:cNvPr id="7" name="Picture 6" descr="path-finding-bfs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5382" y="1325880"/>
            <a:ext cx="3700930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Kod — bfs_shortest_path(): arama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2353056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visited[s] = 1;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queue_data[rear++] = s;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while (front &lt; rear)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int u = queue_data[front++];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for (Edge *e = g-&gt;adj[u]; e; e = e-&gt;next)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if (!visited[e-&gt;to])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visited[e-&gt;to] = 1;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parent_of[e-&gt;to] = u;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queue_data[rear++] = e-&gt;to;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Kod — yolu geriye izlemek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975104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if (!visited[t]) return -1;      /* yol yok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len = 0, v = t;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while (v != s)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path_out[len++] = v;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v = parent_of[v];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path_out[len++] = s;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/* ... path_out[0..len)'i yerinde tersine çevir ...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return len - 1;                  /* kenar sayısı */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Karmaşıklık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BFS'in kendisi: Bölüm 4'teki gibi tam olarak </a:t>
            </a:r>
            <a:r>
              <a:rPr sz="2000" b="1">
                <a:solidFill>
                  <a:srgbClr val="1F2D3A"/>
                </a:solidFill>
              </a:rPr>
              <a:t>O(V + E)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Yolu geriye izlemek: </a:t>
            </a:r>
            <a:r>
              <a:rPr sz="2000" b="1">
                <a:solidFill>
                  <a:srgbClr val="1F2D3A"/>
                </a:solidFill>
              </a:rPr>
              <a:t>O(yol uzunluğu)</a:t>
            </a:r>
            <a:r>
              <a:rPr sz="2000" b="0">
                <a:solidFill>
                  <a:srgbClr val="1F2D3A"/>
                </a:solidFill>
              </a:rPr>
              <a:t>, en fazla O(V)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Toplam: yine </a:t>
            </a:r>
            <a:r>
              <a:rPr sz="2000" b="1">
                <a:solidFill>
                  <a:srgbClr val="1F2D3A"/>
                </a:solidFill>
              </a:rPr>
              <a:t>O(V + E)</a:t>
            </a:r>
            <a:r>
              <a:rPr sz="2000" b="0">
                <a:solidFill>
                  <a:srgbClr val="1F2D3A"/>
                </a:solidFill>
              </a:rPr>
              <a:t> -- geriye izleme hiçbir zaman baskın olmaz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Birden çok en kısa yol olabilir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BFS </a:t>
            </a:r>
            <a:r>
              <a:rPr sz="2000" b="1">
                <a:solidFill>
                  <a:srgbClr val="1F2D3A"/>
                </a:solidFill>
              </a:rPr>
              <a:t>bir</a:t>
            </a:r>
            <a:r>
              <a:rPr sz="2000" b="0">
                <a:solidFill>
                  <a:srgbClr val="1F2D3A"/>
                </a:solidFill>
              </a:rPr>
              <a:t> en kısa yol bildirir, mutlaka tek yol değildir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Farklı bir komşu ziyaret sırası, eşit uzunlukta farklı bir yol üretebilir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Bütün doğru en kısa yollar aynı </a:t>
            </a:r>
            <a:r>
              <a:rPr sz="2000" b="1">
                <a:solidFill>
                  <a:srgbClr val="1F2D3A"/>
                </a:solidFill>
              </a:rPr>
              <a:t>uzunluğu</a:t>
            </a:r>
            <a:r>
              <a:rPr sz="2000" b="0">
                <a:solidFill>
                  <a:srgbClr val="1F2D3A"/>
                </a:solidFill>
              </a:rPr>
              <a:t> paylaşır, aynı güzergâhı değil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Önizleme: ağırlıklı çizgeler Dijkstra ister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Bu bölüm yalnızca her kenarın gizlice ağırlığı 1 olduğu için çalışıyor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Ağırlıklı</a:t>
            </a:r>
            <a:r>
              <a:rPr sz="2000" b="0">
                <a:solidFill>
                  <a:srgbClr val="1F2D3A"/>
                </a:solidFill>
              </a:rPr>
              <a:t> bir çizge kenar sayısını değil gerçek mesafeleri karşılaştırmalı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Dijkstra algoritması</a:t>
            </a:r>
            <a:r>
              <a:rPr sz="2000" b="0">
                <a:solidFill>
                  <a:srgbClr val="1F2D3A"/>
                </a:solidFill>
              </a:rPr>
              <a:t> (Hafta 9) bunu bir </a:t>
            </a:r>
            <a:r>
              <a:rPr sz="2000" b="1">
                <a:solidFill>
                  <a:srgbClr val="1F2D3A"/>
                </a:solidFill>
              </a:rPr>
              <a:t>öncelik kuyruğuyla</a:t>
            </a:r>
            <a:r>
              <a:rPr sz="2000" b="0">
                <a:solidFill>
                  <a:srgbClr val="1F2D3A"/>
                </a:solidFill>
              </a:rPr>
              <a:t> çözer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 öncelik kuyruğu, Hafta 4'ün bir yığından (heap) kurduğu ta kendisi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Sık yapılan hatalar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Yolu geriye izlemeden önce </a:t>
            </a:r>
            <a:r>
              <a:rPr sz="2000" b="0">
                <a:solidFill>
                  <a:srgbClr val="A1123F"/>
                </a:solidFill>
                <a:latin typeface="Consolas"/>
              </a:rPr>
              <a:t>visited[t]</a:t>
            </a:r>
            <a:r>
              <a:rPr sz="2000" b="0">
                <a:solidFill>
                  <a:srgbClr val="1F2D3A"/>
                </a:solidFill>
              </a:rPr>
              <a:t>'yi kontrol etmeyi unutmak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ebeveyn</a:t>
            </a:r>
            <a:r>
              <a:rPr sz="2000" b="0">
                <a:solidFill>
                  <a:srgbClr val="1F2D3A"/>
                </a:solidFill>
              </a:rPr>
              <a:t>i geriye değil, </a:t>
            </a:r>
            <a:r>
              <a:rPr sz="2000" b="0">
                <a:solidFill>
                  <a:srgbClr val="A1123F"/>
                </a:solidFill>
                <a:latin typeface="Consolas"/>
              </a:rPr>
              <a:t>t</a:t>
            </a:r>
            <a:r>
              <a:rPr sz="2000" b="0">
                <a:solidFill>
                  <a:srgbClr val="1F2D3A"/>
                </a:solidFill>
              </a:rPr>
              <a:t>'den </a:t>
            </a:r>
            <a:r>
              <a:rPr sz="2000" b="0">
                <a:solidFill>
                  <a:srgbClr val="A1123F"/>
                </a:solidFill>
                <a:latin typeface="Consolas"/>
              </a:rPr>
              <a:t>s</a:t>
            </a:r>
            <a:r>
              <a:rPr sz="2000" b="0">
                <a:solidFill>
                  <a:srgbClr val="1F2D3A"/>
                </a:solidFill>
              </a:rPr>
              <a:t>'ye doğru ileriye izlemek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Son tersine çevirmeyi unutmak -- yol </a:t>
            </a:r>
            <a:r>
              <a:rPr sz="2000" b="0">
                <a:solidFill>
                  <a:srgbClr val="A1123F"/>
                </a:solidFill>
                <a:latin typeface="Consolas"/>
              </a:rPr>
              <a:t>t</a:t>
            </a:r>
            <a:r>
              <a:rPr sz="2000" b="0">
                <a:solidFill>
                  <a:srgbClr val="1F2D3A"/>
                </a:solidFill>
              </a:rPr>
              <a:t>'den </a:t>
            </a:r>
            <a:r>
              <a:rPr sz="2000" b="0">
                <a:solidFill>
                  <a:srgbClr val="A1123F"/>
                </a:solidFill>
                <a:latin typeface="Consolas"/>
              </a:rPr>
              <a:t>s</a:t>
            </a:r>
            <a:r>
              <a:rPr sz="2000" b="0">
                <a:solidFill>
                  <a:srgbClr val="1F2D3A"/>
                </a:solidFill>
              </a:rPr>
              <a:t>'ye doğru yazdırılır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 soru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s</a:t>
            </a:r>
            <a:r>
              <a:rPr sz="2000" b="0">
                <a:solidFill>
                  <a:srgbClr val="1F2D3A"/>
                </a:solidFill>
              </a:rPr>
              <a:t>'den başlayan BFS </a:t>
            </a:r>
            <a:r>
              <a:rPr sz="2000" b="0">
                <a:solidFill>
                  <a:srgbClr val="A1123F"/>
                </a:solidFill>
                <a:latin typeface="Consolas"/>
              </a:rPr>
              <a:t>t</a:t>
            </a:r>
            <a:r>
              <a:rPr sz="2000" b="0">
                <a:solidFill>
                  <a:srgbClr val="1F2D3A"/>
                </a:solidFill>
              </a:rPr>
              <a:t>'yi hiç ziyaret etmiyor. </a:t>
            </a:r>
            <a:r>
              <a:rPr sz="2000" b="0">
                <a:solidFill>
                  <a:srgbClr val="A1123F"/>
                </a:solidFill>
                <a:latin typeface="Consolas"/>
              </a:rPr>
              <a:t>bfs_shortest_path</a:t>
            </a:r>
            <a:r>
              <a:rPr sz="2000" b="0">
                <a:solidFill>
                  <a:srgbClr val="1F2D3A"/>
                </a:solidFill>
              </a:rPr>
              <a:t> ne döndürmeli, ve neden?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Yanıt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`-1`.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0">
                <a:solidFill>
                  <a:srgbClr val="A1123F"/>
                </a:solidFill>
                <a:latin typeface="Consolas"/>
              </a:rPr>
              <a:t>t</a:t>
            </a:r>
            <a:r>
              <a:rPr sz="2000" b="0">
                <a:solidFill>
                  <a:srgbClr val="1F2D3A"/>
                </a:solidFill>
              </a:rPr>
              <a:t> hiç ziyaret edilmediyse hiç yol yok demektir -- </a:t>
            </a:r>
            <a:r>
              <a:rPr sz="2000" b="0">
                <a:solidFill>
                  <a:srgbClr val="A1123F"/>
                </a:solidFill>
                <a:latin typeface="Consolas"/>
              </a:rPr>
              <a:t>visited[t]</a:t>
            </a:r>
            <a:r>
              <a:rPr sz="2000" b="0">
                <a:solidFill>
                  <a:srgbClr val="1F2D3A"/>
                </a:solidFill>
              </a:rPr>
              <a:t> kontrolü, herhangi bir geriye izleme başlamadan tam olarak bu durumu yakalar.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Özet — terimler ve gösterimler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9820380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8589"/>
                <a:gridCol w="8001791"/>
              </a:tblGrid>
              <a:tr h="374903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Fikir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Anahtar gerçek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Çizge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V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düğüm, </a:t>
                      </a:r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E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kenar, yönlü ya da değil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Derece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Yönsüz: tek değer; yönlü: gelen ve giden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Matris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O(V²) bellek, O(1) </a:t>
                      </a:r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has_edge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7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Liste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O(V + E) bellek, O(derece) </a:t>
                      </a:r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has_edge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Özet — dolaşmalar ve uygulamalar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96744"/>
                <a:gridCol w="6714790"/>
              </a:tblGrid>
              <a:tr h="374903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Fikir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Anahtar gerçek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BFS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Kuyruk, seviye sırası, ağırlıksız en kısa yol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DFS (özyinelemeli / yinelemeli)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Yığın, önce derin, her iki yolda da aynı sıra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Bileşenler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Tekrarlanan BFS, erişilebilir küme başına bir etiket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7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En kısa yol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BFS + ebeveyn işaretçileri, geriye izlenir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Büyük resim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10032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Bir ağacın "tek kök, döngü yok" kuralını kaldırın, bir çizge elde edersiniz. İki yapı onu saklar; iki dolaşma, BFS ve DFS, onu keşfeder; ikisi de gerçek sorulara yanıt verir -- bileşenler, mesafe.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Öz-değerlendirme turu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Dört kısa soru. Yanıt bir sonraki slaytta görünmeden önce düşünün. Tam alıştırmalar ve on soruluk bir sınav hafta notlarında.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1. Bir çizgede 6 düğüm var ve tam çizge (her çift bağlı). Kaç kenarı var?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  <a:latin typeface="Consolas"/>
              </a:rPr>
              <a:t>6 * 5 / 2 = 15</a:t>
            </a:r>
            <a:r>
              <a:rPr sz="3000" b="1">
                <a:solidFill>
                  <a:srgbClr val="2E7D32"/>
                </a:solidFill>
              </a:rPr>
              <a:t> kenar -- çizge yönsüz olduğundan her çift bir kez sayılır.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2. BFS neden yığın yerine kuyruğa ihtiyaç duyar?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Bir kuyruğun FIFO sırası en yakın düğümleri önce ziyaret eder; bir yığın hemen derine giderdi, yani DFS olurdu.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3. DFS sırasında bir "geri kenar" bulmak çizge hakkında ne söyler?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Çizgede bir döngü vardır -- bir geri kenar her zaman çağrı yığınında hâlâ olan gri bir ataya işaret eder.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4. Bağlı bileşenler yönlü bir çizgeyi sanki yönsüzmüş gibi ele alır. Buna ne denir?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Zayıf bağlılık -- yön göz ardı edilir; geriye bir yolu da gerektiren güçlü bağlılık daha zor, farklı bir sorudur.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4000" b="1">
                <a:solidFill>
                  <a:srgbClr val="2E7D32"/>
                </a:solidFill>
              </a:rPr>
              <a:t>Gelecek hafta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56616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>
                <a:solidFill>
                  <a:srgbClr val="1F2D3A"/>
                </a:solidFill>
              </a:rPr>
              <a:t>Hafta 6 — Arama ve Karma Tablolar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51808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0">
                <a:solidFill>
                  <a:srgbClr val="1F2D3A"/>
                </a:solidFill>
              </a:rPr>
              <a:t>BFS ve DFS bir şey bulmak için bütün çizgeyi dolaşır. Ya bir öğeye doğrudan, neredeyse O(1) sürede ulaşabilseydiniz?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Kaynaklar (1/2)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Ders izlencesi, Hafta 5: </a:t>
            </a:r>
            <a:r>
              <a:rPr sz="2000" b="0">
                <a:solidFill>
                  <a:srgbClr val="A1123F"/>
                </a:solidFill>
                <a:latin typeface="Consolas"/>
              </a:rPr>
              <a:t>docs/syllabus/syllabus.tr.md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Cormen, Leiserson, Rivest, Stein. *Introduction 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7888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Algorithms*, 4. baskı. MIT Press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28544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Sedgewick, Wayne. </a:t>
            </a:r>
            <a:r>
              <a:rPr sz="2000" b="0" i="1">
                <a:solidFill>
                  <a:srgbClr val="1F2D3A"/>
                </a:solidFill>
              </a:rPr>
              <a:t>Algorithms</a:t>
            </a:r>
            <a:r>
              <a:rPr sz="2000" b="0">
                <a:solidFill>
                  <a:srgbClr val="1F2D3A"/>
                </a:solidFill>
              </a:rPr>
              <a:t>, 4. baskı. Addison-Wesley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Euler, L. (1736). *Solutio problematis ad geometriam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81552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situs pertinentis*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Kaynaklar (2/2)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Moore, E. F. (1959). "Labirentte en kısa yol"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Hopcroft, J., Tarjan, R. (1973) -- DFS kenar sınıflaması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Knuth. </a:t>
            </a:r>
            <a:r>
              <a:rPr sz="2000" b="0" i="1">
                <a:solidFill>
                  <a:srgbClr val="1F2D3A"/>
                </a:solidFill>
              </a:rPr>
              <a:t>The Art of Computer Programming, Cilt 1</a:t>
            </a:r>
            <a:r>
              <a:rPr sz="2000" b="0">
                <a:solidFill>
                  <a:srgbClr val="1F2D3A"/>
                </a:solidFill>
              </a:rPr>
              <a:t>, 3. baskı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williamfiset/Algorithms · Programiz DSA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CEN207 Hafta 5 — Çizgeler ve Dolaşmalar</dc:title>
  <dc:subject/>
  <dc:creator>Dr. Öğr. Üyesi Uğur CORUH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