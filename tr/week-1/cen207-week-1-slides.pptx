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bire hoş geldiniz — bugün, sonraki her haftanın üzerine kurulduğu iki temeli atıyoruz: maliyeti ölçmek ve belleğin gerçekten nasıl çalıştığı.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 dört kısa animasyon bugünün dersinin çoğunu taşıyor; her biri bir kez gösteriliyor, en zorlu durumuna ikinci bir bakışla.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terim ilk geçtiğinde tam olarak tanımlanır; bu tablo yalnızca onu tekrar nerede bulacağınızı söylüyor.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Canlı çalıştırmak isterseniz şimdi bir terminal açın; bugünün her kod parçası tam olarak gösterildiği gibi derlenir ve çalışır.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Derste yalnızca ana hatlara değiniyoruz — izlenceyi, proje kılavuzunu ve ön koşullar sayfasını önümüzdeki haftaya kadar okuyun.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Takımınızı erken seçin — bu kural, bir takımın işi kilitlenmeden önce ivme kazansın diye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Veri yapıları, tam olarak iki şeyle ilgili bir ders: veriyi bellekte nasıl düzenlediğiniz ve bu düzenlemenin size ne kadara mal olduğu.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1, hiç koda dokunmadan önce, tüm dersin en temel sorusunu soruyor.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İsimlerin bellekte diziliş biçimi FARKIN ta kendisi — işte bu diziliş biçimine veri yapısı diyoruz.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Ne-nasıl ayrımı, bu dersin sürekli dayandığı bir ayrım — bugünden itibaren gayri resmi olarak başlıyor.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tepsi yığını üstten eklemek/almak için hızlıdır, ortadan bir şey bulmak için berbattır — fikrin tamamı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"Bilinen, çözümlenebilir maliyet" kısmı, "veriyi düzenlemek" gibi bulanık bir fikri bu dersin ölçebileceği bir şeye çeviriyor.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Aynı yapıda genelde bu dört işlemin hepsini birden hızlı yapamazsınız — bugünkü gerçek konu tam olarak bu ödünleşim.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tek cümle, dönemin geri kalanının her hafta bir yeni yapı tanıtmasının nedeni.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dönem göreceğiniz her yapı, tam olarak bu iki aileden birine giriyor — bu harita hatırlanmaya değer.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fark, hangi işlemlerin ucuz hangilerinin pahalı olduğunu değiştiriyor — bugünkü ikinci bölümün tam konusu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ağaç düğümünün birden çok çocuğu olabilir; bir çizge düğümü birden çok başkasına bağlanabilir — artık tek bir "sonraki"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Dördü de doğrusal — her eleman hâlâ tam olarak tek bir sonrakine sahip.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Hash tabloları ve dosyalar, yuvalarının diziliş biçiminde hâlâ doğrusal — yalnızca anahtarla erişim yeni; Hafta 7 bunu açıkça gösteriyor.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ağaç ve bir çizge son derece yapılandırılmıştır — yalnızca birden çok "sonraki"ye izin verirler.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iki yönde de tek, belirsizliksiz bir sonraki — bu tam olarak doğrusal tanımı.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iki slayt önceki org şemasıyla aynı dallanma fikri.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bugünün en büyük bölümü — sonraki her haftanın bir yapıyı değerlendirmek için kullandığı araç, Big-O.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İstediğimiz şey algoritmanın kendisinin bir özelliği: işi, girdi büyüdükçe nasıl büyüyor.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Gösterim, bilgisayarlardan on yıllarca önce var — başlangıçta bir fonksiyonun başka birine ne kadar yakın olduğunu tanımlıyordu.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sayı yalnızca algoritmaya ve n'ye bağlıdır — makineye, dile ya da bugünkü CPU yüküne asla.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11 elemanlı bir dizide, ortadaki bir değeri ararken karşılaştırmaları sayışını izleyeceğiz.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11 değer, hedef ortada. Karşılaştırma sayacının kutu kutu tırmanışını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Hedef yokken doğrusal arama, bunu söyleyebilmek için yine de her kutuyu kontrol eder — gerçek en kötü durum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yinelemede bir karşılaştırma, açıkça sayılıyor — bu, animasyonun ekranda az önce saydığı şeyin ta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Milyon elemanlı bir dizi, en kötü durumda milyon karşılaştırma gerektirir — bu doğrudan büyüme O(n) demek.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Doğrusal aramanın az önce 9 karşılaştırma harcadığı aynı hedefi, 42'yi, arayacağız.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16 sıralı değer, hedef bulundu. lo, hi ve mid'in cevaba nasıl yaklaştığını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kez 31 değer var; aralık, kontrol edilecek hiçbir şey kalmayana, lo hi'dan büyük olana kadar yarılanır.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bir karşılaştırma, kalanın YARISINI eler — bütün numara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Ödünleşim: ikili arama önce sıralı bir dizi ister, sıralamanın kendisi bir aramadan daha pahalıdır.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Çok daha büyük bir ölçekte iki nokta — bu animasyon ölçeğin tamamını bir kerede gösteriyor.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n, 1'den 512'ye ikiye katlanarak. n-kare ve 2^n'in diğerlerinden nasıl koptuğunu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 = 400'den başlarken 2^n, diğerleriyle aynı grafiğe çizilemeyecek kadar büyük çoktan.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 = 100.000'de n-kare, n log n'den 6.000 kattan fazla büyük — küçük girdide anlık, büyük ölçekte çok farklı.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az önce gördüğünüz tabloyu beş gerçekçi büyüklük için üreten döngünün ta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Sabitleri resmi olarak nadiren hesaplarsınız — adımları sayar, en hızlı büyüyen terimi okursunuz.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Örüntü şu: en hızlı büyüyen terimi tutun, daha küçük olan her şeyi ve her sabiti atın.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O(1), işaretçi aritmetiğinden gelen sabit zamanlı dizi erişimi; O(log n) ikili arama; O(n) doğrusal arama.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Tabloya güvenmek yerine, gerçek, sayılmış bir programı sayalım ve n-kareyi kendimiz görelim.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kare bir döngü (j &lt; n), n = 3 ayrıntılı, sonra dokuz n değeri daha.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Üçgen bir döngü (j &lt; i) iç gövdeyi yine n(n-1)/2 kez çalıştırır — yine O(n kare), farklı bir sabit.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Ölçülen sayı, denenen her n için n*n ile tam eşleşti — T(n) = n kare, artı atılan daha küçük terimler.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 kötü durum, girdiyi kontrol edemediğinizde en çok işe yarayan garanti.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Özyinelemeli bir fonksiyon her çağrıda bir yığın çerçevesi iter — bu, bir döngünün asla ihtiyaç duymadığı ek bellek.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değer. Çağrı yığınının çağrı başına bir çerçeve büyümesini, sonra çözülmesini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22 eleman, zirvede 23 çerçeve demek — yeterince büyük n için yığın gerçekten tükenebilir.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İkisi de aynı toplamı döndürür. sum_recursive O(n) yığın belleği kullanır; sum_iterative her zaman tam olarak O(1).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satırın içindeki gizli bir döngü (arr.contains(x) gibi) sessizce O(n)'i O(n kare)'ye çevirebilir.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"en büyük terimi oku" tablosunun doğrudan uygulanması.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Hafta 2 tam olarak bu yapıyı kuruyor, bu yüzden bu soru önümüzdeki haftayı doğrudan önizliyor.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 iyi durumlar algoritmalar arasında birbirine benzer, bu yüzden karşılaştırmak için en kötü durum daha yararlı.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işaretçi, bir değişkenin konumudur, yalnızca değeri değil — bugün bu fikri tamamen somutlaştırıyoruz.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Çağıranın değişkenlerine geri ulaşmak için fonksiyonun her birinin KONUMUNA ihtiyacı var, değerine değil — o konum bir işaretçi.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Java değişkeni yine aynı nesneyi adlandırabilir — yalnızca keyfi bir adres hesaplayamazsınız.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int x = 3, 3'ü bir posta kutusuna, diyelim 1000 numaraya, koyar — &amp;x size o 1000'i verir.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Bunların her biri O(1) — bir işaretçiyi izlemek her zaman tek bir sıçrama, asla bir arama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beş işlem — adres-al, üzerinden yaz, kopyala (takma ad), taşı, takma ad üzerinden ekle.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NULL bir işaretçi üzerinden yazma burada asla çalıştırılmaz — bunun yerine tanımsız davranış olarak işaretlenir.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q = p, DEĞERİ değil ADRESİ kopyalar — q ve p artık aynı değişkenin takma adı.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alias, box ile AYNI dizinin ikinci adı; y ise x'in bağımsız bir KOPYASI — aynı sözdizimi, tam tersi davranış.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dizi indekslemesinin, arr[i]'nin, derlendiği O(1) aritmetik.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bir int dizisi, beş geçerli offset. Her hesaplanan adresi ve dereferans edilen değerini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Negatif bir offset ve sondan bir sonrası, ikisi de tanımsız davranış olarak işaretlenir, hiç dereferans edilmez.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Java'da işaretçi aritmetiği hiç yok — yalnızca a[k], aralık dışı bir k net bir istisna fırlatır.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Struct'a bir işaretçi, ORİJİNAL struct'a ulaşmanızı — ve onu değiştirmenizi — sağlar, bir kopyasına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öğrenci, 2 not güncellemesi. (*p).id, p-&gt;grade ve p++'ın sizeof(Student) kadar ilerlemesini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p, "dizinin hemen sonrasına" anında ulaşır — TUTMAK yasaldır, ama asla dereferans etmek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(*p).id ve p-&gt;id aynı değer — ok işareti yalnızca bir kısayol, başka hiçbir şey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Java her dereferansı kontrol eder ve gürültülü şekilde başarısız olur; C, kötü bir adresle donanım ne yaparsa onu yapar.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Aynı değişken, dereferans edip etmediğinize göre tamamen farklı iki soru.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 hem . (değerler için) hem -&gt; (işaretçiler için) ister; Java'nın yalnızca birine ihtiyacı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tüm dönem kullanacağınız bellekle ilgili en önemli tek gerçek.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sorunun tamamen farklı yanıtları var — bu fark bugünün tüm konusu.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Çöp toplama çoğu kişinin sandığından çok daha eski — Java'dan 36 yıl önce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yığın çerçevesini itmek ya da çekmek yalnızca bir işaretçiyi taşımak — bu kadar hızlı olmasının nedeni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Yığın taşması, derin özyinelemenin küçük, sabit bir bölgeyi aşması; öbek çok daha büyük ama daha yavaş.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blok, düzgün sahiplenilmiş, bir kısmı serbest. main'in blocks[] sütununun her öbek satırına işaret edişini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İkinci bir takma ad hâlâ serbest bırakılmış bir bloğun eski adresini tutuyor; onu kullanmak UB olarak işaretlenir, hiç çalıştırılmaz.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p, alloc_block'un kendi çerçevesine özel — o çerçeve çekildiğinde yalnızca DÖNDÜRÜLEN adres ayakta kalır.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nesne, çöp toplayıcı hiçbir şeyin ona ulaşamadığını kanıtlayana kadar öbekte yaşar.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bir referans zinciri, sıradan toplama. Nesnelerin erişilemez hale gelip süpürülmesini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nesne birbirini gösteriyor, ama hiçbir kök hiçbirine ulaşamayınca ikisi de toplanır — referans sayımı değil, erişilebilirlik.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C'de tam bu örüntü sonsuza dek sızardı — C'de döngünün erişilemez olduğunu fark edecek bir çöp toplayıcı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Gereksiz tuttuğunuz bir referans toplanamaz ve etkide yine "sızar".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Önümüzdeki hafta tam olarak bu bağlı yapıyı kuracaksınız — bugün yalnızca önizleme.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değer, k = 4. Tek hesaplanan adresi, next üzerinden dört sıçramayla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Dizi son elemana yine tek adımda ulaşır; bağlı liste baştan itibaren her tek sıçramaya ihtiyaç duyar.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Aynı n değer, tam ters erişim maliyeti: dizi O(1), bağlı liste O(n) — aynı veri, tamamen farklı düzen.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Çözüm: bunun yerine malloc ile ayırın, böylece bellek fonksiyon dönse de hayatta kalır.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Sıra bir stil tercihi değil — tersine çevirmek sessizce bir bellek sızıntısı yaratır.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Erişilebilir bir referansın çoktan geri alınmış belleği gösterdiği bir an asla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tamamen farklı program, bayt bayt, yapılandırılmış bir kayıt üzerinde nasıl anlaşır?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Derleyici, platform ve dolgu kuralları bir struct'ın tam bayt düzenini etkiler — iki tarafın da anlaştığı bir şey gerekiyor.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BER'li ASN.1, HTTPS'in temeli olan X.509 sertifikalarının, LDAP'ın ve SNMP'nin altında görünmez biçimde hâlâ duruyor.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Kaydınızı hiç görmemiş bir çözücü bile onu doğru gezebilir: etiketi oku, uzunluğu oku, o kadar baytı atla, tekrarla.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INTEGER etiket 0x02, UTF8String etiket 0x0C, SEQUENCE etiket 0x30 — gerçek ASN.1 evrensel sınıf numaraları.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alan — tamsayılar, kısa metinler, mantıksal değerler — her biri Etiket, Uzunluk, Değer oluyor.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300 karakterlik bir metnin uzunluğu artık tek bayta sığmıyor — uzun biçim yalnızca "kaç tane" demek için fazladan bayt harcıyor.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Kısa biçim tek bayt; uzun biçimde en üst bit "sıradaki n bayt UZUNLUĞUN kendisi" demek.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İkisi de aynı soyut bilgiyi kodlar — BER boyutu kendini tanımlamaya, PER de tersini feda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BER ile aynı türden kayıt, bu kez bayt bayt değil bit bit paketleniyor.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alan — isim harfleri, bir yaş, birkaç kısıtlı sayı — birkaç bayta paketlendi.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min, max'a eşitken olası tek bir değer var — alıcı bunu zaten biliyor, bu yüzden HİÇBİR ŞEY gönderilmiyor.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PER çıktısı yalnızca en sonda bayta hizalanır, alan alan değil — bitler birbirine sıkı sıkıya yaslanır.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PER çözücü BER baytlarını okuyamaz, ya da tersi — aynı şema için iki farklı bayt biçimi.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çözücü asla bir boyutu tahmin etmek zorunda kalmaz — uzunluk öneki her zaman tam olarak söyler.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İkilikte 00 1 10000, tam olarak 0x30 — kurulu bit, 0x10'u 0x30'a çeviren şey.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Bugünkü her fikir, derlenip çalışana kadar değersiz — bu bölüm tüm dönem için akışı bir kez kuruyor.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atölye, tüm dönem tekrarlayacağınız akışı bir kez kuruyor: derle, çalıştır, hata ayıkla.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derleyici kaynağı makine koduna çevirir; bir bağlayıcı bunu C standart kütüphanesiyle birleştirir.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gcc, hello_workshop.c'yi x'e derler; &amp;&amp; yalnızca derleme başarılıysa çalıştırır.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uyarı, derleyicinin muhtemelen bir hata olduğunu, çalışma zamanında zor yoldan öğrenmeden önce söylemesidir.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Yazdırdığı ortalama yanlış — sum ve n doğru görünüyor, ama son satırdaki bir şey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yöntem, şimdi bulacağımızdan çok daha ince hatalara ölçeklenir.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eleman. İzleme panelinde i, sum ve n'yi adımlarken, sonra sum / n'yi yazdırırken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 == 0, programı tam koruma satırında durdurur — sıfıra bölmek tanımsız davranış olurdu.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sum/n 7 verir (tam sayı bölmesi); (double) sum/n gerçek yanıtı, 7.666...'yı verir — hata yalnızca son bölmedeydi.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İlk komut YAPILANDIRIR: CMakeLists.txt'yi okur, derleyiciyi kontrol eder. İkincisi DERLER: derler ve bağlar.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Visual Studio bir CMakeLists.txt'yi doğrudan açabilir — bir önceki slayttaki aynı dosya değişmeden çalışır.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Çalıştırmayı her zaman &amp;&amp; ile zincirleyin, böylece başarısız bir derleme sizi yanlışlıkla dünkü ikiliği çalıştırmaz.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Sonradan, çalışma zamanında, zor yoldan keşfedilmeden.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cevaplamasını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Yapılandırma genelde bir kez, derleme kaynağı her değiştirdiğinizde.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Sonraki her hafta bir yapı daha ekliyor, tam olarak bu aynı araçlarla değerlendirilerek.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İşaretçiler, yığın ve öbek, sonraki her haftanın sizde zaten var saydığı bellek resmi.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öğrenci bugünden yalnızca tek bir cümle hatırlayacaksa, hatırlanmaya değer olan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Bunlar, yazılı notların sonundaki öz-değerlendirme quizini yansıtıyor, burada slayt başına bir soru, daha kısa bir küme.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Sorun,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Doğruluk ve maliyet tamamen ayrı iki soru.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Sorun,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sıra, dönemin geri kalanında her hafta tekrar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Sorun,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Sıralı düzen olmadan, bir yarıyı atmak bir garanti değil, bir tahmin olurdu.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Sorun,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Uzunluk, Etiket baytını ya da kendi Uzunluk bayt(lar)ını asla saymaz.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Sorun,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Önce-dereferans-sonra-eriş o kadar sık bir örüntü ki C ona kendi operatörünü verdi.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Bugünün önizlemesindeki O(1)-her-yere-ekleme, O(n)-erişim ödünleşimi, artık tam olarak: ekleme, silme, gezinme, ölçülmüş.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Bunlar, haftanın yazılı notlarının sonunda listelenen aynı kaynaklar.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Tarihsel kaynaklar — Bachmann, Landau, Knuth, Liskov — bugünün "kısa tarihçe" slaytlarının dayandığı kaynaklar.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Giriş, Big-O ve İşaretçiler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626"/>
                <a:gridCol w="9972908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Ders planı · veri yapısı nedir · doğrusal / doğrusal olmayan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Big-O: arama, büyüme, döngüler, alan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Animasyon 1–5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İşaretçiler, yığın/öbek, TLV/PER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Animasyon 6–13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C atölyesi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Animasyon 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381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çıktıları:</a:t>
            </a:r>
            <a:r>
              <a:rPr sz="2000" b="0">
                <a:solidFill>
                  <a:srgbClr val="1F2D3A"/>
                </a:solidFill>
              </a:rPr>
              <a:t> LO.1 (doğrusal/doğrusal olmayan yapılar) · LO.2 (zaman ve alan karmaşıklığı) · LO.7 (doğru yapıyı seçmek)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kavramları — nerede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6125"/>
                <a:gridCol w="2325409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yapısı, doğrusal / doğrusal olmayan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Big-O, büyüme, en iyi/en kötü/ortalama, alan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İşaretçiler, struct'lar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Yığın, öbek, TLV/PER, C atölyesi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5–7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örnekleri nasıl çalışıyor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fikrin eksiksiz bir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programı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code/week-01/c/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code/week-01/java/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programın beklenen çıktısı hafta notlarında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Ders düzeni: nasıl değerlendirileceksiniz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 bir proje</a:t>
            </a:r>
            <a:r>
              <a:rPr sz="2000" b="0">
                <a:solidFill>
                  <a:srgbClr val="1F2D3A"/>
                </a:solidFill>
              </a:rPr>
              <a:t>, tüm dönem boyunca: önce C, sonra Java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 ara kontrol</a:t>
            </a:r>
            <a:r>
              <a:rPr sz="2000" b="0">
                <a:solidFill>
                  <a:srgbClr val="1F2D3A"/>
                </a:solidFill>
              </a:rPr>
              <a:t>: C'de bir vize, Java'da bir final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 quiz</a:t>
            </a:r>
            <a:r>
              <a:rPr sz="2000" b="0">
                <a:solidFill>
                  <a:srgbClr val="1F2D3A"/>
                </a:solidFill>
              </a:rPr>
              <a:t> — ayrı bir ödev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Bunun gibi haftalık notlar, İngilizce ve Türkçe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 not dağılımı: ders </a:t>
            </a:r>
            <a:r>
              <a:rPr sz="2000" b="1">
                <a:solidFill>
                  <a:srgbClr val="1F2D3A"/>
                </a:solidFill>
              </a:rPr>
              <a:t>izlencesi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Ders düzeni: takımlar ve kaynaklar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Takım büyüklüğü: proje takımı başına </a:t>
            </a:r>
            <a:r>
              <a:rPr sz="2000" b="1">
                <a:solidFill>
                  <a:srgbClr val="1F2D3A"/>
                </a:solidFill>
              </a:rPr>
              <a:t>en çok 3</a:t>
            </a:r>
            <a:r>
              <a:rPr sz="2000" b="0">
                <a:solidFill>
                  <a:srgbClr val="1F2D3A"/>
                </a:solidFill>
              </a:rPr>
              <a:t> öğrenci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3. haftadan sonra takım değişikliği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 kılavuzu: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docs/project-guide/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 koşullar: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docs/prerequisites/</a:t>
            </a:r>
            <a:r>
              <a:rPr sz="2000" b="0">
                <a:solidFill>
                  <a:srgbClr val="1F2D3A"/>
                </a:solidFill>
              </a:rPr>
              <a:t> (C araç zinciri, alt yapı)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Eski bir izlence PDF'i dersle çelişiyorsa: </a:t>
            </a:r>
            <a:r>
              <a:rPr sz="2000" b="1">
                <a:solidFill>
                  <a:srgbClr val="1F2D3A"/>
                </a:solidFill>
              </a:rPr>
              <a:t>sorun, tahmin etmeyin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— ve dersin — haritası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1496"/>
                <a:gridCol w="5810038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Bu hafta ne kuruyor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Sonraki her hafta ne ekliyor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Maliyeti ölçmenin yolu (Big-O)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Veriyi düzenlemenin bir yolu daha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Belleğin bir resmi (işaretçiler)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Aynı Big-O aracıyla değerlendiriliyor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Veri Yapısı Nedir?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Telefonunuzun rehberi on binlerce isim arasında "Ayşe"yi anında bulur. Sırasız olsaydı, aynı telefon her ismi taramak zorunda kalırdı.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1960'lar</a:t>
            </a:r>
            <a:r>
              <a:rPr sz="2000" b="0">
                <a:solidFill>
                  <a:srgbClr val="1F2D3A"/>
                </a:solidFill>
              </a:rPr>
              <a:t> — "veri yapısı" terimi bilgisayar bilimlerinde yaygınlaşır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1968</a:t>
            </a:r>
            <a:r>
              <a:rPr sz="2000" b="0">
                <a:solidFill>
                  <a:srgbClr val="1F2D3A"/>
                </a:solidFill>
              </a:rPr>
              <a:t> — Knuth'un </a:t>
            </a:r>
            <a:r>
              <a:rPr sz="2000" b="0" i="1">
                <a:solidFill>
                  <a:srgbClr val="1F2D3A"/>
                </a:solidFill>
              </a:rPr>
              <a:t>TAOCP</a:t>
            </a:r>
            <a:r>
              <a:rPr sz="2000" b="0">
                <a:solidFill>
                  <a:srgbClr val="1F2D3A"/>
                </a:solidFill>
              </a:rPr>
              <a:t> Cilt 1'i liste, yığın, ağaçları inceler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1974</a:t>
            </a:r>
            <a:r>
              <a:rPr sz="2000" b="0">
                <a:solidFill>
                  <a:srgbClr val="1F2D3A"/>
                </a:solidFill>
              </a:rPr>
              <a:t> — Liskov &amp; Zilles: </a:t>
            </a:r>
            <a:r>
              <a:rPr sz="2000" b="1">
                <a:solidFill>
                  <a:srgbClr val="1F2D3A"/>
                </a:solidFill>
              </a:rPr>
              <a:t>soyut veri tipi</a:t>
            </a:r>
            <a:r>
              <a:rPr sz="2000" b="0">
                <a:solidFill>
                  <a:srgbClr val="1F2D3A"/>
                </a:solidFill>
              </a:rPr>
              <a:t> (ADT)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ADT = yapının </a:t>
            </a:r>
            <a:r>
              <a:rPr sz="2000" b="0" i="1">
                <a:solidFill>
                  <a:srgbClr val="1F2D3A"/>
                </a:solidFill>
              </a:rPr>
              <a:t>ne yaptığı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 i="1">
                <a:solidFill>
                  <a:srgbClr val="1F2D3A"/>
                </a:solidFill>
              </a:rPr>
              <a:t>nasıl kurulduğu</a:t>
            </a:r>
            <a:r>
              <a:rPr sz="2000" b="0">
                <a:solidFill>
                  <a:srgbClr val="1F2D3A"/>
                </a:solidFill>
              </a:rPr>
              <a:t> değil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Sezgi: veri için mobilya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Dosya dolabı, kitaplık, masadaki tepsi yığını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 aynı </a:t>
            </a:r>
            <a:r>
              <a:rPr sz="2000" b="0" i="1">
                <a:solidFill>
                  <a:srgbClr val="1F2D3A"/>
                </a:solidFill>
              </a:rPr>
              <a:t>türde</a:t>
            </a:r>
            <a:r>
              <a:rPr sz="2000" b="0">
                <a:solidFill>
                  <a:srgbClr val="1F2D3A"/>
                </a:solidFill>
              </a:rPr>
              <a:t> içeriği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 </a:t>
            </a:r>
            <a:r>
              <a:rPr sz="2000" b="1">
                <a:solidFill>
                  <a:srgbClr val="1F2D3A"/>
                </a:solidFill>
              </a:rPr>
              <a:t>farklı şeylerde</a:t>
            </a:r>
            <a:r>
              <a:rPr sz="2000" b="0">
                <a:solidFill>
                  <a:srgbClr val="1F2D3A"/>
                </a:solidFill>
              </a:rPr>
              <a:t> iyidir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"en iyi" düzen yok — yalnızca ödünleşimler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Veri yapısı, tam olarak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Verileri öyle düzenlemenin bir yolu ki belirli işlemler — erişim, arama, ekleme, silme — bilinen, çözümlenebilir bir </a:t>
            </a:r>
            <a:r>
              <a:rPr sz="2000" b="1">
                <a:solidFill>
                  <a:srgbClr val="1F2D3A"/>
                </a:solidFill>
              </a:rPr>
              <a:t>maliyetle</a:t>
            </a:r>
            <a:r>
              <a:rPr sz="2000" b="0">
                <a:solidFill>
                  <a:srgbClr val="1F2D3A"/>
                </a:solidFill>
              </a:rPr>
              <a:t> yapılabilsin.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Neden tek bir tane yok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095"/>
                <a:gridCol w="8456439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Neden bedava değil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Erişim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Bazı düzenler konumu hesaplar; bazıları baştan yürür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Arama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Sırasız: tek tek kontrol. Sıralı: yarıya indirilebilir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Ekleme / Silme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Bazıları her şeyi kaydırır; bazıları iki işaretçiyi bağlar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şeyde diğer her yapıyı geride bırakan tek bir "en iyi" veri yapısı neden yok?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düzen bir </a:t>
            </a:r>
            <a:r>
              <a:rPr sz="2000" b="1">
                <a:solidFill>
                  <a:srgbClr val="1F2D3A"/>
                </a:solidFill>
              </a:rPr>
              <a:t>ödünleşim</a:t>
            </a:r>
            <a:r>
              <a:rPr sz="2000" b="0">
                <a:solidFill>
                  <a:srgbClr val="1F2D3A"/>
                </a:solidFill>
              </a:rPr>
              <a:t> yapar: erişimi hızlandıran (örn. sıralı dizi), genelde eklemeyi yavaşlatır — ve tersi. İstisnasız.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Doğrusal ve Doğrusal Olmayan: Dersin Haritası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 beş şarkınız tek bir çizgi oluşturur. Bir şirketin org şeması dallanır. Bu yalnızca çizimle mi ilgili, yoksa gerçek bir yapısal fark mı?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Tanımlar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Doğrusal</a:t>
            </a:r>
            <a:r>
              <a:rPr sz="2000" b="0">
                <a:solidFill>
                  <a:srgbClr val="1F2D3A"/>
                </a:solidFill>
              </a:rPr>
              <a:t>: her elemanın tam olarak bir "sonraki"si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zaman "sırada ne var?" diye sorabilir, tek yanıt alırsınız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Doğrusal olmayan</a:t>
            </a:r>
            <a:r>
              <a:rPr sz="2000" b="0">
                <a:solidFill>
                  <a:srgbClr val="1F2D3A"/>
                </a:solidFill>
              </a:rPr>
              <a:t>: bir elemanın birden çok "sonraki"si olabilir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Gezmek, hangi dalı izleyeceğinizi </a:t>
            </a:r>
            <a:r>
              <a:rPr sz="2000" b="0" i="1">
                <a:solidFill>
                  <a:srgbClr val="1F2D3A"/>
                </a:solidFill>
              </a:rPr>
              <a:t>seçmek</a:t>
            </a:r>
            <a:r>
              <a:rPr sz="2000" b="0">
                <a:solidFill>
                  <a:srgbClr val="1F2D3A"/>
                </a:solidFill>
              </a:rPr>
              <a:t> demektir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Ders, sıralandı: doğrusal yapılar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58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5873"/>
                <a:gridCol w="1487936"/>
                <a:gridCol w="6447725"/>
              </a:tblGrid>
              <a:tr h="51755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zaman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Belirleyici ödünleşim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1755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 (array)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Hafta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erişim; ortada O(n) ekleme/silme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755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Bağlı liste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Hafta 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 erişim; oraya varınca O(1) ekleme/silme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1755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 (stack, LIFO)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Hafta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Yalnızca bir uca dokunun; her işlem 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75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Kuyruk (queue, FIFO)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Hafta 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 uçtan ekle, diğerinden çıkar; her işlem 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Ders, sıralandı: doğrusal olmayan ve anahtarla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112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2842"/>
                <a:gridCol w="1839022"/>
                <a:gridCol w="5639669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zaman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Belirleyici ödünleşim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İkili ağaç, heap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Hafta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Dengeliyken O(log n), en çok 2 çocuk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Çizge (graph)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Hafta 5–6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Herhangi sayıda bağlantı; ağlar, haritalar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 tablosu (anahtarla)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Hafta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Ortalama O(1), konumla değil anahtarla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Dosyalar (diskte)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Hafta 13–15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Aynı ödünleşimler, disk G/Ç ile ödenir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"Doğrusal olmayan" </a:t>
            </a:r>
            <a:r>
              <a:rPr sz="2000" b="1">
                <a:solidFill>
                  <a:srgbClr val="1F2D3A"/>
                </a:solidFill>
              </a:rPr>
              <a:t>"düzensiz"</a:t>
            </a:r>
            <a:r>
              <a:rPr sz="2000" b="0">
                <a:solidFill>
                  <a:srgbClr val="1F2D3A"/>
                </a:solidFill>
              </a:rPr>
              <a:t> anlamına gelmez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"Sıralı" ile "doğrusal" aynı şey değil — farklı eksenler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hash tablosunun </a:t>
            </a:r>
            <a:r>
              <a:rPr sz="2000" b="0" i="1">
                <a:solidFill>
                  <a:srgbClr val="1F2D3A"/>
                </a:solidFill>
              </a:rPr>
              <a:t>yuvaları</a:t>
            </a:r>
            <a:r>
              <a:rPr sz="2000" b="0">
                <a:solidFill>
                  <a:srgbClr val="1F2D3A"/>
                </a:solidFill>
              </a:rPr>
              <a:t> doğrusaldır; anahtarla erişim yeni olan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tabak yığını doğrusal mı, doğrusal olmayan mı? Neden?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Doğrusal.</a:t>
            </a:r>
            <a:r>
              <a:rPr sz="2000" b="0">
                <a:solidFill>
                  <a:srgbClr val="1F2D3A"/>
                </a:solidFill>
              </a:rPr>
              <a:t> Her tabağın (en üsttekiler hariç) tam olarak bir üstü, (en alttaki hariç) tam olarak bir altı var — tek "sonraki".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soy ağacı doğrusal mı, doğrusal olmayan mı?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Doğrusal olmayan.</a:t>
            </a:r>
            <a:r>
              <a:rPr sz="2000" b="0">
                <a:solidFill>
                  <a:srgbClr val="1F2D3A"/>
                </a:solidFill>
              </a:rPr>
              <a:t> Bir ebeveynin birden çok çocuğu olabilir, yani belirli bir kişiden birden çok "sonraki" çıkabilir.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Algoritma Analizi: Saniyeyi Değil, Adımı Saymak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diziyi arayan bir fonksiyon yazdınız. Çalışıyor. </a:t>
            </a:r>
            <a:r>
              <a:rPr sz="2000" b="0" i="1">
                <a:solidFill>
                  <a:srgbClr val="1F2D3A"/>
                </a:solidFill>
              </a:rPr>
              <a:t>Hızlı</a:t>
            </a:r>
            <a:r>
              <a:rPr sz="2000" b="0">
                <a:solidFill>
                  <a:srgbClr val="1F2D3A"/>
                </a:solidFill>
              </a:rPr>
              <a:t> mı? Kronometre size bugün, laptopınız hakkında bir şey söyler.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1894</a:t>
            </a:r>
            <a:r>
              <a:rPr sz="2000" b="0">
                <a:solidFill>
                  <a:srgbClr val="1F2D3A"/>
                </a:solidFill>
              </a:rPr>
              <a:t> — Bachmann büyük-</a:t>
            </a:r>
            <a:r>
              <a:rPr sz="2000" b="1">
                <a:solidFill>
                  <a:srgbClr val="1F2D3A"/>
                </a:solidFill>
              </a:rPr>
              <a:t>O</a:t>
            </a:r>
            <a:r>
              <a:rPr sz="2000" b="0">
                <a:solidFill>
                  <a:srgbClr val="1F2D3A"/>
                </a:solidFill>
              </a:rPr>
              <a:t> gösterimini tanıtır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1900'lerin başı</a:t>
            </a:r>
            <a:r>
              <a:rPr sz="2000" b="0">
                <a:solidFill>
                  <a:srgbClr val="1F2D3A"/>
                </a:solidFill>
              </a:rPr>
              <a:t> — Landau yaygınlaştırır ("Landau sembolü")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1960'lar</a:t>
            </a:r>
            <a:r>
              <a:rPr sz="2000" b="0">
                <a:solidFill>
                  <a:srgbClr val="1F2D3A"/>
                </a:solidFill>
              </a:rPr>
              <a:t> — bilgisayar bilimi algoritma maliyeti için benimser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1976</a:t>
            </a:r>
            <a:r>
              <a:rPr sz="2000" b="0">
                <a:solidFill>
                  <a:srgbClr val="1F2D3A"/>
                </a:solidFill>
              </a:rPr>
              <a:t> — Knuth'un makalesi CS için O/Ω/Θ'yı standartlaştırır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Sezgi: adımları 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Algoritmanın temel iş birimini — bir karşılaştırma, bir dizi erişimi — girdi büyüklüğü </a:t>
            </a:r>
            <a:r>
              <a:rPr sz="2000" b="1">
                <a:solidFill>
                  <a:srgbClr val="1F2D3A"/>
                </a:solidFill>
              </a:rPr>
              <a:t>n</a:t>
            </a:r>
            <a:r>
              <a:rPr sz="2000" b="0">
                <a:solidFill>
                  <a:srgbClr val="1F2D3A"/>
                </a:solidFill>
              </a:rPr>
              <a:t>'nin bir fonksiyonu olarak sayın.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Doğrusal arama: her kutuyu dene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Baştan başlar, hedefi bulana ya da kutular bitene kadar elemanları tek tek dener. Veride </a:t>
            </a:r>
            <a:r>
              <a:rPr sz="2000" b="1">
                <a:solidFill>
                  <a:srgbClr val="1F2D3A"/>
                </a:solidFill>
              </a:rPr>
              <a:t>belirli bir sıra</a:t>
            </a:r>
            <a:r>
              <a:rPr sz="2000" b="0">
                <a:solidFill>
                  <a:srgbClr val="1F2D3A"/>
                </a:solidFill>
              </a:rPr>
              <a:t> gerektirmez.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Doğrusal arama, adım adım</a:t>
            </a:r>
          </a:p>
        </p:txBody>
      </p:sp>
      <p:pic>
        <p:nvPicPr>
          <p:cNvPr id="7" name="Picture 6" descr="linear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190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hedef dizide yok</a:t>
            </a:r>
          </a:p>
        </p:txBody>
      </p:sp>
      <p:pic>
        <p:nvPicPr>
          <p:cNvPr id="7" name="Picture 6" descr="linear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1903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linear_search (döngü)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(*comparisons)++;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(arr[i] == target)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Doğrusal aramanın sonucu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 durum (son eleman ya da yok): </a:t>
            </a:r>
            <a:r>
              <a:rPr sz="2000" b="1">
                <a:solidFill>
                  <a:srgbClr val="1F2D3A"/>
                </a:solidFill>
              </a:rPr>
              <a:t>n</a:t>
            </a:r>
            <a:r>
              <a:rPr sz="2000" b="0">
                <a:solidFill>
                  <a:srgbClr val="1F2D3A"/>
                </a:solidFill>
              </a:rPr>
              <a:t>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iyi durum (ilk eleman): </a:t>
            </a:r>
            <a:r>
              <a:rPr sz="2000" b="1">
                <a:solidFill>
                  <a:srgbClr val="1F2D3A"/>
                </a:solidFill>
              </a:rPr>
              <a:t>1</a:t>
            </a:r>
            <a:r>
              <a:rPr sz="2000" b="0">
                <a:solidFill>
                  <a:srgbClr val="1F2D3A"/>
                </a:solidFill>
              </a:rPr>
              <a:t>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Maliyet </a:t>
            </a:r>
            <a:r>
              <a:rPr sz="2000" b="1">
                <a:solidFill>
                  <a:srgbClr val="1F2D3A"/>
                </a:solidFill>
              </a:rPr>
              <a:t>doğrudan n ile büyür</a:t>
            </a:r>
            <a:r>
              <a:rPr sz="2000" b="0">
                <a:solidFill>
                  <a:srgbClr val="1F2D3A"/>
                </a:solidFill>
              </a:rPr>
              <a:t> — bu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İkili arama (binary search): her seferinde yarısını 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Dizi </a:t>
            </a:r>
            <a:r>
              <a:rPr sz="2000" b="1">
                <a:solidFill>
                  <a:srgbClr val="1F2D3A"/>
                </a:solidFill>
              </a:rPr>
              <a:t>sıralıysa</a:t>
            </a:r>
            <a:r>
              <a:rPr sz="2000" b="0">
                <a:solidFill>
                  <a:srgbClr val="1F2D3A"/>
                </a:solidFill>
              </a:rPr>
              <a:t>: ortaya bak. Küçükse sol yarıyı, büyükse sağ yarıyı at. Kalan yarıda tekrarla.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İkili arama, adım adım</a:t>
            </a:r>
          </a:p>
        </p:txBody>
      </p:sp>
      <p:pic>
        <p:nvPicPr>
          <p:cNvPr id="7" name="Picture 6" descr="binary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96" y="1325880"/>
            <a:ext cx="62115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bulunamadı: lo, hi'yi geçiyor</a:t>
            </a:r>
          </a:p>
        </p:txBody>
      </p:sp>
      <p:pic>
        <p:nvPicPr>
          <p:cNvPr id="7" name="Picture 6" descr="binary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96" y="1325880"/>
            <a:ext cx="62115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binary_search (temel adım)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mid = lo + (hi - lo)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(*comparisons)++;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(arr[mid] == target)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mid;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(arr[mid] &lt; target)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lo = mid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hi = mid - 1;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İkili aramanın sonucu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</a:t>
            </a:r>
            <a:r>
              <a:rPr sz="2000" b="0">
                <a:solidFill>
                  <a:srgbClr val="A1123F"/>
                </a:solidFill>
                <a:latin typeface="Consolas"/>
              </a:rPr>
              <a:t>42</a:t>
            </a:r>
            <a:r>
              <a:rPr sz="2000" b="0">
                <a:solidFill>
                  <a:srgbClr val="1F2D3A"/>
                </a:solidFill>
              </a:rPr>
              <a:t>, 9 değil, yalnızca </a:t>
            </a:r>
            <a:r>
              <a:rPr sz="2000" b="1">
                <a:solidFill>
                  <a:srgbClr val="1F2D3A"/>
                </a:solidFill>
              </a:rPr>
              <a:t>3</a:t>
            </a:r>
            <a:r>
              <a:rPr sz="2000" b="0">
                <a:solidFill>
                  <a:srgbClr val="1F2D3A"/>
                </a:solidFill>
              </a:rPr>
              <a:t> karşılaştırmada bulundu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karşılaştırma, kalanın </a:t>
            </a:r>
            <a:r>
              <a:rPr sz="2000" b="1">
                <a:solidFill>
                  <a:srgbClr val="1F2D3A"/>
                </a:solidFill>
              </a:rPr>
              <a:t>yarısını</a:t>
            </a:r>
            <a:r>
              <a:rPr sz="2000" b="0">
                <a:solidFill>
                  <a:srgbClr val="1F2D3A"/>
                </a:solidFill>
              </a:rPr>
              <a:t> çöpe atar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1'e inene kadar yarılama sayısı: </a:t>
            </a:r>
            <a:r>
              <a:rPr sz="2000" b="1">
                <a:solidFill>
                  <a:srgbClr val="1F2D3A"/>
                </a:solidFill>
              </a:rPr>
              <a:t>log₂ n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O(log n)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Büyüme yarışı: hız değil, şekil kazanır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 ikiye katlanırken üç fonksiyonu yarıştıralım: düz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n·log₂n</a:t>
            </a:r>
            <a:r>
              <a:rPr sz="2000" b="0">
                <a:solidFill>
                  <a:srgbClr val="1F2D3A"/>
                </a:solidFill>
              </a:rPr>
              <a:t> (en iyi sıralamalar), </a:t>
            </a:r>
            <a:r>
              <a:rPr sz="2000" b="0">
                <a:solidFill>
                  <a:srgbClr val="A1123F"/>
                </a:solidFill>
                <a:latin typeface="Consolas"/>
              </a:rPr>
              <a:t>n²</a:t>
            </a:r>
            <a:r>
              <a:rPr sz="2000" b="0">
                <a:solidFill>
                  <a:srgbClr val="1F2D3A"/>
                </a:solidFill>
              </a:rPr>
              <a:t> (basit sıralamalar, iç içe döngüler).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Büyüme yarışı, adım adım</a:t>
            </a:r>
          </a:p>
        </p:txBody>
      </p:sp>
      <p:pic>
        <p:nvPicPr>
          <p:cNvPr id="7" name="Picture 6" descr="growth-rac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130" y="1325880"/>
            <a:ext cx="794143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2^n neredeyse anında taşıyor</a:t>
            </a:r>
          </a:p>
        </p:txBody>
      </p:sp>
      <p:pic>
        <p:nvPicPr>
          <p:cNvPr id="7" name="Picture 6" descr="growth-rac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130" y="1325880"/>
            <a:ext cx="794143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Gerçekçi büyüklüklerde büyüme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638072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447"/>
                <a:gridCol w="2364165"/>
                <a:gridCol w="327346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n·log₂n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n²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10.000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132.877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100.000.000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1.660.964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10.000.000.000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büyüme tablosu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count;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long n = ns[i];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double nlogn = (double) n * log2((double)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double nsq = (double) n * (double)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Big-O, tam olarak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f(n)</a:t>
            </a:r>
            <a:r>
              <a:rPr sz="2000" b="0">
                <a:solidFill>
                  <a:srgbClr val="1F2D3A"/>
                </a:solidFill>
              </a:rPr>
              <a:t>, belirli bir noktadan 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g</a:t>
            </a:r>
            <a:r>
              <a:rPr sz="2000" b="0">
                <a:solidFill>
                  <a:srgbClr val="1F2D3A"/>
                </a:solidFill>
              </a:rPr>
              <a:t>'nin sabit bir katından hiç hızlı büyümüyorsa </a:t>
            </a:r>
            <a:r>
              <a:rPr sz="2000" b="0">
                <a:solidFill>
                  <a:srgbClr val="A1123F"/>
                </a:solidFill>
                <a:latin typeface="Consolas"/>
              </a:rPr>
              <a:t>O(g(n))</a:t>
            </a:r>
            <a:r>
              <a:rPr sz="2000" b="0">
                <a:solidFill>
                  <a:srgbClr val="1F2D3A"/>
                </a:solidFill>
              </a:rPr>
              <a:t>'dir. </a:t>
            </a:r>
            <a:r>
              <a:rPr sz="2000" b="1">
                <a:solidFill>
                  <a:srgbClr val="1F2D3A"/>
                </a:solidFill>
              </a:rPr>
              <a:t>Sabitleri at, en büyük terimi tut.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En büyük terimi okumak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91108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3273460"/>
                <a:gridCol w="218230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Sayılan adımlar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 büyük terim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Big-O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3n + 7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n² + 2n + 1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n²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O(n²)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2·log₂n + 5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log 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Sıralama, hızlıdan yavaşa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O(1) &lt; O(log n) &lt; O(n) &lt; O(n log n) &lt; O(n²) &lt; O(2ⁿ)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İlk üçüyle bugün tanıştınız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log n)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O(2ⁿ)</a:t>
            </a:r>
            <a:r>
              <a:rPr sz="2000" b="0">
                <a:solidFill>
                  <a:srgbClr val="1F2D3A"/>
                </a:solidFill>
              </a:rPr>
              <a:t> bu dönem ilerde geliyor.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T(n)'yi elle kurmak: iç içe bir döngü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döngünün içinde başka bir döngü: n dış yinelemenin her biri için, iç döngü kendi n yinelemesinin tamamını çalıştırır.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İç içe döngüyü saymak, adım adım</a:t>
            </a:r>
          </a:p>
        </p:txBody>
      </p:sp>
      <p:pic>
        <p:nvPicPr>
          <p:cNvPr id="7" name="Picture 6" descr="nested-loop-count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95" y="1325880"/>
            <a:ext cx="863550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farklı bir döngü şekli</a:t>
            </a:r>
          </a:p>
        </p:txBody>
      </p:sp>
      <p:pic>
        <p:nvPicPr>
          <p:cNvPr id="7" name="Picture 6" descr="nested-loop-count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95" y="1325880"/>
            <a:ext cx="863550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iç içe döngü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long count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j = 0; j &lt; n; j++)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count++;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(*operations)++;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En iyi, en kötü ve ortalama durum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 iyi</a:t>
            </a:r>
            <a:r>
              <a:rPr sz="2000" b="0">
                <a:solidFill>
                  <a:srgbClr val="1F2D3A"/>
                </a:solidFill>
              </a:rPr>
              <a:t>: hedef ilk kontrol edilen — 1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 kötü</a:t>
            </a:r>
            <a:r>
              <a:rPr sz="2000" b="0">
                <a:solidFill>
                  <a:srgbClr val="1F2D3A"/>
                </a:solidFill>
              </a:rPr>
              <a:t>: hedef son ya da yok — n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Ortalama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(1 + 2 + ... + n) / n = (n + 1) / 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Niteliksiz "algoritmanın Big-O'su" genelde </a:t>
            </a:r>
            <a:r>
              <a:rPr sz="2000" b="1">
                <a:solidFill>
                  <a:srgbClr val="1F2D3A"/>
                </a:solidFill>
              </a:rPr>
              <a:t>en kötüyü</a:t>
            </a:r>
            <a:r>
              <a:rPr sz="2000" b="0">
                <a:solidFill>
                  <a:srgbClr val="1F2D3A"/>
                </a:solidFill>
              </a:rPr>
              <a:t> anlatır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Alan karmaşıklığı: aynı fikir, bellek için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Big-O adımları sayarak </a:t>
            </a:r>
            <a:r>
              <a:rPr sz="2000" b="1">
                <a:solidFill>
                  <a:srgbClr val="1F2D3A"/>
                </a:solidFill>
              </a:rPr>
              <a:t>zamanı</a:t>
            </a:r>
            <a:r>
              <a:rPr sz="2000" b="0">
                <a:solidFill>
                  <a:srgbClr val="1F2D3A"/>
                </a:solidFill>
              </a:rPr>
              <a:t> ölçer; alan karmaşıklığı, girdinin ötesindeki ek depolamayı — </a:t>
            </a:r>
            <a:r>
              <a:rPr sz="2000" b="1">
                <a:solidFill>
                  <a:srgbClr val="1F2D3A"/>
                </a:solidFill>
              </a:rPr>
              <a:t>belleği</a:t>
            </a:r>
            <a:r>
              <a:rPr sz="2000" b="0">
                <a:solidFill>
                  <a:srgbClr val="1F2D3A"/>
                </a:solidFill>
              </a:rPr>
              <a:t> — ölçer.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Özyinelemeli ve döngülü toplam, adım adım</a:t>
            </a:r>
          </a:p>
        </p:txBody>
      </p:sp>
      <p:pic>
        <p:nvPicPr>
          <p:cNvPr id="7" name="Picture 6" descr="space-recursive-vs-iterativ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466" y="1325880"/>
            <a:ext cx="680876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derin özyineleme, 22 çerçeve</a:t>
            </a:r>
          </a:p>
        </p:txBody>
      </p:sp>
      <p:pic>
        <p:nvPicPr>
          <p:cNvPr id="7" name="Picture 6" descr="space-recursive-vs-iterativ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466" y="1325880"/>
            <a:ext cx="680876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özyinelemeli ve döngülü toplam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sum_recursive(const int arr[],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arr[n - 1] + sum_recursive(arr, n - 1);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sum_iterative(const int arr[],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total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total += arr[i];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total;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Big-O'yu </a:t>
            </a:r>
            <a:r>
              <a:rPr sz="2000" b="0" i="1">
                <a:solidFill>
                  <a:srgbClr val="1F2D3A"/>
                </a:solidFill>
              </a:rPr>
              <a:t>koddan</a:t>
            </a:r>
            <a:r>
              <a:rPr sz="2000" b="0">
                <a:solidFill>
                  <a:srgbClr val="1F2D3A"/>
                </a:solidFill>
              </a:rPr>
              <a:t> değil </a:t>
            </a:r>
            <a:r>
              <a:rPr sz="2000" b="0" i="1">
                <a:solidFill>
                  <a:srgbClr val="1F2D3A"/>
                </a:solidFill>
              </a:rPr>
              <a:t>adımlardan</a:t>
            </a:r>
            <a:r>
              <a:rPr sz="2000" b="0">
                <a:solidFill>
                  <a:srgbClr val="1F2D3A"/>
                </a:solidFill>
              </a:rPr>
              <a:t> okumak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İkili aramanın </a:t>
            </a:r>
            <a:r>
              <a:rPr sz="2000" b="1">
                <a:solidFill>
                  <a:srgbClr val="1F2D3A"/>
                </a:solidFill>
              </a:rPr>
              <a:t>sıralı</a:t>
            </a:r>
            <a:r>
              <a:rPr sz="2000" b="0">
                <a:solidFill>
                  <a:srgbClr val="1F2D3A"/>
                </a:solidFill>
              </a:rPr>
              <a:t> girdi istediğini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O(1)'i "anlık" sanmak — yalnızca "büyümüyor" demek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Ortalama önemliyken yalnızca en kötüyü söylemek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algoritma tam olarak </a:t>
            </a:r>
            <a:r>
              <a:rPr sz="2000" b="0">
                <a:solidFill>
                  <a:srgbClr val="A1123F"/>
                </a:solidFill>
                <a:latin typeface="Consolas"/>
              </a:rPr>
              <a:t>5n + 20</a:t>
            </a:r>
            <a:r>
              <a:rPr sz="2000" b="0">
                <a:solidFill>
                  <a:srgbClr val="1F2D3A"/>
                </a:solidFill>
              </a:rPr>
              <a:t> temel işlem yapıyor. Big-O'su nedir?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. Sabit çarpanı (5) ve toplamsal sabiti (20) atın; yalnızca en hızlı büyüyen terim,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, kalır.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İkili arama neden bağlı bir listede, dizide olduğu gibi doğrudan kullanılamaz?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İkili arama ortaya indeksle </a:t>
            </a:r>
            <a:r>
              <a:rPr sz="2000" b="1">
                <a:solidFill>
                  <a:srgbClr val="1F2D3A"/>
                </a:solidFill>
              </a:rPr>
              <a:t>O(1) erişim</a:t>
            </a:r>
            <a:r>
              <a:rPr sz="2000" b="0">
                <a:solidFill>
                  <a:srgbClr val="1F2D3A"/>
                </a:solidFill>
              </a:rPr>
              <a:t> ister. Bağlı liste düğüm düğüm gezilmeli — zaten O(n), kazancı siliyor.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Niteliksiz olarak, "algoritmanın Big-O'su" genelde hangi durumu anlatır?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En kötü durum</a:t>
            </a:r>
            <a:r>
              <a:rPr sz="2000" b="0">
                <a:solidFill>
                  <a:srgbClr val="1F2D3A"/>
                </a:solidFill>
              </a:rPr>
              <a:t>: garantili üst sınır — size verilen girdi ne olursa olsun geçerli olduğu için değerli.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İşaretçiler (Pointer) ve Nesneler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Çağıranda iki değişkeni takas 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swap(a, b)</a:t>
            </a:r>
            <a:r>
              <a:rPr sz="2000" b="0">
                <a:solidFill>
                  <a:srgbClr val="1F2D3A"/>
                </a:solidFill>
              </a:rPr>
              <a:t> yazın. Birçok dilde bu imkânsız — fonksiyon yalnızca </a:t>
            </a:r>
            <a:r>
              <a:rPr sz="2000" b="0" i="1">
                <a:solidFill>
                  <a:srgbClr val="1F2D3A"/>
                </a:solidFill>
              </a:rPr>
              <a:t>kopyaları</a:t>
            </a:r>
            <a:r>
              <a:rPr sz="2000" b="0">
                <a:solidFill>
                  <a:srgbClr val="1F2D3A"/>
                </a:solidFill>
              </a:rPr>
              <a:t> görür.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1966/1969</a:t>
            </a:r>
            <a:r>
              <a:rPr sz="2000" b="0">
                <a:solidFill>
                  <a:srgbClr val="1F2D3A"/>
                </a:solidFill>
              </a:rPr>
              <a:t> — BCPL, sonra B: adres-al, dereferans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1972</a:t>
            </a:r>
            <a:r>
              <a:rPr sz="2000" b="0">
                <a:solidFill>
                  <a:srgbClr val="1F2D3A"/>
                </a:solidFill>
              </a:rPr>
              <a:t> — Dennis Ritchie'nin C'si işaretçiyi merkeze koyar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1995</a:t>
            </a:r>
            <a:r>
              <a:rPr sz="2000" b="0">
                <a:solidFill>
                  <a:srgbClr val="1F2D3A"/>
                </a:solidFill>
              </a:rPr>
              <a:t> — Java, ham işaretçileri kaldırır, </a:t>
            </a:r>
            <a:r>
              <a:rPr sz="2000" b="1">
                <a:solidFill>
                  <a:srgbClr val="1F2D3A"/>
                </a:solidFill>
              </a:rPr>
              <a:t>referans</a:t>
            </a:r>
            <a:r>
              <a:rPr sz="2000" b="0">
                <a:solidFill>
                  <a:srgbClr val="1F2D3A"/>
                </a:solidFill>
              </a:rPr>
              <a:t>ları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Referans: paylaşılan veri, aritmetik yok, kötü adres yok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Sezgi: bellek, numaralı posta kutuları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değişken bir posta kutusu: adres + içerik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&amp;x</a:t>
            </a:r>
            <a:r>
              <a:rPr sz="2000" b="0">
                <a:solidFill>
                  <a:srgbClr val="1F2D3A"/>
                </a:solidFill>
              </a:rPr>
              <a:t>, "x'in posta kutusu numarası ne?" diye sorar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işaretçi</a:t>
            </a:r>
            <a:r>
              <a:rPr sz="2000" b="0">
                <a:solidFill>
                  <a:srgbClr val="1F2D3A"/>
                </a:solidFill>
              </a:rPr>
              <a:t>, başka bir kutunun numarasını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Dereferans (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): o kutuya git, oku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İşaretçi işlemleri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613"/>
                <a:gridCol w="3637178"/>
                <a:gridCol w="272788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Sözdizimi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Karmaşıklık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Adres-al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&amp;x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Bildirim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int *p;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Adres 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 = &amp;x;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Dereferans (oku/yaz)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*p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*p = v;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değişken, adresi, bir işaretçi</a:t>
            </a:r>
          </a:p>
        </p:txBody>
      </p:sp>
      <p:pic>
        <p:nvPicPr>
          <p:cNvPr id="7" name="Picture 6" descr="pointer-basic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2500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bir NULL işaretçi dereferansı</a:t>
            </a:r>
          </a:p>
        </p:txBody>
      </p:sp>
      <p:pic>
        <p:nvPicPr>
          <p:cNvPr id="7" name="Picture 6" descr="pointer-basic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2500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işaretçiler: adres, takma ad, NULL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*p = NULL, *q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 = &amp;v[i];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*p = val;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 = 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*q += 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(r != NULL)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*r = val;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Java: referans ile değer, yan yana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int[] box = {3};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int[] alias = box;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alias[0] = 5;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y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y = 99;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İşaretçi aritmetiği: p + k, k bayt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p + k</a:t>
            </a:r>
            <a:r>
              <a:rPr sz="2000" b="0">
                <a:solidFill>
                  <a:srgbClr val="1F2D3A"/>
                </a:solidFill>
              </a:rPr>
              <a:t> asla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bayt ilerlemez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k × sizeof(*p)</a:t>
            </a:r>
            <a:r>
              <a:rPr sz="2000" b="0">
                <a:solidFill>
                  <a:srgbClr val="1F2D3A"/>
                </a:solidFill>
              </a:rPr>
              <a:t> bayt ilerler.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</a:t>
            </a:r>
            <a:r>
              <a:rPr sz="2000" b="0">
                <a:solidFill>
                  <a:srgbClr val="1F2D3A"/>
                </a:solidFill>
              </a:rPr>
              <a:t> 4 bayt, yani </a:t>
            </a:r>
            <a:r>
              <a:rPr sz="2000" b="0">
                <a:solidFill>
                  <a:srgbClr val="A1123F"/>
                </a:solidFill>
                <a:latin typeface="Consolas"/>
              </a:rPr>
              <a:t>p + 1</a:t>
            </a:r>
            <a:r>
              <a:rPr sz="2000" b="0">
                <a:solidFill>
                  <a:srgbClr val="1F2D3A"/>
                </a:solidFill>
              </a:rPr>
              <a:t>, 1 değil 4 bayt atlar.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İşaretçi aritmetiği, adım adım</a:t>
            </a:r>
          </a:p>
        </p:txBody>
      </p:sp>
      <p:pic>
        <p:nvPicPr>
          <p:cNvPr id="7" name="Picture 6" descr="pointer-arithmetic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45444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aralık dışı offsetler</a:t>
            </a:r>
          </a:p>
        </p:txBody>
      </p:sp>
      <p:pic>
        <p:nvPicPr>
          <p:cNvPr id="7" name="Picture 6" descr="pointer-arithmetic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4544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işaretçi aritmetiği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a[N];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*p = 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(k &lt; 0 || k &gt;=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aralık dışı: tanımsız davranış (UB)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void *addr = (void *) (p + k);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v = *(p + k);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Struct'a işaretçi ve </a:t>
            </a:r>
            <a:r>
              <a:rPr sz="3000" b="1">
                <a:solidFill>
                  <a:srgbClr val="2E7D32"/>
                </a:solidFill>
                <a:latin typeface="Consolas"/>
              </a:rPr>
              <a:t>-&gt;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</a:t>
            </a:r>
            <a:r>
              <a:rPr sz="2000" b="0">
                <a:solidFill>
                  <a:srgbClr val="1F2D3A"/>
                </a:solidFill>
              </a:rPr>
              <a:t>, alanları tek bir değerde gruplar. </a:t>
            </a:r>
            <a:r>
              <a:rPr sz="2000" b="0">
                <a:solidFill>
                  <a:srgbClr val="A1123F"/>
                </a:solidFill>
                <a:latin typeface="Consolas"/>
              </a:rPr>
              <a:t>(*p).alan</a:t>
            </a:r>
            <a:r>
              <a:rPr sz="2000" b="0">
                <a:solidFill>
                  <a:srgbClr val="1F2D3A"/>
                </a:solidFill>
              </a:rPr>
              <a:t> o kadar yaygın ki C ona bir kısayol verir: </a:t>
            </a:r>
            <a:r>
              <a:rPr sz="2000" b="0">
                <a:solidFill>
                  <a:srgbClr val="A1123F"/>
                </a:solidFill>
                <a:latin typeface="Consolas"/>
              </a:rPr>
              <a:t>p-&gt;alan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Struct işaretçisi, bir diziyi gezmek</a:t>
            </a:r>
          </a:p>
        </p:txBody>
      </p:sp>
      <p:pic>
        <p:nvPicPr>
          <p:cNvPr id="7" name="Picture 6" descr="struct-pointe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76677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yalnızca tek öğrenci</a:t>
            </a:r>
          </a:p>
        </p:txBody>
      </p:sp>
      <p:pic>
        <p:nvPicPr>
          <p:cNvPr id="7" name="Picture 6" descr="struct-pointe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76677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struct dizisini gezmek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Student *p = students;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(; p != students + N; p++)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id = (*p).id;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grade = p-&gt;grade;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p-&gt;grade = new_grade;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*p;</a:t>
            </a:r>
            <a:r>
              <a:rPr sz="2000" b="0">
                <a:solidFill>
                  <a:srgbClr val="1F2D3A"/>
                </a:solidFill>
              </a:rPr>
              <a:t>'yi hiçbir yeri göstermeden kullanmak (vahşi işaretçi)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*p, x;</a:t>
            </a:r>
            <a:r>
              <a:rPr sz="2000" b="0">
                <a:solidFill>
                  <a:srgbClr val="1F2D3A"/>
                </a:solidFill>
              </a:rPr>
              <a:t> — yalnızca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işaretçi,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  <a:r>
              <a:rPr sz="2000" b="0">
                <a:solidFill>
                  <a:srgbClr val="1F2D3A"/>
                </a:solidFill>
              </a:rPr>
              <a:t>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Bildirimde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ifadede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'ı karıştırmak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Java'nın istisnası, C'nin tanımsız davranışıyla aynı değil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int *p = &amp;x;</a:t>
            </a:r>
            <a:r>
              <a:rPr sz="2000" b="0">
                <a:solidFill>
                  <a:srgbClr val="1F2D3A"/>
                </a:solidFill>
              </a:rPr>
              <a:t> verildiğinde,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 arasındaki fark nedir?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, işaretçide saklanan </a:t>
            </a:r>
            <a:r>
              <a:rPr sz="2000" b="1">
                <a:solidFill>
                  <a:srgbClr val="1F2D3A"/>
                </a:solidFill>
              </a:rPr>
              <a:t>adres</a:t>
            </a:r>
            <a:r>
              <a:rPr sz="2000" b="0">
                <a:solidFill>
                  <a:srgbClr val="1F2D3A"/>
                </a:solidFill>
              </a:rPr>
              <a:t>tir (x'in adresi). 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, o adresteki </a:t>
            </a:r>
            <a:r>
              <a:rPr sz="2000" b="1">
                <a:solidFill>
                  <a:srgbClr val="1F2D3A"/>
                </a:solidFill>
              </a:rPr>
              <a:t>değer</a:t>
            </a:r>
            <a:r>
              <a:rPr sz="2000" b="0">
                <a:solidFill>
                  <a:srgbClr val="1F2D3A"/>
                </a:solidFill>
              </a:rPr>
              <a:t>dir (x'in değeri).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Java'nın neden hiç </a:t>
            </a:r>
            <a:r>
              <a:rPr sz="2000" b="0">
                <a:solidFill>
                  <a:srgbClr val="A1123F"/>
                </a:solidFill>
                <a:latin typeface="Consolas"/>
              </a:rPr>
              <a:t>-&gt;</a:t>
            </a:r>
            <a:r>
              <a:rPr sz="2000" b="0">
                <a:solidFill>
                  <a:srgbClr val="1F2D3A"/>
                </a:solidFill>
              </a:rPr>
              <a:t> operatörüne ihtiyacı yok?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Java'da her nesne/dizi değişkeni </a:t>
            </a:r>
            <a:r>
              <a:rPr sz="2000" b="1">
                <a:solidFill>
                  <a:srgbClr val="1F2D3A"/>
                </a:solidFill>
              </a:rPr>
              <a:t>zaten bir referans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.</a:t>
            </a:r>
            <a:r>
              <a:rPr sz="2000" b="0">
                <a:solidFill>
                  <a:srgbClr val="1F2D3A"/>
                </a:solidFill>
              </a:rPr>
              <a:t> her zaman "önce izle, sonra alana eriş" demek.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Bellek Düzeni: Yığın, Öbek ve Kim Temizliyor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fonksiyon yerel bir dizi bildirir ve döner. Ona ne olur? Şimdi karşılaştırın: bir fonksiyon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yapıp serbest bırakmadan döner.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Yığın (stack)</a:t>
            </a:r>
            <a:r>
              <a:rPr sz="2000" b="0">
                <a:solidFill>
                  <a:srgbClr val="1F2D3A"/>
                </a:solidFill>
              </a:rPr>
              <a:t> — çağrı başına bir çerçeve, Algol 60'a dayanır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`malloc`/`free`</a:t>
            </a:r>
            <a:r>
              <a:rPr sz="2000" b="0">
                <a:solidFill>
                  <a:srgbClr val="1F2D3A"/>
                </a:solidFill>
              </a:rPr>
              <a:t> — en eski Unix C kütüphaneleri, 1970'lerin başı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Çöp toplama (garbage collection)</a:t>
            </a:r>
            <a:r>
              <a:rPr sz="2000" b="0">
                <a:solidFill>
                  <a:srgbClr val="1F2D3A"/>
                </a:solidFill>
              </a:rPr>
              <a:t> — McCarthy, Lisp, </a:t>
            </a:r>
            <a:r>
              <a:rPr sz="2000" b="1">
                <a:solidFill>
                  <a:srgbClr val="1F2D3A"/>
                </a:solidFill>
              </a:rPr>
              <a:t>1959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 (1995), çöp toplamayı günlük programlamada yaygınlaştırdı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Sezgi: düzenli bir yığın ile bir depo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Yığın</a:t>
            </a:r>
            <a:r>
              <a:rPr sz="2000" b="0">
                <a:solidFill>
                  <a:srgbClr val="1F2D3A"/>
                </a:solidFill>
              </a:rPr>
              <a:t>: her çağrı bir çerçeve iter; dönüş onu çeker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zaman LIFO, her zaman otomatik, her zaman hızlı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Öbek</a:t>
            </a:r>
            <a:r>
              <a:rPr sz="2000" b="0">
                <a:solidFill>
                  <a:srgbClr val="1F2D3A"/>
                </a:solidFill>
              </a:rPr>
              <a:t>: bir blok istersiniz; </a:t>
            </a:r>
            <a:r>
              <a:rPr sz="2000" b="0" i="1">
                <a:solidFill>
                  <a:srgbClr val="1F2D3A"/>
                </a:solidFill>
              </a:rPr>
              <a:t>geri verilene kadar</a:t>
            </a:r>
            <a:r>
              <a:rPr sz="2000" b="0">
                <a:solidFill>
                  <a:srgbClr val="1F2D3A"/>
                </a:solidFill>
              </a:rPr>
              <a:t> durur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C'de bu "geri vermeyi" sizin dışınızda kimse yapmaz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Yığın ile öbek, yan yana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834"/>
                <a:gridCol w="3678045"/>
                <a:gridCol w="4413654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Yığın (Stack)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Öbek (Heap)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Kim ayırır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Derleyici, otomatik olarak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Siz: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(C)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new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(Java)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Kim serbest bırakır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Otomatik, dönüşte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C: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free()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. Java: çöp toplayıcı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Hız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Son derece hızlı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Daha yavaş: boş blok bulur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yığın çerçevesi bir öbek bloğuna nasıl bağlanır</a:t>
            </a:r>
          </a:p>
        </p:txBody>
      </p:sp>
      <p:pic>
        <p:nvPicPr>
          <p:cNvPr id="7" name="Picture 6" descr="stack-vs-hea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055" y="1325880"/>
            <a:ext cx="342358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sarkan bir işaretçi, işaretlendi</a:t>
            </a:r>
          </a:p>
        </p:txBody>
      </p:sp>
      <p:pic>
        <p:nvPicPr>
          <p:cNvPr id="7" name="Picture 6" descr="stack-vs-hea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055" y="1325880"/>
            <a:ext cx="342358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alloc_block / free_block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*alloc_block(int size)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*p = malloc(size * sizeof(int));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free_block(int *p)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Java: </a:t>
            </a:r>
            <a:r>
              <a:rPr sz="3000" b="1">
                <a:solidFill>
                  <a:srgbClr val="2E7D32"/>
                </a:solidFill>
                <a:latin typeface="Consolas"/>
              </a:rPr>
              <a:t>new</a:t>
            </a:r>
            <a:r>
              <a:rPr sz="3000" b="1">
                <a:solidFill>
                  <a:srgbClr val="2E7D32"/>
                </a:solidFill>
              </a:rPr>
              <a:t> ve çöp toplama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C'de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'yi unutmak — ya da serbest bıraktıktan sonra işaretçiyi kullanmak — tamamen sizin sorumluluğunuzda. Java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'yi diliden kaldırır.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Java referansları, takma adlar, çöp toplama</a:t>
            </a:r>
          </a:p>
        </p:txBody>
      </p:sp>
      <p:pic>
        <p:nvPicPr>
          <p:cNvPr id="7" name="Picture 6" descr="java-reference-hea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670" y="1325880"/>
            <a:ext cx="801635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bir döngü, yine de toplanır</a:t>
            </a:r>
          </a:p>
        </p:txBody>
      </p:sp>
      <p:pic>
        <p:nvPicPr>
          <p:cNvPr id="7" name="Picture 6" descr="java-reference-hea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670" y="1325880"/>
            <a:ext cx="801635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Java referansları: takma ad ve döngü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p = new Node();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q = 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p.ref = q;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q.ref = 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 = null;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Sarkan işaretçi: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'den sonra işaretçiyi kullanmak, NULL yapmadan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Çift serbest bırakma: aynı işaretçiyi iki kez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etmek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Erken dönüşte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'yi unutmak (bir </a:t>
            </a:r>
            <a:r>
              <a:rPr sz="2000" b="1">
                <a:solidFill>
                  <a:srgbClr val="1F2D3A"/>
                </a:solidFill>
              </a:rPr>
              <a:t>sızıntı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Java'nın çöp toplayıcısının sızıntıyı imkânsız kıldığını sanmak (kılmaz)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Önizleme: dizi düzeni ile bağlı liste düzeni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dizi tek bir bitişik blok ayırır: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arr[i]</a:t>
            </a:r>
            <a:r>
              <a:rPr sz="2000" b="0">
                <a:solidFill>
                  <a:srgbClr val="1F2D3A"/>
                </a:solidFill>
              </a:rPr>
              <a:t> tek bir hesap, O(1). Bağlı liste düğümleri dağıtır, işaretçilerle bağlar.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Dizi ile bağlı liste düzeni, adım adım</a:t>
            </a:r>
          </a:p>
        </p:txBody>
      </p:sp>
      <p:pic>
        <p:nvPicPr>
          <p:cNvPr id="7" name="Picture 6" descr="array-vs-linked-preview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179" y="1325880"/>
            <a:ext cx="849733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son eleman: en çok sıçrama</a:t>
            </a:r>
          </a:p>
        </p:txBody>
      </p:sp>
      <p:pic>
        <p:nvPicPr>
          <p:cNvPr id="7" name="Picture 6" descr="array-vs-linked-preview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179" y="1325880"/>
            <a:ext cx="849733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bağlı liste kurmak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*head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N - 1; i &gt;= 0; i--)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*node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node-&gt;data = arr[i];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node-&gt;next =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head = node;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fonksiyon yerel olarak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arr[100];</a:t>
            </a:r>
            <a:r>
              <a:rPr sz="2000" b="0">
                <a:solidFill>
                  <a:srgbClr val="1F2D3A"/>
                </a:solidFill>
              </a:rPr>
              <a:t> bildiriyor ve ona bir işaretçi döndürüyor. Sorun ne?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arr</a:t>
            </a:r>
            <a:r>
              <a:rPr sz="2000" b="0">
                <a:solidFill>
                  <a:srgbClr val="1F2D3A"/>
                </a:solidFill>
              </a:rPr>
              <a:t>, o çerçevede </a:t>
            </a:r>
            <a:r>
              <a:rPr sz="2000" b="1">
                <a:solidFill>
                  <a:srgbClr val="1F2D3A"/>
                </a:solidFill>
              </a:rPr>
              <a:t>yığında</a:t>
            </a:r>
            <a:r>
              <a:rPr sz="2000" b="0">
                <a:solidFill>
                  <a:srgbClr val="1F2D3A"/>
                </a:solidFill>
              </a:rPr>
              <a:t> yaşar. Fonksiyon döner dönmez çerçeve çekilir — işaretçi çoktan sarkan hale gelmiştir.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free(block); block = NULL;</a:t>
            </a:r>
            <a:r>
              <a:rPr sz="2000" b="0">
                <a:solidFill>
                  <a:srgbClr val="1F2D3A"/>
                </a:solidFill>
              </a:rPr>
              <a:t> — bu sırayla — neden önemli?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, gerçek adrese ihtiyaç duyar. Önce NULL yapmak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free(NULL)</a:t>
            </a:r>
            <a:r>
              <a:rPr sz="2000" b="0">
                <a:solidFill>
                  <a:srgbClr val="1F2D3A"/>
                </a:solidFill>
              </a:rPr>
              <a:t>'ı etkisiz bırakır — blok sızar, adresi sonsuza dek kaybolur.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Sarkan bir işaretçi Java'da neden C'deki gibi asla oluşamaz?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Java'da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yok: bir nesne yalnızca çöp toplayıcı hiçbir şeyin ulaşamadığını kanıtlayınca geri alınır — erişilebilirken asla.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ASN.1, BER TLV ve PER TLV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 program, farklı diller, farklı makineler, bir kaydı bayt olarak değişir. Ham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</a:t>
            </a:r>
            <a:r>
              <a:rPr sz="2000" b="0">
                <a:solidFill>
                  <a:srgbClr val="1F2D3A"/>
                </a:solidFill>
              </a:rPr>
              <a:t> düzeni hiç taşınabilir değil.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1984</a:t>
            </a:r>
            <a:r>
              <a:rPr sz="2000" b="0">
                <a:solidFill>
                  <a:srgbClr val="1F2D3A"/>
                </a:solidFill>
              </a:rPr>
              <a:t> — ASN.1, ITU-T/CCITT X.409 olarak doğar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1995</a:t>
            </a:r>
            <a:r>
              <a:rPr sz="2000" b="0">
                <a:solidFill>
                  <a:srgbClr val="1F2D3A"/>
                </a:solidFill>
              </a:rPr>
              <a:t> — X.680 serisi: modern, güncel biçim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BER</a:t>
            </a:r>
            <a:r>
              <a:rPr sz="2000" b="0">
                <a:solidFill>
                  <a:srgbClr val="1F2D3A"/>
                </a:solidFill>
              </a:rPr>
              <a:t> (X.690) — kendini tanımlayan etiket + uzunluk + değer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PER</a:t>
            </a:r>
            <a:r>
              <a:rPr sz="2000" b="0">
                <a:solidFill>
                  <a:srgbClr val="1F2D3A"/>
                </a:solidFill>
              </a:rPr>
              <a:t> (X.691, 1994) — iki taraf şemayı bilince bit bit paketler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Sezgi: bir zarf, üç parça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Etiket (Tag)</a:t>
            </a:r>
            <a:r>
              <a:rPr sz="2000" b="0">
                <a:solidFill>
                  <a:srgbClr val="1F2D3A"/>
                </a:solidFill>
              </a:rPr>
              <a:t>: bu ne tür bir değer?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Uzunluk (Length)</a:t>
            </a:r>
            <a:r>
              <a:rPr sz="2000" b="0">
                <a:solidFill>
                  <a:srgbClr val="1F2D3A"/>
                </a:solidFill>
              </a:rPr>
              <a:t>: kaç bayt tutuyor?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Değer (Value)</a:t>
            </a:r>
            <a:r>
              <a:rPr sz="2000" b="0">
                <a:solidFill>
                  <a:srgbClr val="1F2D3A"/>
                </a:solidFill>
              </a:rPr>
              <a:t>: içeriğin kendisi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Evrensel olarak </a:t>
            </a:r>
            <a:r>
              <a:rPr sz="2000" b="1">
                <a:solidFill>
                  <a:srgbClr val="1F2D3A"/>
                </a:solidFill>
              </a:rPr>
              <a:t>TLV</a:t>
            </a:r>
            <a:r>
              <a:rPr sz="2000" b="0">
                <a:solidFill>
                  <a:srgbClr val="1F2D3A"/>
                </a:solidFill>
              </a:rPr>
              <a:t> denir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TLV bayt düzeni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203"/>
                <a:gridCol w="2391569"/>
                <a:gridCol w="6875761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Parça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Neyi kodlar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Etiket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 bayt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sınıf · ilkel/kurulu · etiket numarası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Uzunluk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1+ bayt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kısa biçim (0–127) ya da uzun biçim (≥128)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Değer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Uzunluk bayt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içerik ya da iç içe TLV'ler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TLV kodlama, alan alan</a:t>
            </a:r>
          </a:p>
        </p:txBody>
      </p:sp>
      <p:pic>
        <p:nvPicPr>
          <p:cNvPr id="7" name="Picture 6" descr="tlv-encod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012" y="1325880"/>
            <a:ext cx="27896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uzun biçim gerektiren bir uzunluk</a:t>
            </a:r>
          </a:p>
        </p:txBody>
      </p:sp>
      <p:pic>
        <p:nvPicPr>
          <p:cNvPr id="7" name="Picture 6" descr="tlv-encod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012" y="1325880"/>
            <a:ext cx="27896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encode_length: kısa ve uzun biçim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(len &lt; 128)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out[0] = (unsigned char) len;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(len &gt;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tmp[n++] = (unsigned char) (len &amp; 0xFF);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len &gt;&gt;= 8;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out[0] = (unsigned char) (0x80 | n);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BER ile PER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566"/>
                <a:gridCol w="4341148"/>
                <a:gridCol w="4223820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Kendini tanımlar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Evet: her alanda etiket + uzunluk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Hayır: şema bilinmeli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Daha büyük: alan başına 2+ bayt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Çok daha küçük: bayt değil bit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Tipik kullanım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X.509, LDAP, SNMP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Bant genişliği kritik (hücresel)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PER: tam olarak gerektiği kadar 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 taraf bir alanın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[min, max]</a:t>
            </a:r>
            <a:r>
              <a:rPr sz="2000" b="0">
                <a:solidFill>
                  <a:srgbClr val="1F2D3A"/>
                </a:solidFill>
              </a:rPr>
              <a:t> aralığını biliyorsa, ne etiket ne uzunluk gerekir — yalnızca </a:t>
            </a:r>
            <a:r>
              <a:rPr sz="2000" b="0">
                <a:solidFill>
                  <a:srgbClr val="A1123F"/>
                </a:solidFill>
                <a:latin typeface="Consolas"/>
              </a:rPr>
              <a:t>ceil(log2(max - min + 1))</a:t>
            </a:r>
            <a:r>
              <a:rPr sz="2000" b="0">
                <a:solidFill>
                  <a:srgbClr val="1F2D3A"/>
                </a:solidFill>
              </a:rPr>
              <a:t> bit.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PER kodlama, bit bit</a:t>
            </a:r>
          </a:p>
        </p:txBody>
      </p:sp>
      <p:pic>
        <p:nvPicPr>
          <p:cNvPr id="7" name="Picture 6" descr="per-encod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346" y="1325880"/>
            <a:ext cx="414100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büyüklüğü 1 olan bir aralık: sıfır bit</a:t>
            </a:r>
          </a:p>
        </p:txBody>
      </p:sp>
      <p:pic>
        <p:nvPicPr>
          <p:cNvPr id="7" name="Picture 6" descr="per-encod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346" y="1325880"/>
            <a:ext cx="414100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pack_bits: bir seferde bir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bit = (int) ((value &gt;&gt; i) &amp; 1u);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byte_index = *bitpos / 8;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bit_index = 7 - (*bitpos % 8);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if (bit) buf[byte_index] |= bit (en anlamlıdan)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(*bitpos)++;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Uzunluk önekini unutup sabit bir okumanın işe yarayacağını ummak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Uzunluğun her zaman tek bayta sığacağını sanmak (yalnız 128'in altı)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Uzunluğu (yalnız V) tüm TLV'nin boyutuyla karıştırmak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BER ve PER baytlarını birbirinin yerine geçer sanmak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TLV'deki üç harf neyin kısaltması, ve hangi sırayla gelirler?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Tag, Length, Value</a:t>
            </a:r>
            <a:r>
              <a:rPr sz="2000" b="0">
                <a:solidFill>
                  <a:srgbClr val="1F2D3A"/>
                </a:solidFill>
              </a:rPr>
              <a:t> — tam olarak bu sırayla: ne tür, kaç bayt, sonra baytların kendisi.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SEQUENCE'in etiket baytı neden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0x10</a:t>
            </a:r>
            <a:r>
              <a:rPr sz="2000" b="0">
                <a:solidFill>
                  <a:srgbClr val="1F2D3A"/>
                </a:solidFill>
              </a:rPr>
              <a:t> değil (16 sayısının ikilik hâli), </a:t>
            </a:r>
            <a:r>
              <a:rPr sz="2000" b="0">
                <a:solidFill>
                  <a:srgbClr val="A1123F"/>
                </a:solidFill>
                <a:latin typeface="Consolas"/>
              </a:rPr>
              <a:t>0x30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 üst 3 bit etiket numarası değil: 2 sınıf biti (</a:t>
            </a:r>
            <a:r>
              <a:rPr sz="2000" b="0">
                <a:solidFill>
                  <a:srgbClr val="A1123F"/>
                </a:solidFill>
                <a:latin typeface="Consolas"/>
              </a:rPr>
              <a:t>00</a:t>
            </a:r>
            <a:r>
              <a:rPr sz="2000" b="0">
                <a:solidFill>
                  <a:srgbClr val="1F2D3A"/>
                </a:solidFill>
              </a:rPr>
              <a:t>) + 1 kurulu bit (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, SEQUENCE başka TLV'ler tuttuğu için) = </a:t>
            </a:r>
            <a:r>
              <a:rPr sz="2000" b="0">
                <a:solidFill>
                  <a:srgbClr val="A1123F"/>
                </a:solidFill>
                <a:latin typeface="Consolas"/>
              </a:rPr>
              <a:t>0x30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Uygulamalı Atölye: C Araç Zinciri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neden önemli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Bundan sonra her hafta size kendi kuracağınız C ve Java programları veriyor. Vize projesi, kısmen temiz bir derlemeyle değerlendiriliyor.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Araç zinciri, kısaca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GCC</a:t>
            </a:r>
            <a:r>
              <a:rPr sz="2000" b="0">
                <a:solidFill>
                  <a:srgbClr val="1F2D3A"/>
                </a:solidFill>
              </a:rPr>
              <a:t> — Richard Stallman, GNU projesi, </a:t>
            </a:r>
            <a:r>
              <a:rPr sz="2000" b="1">
                <a:solidFill>
                  <a:srgbClr val="1F2D3A"/>
                </a:solidFill>
              </a:rPr>
              <a:t>1987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GDB</a:t>
            </a:r>
            <a:r>
              <a:rPr sz="2000" b="0">
                <a:solidFill>
                  <a:srgbClr val="1F2D3A"/>
                </a:solidFill>
              </a:rPr>
              <a:t> — aynı GNU projesi, </a:t>
            </a:r>
            <a:r>
              <a:rPr sz="2000" b="1">
                <a:solidFill>
                  <a:srgbClr val="1F2D3A"/>
                </a:solidFill>
              </a:rPr>
              <a:t>1986</a:t>
            </a:r>
            <a:r>
              <a:rPr sz="2000" b="0">
                <a:solidFill>
                  <a:srgbClr val="1F2D3A"/>
                </a:solidFill>
              </a:rPr>
              <a:t>: adım adım gez, incele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CMake</a:t>
            </a:r>
            <a:r>
              <a:rPr sz="2000" b="0">
                <a:solidFill>
                  <a:srgbClr val="1F2D3A"/>
                </a:solidFill>
              </a:rPr>
              <a:t> — elinizdeki her araç için derleme dosyaları üretir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</a:t>
            </a:r>
            <a:r>
              <a:rPr sz="2000" b="0">
                <a:solidFill>
                  <a:srgbClr val="A1123F"/>
                </a:solidFill>
                <a:latin typeface="Consolas"/>
              </a:rPr>
              <a:t>CMakeLists.txt</a:t>
            </a:r>
            <a:r>
              <a:rPr sz="2000" b="0">
                <a:solidFill>
                  <a:srgbClr val="1F2D3A"/>
                </a:solidFill>
              </a:rPr>
              <a:t>, Windows, WSL ve Linux'ta derlenir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ilk derlemeniz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#include &lt;stdio.h&gt;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main(void)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printf("Hello, Data Structures!\n");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hello_workshop.c &amp;&amp; /tmp/x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Uyarıları açık derleyip okumak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-Wall -Wextra</a:t>
            </a:r>
            <a:r>
              <a:rPr sz="2000" b="0">
                <a:solidFill>
                  <a:srgbClr val="1F2D3A"/>
                </a:solidFill>
              </a:rPr>
              <a:t>, kullanılmayan değişkenleri, şüpheli karşılaştırmaları, biçim uyuşmazlıklarını yakalar. Her program </a:t>
            </a:r>
            <a:r>
              <a:rPr sz="2000" b="1">
                <a:solidFill>
                  <a:srgbClr val="1F2D3A"/>
                </a:solidFill>
              </a:rPr>
              <a:t>temiz</a:t>
            </a:r>
            <a:r>
              <a:rPr sz="2000" b="0">
                <a:solidFill>
                  <a:srgbClr val="1F2D3A"/>
                </a:solidFill>
              </a:rPr>
              <a:t> derlenmeli.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Küçük bir hata avı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average_buggy(const int arr[],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sum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sum = sum + arr[i];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sum /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gdb ile bulmak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Yöntem: bir kesme noktası koy, çalıştır, bir değişkeni incele, bir hipotezi doğrula ya da çürüt. Canlı, adım adım izleyin.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Hata ayıklayıcıda adım adım, canlı</a:t>
            </a:r>
          </a:p>
        </p:txBody>
      </p:sp>
      <p:pic>
        <p:nvPicPr>
          <p:cNvPr id="7" name="Picture 6" descr="debugger-stepp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92629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boş dizi koruması</a:t>
            </a:r>
          </a:p>
        </p:txBody>
      </p:sp>
      <p:pic>
        <p:nvPicPr>
          <p:cNvPr id="7" name="Picture 6" descr="debugger-stepp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92629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gdb oturumu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break debug_average.c:11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run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print sum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print sum / 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print (double) sum / 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continue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CMakeLists.txt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cmake_minimum_required(VERSION 3.20)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project(week1_cmake_demo C)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add_executable(week1_cmake_demo main.c)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cmake -S . -B build &amp;&amp; cmake --build build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Visual Studio üzerine bir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Build → Build Solution derler; Debug → Start Debugging (F5) hata ayıklayıcı altında çalıştırır; kenar boşluğuna tıklamak kesme noktası koyar.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-std=c11</a:t>
            </a:r>
            <a:r>
              <a:rPr sz="2000" b="0">
                <a:solidFill>
                  <a:srgbClr val="1F2D3A"/>
                </a:solidFill>
              </a:rPr>
              <a:t>'i unutmak: makineye göre farklı davranış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Git'e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build/</a:t>
            </a:r>
            <a:r>
              <a:rPr sz="2000" b="0">
                <a:solidFill>
                  <a:srgbClr val="1F2D3A"/>
                </a:solidFill>
              </a:rPr>
              <a:t> klasörü ya da </a:t>
            </a:r>
            <a:r>
              <a:rPr sz="2000" b="0">
                <a:solidFill>
                  <a:srgbClr val="A1123F"/>
                </a:solidFill>
                <a:latin typeface="Consolas"/>
              </a:rPr>
              <a:t>.exe</a:t>
            </a:r>
            <a:r>
              <a:rPr sz="2000" b="0">
                <a:solidFill>
                  <a:srgbClr val="1F2D3A"/>
                </a:solidFill>
              </a:rPr>
              <a:t> dosyaları eklemek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Başarısız bir derlemeden sonra eski bir çalıştırılabiliri koşturmak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Yalnızca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'e sarılmak, iki dakikalık bir gdb oturumuna hiç değil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-Wall -Wextra</a:t>
            </a:r>
            <a:r>
              <a:rPr sz="2000" b="0">
                <a:solidFill>
                  <a:srgbClr val="1F2D3A"/>
                </a:solidFill>
              </a:rPr>
              <a:t> ne yapar, ve bu ders neden onun altında temiz bir derleme istiyor?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Geniş bir uyarı kümesini açar. Genelde gerçek hataları gösterir — temiz bir derleme istemek onları hemen düzeltir.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cmake -S . -B build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0">
                <a:solidFill>
                  <a:srgbClr val="A1123F"/>
                </a:solidFill>
                <a:latin typeface="Consolas"/>
              </a:rPr>
              <a:t>cmake --build build</a:t>
            </a:r>
            <a:r>
              <a:rPr sz="2000" b="0">
                <a:solidFill>
                  <a:srgbClr val="1F2D3A"/>
                </a:solidFill>
              </a:rPr>
              <a:t> her biri ne yapar, arada ne fark var?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İlki </a:t>
            </a:r>
            <a:r>
              <a:rPr sz="2000" b="1">
                <a:solidFill>
                  <a:srgbClr val="1F2D3A"/>
                </a:solidFill>
              </a:rPr>
              <a:t>yapılandırır</a:t>
            </a:r>
            <a:r>
              <a:rPr sz="2000" b="0">
                <a:solidFill>
                  <a:srgbClr val="1F2D3A"/>
                </a:solidFill>
              </a:rPr>
              <a:t>: derleme dosyaları üretir, hiçbir şey derlemez. İkincisi </a:t>
            </a:r>
            <a:r>
              <a:rPr sz="2000" b="1">
                <a:solidFill>
                  <a:srgbClr val="1F2D3A"/>
                </a:solidFill>
              </a:rPr>
              <a:t>derler</a:t>
            </a:r>
            <a:r>
              <a:rPr sz="2000" b="0">
                <a:solidFill>
                  <a:srgbClr val="1F2D3A"/>
                </a:solidFill>
              </a:rPr>
              <a:t>: o aracı çağırıp derler ve bağlar.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dönemin temelleri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712"/>
                <a:gridCol w="7234822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Fikir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Ana gerçek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yapısı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Bilinen, çözümlenebilir maliyet — her zaman bir ödünleşim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Doğrusal / doğrusal olmayan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 "sonraki" ya da belki birden çok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Big-O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Büyümenin üst sınırı; en büyük terimi oku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Alan karmaşıklığı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Aynı fikir, ek bellek için uygulandı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bellek ve kodlama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8201"/>
                <a:gridCol w="7993333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Fikir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Ana gerçek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İşaretçi / referans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 adres tutar;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&amp;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*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-&gt;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 / öbek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Otomatik, LIFO / istenip açıkça bırakılan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TLV / BER / 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Kendini tanımlayan baytlar, ya da şemayla paketlenen bitler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 araç zinciri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gcc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gdb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CMake — derle, çalıştır, hata ayıkla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Büyük resim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 kurulan iki araç — maliyeti ölçmek için </a:t>
            </a:r>
            <a:r>
              <a:rPr sz="2000" b="1">
                <a:solidFill>
                  <a:srgbClr val="1F2D3A"/>
                </a:solidFill>
              </a:rPr>
              <a:t>Big-O</a:t>
            </a:r>
            <a:r>
              <a:rPr sz="2000" b="0">
                <a:solidFill>
                  <a:srgbClr val="1F2D3A"/>
                </a:solidFill>
              </a:rPr>
              <a:t>, ve bir </a:t>
            </a:r>
            <a:r>
              <a:rPr sz="2000" b="1">
                <a:solidFill>
                  <a:srgbClr val="1F2D3A"/>
                </a:solidFill>
              </a:rPr>
              <a:t>bellek</a:t>
            </a:r>
            <a:r>
              <a:rPr sz="2000" b="0">
                <a:solidFill>
                  <a:srgbClr val="1F2D3A"/>
                </a:solidFill>
              </a:rPr>
              <a:t> resmi — dönemin geri kalanındaki her yapıyı değerlendiriyor.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Öz-değerlendirme turu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Beş kısa soru. Yanıt gelmeden önce düşünün. Tam alıştırmalar ve on soruluk bir quiz hafta notlarında.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İki farklı, doğru algoritma neden çok farklı Big-O'ya sahip olabilir?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Big-O </a:t>
            </a:r>
            <a:r>
              <a:rPr sz="3000" b="1" i="1">
                <a:solidFill>
                  <a:srgbClr val="2E7D32"/>
                </a:solidFill>
              </a:rPr>
              <a:t>adım sayısını</a:t>
            </a:r>
            <a:r>
              <a:rPr sz="3000" b="1">
                <a:solidFill>
                  <a:srgbClr val="2E7D32"/>
                </a:solidFill>
              </a:rPr>
              <a:t> ölçer, yanıtın doğru olup olmadığını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Doğrusal arama ve ikili arama, bir değeri sırasıyla O(n) ve O(log n)'de, ikisi de doğru bulur.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Şunları hızlıdan yavaşa sıralayın: O(n log n), O(1), O(n), O(log n), O(n²)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O(1) &lt; O(log n) &lt; O(n) &lt; O(n log n) &lt; O(n²)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İkili arama neden sıralı bir dizi gerektirir?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Ortayla karşılaştırmak, yalnızca bir taraf küçük diğeri büyük garantiliyse işe yarar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garanti tam olarak "sıralı" demek. Doğrusal arama hiçbir sıraya güvenmez.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Bir BER TLV kodlamasında Uzunluk alanı gerçekte neyi sayar?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Hemen ardından gelen Değer'deki baytları — tüm TLV'nin boyutunu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SEQUENCE örneğinde Uzunluk = 8'di, ama kodlanmış SEQUENCE'in tamamı 10 bayttı.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5. </a:t>
            </a:r>
            <a:r>
              <a:rPr sz="3000" b="1">
                <a:solidFill>
                  <a:srgbClr val="2E7D32"/>
                </a:solidFill>
                <a:latin typeface="Consolas"/>
              </a:rPr>
              <a:t>p-&gt;x</a:t>
            </a:r>
            <a:r>
              <a:rPr sz="3000" b="1">
                <a:solidFill>
                  <a:srgbClr val="2E7D32"/>
                </a:solidFill>
              </a:rPr>
              <a:t> neden var, ve neyin kısaltması?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p-&gt;x</a:t>
            </a:r>
            <a:r>
              <a:rPr sz="3000" b="1">
                <a:solidFill>
                  <a:srgbClr val="2E7D32"/>
                </a:solidFill>
              </a:rPr>
              <a:t>, </a:t>
            </a:r>
            <a:r>
              <a:rPr sz="3000" b="1">
                <a:solidFill>
                  <a:srgbClr val="2E7D32"/>
                </a:solidFill>
                <a:latin typeface="Consolas"/>
              </a:rPr>
              <a:t>(*p).x</a:t>
            </a:r>
            <a:r>
              <a:rPr sz="3000" b="1">
                <a:solidFill>
                  <a:srgbClr val="2E7D32"/>
                </a:solidFill>
              </a:rPr>
              <a:t>'in kısaltması: önce dereferans, sonra alana eriş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tam kombinasyon C kodunda o kadar yaygın ki var olma nedeni bu.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Önümüzdeki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Hafta 2 — Bağlı Listeler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Bugün tanıştığınız işaretçilerle bağlanan, bugünün öbeğinde yaşayan, tek tek ayrılmış düğümlerden bir zincir kurun.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izlencesi, Hafta 1: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CEN207-2026-2027-Guz-Izlence.tr.md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</a:t>
            </a:r>
            <a:r>
              <a:rPr sz="2000" b="0" i="1">
                <a:solidFill>
                  <a:srgbClr val="1F2D3A"/>
                </a:solidFill>
              </a:rPr>
              <a:t>The Art of Computer Programming, Cilt 1</a:t>
            </a:r>
            <a:r>
              <a:rPr sz="2000" b="0">
                <a:solidFill>
                  <a:srgbClr val="1F2D3A"/>
                </a:solidFill>
              </a:rPr>
              <a:t>, 3. baskı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Liskov, Zilles. "Programming with Abstract Data Types," 1974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"Big Omicron and Big Omega and Big Theta," 1976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</a:t>
            </a:r>
            <a:r>
              <a:rPr sz="2000" b="0" i="1">
                <a:solidFill>
                  <a:srgbClr val="1F2D3A"/>
                </a:solidFill>
              </a:rPr>
              <a:t>Introduction to Algorithms</a:t>
            </a:r>
            <a:r>
              <a:rPr sz="2000" b="0">
                <a:solidFill>
                  <a:srgbClr val="1F2D3A"/>
                </a:solidFill>
              </a:rPr>
              <a:t>, 3. baskı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4. baskı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Kernighan, Ritchie. </a:t>
            </a:r>
            <a:r>
              <a:rPr sz="2000" b="0" i="1">
                <a:solidFill>
                  <a:srgbClr val="1F2D3A"/>
                </a:solidFill>
              </a:rPr>
              <a:t>The C Programming Language</a:t>
            </a:r>
            <a:r>
              <a:rPr sz="2000" b="0">
                <a:solidFill>
                  <a:srgbClr val="1F2D3A"/>
                </a:solidFill>
              </a:rPr>
              <a:t>, 2. baskı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Liang. </a:t>
            </a:r>
            <a:r>
              <a:rPr sz="2000" b="0" i="1">
                <a:solidFill>
                  <a:srgbClr val="1F2D3A"/>
                </a:solidFill>
              </a:rPr>
              <a:t>Introduction to Java Programming</a:t>
            </a:r>
            <a:r>
              <a:rPr sz="2000" b="0">
                <a:solidFill>
                  <a:srgbClr val="1F2D3A"/>
                </a:solidFill>
              </a:rPr>
              <a:t>, 10. baskı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ITU-T X.680 / X.690 / X.691 — ASN.1, BER, PER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GNU (GCC, GDB) ve Kitware (CMake) belgeleri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Hafta 1 — Giriş, Big-O ve İşaretçiler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