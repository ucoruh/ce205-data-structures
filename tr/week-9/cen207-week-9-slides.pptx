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Relationship Id="rId173" Type="http://schemas.openxmlformats.org/officeDocument/2006/relationships/slide" Target="slides/slide16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3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2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3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4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5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Ara sınav haftasından sonra tekrar hoş geldiniz. Bu hafta, Hafta 5'teki her çizge aracını sıra, ağırlık ve döngü farkındalığıyla genişletiyor ve geri izleme ile kapanıyor.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On bir algoritma, on bölüm — bazı bölümler aynı problemi iki farklı yöntemle çözen algoritma çiftleri içeriyor.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haftaki her algoritma, BFS veya DFS'i bir veya iki ek dizi ile genişletiyor. Burada hiçbir şey Hafta 5'in yerini almıyor — doğrudan onun üzerine inşa ediyor.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Kruskal, Prim, Dijkstra, Bellman-Ford, Floyd-Warshall, Edmonds-Karp hepsi ağırlık gerektirir. Diğer beşi ağırlıksız kalır.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Çizge gösteriminde hiçbir şey değişmiyor -- sadece üzerinde ne hesapladığımız değişiyor.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tam olarak build-system / paket yöneticisi bağımlılık problemi.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Kahn'ın makalesinin adı tam olarak "Topological sorting of large networks".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Kuyruk, o anda yerleştirilmeye uygun olan her köşeyi aynı anda tutar.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Önce içe-dereceleri say, sonra içe-derecesi zaten 0 olan her köşeyi kuyruğa ekle.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Kuyruktan çıkan her köşenin komşularını gevşet, yeni içe-derecesi 0 olanları kuyruğa ekle.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Şimdiye kadar C sürümüyle aynı şekil.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C sürümüyle satır satır aynı şekil -- kod panelindeki satır numaralarının her iki dilde de anlamlı kalmasının sebebi bu.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Kuyruğun ve order satırının birlikte dolmasını izleyin. Sonra döngü uç durumunu deneyin.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Kuyruk erken boşalıyor — geriye kalan köşeler birbirleriyle bir döngü içinde kilitli.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Derlenmiş C programından alınan gerçek çıktı, Java programının çıktısıyla bayt bayt özdeş.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Hâlâ açık (gri) bir köşeye giden bir geri kenar, bedavaya yakalanan bir döngü demektir.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finish[] dizisi aşağıdan yukarıya dolar; çağıran, topolojik sıra için onu sondan başa okur.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Ziyaret edilmemiş her köşe için bir dfs_visit çağrısı -- bağlı olmayan bir DAG'ı kapsayan budur.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hasCycle, bir geri kenar görüldüğü anda ayarlanır, ama döngü her köşeyi bitirmek için devam eder.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C sürücüsüyle satır satır aynı şekil.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Kahn'ınkiyle aynı çizge — iki geçerli sırayı karşılaştırın.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Aynı DAG üzerindeki iki doğru algoritma kesin sırada uyuşmayabilir (ve genelde uyuşmaz).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Dinleyicilere 20 saniye verin.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Birden fazla geçerli sıranın genelde var olmasının sebebi de bu.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Kahn'ın algoritması bunu hiç cevaplayamaz -- sadece "bazı köşeler hiç 0'a ulaşmadı" 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Döngüyü doğrudan yol dizisinden okuyabiliriz.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Beyaz bir komşu özyinelemeye girer; gri bir komşu bir atadır -- döngü-bulundu dalı bir sonraki slaytta devam ediyor.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Çıkarma döngüsü, yolun tepesinden gri ataya doğru geriye yürür.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Şimdiye kadar C sürümüyle aynı şekil.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onPath[] bir yığın olarak kullanılan sade bir dizidir -- girişte push, çıkışta pop.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Döngü köşelerinin kırmızıya dönüp çizgenin altında kutulanmasını izleyin.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Her köşe siyaha döner, hiçbir geri kenar bulunmaz.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2 köşeli bir döngü, mümkün olan en küçük yönlü döngüdür -- tek bir kenar asla döngü olamaz.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Bu, Bölüm 1'in ileri/çapraz kenar tuzağıyla aynı.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ödünleşim -- biraz daha fazla kayıt tutmaya karşılık çok daha fazla bilgi -- hafta boyunca tekrar eder.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"Aynı grup mu?" sorguları için özel olarak inşa edilmiş bir yapıya ihtiyacımız var.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Her grup küçük bir ağaçtır; kök, grubun kimliğinin ta kendisidir.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α, ters Ackermann fonksiyonudur — inşa edilebilecek her n için 5'in altındadır.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İkinci while döngüsü yol sıkıştırma adımıdır -- ziyaret edilen her köşeyi doğrudan köke yeniden bağlar.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Ham a/b argümanlarıyla değil, KÖK ile birleştirmek burada asla çiğnenmemesi gereken tek kuraldır.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C sürümüyle özdeş şekil -- union-find diller arasında neredeyse satır satır çevrilir.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C sürümüyle aynı rank-karşılaştırma merdiveni.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"already the same set" bir hata değildir -- zaten birleşmiş bir çift üzerinde union() her zaman güvenlidir, bir no-op'tur.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Gerçek bir derinlik-2 zincirin tek bir find() çağrısında derinlik 1'e düzleşmesini izleyin.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Ham argümanları birleştirmek, iki ebeveynli bir düğüm yaratabilir.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Bazı ders kitapları yalnızca "boyuta göre birleştirme" kullanır -- ikisi de doğrudur, bu ders yükseklik argümanı için rankı seçiyor.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Her çiftin doğrudan bir hatta ihtiyacı yok -- sadece herkesin herkesten erişilebilir olması yeterli.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Köşelerin herhangi bir bölümlenmesini kesen en ucuz kenar, mutlaka bir MST'ye aittir.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Kruskal ağacın "nerede" olduğunu umursamaz -- sadece döngülerden global olarak kaçınır.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Bu, Dijkstra için yeniden kullanacağımız "satır olarak öncelik kuyruğu" fikrinin aynısı.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Taze bir union-find, ardından ağırlığa göre tek bir global sıralama -- bir slayt önce anlatıldığı gibi.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find ve union_sets tam olarak Bölüm 3'ün union-find'ı, değişmeden.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Java'nın Comparator zinciri, C'nin qsort + karşılaştırma fonksiyonunun yerini alır -- aynı eşitlik bozma kuralı, farklı sözdizimi.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C sürümünün ikinci yarısıyla aynı döngü şekli.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Sıralı kenarlar satırının ve parent[] satırının birlikte büyümesini izleyin.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İki bileşen girer, iki ağaç çıkar — hata yok, sadece bir orman.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İki bileşen girer, iki ayrı ağaç çıkar, tek bir kenar listesinde toplanır.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key_of[], animasyonda çizgenin altında gösterilen öncelik kuyruğu satırının ta kendisidir.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u'yu ağaca getiren kenarı kaydet, ardından u'nun komşularını gevşet.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Şimdiye kadar C sürümüyle aynı şekil.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Java her MST kenarı için yeni bir Edge nesnesi ayırır; C önceden ayrılmış bir dizi hücresini doldurur -- tek gerçek fark bu.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Kruskal'ınkiyle aynı "normal" çizge — iki MST'yi karşılaştırın: aynı toplam ağırlık.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total weight = 20, aynı normal çizge üzerinde Kruskal'ınkiyle eşleşiyor -- canlı gösterilecek güzel bir çapraz kontrol.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Öncelik kuyruğunun görünür, basit bir satır olması için dizi sürümünü kullanıyoruz.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Toplam ağırlık değişmezdir; belirli kenar kümesi eşitliklerde değişmez değildir.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"En az kenar" değil (Hafta 5'in BFS'i) — en ucuz toplam ağırlık.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Dijkstra daha sonra bunu Amsterdam'da bir terasta, kağıt kalem olmadan tasarladığını söylemişti.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Prim'in algoritması, tek bir değişiklikle: "içeri giren en ucuz kenar", "şimdiye kadarki en ucuz yol" olur.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Programımızda Dijkstra'nın negatif girdiyi reddetmesinin tam sebebi bu.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min_dist_vertex, animasyonda bir satır olarak gösterilen "öncelik kuyruğu" adımıdır.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Az önce kesinleşen u köşesinin henüz bitmemiş her komşusunu gevşet.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Şimdiye kadar C sürümüyle aynı şekil.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minDistVertex küçük bir doğrusal tarama -- Java ve C sürümleri fiilen özdeş.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Öncelik kuyruğu satırı, bir yığın değil, sade sıralı bir dizidir.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"inf", bir köşeye hiç ulaşılamadığında tam olarak basılır -- programın kendi sentineli, bir çökme değil.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V-1 tur, mümkün olan en uzun en kısa yolun yayılması için tam olarak yeterlidir.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V-1 tura kadar, henüz hiç ulaşılmamış her köşeyi atlayarak.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Erken çıkış "if (!changed) break", yaygın ve doğru bir optimizasyondur.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Şimdiye kadar C sürümüyle aynı şekil.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boolean, C'nin int bayrağının yerini alır -- bunun dışında satır satır özdeş.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Tur sayacını ve sondaki tespit turunu izleyin.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A-B-C-A toplamı -1. Tespit turu hâlâ gevşetilebilir bir kenar buluyor.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Dijkstra'nınkiyle aynı başlangıç çizge şekli -- iki "distances:" satırını yan yana karşılaştırın.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Bellman-Ford'un negatifleri tolere etmenin bedeli, çok daha yavaş bir en kötü durum.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Bir köşeyi tekrarlamak, negatif olmayan ekstra ağırlıkla döngüye girmek demektir — asla bir iyileştirme değildir.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20 * O(V^2)'ye karşı tek bir paylaşılan O(V^3) hesaplama.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Warshall'ınki erişilebilirlik için; Floyd'unki en kısa mesafeler için.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yerinde güvenlik, nadir görülen hoş bir sadeleştirme.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k, EN DIŞTAKİ döngü olmalı — doğruluk kanıtının tamamı bu.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dist burada bir Java 2 boyutlu dizisidir, C'nin sabit boyutlu statik dizisindeki dist[i][k]'ye karşılık -- aynı erişim deseni.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Her ara köşe k için bir adım -- her (i,j) çifti için değil, yoksa bu çok fazla adım olurdu.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Negatif bir köşegen girişi (dist[A][A] &lt; 0), o köşeden geçen bir negatif döngüyü işaret eden tam da budur.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Koruma olmadan INF + INF, büyük negatif bir sayıya taşabilir.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Daha zor, daha genel problemi çözmenin güzel bir kazanımı: bazı sorular daha zor değil, daha kolay hale gelir.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Hafta 5'in bağlı bileşenleri yönü tamamen görmezden gelir -- bu, yönlü sürümdür.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Bölüm 1'in tam DFS + bitiş zamanı makinesini yeniden kullandığı için Tarjan'ın tek geçişli algoritmasına tercih edildi.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dfs1 ve dfs2 neredeyse özdeş görünür — tek fark adj yerine adjT kullanmaları.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adjT, Graph inşa edilirken adj ile birlikte bir kez oluşturulan devrik çizgedir.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Aşama 1'in bitiş sırasını, ardından aşama 2'nin devrik-çizge DFS ağaçlarını izleyin.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Her şey her şeye ulaşabildiğinde, tam olarak bir GBB vardır.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İçinden döngü geçmeyen tek bir köşe, hâlâ geçerli bir GBB'dir -- sadece boyutu bir olan bir bileşen.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İki aşama arasında visited[]'i sıfırlamayı unutmak ikinci en yaygın hata.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Kullanışlı bir sağlama: GBB sayısı == köşe sayısı ancak ve ancak çizge bir DAG 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Genel çizge boyamadan (Bölüm 10) çok daha hızlı bir soru.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denklik, doğrudan BFS renklendirme argümanından kanıtlanabilir.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Dış for-s döngüsü, bunu bağlı olmayan bir çizgede doğru yapan şeydir -- bileşenlerden yeniden kullanıldı.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Renk ataması, kuyruktan çıkarken değil, kuyruğa eklenirken gerçekleşir — bilerek.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Şimdiye kadar C sürümüyle aynı şekil.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Dış for-s döngüsü, bunu bağlı olmayan bir çizgede doğru yapan şeydir -- Bölüm 3'ün bileşenler fikrinden yeniden kullanıldı.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BFS'in ulaştığı anda çelişen bir kenarın kırmızı yanıp sönmesini izleyin.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Fonksiyon hemen döner — sonraki köşeler renksiz kalır, ve bu beklenen bir durumdur.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-1 rengi "BFS tarafından hiç ulaşılmadı" anlamına gelir -- arama, çelişkiyi bulduğu anda durdu.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Bir ağaç her zaman iki parçalıdır (hiç döngü yoktur) -- kısayol değil, kullanışlı bir sağlama.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Bu, iki slayt önceki tek-sayılı-döngü denkliğini kanıtlayan aynı mesafe-tek/çift fikri.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Rastgele bir yol seçimiyle Ford-Fulkerson patolojik derecede yavaş olabilir.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Edmonds-Karp'ın saf açgözlü bir yaklaşımı yenmesini sağlayan şey, ters kenardır.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Genişletme yollarının tükenmesinin sadece sonlanmayı değil, en iyilik durumunu da kanıtlamasının sebebi bu.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parent_of[] boyunca t'den s'ye ilk yürüyüş: yol üzerindeki en küçük artık kapasiteyi bul.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İkinci yürüyüş: darboğazı uygula, giderken bir ters artık kenarı açarak.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C sürümüyle aynı iki-yürüyüş şekli.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capOf, Java'da sade bir int[][] matrisidir, C'nin 2 boyutlu dizisiyle tam eşleşir.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Her kenar akış/kapasite gösterir; artık satırı her pozitif artık çifti listeler.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En büyük akış 0, tamamen geçerli bir cevaptır -- "hiç genişletme yolu yok" böyle görünür.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BFS yerine DFS hâlâ doğrudur ama polinom zaman garantisini kaybeder.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En büyük akışın neden düz bağlılıktan kesinlikle daha zor olduğunu da önizleyen güzel bir geri referans.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N-vezir, oturma planları ve Hamilton yolları hepsi bu şekli paylaşır.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"Backtracking" (geri izleme), özellikle geri alma adımını ifade eder.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Dört satır fikrin tamamını taşır: dene, özyinele, geri al; budamayı yapan da güvenlik kontrolü.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safe(v,c), Bölüm 8'in iki parçalılık çelişki kontrolüyle aynı şekilde kısa bir komşu taramasıdır.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Reddedilen bir renk kırmızı yanıp söner; geri alınan bir renk boşa döner.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Her kombinasyon denenir ve güvensiz bulunur -- şanslı bir başarı değil, kanıtlanmış bir başarısızlık.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"no valid colouring" ancak her dal denenip geri alındıktan sonra basılır -- kanıtlanmış bir olumsuzluk.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Geri izlemenin üstel sınıra rağmen işe yaramasının tüm sebebi bu.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Zaman varsa animasyon slaytında canlı izlemeye değer -- tam geri izleme zincirini izlemek bu algoritmanın can alıcı noktası.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Bu, sadece birkaçı için değil, bu haftaki her program için kullanılan run_tests.py hattıdır.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Haftanın ilk yarısı, birer satır.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İkinci yarı. Toplamda on bir algoritma, on problem (topolojik sıralamanın iki çözümü var).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tablo, notun özet tablosunu tam olarak yansıtıyor, sığması için üç slayta bölündü.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Listeyi kapattığı için burada dört satır var -- yine de slayta rahatça sığıyor.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Tam on alıştırmalık liste bu haftanın notlarında.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Tam on sorulu quiz, cevaplarıyla birlikte, bu haftanın notlarında.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hafta çoğunlukla diziler ve komşuluk listeleri üzerinde çalıştı -- Hafta 10 dengeli ağaçlara geri dönüyor.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Kendini sınama quiz'inden önce soru için söz açık.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gif"/><Relationship Id="rId4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gif"/><Relationship Id="rId4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gif"/><Relationship Id="rId4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9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0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gif"/><Relationship Id="rId4" Type="http://schemas.openxmlformats.org/officeDocument/2006/relationships/notesSlide" Target="../notesSlides/notesSlide3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gif"/><Relationship Id="rId4" Type="http://schemas.openxmlformats.org/officeDocument/2006/relationships/notesSlide" Target="../notesSlides/notesSlide3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5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8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9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0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3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gif"/><Relationship Id="rId4" Type="http://schemas.openxmlformats.org/officeDocument/2006/relationships/notesSlide" Target="../notesSlides/notesSlide44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5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8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9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0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3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4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gif"/><Relationship Id="rId4" Type="http://schemas.openxmlformats.org/officeDocument/2006/relationships/notesSlide" Target="../notesSlides/notesSlide55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9.gif"/><Relationship Id="rId4" Type="http://schemas.openxmlformats.org/officeDocument/2006/relationships/notesSlide" Target="../notesSlides/notesSlide56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8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9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0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0.gif"/><Relationship Id="rId4" Type="http://schemas.openxmlformats.org/officeDocument/2006/relationships/notesSlide" Target="../notesSlides/notesSlide6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3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4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5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6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8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9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0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1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2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3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gif"/><Relationship Id="rId4" Type="http://schemas.openxmlformats.org/officeDocument/2006/relationships/notesSlide" Target="../notesSlides/notesSlide74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5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6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8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9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0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2.gif"/><Relationship Id="rId4" Type="http://schemas.openxmlformats.org/officeDocument/2006/relationships/notesSlide" Target="../notesSlides/notesSlide81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3.gif"/><Relationship Id="rId4" Type="http://schemas.openxmlformats.org/officeDocument/2006/relationships/notesSlide" Target="../notesSlides/notesSlide82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3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4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5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0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4.gif"/><Relationship Id="rId4" Type="http://schemas.openxmlformats.org/officeDocument/2006/relationships/notesSlide" Target="../notesSlides/notesSlide9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3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4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5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6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8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5.gif"/><Relationship Id="rId4" Type="http://schemas.openxmlformats.org/officeDocument/2006/relationships/notesSlide" Target="../notesSlides/notesSlide99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6.gif"/><Relationship Id="rId4" Type="http://schemas.openxmlformats.org/officeDocument/2006/relationships/notesSlide" Target="../notesSlides/notesSlide100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1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2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3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4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5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6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8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9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7.gif"/><Relationship Id="rId4" Type="http://schemas.openxmlformats.org/officeDocument/2006/relationships/notesSlide" Target="../notesSlides/notesSlide110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8.gif"/><Relationship Id="rId4" Type="http://schemas.openxmlformats.org/officeDocument/2006/relationships/notesSlide" Target="../notesSlides/notesSlide111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2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3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4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5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6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8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9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0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1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9.gif"/><Relationship Id="rId4" Type="http://schemas.openxmlformats.org/officeDocument/2006/relationships/notesSlide" Target="../notesSlides/notesSlide122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3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4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5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6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8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9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0.gif"/><Relationship Id="rId4" Type="http://schemas.openxmlformats.org/officeDocument/2006/relationships/notesSlide" Target="../notesSlides/notesSlide130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1.gif"/><Relationship Id="rId4" Type="http://schemas.openxmlformats.org/officeDocument/2006/relationships/notesSlide" Target="../notesSlides/notesSlide131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2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3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4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5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6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8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9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0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1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2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2E7D32"/>
                </a:solidFill>
              </a:rPr>
              <a:t>Hafta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Sıralama · Ağırlıklar · Döngüler · Geri İzleme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Bugünün haritası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346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Sıralama: topolojik sıralama (2 yöntem), döngü tespiti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Grupları takip et: union-find (ayrık küme)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En ucuz bağlantılar: Kruskal, Prim (MST)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En ucuz yollar: Dijkstra, Bellman-Ford, Floyd-Warshall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Erişilebilirlik: güçlü bağlı bileşenler, iki parçalılık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Yolların ötesi: en büyük akış, geri izleme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Başlamadan önce: bildikleriniz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Hafta 5: komşuluk listesi, alfabetik komşular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BFS: kuyruk, en az kenar sayısı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DFS: özyineleme veya açık yığın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Bağlı bileşenler: her ziyaret edilmemiş köşeden BFS/DFS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Tek yeni bileşen: ağırlıklar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Bugünün algoritmalarından 6'sı her kenara bir </a:t>
            </a:r>
            <a:r>
              <a:rPr sz="2000" b="1">
                <a:solidFill>
                  <a:srgbClr val="1F2D3A"/>
                </a:solidFill>
              </a:rPr>
              <a:t>sayı</a:t>
            </a:r>
            <a:r>
              <a:rPr sz="2000" b="0">
                <a:solidFill>
                  <a:srgbClr val="1F2D3A"/>
                </a:solidFill>
              </a:rPr>
              <a:t> iliştirir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mesafe, bir maliyet, bir kapasite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Soru "ulaşılabilir mi?"den </a:t>
            </a:r>
            <a:r>
              <a:rPr sz="2000" b="1">
                <a:solidFill>
                  <a:srgbClr val="1F2D3A"/>
                </a:solidFill>
              </a:rPr>
              <a:t>"en ucuzu hangisi?"</a:t>
            </a:r>
            <a:r>
              <a:rPr sz="2000" b="0">
                <a:solidFill>
                  <a:srgbClr val="1F2D3A"/>
                </a:solidFill>
              </a:rPr>
              <a:t>ye değişir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Bu hafta Hafta 5'ten ne kullanıyor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91825"/>
                <a:gridCol w="6819709"/>
              </a:tblGrid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Hafta 5 aracı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Kullanan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Komşuluk listesi, alfabetik sıra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Bu haftaki her algoritma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BFS kuyruğu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İki parçalılık kontrolü, en büyük akışın genişletme yolu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DFS özyinelemesi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Topolojik sıralama, döngü tespiti, GBB, geri izleme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Çember yerleşimi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Her animasyonun çizge çizimi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Hafta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Güz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1. Topolojik Sıralama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Başlangıç sorusu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Çoraplar ayakkabılardan önce. Gömlek ceketten önce. Çorap ile gömlek arasında bir sıra yok.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Her kuralı gözeten tek bir sıra her zaman var mıdır?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Kısa tarihçe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A. B. Kahn</a:t>
            </a:r>
            <a:r>
              <a:rPr sz="2000" b="0">
                <a:solidFill>
                  <a:srgbClr val="1F2D3A"/>
                </a:solidFill>
              </a:rPr>
              <a:t>, 1962 — içe-derece (in-degree) + kuyruk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Build sistemleri, paket kurulumcuları bunu her gün kullanır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DFS tabanlı alternatif, </a:t>
            </a:r>
            <a:r>
              <a:rPr sz="2000" b="1">
                <a:solidFill>
                  <a:srgbClr val="1F2D3A"/>
                </a:solidFill>
              </a:rPr>
              <a:t>Tarjan</a:t>
            </a:r>
            <a:r>
              <a:rPr sz="2000" b="0">
                <a:solidFill>
                  <a:srgbClr val="1F2D3A"/>
                </a:solidFill>
              </a:rPr>
              <a:t>'ın 1970'lerdeki DFS çerçevesinden çıkar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Kahn'ın fikri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İçe-derecesi 0</a:t>
            </a:r>
            <a:r>
              <a:rPr sz="2000" b="0">
                <a:solidFill>
                  <a:srgbClr val="1F2D3A"/>
                </a:solidFill>
              </a:rPr>
              <a:t> olan bir köşenin karşılanmamış ön koşulu yoktur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Onu şimdi yerleştir; bu, giden kenarlarını kaldırır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komşunun içe-derecesi bir azalır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Yeni sıfırlanan komşular uygun hale gelir — onları kuyruğa 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Kahn'ın kodu (C) — bölüm 1/2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78612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topo_sort_kahn(Graph *g)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i=0;i&lt;g-&gt;vertex_count;i++) indeg[i]=0;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u=0;u&lt;g-&gt;vertex_count;u++)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for (AdjNode *n=g-&gt;adj[u]; n; n=n-&gt;next)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indeg[n-&gt;to]++;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front=rear=0; order_len=0;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v=0;v&lt;g-&gt;vertex_count;v++)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if (indeg[v]==0) enqueue(v);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Kahn'ın kodu (C) — bölüm 2/2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164079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while (front&lt;rear)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int u=dequeue();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order[order_len++]=u;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for (AdjNode *n=g-&gt;adj[u]; n; n=n-&gt;next)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indeg[n-&gt;to]--;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if (indeg[n-&gt;to]==0) enqueue(n-&gt;to);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order_len==g-&gt;vertex_count;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Kahn'ın kodu (Java) — bölüm 1/2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78612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static boolean topoSortKahn(Graph g)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i=0;i&lt;g.vertexCount;i++) indeg[i]=0;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u=0;u&lt;g.vertexCount;u++)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for (AdjNode n=g.adj[u]; n!=null; n=n.next)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indeg[n.to]++;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front=rear=0; orderLen=0;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v=0;v&lt;g.vertexCount;v++)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if (indeg[v]==0) enqueue(v);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Kahn'ın kodu (Java) — bölüm 2/2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164079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while (front&lt;rear)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int u=dequeue();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order[orderLen]=u; orderLen++;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for (AdjNode n=g.adj[u]; n!=null; n=n.next)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indeg[n.to]--;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if (indeg[n.to]==0) enqueue(n.to);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orderLen==g.vertexCount;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Kahn'ın algoritması</a:t>
            </a:r>
          </a:p>
        </p:txBody>
      </p:sp>
      <p:pic>
        <p:nvPicPr>
          <p:cNvPr id="7" name="Picture 6" descr="topological-sort-kahn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0130" y="1325880"/>
            <a:ext cx="3591435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Uç durum: bir döngü</a:t>
            </a:r>
          </a:p>
        </p:txBody>
      </p:sp>
      <p:pic>
        <p:nvPicPr>
          <p:cNvPr id="7" name="Picture 6" descr="topological-sort-kahn--cycle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9868" y="1325880"/>
            <a:ext cx="3371958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Gerçek çıktı: Kahn'ın algoritması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59715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-- normal: 8 vertices, 10 edges, a valid DAG --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order: A B C D F E G H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all 8 vertices placed: a valid topological order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-- edge: 10 edges but a cycle exists, no full order --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order: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only 0 of 7 vertices placed -- a cycle exists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DFS fikri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Özyinelemeli DFS çalıştır (Hafta 5'in DFS'i, bir dizi eklenmiş)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köşenin </a:t>
            </a:r>
            <a:r>
              <a:rPr sz="2000" b="1">
                <a:solidFill>
                  <a:srgbClr val="1F2D3A"/>
                </a:solidFill>
              </a:rPr>
              <a:t>bitiş zamanını</a:t>
            </a:r>
            <a:r>
              <a:rPr sz="2000" b="0">
                <a:solidFill>
                  <a:srgbClr val="1F2D3A"/>
                </a:solidFill>
              </a:rPr>
              <a:t> kaydet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Bitiş zamanlarını </a:t>
            </a:r>
            <a:r>
              <a:rPr sz="2000" b="1">
                <a:solidFill>
                  <a:srgbClr val="1F2D3A"/>
                </a:solidFill>
              </a:rPr>
              <a:t>büyükten küçüğe</a:t>
            </a:r>
            <a:r>
              <a:rPr sz="2000" b="0">
                <a:solidFill>
                  <a:srgbClr val="1F2D3A"/>
                </a:solidFill>
              </a:rPr>
              <a:t> oku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köşe, işaret ettiği her şeyden sonra biter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DFS topolojik sıralama kodu (C) — dfs_visit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97510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void dfs_visit(int u)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color_of[u]=1;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(AdjNode *n=cur_g-&gt;adj[u]; n; n=n-&gt;next)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if (color_of[n-&gt;to]==0) dfs_visit(n-&gt;to);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else if (color_of[n-&gt;to]==1) has_cycle=1;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color_of[u]=2;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finish[finish_len++]=u;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DFS topolojik sıralama kodu (C) — sürücü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59715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void topo_sort_dfs(Graph *g)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cur_g=g;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i=0;i&lt;g-&gt;vertex_count;i++) color_of[i]=0;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finish_len=0; has_cycle=0;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v=0;v&lt;g-&gt;vertex_count;v++)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if (color_of[v]==0) dfs_visit(v);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DFS topolojik sıralama kodu (Java) — dfsVisit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97510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static void dfsVisit(int u)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colorOf[u]=1;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(AdjNode n=curG.adj[u]; n!=null; n=n.next)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if (colorOf[n.to]==0) dfsVisit(n.to);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else if (colorOf[n.to]==1) hasCycle=true;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colorOf[u]=2;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finish[finishLen]=u; finishLen++;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DFS topolojik sıralama kodu (Java) — sürücü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59715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static void topoSortDfs(Graph g)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curG=g;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i=0;i&lt;g.vertexCount;i++) colorOf[i]=0;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finishLen=0; hasCycle=false;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v=0;v&lt;g.vertexCount;v++)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if (colorOf[v]==0) dfsVisit(v);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DFS topolojik sıralama</a:t>
            </a:r>
          </a:p>
        </p:txBody>
      </p:sp>
      <p:pic>
        <p:nvPicPr>
          <p:cNvPr id="7" name="Picture 6" descr="topological-sort-dfs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3000" y="1325880"/>
            <a:ext cx="3265694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Karmaşıklık ve tuzak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O(V + E)</a:t>
            </a:r>
            <a:r>
              <a:rPr sz="2000" b="0">
                <a:solidFill>
                  <a:srgbClr val="1F2D3A"/>
                </a:solidFill>
              </a:rPr>
              <a:t> — her iki algoritma da, tek geçiş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Tuzak: bir topolojik sıra </a:t>
            </a:r>
            <a:r>
              <a:rPr sz="2000" b="1">
                <a:solidFill>
                  <a:srgbClr val="1F2D3A"/>
                </a:solidFill>
              </a:rPr>
              <a:t>tek değildir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Konumları</a:t>
            </a:r>
            <a:r>
              <a:rPr sz="2000" b="0">
                <a:solidFill>
                  <a:srgbClr val="1F2D3A"/>
                </a:solidFill>
              </a:rPr>
              <a:t> karşılaştırın, kesin diziyi asla sabit kodlamayın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Kısa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Kahn'ın algoritması neden tek bir özyinelemeli çağrı değil de bir </a:t>
            </a:r>
            <a:r>
              <a:rPr sz="2000" b="1">
                <a:solidFill>
                  <a:srgbClr val="1F2D3A"/>
                </a:solidFill>
              </a:rPr>
              <a:t>kuyruk</a:t>
            </a:r>
            <a:r>
              <a:rPr sz="2000" b="0">
                <a:solidFill>
                  <a:srgbClr val="1F2D3A"/>
                </a:solidFill>
              </a:rPr>
              <a:t> kullanır?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 i="1">
                <a:solidFill>
                  <a:srgbClr val="1F2D3A"/>
                </a:solidFill>
              </a:rPr>
              <a:t>(cevap bir sonraki slaytta)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Cevap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DAG'ın aynı anda </a:t>
            </a:r>
            <a:r>
              <a:rPr sz="2000" b="1">
                <a:solidFill>
                  <a:srgbClr val="1F2D3A"/>
                </a:solidFill>
              </a:rPr>
              <a:t>birden fazla bağımsız kaynağı</a:t>
            </a:r>
            <a:r>
              <a:rPr sz="2000" b="0">
                <a:solidFill>
                  <a:srgbClr val="1F2D3A"/>
                </a:solidFill>
              </a:rPr>
              <a:t> olabilir.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Kuyruk, algoritmanın bir dalı bitirmeden diğerine başlamak yerine, tek geçişte onları iç içe geçirmesini sağlar.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Hafta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Güz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2. Döngü Tespiti (Yönlü)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Başlangıç sorusu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Bölüm 1'in DFS'i bir döngünün var </a:t>
            </a:r>
            <a:r>
              <a:rPr sz="2000" b="1">
                <a:solidFill>
                  <a:srgbClr val="1F2D3A"/>
                </a:solidFill>
              </a:rPr>
              <a:t>olduğunu</a:t>
            </a:r>
            <a:r>
              <a:rPr sz="2000" b="0">
                <a:solidFill>
                  <a:srgbClr val="1F2D3A"/>
                </a:solidFill>
              </a:rPr>
              <a:t> tespit eder (bir geri kenar).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Hangi köşeler</a:t>
            </a:r>
            <a:r>
              <a:rPr sz="2000" b="0">
                <a:solidFill>
                  <a:srgbClr val="1F2D3A"/>
                </a:solidFill>
              </a:rPr>
              <a:t>, hangi sırayla onu oluşturuyor?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Yollu 3 renkli DFS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Beyaz / </a:t>
            </a:r>
            <a:r>
              <a:rPr sz="2000" b="1">
                <a:solidFill>
                  <a:srgbClr val="1F2D3A"/>
                </a:solidFill>
              </a:rPr>
              <a:t>gri</a:t>
            </a:r>
            <a:r>
              <a:rPr sz="2000" b="0">
                <a:solidFill>
                  <a:srgbClr val="1F2D3A"/>
                </a:solidFill>
              </a:rPr>
              <a:t> (yol üzerinde) / siyah (bitmiş)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Güncel yolu </a:t>
            </a:r>
            <a:r>
              <a:rPr sz="2000" b="0">
                <a:solidFill>
                  <a:srgbClr val="A1123F"/>
                </a:solidFill>
                <a:latin typeface="Consolas"/>
              </a:rPr>
              <a:t>on_path[]</a:t>
            </a:r>
            <a:r>
              <a:rPr sz="2000" b="0">
                <a:solidFill>
                  <a:srgbClr val="1F2D3A"/>
                </a:solidFill>
              </a:rPr>
              <a:t> içinde tut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Gri</a:t>
            </a:r>
            <a:r>
              <a:rPr sz="2000" b="0">
                <a:solidFill>
                  <a:srgbClr val="1F2D3A"/>
                </a:solidFill>
              </a:rPr>
              <a:t> bir köşeye giden bir geri kenar: o köşe açık bir atadır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Oradan buraya kadarki yol dilimi döngünün </a:t>
            </a:r>
            <a:r>
              <a:rPr sz="2000" b="1">
                <a:solidFill>
                  <a:srgbClr val="1F2D3A"/>
                </a:solidFill>
              </a:rPr>
              <a:t>kendisidir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Döngü tespiti kodu (C) — bölüm 1/2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59715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dfs_cycle(int u)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color_of[u]=1;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on_path[path_top++]=u;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(AdjNode *n=cur_g-&gt;adj[u]; n; n=n-&gt;next)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if (color_of[n-&gt;to]==0)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if (dfs_cycle(n-&gt;to)) return 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} else if (color_of[n-&gt;to]==1) {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Döngü tespiti kodu (C) — bölüm 2/2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35305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int i=path_top-1;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while (on_path[i]!=n-&gt;to) i--;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cycle_len=0;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for (; i&lt;path_top; i++)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cycle[cycle_len++]=on_path[i];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return 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path_top--; color_of[u]=2;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Döngü tespiti kodu (Java) — bölüm 1/2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59715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static boolean dfsCycle(int u)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colorOf[u]=1;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onPath[pathTop]=u; pathTop++;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(AdjNode n=curG.adj[u]; n!=null; n=n.next)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if (colorOf[n.to]==0)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if (dfsCycle(n.to)) return true;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} else if (colorOf[n.to]==1) {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Döngü tespiti kodu (Java) — bölüm 2/2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54203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int i=pathTop-1;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while (onPath[i]!=n.to) i--;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cycleLen=0;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for (; i&lt;pathTop; i++)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cycle[cycleLen]=onPath[i]; cycleLen++;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return true;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pathTop--; colorOf[u]=2;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false;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Yönlü çizgede döngü tespiti</a:t>
            </a:r>
          </a:p>
        </p:txBody>
      </p:sp>
      <p:pic>
        <p:nvPicPr>
          <p:cNvPr id="7" name="Picture 6" descr="cycle-detection-directed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0615" y="1325880"/>
            <a:ext cx="3810464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Uç durum: hiç döngü yok</a:t>
            </a:r>
          </a:p>
        </p:txBody>
      </p:sp>
      <p:pic>
        <p:nvPicPr>
          <p:cNvPr id="7" name="Picture 6" descr="cycle-detection-directed--acyclic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8140" y="1325880"/>
            <a:ext cx="3855415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Gerçek çıktı: döngü tespiti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78612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-- normal: 8 vertices, 10 edges, one cycle: C-D-F-C --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cycle found: D F C -&gt; D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-- edge: 10 edges, entirely cycle-free (a DAG) --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no cycle found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-- edge: the smallest cycle, A-B-A (2 edges) --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cycle found: A B -&gt; A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Karmaşıklık ve tuzak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O(V + E)</a:t>
            </a:r>
            <a:r>
              <a:rPr sz="2000" b="0">
                <a:solidFill>
                  <a:srgbClr val="1F2D3A"/>
                </a:solidFill>
              </a:rPr>
              <a:t> — bir DFS, artı bulunan döngüyü çıkarmak için O(V)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Tuzak: "</a:t>
            </a:r>
            <a:r>
              <a:rPr sz="2000" b="1">
                <a:solidFill>
                  <a:srgbClr val="1F2D3A"/>
                </a:solidFill>
              </a:rPr>
              <a:t>gri</a:t>
            </a:r>
            <a:r>
              <a:rPr sz="2000" b="0">
                <a:solidFill>
                  <a:srgbClr val="1F2D3A"/>
                </a:solidFill>
              </a:rPr>
              <a:t>" yerine "beyaz değil" kontrolü yapmak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Siyah bir komşu bitmiştir ve güvenlidir — döngü değildir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Kısa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Bölüm 1'in DFS topolojik sıralaması sadece </a:t>
            </a:r>
            <a:r>
              <a:rPr sz="2000" b="0">
                <a:solidFill>
                  <a:srgbClr val="A1123F"/>
                </a:solidFill>
                <a:latin typeface="Consolas"/>
              </a:rPr>
              <a:t>has_cycle = 1</a:t>
            </a:r>
            <a:r>
              <a:rPr sz="2000" b="0">
                <a:solidFill>
                  <a:srgbClr val="1F2D3A"/>
                </a:solidFill>
              </a:rPr>
              <a:t> yapıyor. Bu algoritma neden ekstra bir </a:t>
            </a:r>
            <a:r>
              <a:rPr sz="2000" b="0">
                <a:solidFill>
                  <a:srgbClr val="A1123F"/>
                </a:solidFill>
                <a:latin typeface="Consolas"/>
              </a:rPr>
              <a:t>on_path[]</a:t>
            </a:r>
            <a:r>
              <a:rPr sz="2000" b="0">
                <a:solidFill>
                  <a:srgbClr val="1F2D3A"/>
                </a:solidFill>
              </a:rPr>
              <a:t> yığınına ihtiyaç duyuyor?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 i="1">
                <a:solidFill>
                  <a:srgbClr val="1F2D3A"/>
                </a:solidFill>
              </a:rPr>
              <a:t>(cevap bir sonraki slaytta)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Cevap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döngünün var olduğunu bilmek, onu </a:t>
            </a:r>
            <a:r>
              <a:rPr sz="2000" b="1">
                <a:solidFill>
                  <a:srgbClr val="1F2D3A"/>
                </a:solidFill>
              </a:rPr>
              <a:t>hangi köşelerin</a:t>
            </a:r>
            <a:r>
              <a:rPr sz="2000" b="0">
                <a:solidFill>
                  <a:srgbClr val="1F2D3A"/>
                </a:solidFill>
              </a:rPr>
              <a:t> oluşturduğunu bilmekle aynı değildir.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on_path[]</a:t>
            </a:r>
            <a:r>
              <a:rPr sz="2000" b="0">
                <a:solidFill>
                  <a:srgbClr val="1F2D3A"/>
                </a:solidFill>
              </a:rPr>
              <a:t>, güncel kök-buraya zincirini erişilebilir tutar; böylece bir geri kenar bulunduğu anda döngü doğrudan ondan okunabilir.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Hafta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Güz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3. Union-Find (Ayrık Küme)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Başlangıç sorusu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Kruskal'ın algoritması (birazdan geliyor) tekrar tekrar şunu sormalı: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"Bu iki köşe, seçtiğim kenarlarla zaten bağlı mı?"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519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Her seferinde taze bir BFS doğru olur — ama yavaş olur.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Ebeveyn işaretçilerinden bir orman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find(v)</a:t>
            </a:r>
            <a:r>
              <a:rPr sz="2000" b="0">
                <a:solidFill>
                  <a:srgbClr val="1F2D3A"/>
                </a:solidFill>
              </a:rPr>
              <a:t>, ebeveyn işaretçilerinde </a:t>
            </a:r>
            <a:r>
              <a:rPr sz="2000" b="1">
                <a:solidFill>
                  <a:srgbClr val="1F2D3A"/>
                </a:solidFill>
              </a:rPr>
              <a:t>köke</a:t>
            </a:r>
            <a:r>
              <a:rPr sz="2000" b="0">
                <a:solidFill>
                  <a:srgbClr val="1F2D3A"/>
                </a:solidFill>
              </a:rPr>
              <a:t> kadar yürür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Aynı kök = aynı grup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union(a, b)</a:t>
            </a:r>
            <a:r>
              <a:rPr sz="2000" b="0">
                <a:solidFill>
                  <a:srgbClr val="1F2D3A"/>
                </a:solidFill>
              </a:rPr>
              <a:t>, iki grubu birleştirir: kök köke işaret eder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İki hile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Ranka göre birleştirme</a:t>
            </a:r>
            <a:r>
              <a:rPr sz="2000" b="0">
                <a:solidFill>
                  <a:srgbClr val="1F2D3A"/>
                </a:solidFill>
              </a:rPr>
              <a:t>: kısa ağaç, uzun olanın altına asılır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Yol sıkıştırma</a:t>
            </a:r>
            <a:r>
              <a:rPr sz="2000" b="0">
                <a:solidFill>
                  <a:srgbClr val="1F2D3A"/>
                </a:solidFill>
              </a:rPr>
              <a:t>: </a:t>
            </a:r>
            <a:r>
              <a:rPr sz="2000" b="0">
                <a:solidFill>
                  <a:srgbClr val="A1123F"/>
                </a:solidFill>
                <a:latin typeface="Consolas"/>
              </a:rPr>
              <a:t>find</a:t>
            </a:r>
            <a:r>
              <a:rPr sz="2000" b="0">
                <a:solidFill>
                  <a:srgbClr val="1F2D3A"/>
                </a:solidFill>
              </a:rPr>
              <a:t>, ziyaret ettiği her köşeyi doğrudan köke yeniden bağlar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Birlikte: işlem başına </a:t>
            </a:r>
            <a:r>
              <a:rPr sz="2000" b="1">
                <a:solidFill>
                  <a:srgbClr val="1F2D3A"/>
                </a:solidFill>
              </a:rPr>
              <a:t>O(α(n))</a:t>
            </a:r>
            <a:r>
              <a:rPr sz="2000" b="0">
                <a:solidFill>
                  <a:srgbClr val="1F2D3A"/>
                </a:solidFill>
              </a:rPr>
              <a:t> — pratikteki her </a:t>
            </a:r>
            <a:r>
              <a:rPr sz="2000" b="0">
                <a:solidFill>
                  <a:srgbClr val="A1123F"/>
                </a:solidFill>
                <a:latin typeface="Consolas"/>
              </a:rPr>
              <a:t>n</a:t>
            </a:r>
            <a:r>
              <a:rPr sz="2000" b="0">
                <a:solidFill>
                  <a:srgbClr val="1F2D3A"/>
                </a:solidFill>
              </a:rPr>
              <a:t> için bu O(1)'dir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Union-find kodu (C) — find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164079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find(int v)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root=v;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while (parent_of[root]!=root) root=parent_of[root];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while (parent_of[v]!=root)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int next=parent_of[v];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parent_of[v]=root;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v=next;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root;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Union-find kodu (C) — union_sets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59715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void union_sets(int a, int b)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ra=find(a), rb=find(b);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(ra==rb) return;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(rank_of[ra]&lt;rank_of[rb]) parent_of[ra]=rb;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else if (rank_of[ra]&gt;rank_of[rb]) parent_of[rb]=ra;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else { parent_of[rb]=ra; rank_of[ra]++;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Union-find kodu (Java) — find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164079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static int find(int v)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root=v;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while (parentOf[root]!=root) root=parentOf[root];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while (parentOf[v]!=root)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int next=parentOf[v];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parentOf[v]=root;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v=next;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root;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Union-find kodu (Java) — unionSets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59715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static void unionSets(int a, int b)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ra=find(a), rb=find(b);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(ra==rb) return;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(rankOf[ra]&lt;rankOf[rb]) parentOf[ra]=rb;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else if (rankOf[ra]&gt;rankOf[rb]) parentOf[rb]=ra;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else { parentOf[rb]=ra; rankOf[ra]++;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Gerçek çıktı: union-find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40817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union(A, B): merged, new root = A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union(C, D): merged, new root = C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union(A, C): merged, new root = A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find(D) = A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union(B, H): already the same set (A)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final sets: A-&gt;A B-&gt;A C-&gt;A D-&gt;A E-&gt;A F-&gt;A G-&gt;A H-&gt;A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Union-find: rank + yol sıkıştırma</a:t>
            </a:r>
          </a:p>
        </p:txBody>
      </p:sp>
      <p:pic>
        <p:nvPicPr>
          <p:cNvPr id="7" name="Picture 6" descr="union-find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9283" y="1325880"/>
            <a:ext cx="4093129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Karmaşıklık ve tuzak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iki hile ile birlikte işlem başına </a:t>
            </a:r>
            <a:r>
              <a:rPr sz="2000" b="1">
                <a:solidFill>
                  <a:srgbClr val="1F2D3A"/>
                </a:solidFill>
              </a:rPr>
              <a:t>~O(1) amortize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Tuzak: </a:t>
            </a:r>
            <a:r>
              <a:rPr sz="2000" b="0">
                <a:solidFill>
                  <a:srgbClr val="A1123F"/>
                </a:solidFill>
                <a:latin typeface="Consolas"/>
              </a:rPr>
              <a:t>union(a, b)</a:t>
            </a:r>
            <a:r>
              <a:rPr sz="2000" b="0">
                <a:solidFill>
                  <a:srgbClr val="1F2D3A"/>
                </a:solidFill>
              </a:rPr>
              <a:t>'nin </a:t>
            </a:r>
            <a:r>
              <a:rPr sz="2000" b="0">
                <a:solidFill>
                  <a:srgbClr val="A1123F"/>
                </a:solidFill>
                <a:latin typeface="Consolas"/>
              </a:rPr>
              <a:t>a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b</a:t>
            </a:r>
            <a:r>
              <a:rPr sz="2000" b="0">
                <a:solidFill>
                  <a:srgbClr val="1F2D3A"/>
                </a:solidFill>
              </a:rPr>
              <a:t>'yi doğrudan karşılaştırması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Kökler</a:t>
            </a:r>
            <a:r>
              <a:rPr sz="2000" b="0">
                <a:solidFill>
                  <a:srgbClr val="1F2D3A"/>
                </a:solidFill>
              </a:rPr>
              <a:t> birleştirilmeli — </a:t>
            </a:r>
            <a:r>
              <a:rPr sz="2000" b="0">
                <a:solidFill>
                  <a:srgbClr val="A1123F"/>
                </a:solidFill>
                <a:latin typeface="Consolas"/>
              </a:rPr>
              <a:t>find(a)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find(b)</a:t>
            </a:r>
            <a:r>
              <a:rPr sz="2000" b="0">
                <a:solidFill>
                  <a:srgbClr val="1F2D3A"/>
                </a:solidFill>
              </a:rPr>
              <a:t> — asla ham argümanlar değil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Kısa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Rank, bir kümedeki eleman sayısını değil, </a:t>
            </a:r>
            <a:r>
              <a:rPr sz="2000" b="1">
                <a:solidFill>
                  <a:srgbClr val="1F2D3A"/>
                </a:solidFill>
              </a:rPr>
              <a:t>yüksekliği</a:t>
            </a:r>
            <a:r>
              <a:rPr sz="2000" b="0">
                <a:solidFill>
                  <a:srgbClr val="1F2D3A"/>
                </a:solidFill>
              </a:rPr>
              <a:t> sayar. Neden doğrudan küme boyutu takip edilmiyor?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 i="1">
                <a:solidFill>
                  <a:srgbClr val="1F2D3A"/>
                </a:solidFill>
              </a:rPr>
              <a:t>(cevap bir sonraki slaytta)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Cevap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Boyut da işe yarar ve yaygın bir alternatiftir — "boyuta göre birleştirme" küçük </a:t>
            </a:r>
            <a:r>
              <a:rPr sz="2000" b="1">
                <a:solidFill>
                  <a:srgbClr val="1F2D3A"/>
                </a:solidFill>
              </a:rPr>
              <a:t>kümeyi</a:t>
            </a:r>
            <a:r>
              <a:rPr sz="2000" b="0">
                <a:solidFill>
                  <a:srgbClr val="1F2D3A"/>
                </a:solidFill>
              </a:rPr>
              <a:t> büyüğün altına asar.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İkisi de aynı O(α(n)) garantisini verir; rank, ağaç yüksekliğini doğrudan sınırladığı için klasik sunumdur — </a:t>
            </a:r>
            <a:r>
              <a:rPr sz="2000" b="0">
                <a:solidFill>
                  <a:srgbClr val="A1123F"/>
                </a:solidFill>
                <a:latin typeface="Consolas"/>
              </a:rPr>
              <a:t>find</a:t>
            </a:r>
            <a:r>
              <a:rPr sz="2000" b="0">
                <a:solidFill>
                  <a:srgbClr val="1F2D3A"/>
                </a:solidFill>
              </a:rPr>
              <a:t>'ın gerçekten bedelini ödediği şey de budur.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Hafta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Güz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4. En Küçük Yayılan Ağaçlar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Başlangıç sorusu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n</a:t>
            </a:r>
            <a:r>
              <a:rPr sz="2000" b="0">
                <a:solidFill>
                  <a:srgbClr val="1F2D3A"/>
                </a:solidFill>
              </a:rPr>
              <a:t> kasabayı elektrik hatlarıyla bağlayın. Herhangi bir çift doğrudan bir maliyetle bağlanabilir.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Her şeyi hâlâ bağlayan en ucuz hat kümesi nedir?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Kısa tarihçe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Joseph Kruskal</a:t>
            </a:r>
            <a:r>
              <a:rPr sz="2000" b="0">
                <a:solidFill>
                  <a:srgbClr val="1F2D3A"/>
                </a:solidFill>
              </a:rPr>
              <a:t>, 1956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Robert Prim</a:t>
            </a:r>
            <a:r>
              <a:rPr sz="2000" b="0">
                <a:solidFill>
                  <a:srgbClr val="1F2D3A"/>
                </a:solidFill>
              </a:rPr>
              <a:t>, 1957 (Jarník'i, 1930, yeniden keşfederek)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Aynı problem, yapısal olarak farklı iki açgözlü çözüm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İkisi de kanıtlanabilir şekilde güvenli: </a:t>
            </a:r>
            <a:r>
              <a:rPr sz="2000" b="1">
                <a:solidFill>
                  <a:srgbClr val="1F2D3A"/>
                </a:solidFill>
              </a:rPr>
              <a:t>kesme özelliği</a:t>
            </a:r>
            <a:r>
              <a:rPr sz="2000" b="0">
                <a:solidFill>
                  <a:srgbClr val="1F2D3A"/>
                </a:solidFill>
              </a:rPr>
              <a:t> (cut property)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Kruskal'ın fikri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Tüm</a:t>
            </a:r>
            <a:r>
              <a:rPr sz="2000" b="0">
                <a:solidFill>
                  <a:srgbClr val="1F2D3A"/>
                </a:solidFill>
              </a:rPr>
              <a:t> kenarları ağırlığa göre sırala, bir kez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En ucuzdan başlayarak tara; bir </a:t>
            </a:r>
            <a:r>
              <a:rPr sz="2000" b="1">
                <a:solidFill>
                  <a:srgbClr val="1F2D3A"/>
                </a:solidFill>
              </a:rPr>
              <a:t>döngü kapatmadıkça</a:t>
            </a:r>
            <a:r>
              <a:rPr sz="2000" b="0">
                <a:solidFill>
                  <a:srgbClr val="1F2D3A"/>
                </a:solidFill>
              </a:rPr>
              <a:t> kenarı ekle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Döngü kontrolü: union-find, neredeyse O(1)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Bağlı olmayan çizge → bir yayılan </a:t>
            </a:r>
            <a:r>
              <a:rPr sz="2000" b="1">
                <a:solidFill>
                  <a:srgbClr val="1F2D3A"/>
                </a:solidFill>
              </a:rPr>
              <a:t>orman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Prim'in fikri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başlangıç köşesinden </a:t>
            </a:r>
            <a:r>
              <a:rPr sz="2000" b="1">
                <a:solidFill>
                  <a:srgbClr val="1F2D3A"/>
                </a:solidFill>
              </a:rPr>
              <a:t>tek</a:t>
            </a:r>
            <a:r>
              <a:rPr sz="2000" b="0">
                <a:solidFill>
                  <a:srgbClr val="1F2D3A"/>
                </a:solidFill>
              </a:rPr>
              <a:t> bir ağaç büyüt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İçeriden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dışarıya</a:t>
            </a:r>
            <a:r>
              <a:rPr sz="2000" b="0">
                <a:solidFill>
                  <a:srgbClr val="1F2D3A"/>
                </a:solidFill>
              </a:rPr>
              <a:t> en ucuz kenarı ekle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key[v]</a:t>
            </a:r>
            <a:r>
              <a:rPr sz="2000" b="0">
                <a:solidFill>
                  <a:srgbClr val="1F2D3A"/>
                </a:solidFill>
              </a:rPr>
              <a:t> = v'yi ağaca şimdiye kadar bağlayan en ucuz kenar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Farklı bir bileşene hiç ulaşmaz: key "sonsuz" kalır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Kruskal'ın kodu (C) — bölüm 1/2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40817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kruskal_mst(Edge *sorted, int edge_count,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 Edge *mst_out, int *total_out)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v=0;v&lt;vertex_count;v++)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{ parent_of[v]=v; rank_of[v]=0;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qsort(sorted, edge_count, sizeof(Edge), cmp_weight);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mst_len=0, total=0;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Kruskal'ın kodu (C) — bölüm 2/2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164079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i=0;i&lt;edge_count;i++)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if (find(sorted[i].a)==find(sorted[i].b))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continue;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union_sets(sorted[i].a, sorted[i].b);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mst_out[mst_len++]=sorted[i];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total+=sorted[i].w;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*total_out=total;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mst_len;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Kruskal'ın kodu (Java) — bölüm 1/2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59715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static int kruskalMst(Edge[] sorted,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       Edge[] mstOut, int[] totalOut)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v=0;v&lt;vertexCount;v++)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{ parentOf[v]=v; rankOf[v]=0;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Arrays.sort(sorted, Comparator.comparingInt(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(Edge e) -&gt; e.w).thenComparingInt(e -&gt; e.idx));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mstLen=0, total=0;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Kruskal'ın kodu (Java) — bölüm 2/2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97510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(Edge e : sorted)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if (find(e.a)==find(e.b)) continue;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unionSets(e.a, e.b);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mstOut[mstLen]=e; mstLen++;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total+=e.w;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totalOut[0]=total;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mstLen;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Kruskal'ın MST'si</a:t>
            </a:r>
          </a:p>
        </p:txBody>
      </p:sp>
      <p:pic>
        <p:nvPicPr>
          <p:cNvPr id="7" name="Picture 6" descr="kruskal-mst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7043" y="1325880"/>
            <a:ext cx="3537608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Uç durum: yayılan bir orman</a:t>
            </a:r>
          </a:p>
        </p:txBody>
      </p:sp>
      <p:pic>
        <p:nvPicPr>
          <p:cNvPr id="7" name="Picture 6" descr="kruskal-mst--disconnected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5388" y="1325880"/>
            <a:ext cx="4120919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Gerçek çıktı: Kruskal'ın MST'si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97510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-- normal: 7 vertices, 10 edges, one component --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MST edges: B-C:1 A-C:2 D-E:2 E-F:3 B-D:5 E-G:7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total weight = 20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components = 1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-- edge: 10 edges, 2 components -- a spanning FOREST --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MST edges: C-D:1 A-B:2 F-G:2 D-E:3 H-I:3 B-C:4 I-J:4 G-H:6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total weight = 25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components = 2 (a spanning forest)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Prim'in kodu (C) — bölüm 1/2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164079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prim_mst(Graph *g, int start,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Edge *mst_out, int *total_out)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v=0;v&lt;g-&gt;vertex_count;v++)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{ key_of[v]=INF; in_mst[v]=0; parent_of[v]=-1;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key_of[start]=0;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mst_len=0, total=0;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count=0;count&lt;g-&gt;vertex_count;count++)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int u=min_key_vertex(g-&gt;vertex_count);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if (u==-1 || key_of[u]==INF) break;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in_mst[u]=1;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Prim'in kodu (C) — bölüm 2/2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919983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if (parent_of[u]!=-1)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mst_out[mst_len].a=parent_of[u];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mst_out[mst_len].b=u;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mst_out[mst_len].w=key_of[u];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mst_len++; total+=key_of[u];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for (AdjNode *n=g-&gt;adj[u]; n; n=n-&gt;next)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if (!in_mst[n-&gt;to] &amp;&amp; n-&gt;weight&lt;key_of[n-&gt;to])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{ key_of[n-&gt;to]=n-&gt;weight;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  parent_of[n-&gt;to]=u;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*total_out=total;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mst_len;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Prim'in kodu (Java) — bölüm 1/2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164079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static int primMst(Graph g, int start,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    Edge[] mstOut, int[] totalOut)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v=0;v&lt;g.vertexCount;v++)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{ keyOf[v]=INF; inMst[v]=false; parentOf[v]=-1;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keyOf[start]=0;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mstLen=0, total=0;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count=0;count&lt;g.vertexCount;count++)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int u=minKeyVertex(g.vertexCount);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if (u==-1 || keyOf[u]==INF) break;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inMst[u]=true;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Prim'in kodu (Java) — bölüm 2/2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919983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if (parentOf[u]!=-1)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mstOut[mstLen]=new Edge();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mstOut[mstLen].a=parentOf[u];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mstOut[mstLen].b=u;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mstOut[mstLen].w=keyOf[u];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mstLen++; total+=keyOf[u];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for (AdjNode n=g.adj[u]; n!=null; n=n.next)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if (!inMst[n.to] &amp;&amp; n.weight&lt;keyOf[n.to])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{ keyOf[n.to]=n.weight; parentOf[n.to]=u;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totalOut[0]=total;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mstLen;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Prim'in MST'si</a:t>
            </a:r>
          </a:p>
        </p:txBody>
      </p:sp>
      <p:pic>
        <p:nvPicPr>
          <p:cNvPr id="7" name="Picture 6" descr="prim-mst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188" y="1325880"/>
            <a:ext cx="3377319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Gerçek çıktı: Prim'in MST'si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78612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-- normal: 7 vertices, 10 edges, starts at A --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MST edges: A-C:2 C-B:1 B-D:5 D-E:2 E-F:3 E-G:7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total weight = 20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-- edge: 2 components, starts at A -- F..J never reached --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MST edges: A-B:2 B-C:4 C-D:1 D-E:3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total weight = 10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unreached: F G H I J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Karmaşıklık tablosu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1183"/>
                <a:gridCol w="2424785"/>
                <a:gridCol w="5715565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Algoritma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Süre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Not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Kruskal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O(E log E)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sıralama baskın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Prim (dizi)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O(V^2)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Dijkstra'nın şekliyle eşleşir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Prim (yığın)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O(E log V)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yoğun çizgelerde daha iyi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Kısa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Prim, aynı çizgede Kruskal'dan </a:t>
            </a:r>
            <a:r>
              <a:rPr sz="2000" b="1">
                <a:solidFill>
                  <a:srgbClr val="1F2D3A"/>
                </a:solidFill>
              </a:rPr>
              <a:t>daha pahalı</a:t>
            </a:r>
            <a:r>
              <a:rPr sz="2000" b="0">
                <a:solidFill>
                  <a:srgbClr val="1F2D3A"/>
                </a:solidFill>
              </a:rPr>
              <a:t> bir kenar seçebilir mi?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 i="1">
                <a:solidFill>
                  <a:srgbClr val="1F2D3A"/>
                </a:solidFill>
              </a:rPr>
              <a:t>(cevap: hayır — bir sonraki slayta bakın)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Cevap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Hayır.</a:t>
            </a:r>
            <a:r>
              <a:rPr sz="2000" b="0">
                <a:solidFill>
                  <a:srgbClr val="1F2D3A"/>
                </a:solidFill>
              </a:rPr>
              <a:t> İkisi de kanıtlanabilir şekilde en iyisidir (kesme özelliği).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çizgenin her MST'si aynı </a:t>
            </a:r>
            <a:r>
              <a:rPr sz="2000" b="1">
                <a:solidFill>
                  <a:srgbClr val="1F2D3A"/>
                </a:solidFill>
              </a:rPr>
              <a:t>toplam</a:t>
            </a:r>
            <a:r>
              <a:rPr sz="2000" b="0">
                <a:solidFill>
                  <a:srgbClr val="1F2D3A"/>
                </a:solidFill>
              </a:rPr>
              <a:t> ağırlığa sahiptir — ağırlıklar eşitlendiğinde sadece </a:t>
            </a:r>
            <a:r>
              <a:rPr sz="2000" b="0" i="1">
                <a:solidFill>
                  <a:srgbClr val="1F2D3A"/>
                </a:solidFill>
              </a:rPr>
              <a:t>hangi</a:t>
            </a:r>
            <a:r>
              <a:rPr sz="2000" b="0">
                <a:solidFill>
                  <a:srgbClr val="1F2D3A"/>
                </a:solidFill>
              </a:rPr>
              <a:t> kenarları seçtikleri farklılaşabilir.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Hafta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Güz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5. Tek Kaynaktan En Kısa Yollar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Başlangıç sorusu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Mesafeye göre ağırlıklandırılmış bir yol ağı. Bir şehirden başlayarak,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her diğer şehre en ucuz ulaşım nasıl olur?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Kısa tarihçe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Edsger Dijkstra</a:t>
            </a:r>
            <a:r>
              <a:rPr sz="2000" b="0">
                <a:solidFill>
                  <a:srgbClr val="1F2D3A"/>
                </a:solidFill>
              </a:rPr>
              <a:t>, 1956 (1959'da yayımlandı)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Yeni bir bilgisayarı tanıtmak için 20 dakikalık bir alıştırma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ağırlık </a:t>
            </a:r>
            <a:r>
              <a:rPr sz="2000" b="1">
                <a:solidFill>
                  <a:srgbClr val="1F2D3A"/>
                </a:solidFill>
              </a:rPr>
              <a:t>negatif olmadığında</a:t>
            </a:r>
            <a:r>
              <a:rPr sz="2000" b="0">
                <a:solidFill>
                  <a:srgbClr val="1F2D3A"/>
                </a:solidFill>
              </a:rPr>
              <a:t> hâlâ standart cevap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Dijkstra'nın fikri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dist[v]</a:t>
            </a:r>
            <a:r>
              <a:rPr sz="2000" b="0">
                <a:solidFill>
                  <a:srgbClr val="1F2D3A"/>
                </a:solidFill>
              </a:rPr>
              <a:t> = şimdiye kadar bulunan en ucuz </a:t>
            </a:r>
            <a:r>
              <a:rPr sz="2000" b="1">
                <a:solidFill>
                  <a:srgbClr val="1F2D3A"/>
                </a:solidFill>
              </a:rPr>
              <a:t>toplam yol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Henüz bitmemiş, </a:t>
            </a:r>
            <a:r>
              <a:rPr sz="2000" b="0">
                <a:solidFill>
                  <a:srgbClr val="A1123F"/>
                </a:solidFill>
                <a:latin typeface="Consolas"/>
              </a:rPr>
              <a:t>dist</a:t>
            </a:r>
            <a:r>
              <a:rPr sz="2000" b="0">
                <a:solidFill>
                  <a:srgbClr val="1F2D3A"/>
                </a:solidFill>
              </a:rPr>
              <a:t> değeri en küçük köşeyi seç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Seçildiğinde: </a:t>
            </a:r>
            <a:r>
              <a:rPr sz="2000" b="1">
                <a:solidFill>
                  <a:srgbClr val="1F2D3A"/>
                </a:solidFill>
              </a:rPr>
              <a:t>kesin</a:t>
            </a:r>
            <a:r>
              <a:rPr sz="2000" b="0">
                <a:solidFill>
                  <a:srgbClr val="1F2D3A"/>
                </a:solidFill>
              </a:rPr>
              <a:t>, bir daha asla küçülemez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 sadece hiçbir kenar ağırlığı negatif olmadığı için doğru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Negatif ağırlıklar neden bozar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Erken "kesin" olarak çıkarılan bir köşe, daha sonra çok negatif bir kenardan geçen bir yolla yenilebilir — bu, köşe zaten kesinleştikten </a:t>
            </a:r>
            <a:r>
              <a:rPr sz="2000" b="1">
                <a:solidFill>
                  <a:srgbClr val="1F2D3A"/>
                </a:solidFill>
              </a:rPr>
              <a:t>sonra</a:t>
            </a:r>
            <a:r>
              <a:rPr sz="2000" b="0">
                <a:solidFill>
                  <a:srgbClr val="1F2D3A"/>
                </a:solidFill>
              </a:rPr>
              <a:t> keşfedilir.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Dijkstra'nın kodu (C) — bölüm 1/2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78612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void dijkstra(Graph *g, int start)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v=0;v&lt;g-&gt;vertex_count;v++)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{ dist_of[v]=INF; done[v]=0; parent_of[v]=-1;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dist_of[start]=0;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count=0;count&lt;g-&gt;vertex_count;count++)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int u=min_dist_vertex(g-&gt;vertex_count);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if (u==-1 || dist_of[u]==INF) break;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done[u]=1;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Dijkstra'nın kodu (C) — bölüm 2/2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59715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for (AdjNode *n=g-&gt;adj[u]; n; n=n-&gt;next)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int cand=dist_of[u]+n-&gt;weight;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if (!done[n-&gt;to] &amp;&amp; cand&lt;dist_of[n-&gt;to])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{ dist_of[n-&gt;to]=cand; parent_of[n-&gt;to]=u;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Dijkstra'nın kodu (Java) — bölüm 1/2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78612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static void dijkstra(Graph g, int start)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v=0;v&lt;g.vertexCount;v++)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{ distOf[v]=INF; done[v]=false; parentOf[v]=-1;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distOf[start]=0;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count=0;count&lt;g.vertexCount;count++)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int u=minDistVertex(g.vertexCount);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if (u==-1 || distOf[u]==INF) break;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done[u]=true;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Dijkstra'nın kodu (Java) — bölüm 2/2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59715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for (AdjNode n=g.adj[u]; n!=null; n=n.next)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int cand=distOf[u]+n.weight;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if (!done[n.to] &amp;&amp; cand&lt;distOf[n.to])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{ distOf[n.to]=cand; parentOf[n.to]=u;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Dijkstra en kısa yol</a:t>
            </a:r>
          </a:p>
        </p:txBody>
      </p:sp>
      <p:pic>
        <p:nvPicPr>
          <p:cNvPr id="7" name="Picture 6" descr="dijkstra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0902" y="1325880"/>
            <a:ext cx="3769891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Gerçek çıktı: Dijkstra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-- normal: 8 vertices, 10 edges, starts at A --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distances: A=0 B=3 C=2 D=8 E=10 F=13 G=17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-- edge: F..J never reachable via the directed edges --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distances: A=0 B=2 C=5 D=6 E=9 F=inf G=inf H=inf I=inf J=inf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Bellman-Ford: negatif ağırlıklar sorun değil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Bellman</a:t>
            </a:r>
            <a:r>
              <a:rPr sz="2000" b="0">
                <a:solidFill>
                  <a:srgbClr val="1F2D3A"/>
                </a:solidFill>
              </a:rPr>
              <a:t> ve </a:t>
            </a:r>
            <a:r>
              <a:rPr sz="2000" b="1">
                <a:solidFill>
                  <a:srgbClr val="1F2D3A"/>
                </a:solidFill>
              </a:rPr>
              <a:t>Ford</a:t>
            </a:r>
            <a:r>
              <a:rPr sz="2000" b="0">
                <a:solidFill>
                  <a:srgbClr val="1F2D3A"/>
                </a:solidFill>
              </a:rPr>
              <a:t>, 1950'lerin sonu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"En küçüğü çıkar" fikrinden tamamen vazgeç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Her</a:t>
            </a:r>
            <a:r>
              <a:rPr sz="2000" b="0">
                <a:solidFill>
                  <a:srgbClr val="1F2D3A"/>
                </a:solidFill>
              </a:rPr>
              <a:t> kenarı, sabit sırayla, </a:t>
            </a:r>
            <a:r>
              <a:rPr sz="2000" b="0">
                <a:solidFill>
                  <a:srgbClr val="A1123F"/>
                </a:solidFill>
                <a:latin typeface="Consolas"/>
              </a:rPr>
              <a:t>V - 1</a:t>
            </a:r>
            <a:r>
              <a:rPr sz="2000" b="0">
                <a:solidFill>
                  <a:srgbClr val="1F2D3A"/>
                </a:solidFill>
              </a:rPr>
              <a:t> tura kadar gevşet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Hâlâ iyileştiren bir </a:t>
            </a:r>
            <a:r>
              <a:rPr sz="2000" b="0">
                <a:solidFill>
                  <a:srgbClr val="A1123F"/>
                </a:solidFill>
                <a:latin typeface="Consolas"/>
              </a:rPr>
              <a:t>V</a:t>
            </a:r>
            <a:r>
              <a:rPr sz="2000" b="0">
                <a:solidFill>
                  <a:srgbClr val="1F2D3A"/>
                </a:solidFill>
              </a:rPr>
              <a:t>. tur = bir </a:t>
            </a:r>
            <a:r>
              <a:rPr sz="2000" b="1">
                <a:solidFill>
                  <a:srgbClr val="1F2D3A"/>
                </a:solidFill>
              </a:rPr>
              <a:t>negatif döngü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Bellman-Ford'un kodu (C) — bölüm 1/2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78612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bellman_ford(Graph *g, int start)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v=0;v&lt;g-&gt;vertex_count;v++)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{ dist_of[v]=INF; parent_of[v]=-1;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dist_of[start]=0;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p=1;p&lt;=g-&gt;vertex_count-1;p++)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int changed=0;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for (int u=0;u&lt;g-&gt;vertex_count;u++)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if (dist_of[u]==INF) continue;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Bellman-Ford'un kodu (C) — bölüm 2/2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35305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for (AdjNode *n=g-&gt;adj[u]; n; n=n-&gt;next)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int cand=dist_of[u]+n-&gt;weight;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if (cand&lt;dist_of[n-&gt;to])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    { dist_of[n-&gt;to]=cand;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      parent_of[n-&gt;to]=u; changed=1;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if (!changed) break;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/* one more pass detects a negative cycle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Bellman-Ford'un kodu (Java) — bölüm 1/2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78612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static boolean bellmanFord(Graph g, int start)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v=0;v&lt;g.vertexCount;v++)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{ distOf[v]=INF; parentOf[v]=-1;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distOf[start]=0;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pass=1;pass&lt;=g.vertexCount-1;pass++)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boolean changed=false;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for (int u=0;u&lt;g.vertexCount;u++)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if (distOf[u]==INF) continue;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Bellman-Ford'un kodu (Java) — bölüm 2/2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35305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for (AdjNode n=g.adj[u]; n!=null; n=n.next)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int cand=distOf[u]+n.weight;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if (cand&lt;distOf[n.to])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    { distOf[n.to]=cand;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      parentOf[n.to]=u; changed=true;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if (!changed) break;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/* one more pass detects a negative cycle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Bellman-Ford en kısa yol</a:t>
            </a:r>
          </a:p>
        </p:txBody>
      </p:sp>
      <p:pic>
        <p:nvPicPr>
          <p:cNvPr id="7" name="Picture 6" descr="bellman-ford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4093" y="1325880"/>
            <a:ext cx="3543509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Zorunlu uç durum: negatif döngü</a:t>
            </a:r>
          </a:p>
        </p:txBody>
      </p:sp>
      <p:pic>
        <p:nvPicPr>
          <p:cNvPr id="7" name="Picture 6" descr="bellman-ford--negative-cycle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7131" y="1325880"/>
            <a:ext cx="3437433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Gerçek çıktı: Bellman-Ford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59715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-- normal: 7 vertices, all positive, starts at A --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distances: A=0 B=3 C=2 D=8 E=10 F=13 G=17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no negative cycle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-- edge: A-B-C-A is a negative cycle (total -1) --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distances: A=-4 B=-2 C=0 D=0 E=1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negative cycle detected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Karmaşıklık tablosu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9820380" cy="1179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9742"/>
                <a:gridCol w="1818589"/>
                <a:gridCol w="5092049"/>
              </a:tblGrid>
              <a:tr h="39319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Algoritma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Süre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Negatifleri kaldırır mı?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Dijkstra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O(V^2)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Hayır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Bellman-Ford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O(V*E)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Evet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Kısa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Bellman-Ford için neden tam olarak </a:t>
            </a:r>
            <a:r>
              <a:rPr sz="2000" b="0">
                <a:solidFill>
                  <a:srgbClr val="A1123F"/>
                </a:solidFill>
                <a:latin typeface="Consolas"/>
              </a:rPr>
              <a:t>V - 1</a:t>
            </a:r>
            <a:r>
              <a:rPr sz="2000" b="0">
                <a:solidFill>
                  <a:srgbClr val="1F2D3A"/>
                </a:solidFill>
              </a:rPr>
              <a:t> tur, </a:t>
            </a:r>
            <a:r>
              <a:rPr sz="2000" b="0">
                <a:solidFill>
                  <a:srgbClr val="A1123F"/>
                </a:solidFill>
                <a:latin typeface="Consolas"/>
              </a:rPr>
              <a:t>V</a:t>
            </a:r>
            <a:r>
              <a:rPr sz="2000" b="0">
                <a:solidFill>
                  <a:srgbClr val="1F2D3A"/>
                </a:solidFill>
              </a:rPr>
              <a:t> veya </a:t>
            </a:r>
            <a:r>
              <a:rPr sz="2000" b="0">
                <a:solidFill>
                  <a:srgbClr val="A1123F"/>
                </a:solidFill>
                <a:latin typeface="Consolas"/>
              </a:rPr>
              <a:t>V/2</a:t>
            </a:r>
            <a:r>
              <a:rPr sz="2000" b="0">
                <a:solidFill>
                  <a:srgbClr val="1F2D3A"/>
                </a:solidFill>
              </a:rPr>
              <a:t> değil?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 i="1">
                <a:solidFill>
                  <a:srgbClr val="1F2D3A"/>
                </a:solidFill>
              </a:rPr>
              <a:t>(cevap bir sonraki slaytta)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Cevap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en kısa yol (negatif döngü yoksa) bir köşeyi asla tekrarlamaz — en fazla </a:t>
            </a:r>
            <a:r>
              <a:rPr sz="2000" b="0">
                <a:solidFill>
                  <a:srgbClr val="A1123F"/>
                </a:solidFill>
                <a:latin typeface="Consolas"/>
              </a:rPr>
              <a:t>V - 1</a:t>
            </a:r>
            <a:r>
              <a:rPr sz="2000" b="0">
                <a:solidFill>
                  <a:srgbClr val="1F2D3A"/>
                </a:solidFill>
              </a:rPr>
              <a:t> kenar.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Her tur, her yolun "kesinleşmiş" önekini bir kenar uzatır. </a:t>
            </a:r>
            <a:r>
              <a:rPr sz="2000" b="0">
                <a:solidFill>
                  <a:srgbClr val="A1123F"/>
                </a:solidFill>
                <a:latin typeface="Consolas"/>
              </a:rPr>
              <a:t>V - 1</a:t>
            </a:r>
            <a:r>
              <a:rPr sz="2000" b="0">
                <a:solidFill>
                  <a:srgbClr val="1F2D3A"/>
                </a:solidFill>
              </a:rPr>
              <a:t> tur, mümkün olan en uzun en kısa yolu kesinleştirir.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Hafta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Güz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95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6. Tüm Çiftler En Kısa Yollar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Başlangıç sorusu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uçuş rezervasyon sistemi, ~20 şehrin </a:t>
            </a:r>
            <a:r>
              <a:rPr sz="2000" b="1">
                <a:solidFill>
                  <a:srgbClr val="1F2D3A"/>
                </a:solidFill>
              </a:rPr>
              <a:t>her çifti</a:t>
            </a:r>
            <a:r>
              <a:rPr sz="2000" b="0">
                <a:solidFill>
                  <a:srgbClr val="1F2D3A"/>
                </a:solidFill>
              </a:rPr>
              <a:t> arasında en ucuz ücrete aynı anda ihtiyaç duyar.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Dijkstra'yı 20 kez çalıştırmak işe yarar — işi </a:t>
            </a:r>
            <a:r>
              <a:rPr sz="2000" b="1">
                <a:solidFill>
                  <a:srgbClr val="1F2D3A"/>
                </a:solidFill>
              </a:rPr>
              <a:t>paylaşmanın</a:t>
            </a:r>
            <a:r>
              <a:rPr sz="2000" b="0">
                <a:solidFill>
                  <a:srgbClr val="1F2D3A"/>
                </a:solidFill>
              </a:rPr>
              <a:t> bir yolu var mı?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Kısa tarihçe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Robert Floyd</a:t>
            </a:r>
            <a:r>
              <a:rPr sz="2000" b="0">
                <a:solidFill>
                  <a:srgbClr val="1F2D3A"/>
                </a:solidFill>
              </a:rPr>
              <a:t> ve </a:t>
            </a:r>
            <a:r>
              <a:rPr sz="2000" b="1">
                <a:solidFill>
                  <a:srgbClr val="1F2D3A"/>
                </a:solidFill>
              </a:rPr>
              <a:t>Stephen Warshall</a:t>
            </a:r>
            <a:r>
              <a:rPr sz="2000" b="0">
                <a:solidFill>
                  <a:srgbClr val="1F2D3A"/>
                </a:solidFill>
              </a:rPr>
              <a:t>, ikisi de 1962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Bağımsız, yakından ilişkili matris algoritmaları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Birleşik algoritma her iki adı da taşır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Fikir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25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</a:t>
            </a:r>
            <a:r>
              <a:rPr sz="2000" b="0">
                <a:solidFill>
                  <a:srgbClr val="A1123F"/>
                </a:solidFill>
                <a:latin typeface="Consolas"/>
              </a:rPr>
              <a:t>N x N</a:t>
            </a:r>
            <a:r>
              <a:rPr sz="2000" b="0">
                <a:solidFill>
                  <a:srgbClr val="1F2D3A"/>
                </a:solidFill>
              </a:rPr>
              <a:t> matris </a:t>
            </a:r>
            <a:r>
              <a:rPr sz="2000" b="0">
                <a:solidFill>
                  <a:srgbClr val="A1123F"/>
                </a:solidFill>
                <a:latin typeface="Consolas"/>
              </a:rPr>
              <a:t>dist[i][j]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Her</a:t>
            </a:r>
            <a:r>
              <a:rPr sz="2000" b="0">
                <a:solidFill>
                  <a:srgbClr val="1F2D3A"/>
                </a:solidFill>
              </a:rPr>
              <a:t> köşe </a:t>
            </a:r>
            <a:r>
              <a:rPr sz="2000" b="0">
                <a:solidFill>
                  <a:srgbClr val="A1123F"/>
                </a:solidFill>
                <a:latin typeface="Consolas"/>
              </a:rPr>
              <a:t>k</a:t>
            </a:r>
            <a:r>
              <a:rPr sz="2000" b="0">
                <a:solidFill>
                  <a:srgbClr val="1F2D3A"/>
                </a:solidFill>
              </a:rPr>
              <a:t> için: </a:t>
            </a:r>
            <a:r>
              <a:rPr sz="2000" b="0">
                <a:solidFill>
                  <a:srgbClr val="A1123F"/>
                </a:solidFill>
                <a:latin typeface="Consolas"/>
              </a:rPr>
              <a:t>i -&gt; k -&gt; j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dist[i][j]</a:t>
            </a:r>
            <a:r>
              <a:rPr sz="2000" b="0">
                <a:solidFill>
                  <a:srgbClr val="1F2D3A"/>
                </a:solidFill>
              </a:rPr>
              <a:t>'den daha mı kısa?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köşeyi bir ara durak olarak dene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Yerinde</a:t>
            </a:r>
            <a:r>
              <a:rPr sz="2000" b="0">
                <a:solidFill>
                  <a:srgbClr val="1F2D3A"/>
                </a:solidFill>
              </a:rPr>
              <a:t> güncelle — güvenli, çünkü </a:t>
            </a:r>
            <a:r>
              <a:rPr sz="2000" b="0">
                <a:solidFill>
                  <a:srgbClr val="A1123F"/>
                </a:solidFill>
                <a:latin typeface="Consolas"/>
              </a:rPr>
              <a:t>dist[i][k]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dist[k][j]</a:t>
            </a:r>
            <a:r>
              <a:rPr sz="2000" b="0">
                <a:solidFill>
                  <a:srgbClr val="1F2D3A"/>
                </a:solidFill>
              </a:rPr>
              <a:t> geçiş sırasında hiç değişmez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Floyd-Warshall'ın kodu (C)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73100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void floyd_warshall(int vertex_cnt)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k=0;k&lt;vertex_cnt;k++)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for (int i=0;i&lt;vertex_cnt;i++)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for (int j=0;j&lt;vertex_cnt;j++)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if (dist[i][k]==INF || dist[k][j]==INF)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    continue;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int through=dist[i][k]+dist[k][j];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if (through&lt;dist[i][j])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    dist[i][j]=through;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Floyd-Warshall'ın kodu (Java)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73100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static void floydWarshall(int vertexCnt)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k=0;k&lt;vertexCnt;k++)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for (int i=0;i&lt;vertexCnt;i++)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for (int j=0;j&lt;vertexCnt;j++)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if (dist[i][k]==INF || dist[k][j]==INF)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    continue;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int through=dist[i][k]+dist[k][j];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if (through&lt;dist[i][j])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    dist[i][j]=through;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Floyd-Warshall: matris dolar</a:t>
            </a:r>
          </a:p>
        </p:txBody>
      </p:sp>
      <p:pic>
        <p:nvPicPr>
          <p:cNvPr id="7" name="Picture 6" descr="floyd-warshall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6923" y="1325880"/>
            <a:ext cx="5277848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Gerçek çıktı: Floyd-Warshall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97510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-- normal: 5 vertices, negative edges but no negative cycle --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A   B   C   E   D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A   0   1  -3  -4   2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B   3   0  -4  -2   1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C   7   4   0   2   5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no negative cycle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-- edge: A-B-C-A is a negative cycle --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negative cycle at: A B C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Karmaşıklık ve tuzak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O(V^3)</a:t>
            </a:r>
            <a:r>
              <a:rPr sz="2000" b="0">
                <a:solidFill>
                  <a:srgbClr val="1F2D3A"/>
                </a:solidFill>
              </a:rPr>
              <a:t> süre, </a:t>
            </a:r>
            <a:r>
              <a:rPr sz="2000" b="1">
                <a:solidFill>
                  <a:srgbClr val="1F2D3A"/>
                </a:solidFill>
              </a:rPr>
              <a:t>O(V^2)</a:t>
            </a:r>
            <a:r>
              <a:rPr sz="2000" b="0">
                <a:solidFill>
                  <a:srgbClr val="1F2D3A"/>
                </a:solidFill>
              </a:rPr>
              <a:t> alan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Birkaç yüz köşe için pratik, daha fazlası için değil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Tuzak: </a:t>
            </a:r>
            <a:r>
              <a:rPr sz="2000" b="0">
                <a:solidFill>
                  <a:srgbClr val="A1123F"/>
                </a:solidFill>
                <a:latin typeface="Consolas"/>
              </a:rPr>
              <a:t>k</a:t>
            </a:r>
            <a:r>
              <a:rPr sz="2000" b="0">
                <a:solidFill>
                  <a:srgbClr val="1F2D3A"/>
                </a:solidFill>
              </a:rPr>
              <a:t>'yı </a:t>
            </a:r>
            <a:r>
              <a:rPr sz="2000" b="1">
                <a:solidFill>
                  <a:srgbClr val="1F2D3A"/>
                </a:solidFill>
              </a:rPr>
              <a:t>en içteki</a:t>
            </a:r>
            <a:r>
              <a:rPr sz="2000" b="0">
                <a:solidFill>
                  <a:srgbClr val="1F2D3A"/>
                </a:solidFill>
              </a:rPr>
              <a:t> döngü yapmak sessizce çöp hesaplar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Tuzak: </a:t>
            </a:r>
            <a:r>
              <a:rPr sz="2000" b="0">
                <a:solidFill>
                  <a:srgbClr val="A1123F"/>
                </a:solidFill>
                <a:latin typeface="Consolas"/>
              </a:rPr>
              <a:t>== INF</a:t>
            </a:r>
            <a:r>
              <a:rPr sz="2000" b="0">
                <a:solidFill>
                  <a:srgbClr val="1F2D3A"/>
                </a:solidFill>
              </a:rPr>
              <a:t> korumasını unutmak → tamsayı taşması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Kısa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Bellman-Ford, </a:t>
            </a:r>
            <a:r>
              <a:rPr sz="2000" b="1">
                <a:solidFill>
                  <a:srgbClr val="1F2D3A"/>
                </a:solidFill>
              </a:rPr>
              <a:t>bir başlangıçtan</a:t>
            </a:r>
            <a:r>
              <a:rPr sz="2000" b="0">
                <a:solidFill>
                  <a:srgbClr val="1F2D3A"/>
                </a:solidFill>
              </a:rPr>
              <a:t> erişilebilen negatif döngüleri bulur. Floyd-Warshall'ın köşegen kontrolü bunları farklı nasıl bulur?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 i="1">
                <a:solidFill>
                  <a:srgbClr val="1F2D3A"/>
                </a:solidFill>
              </a:rPr>
              <a:t>(cevap bir sonraki slaytta)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Cevap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Sıfırın altına</a:t>
            </a:r>
            <a:r>
              <a:rPr sz="2000" b="0">
                <a:solidFill>
                  <a:srgbClr val="1F2D3A"/>
                </a:solidFill>
              </a:rPr>
              <a:t> düşen herhangi bir </a:t>
            </a:r>
            <a:r>
              <a:rPr sz="2000" b="0">
                <a:solidFill>
                  <a:srgbClr val="A1123F"/>
                </a:solidFill>
                <a:latin typeface="Consolas"/>
              </a:rPr>
              <a:t>dist[v][v]</a:t>
            </a:r>
            <a:r>
              <a:rPr sz="2000" b="0">
                <a:solidFill>
                  <a:srgbClr val="1F2D3A"/>
                </a:solidFill>
              </a:rPr>
              <a:t>: </a:t>
            </a:r>
            <a:r>
              <a:rPr sz="2000" b="0">
                <a:solidFill>
                  <a:srgbClr val="A1123F"/>
                </a:solidFill>
                <a:latin typeface="Consolas"/>
              </a:rPr>
              <a:t>v</a:t>
            </a:r>
            <a:r>
              <a:rPr sz="2000" b="0">
                <a:solidFill>
                  <a:srgbClr val="1F2D3A"/>
                </a:solidFill>
              </a:rPr>
              <a:t>'den ayrılan bir yolun, yerinde kalmaktan daha ucuza geri döndüğü anlamına gelir.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Floyd-Warshall </a:t>
            </a:r>
            <a:r>
              <a:rPr sz="2000" b="1">
                <a:solidFill>
                  <a:srgbClr val="1F2D3A"/>
                </a:solidFill>
              </a:rPr>
              <a:t>her</a:t>
            </a:r>
            <a:r>
              <a:rPr sz="2000" b="0">
                <a:solidFill>
                  <a:srgbClr val="1F2D3A"/>
                </a:solidFill>
              </a:rPr>
              <a:t> çifti hesapladığı için, bu kontrol her köşe için aynı anda çalışır — ayrı bir başlangıç köşesine gerek yok.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Hafta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Güz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7. Güçlü Bağlı Bileşenler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Başlangıç sorusu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Kenar yönüne saygı göstererek hangi köşe grupları birbirine ulaşıp </a:t>
            </a:r>
            <a:r>
              <a:rPr sz="2000" b="1">
                <a:solidFill>
                  <a:srgbClr val="1F2D3A"/>
                </a:solidFill>
              </a:rPr>
              <a:t>geri dönebilir</a:t>
            </a:r>
            <a:r>
              <a:rPr sz="2000" b="0">
                <a:solidFill>
                  <a:srgbClr val="1F2D3A"/>
                </a:solidFill>
              </a:rPr>
              <a:t>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döngü içinde birbirine bağlanan web sayfaları. Karşılıklı özyinelemeli fonksiyonlar.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Kosaraju'nun fikri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Sergei Kosaraju</a:t>
            </a:r>
            <a:r>
              <a:rPr sz="2000" b="0">
                <a:solidFill>
                  <a:srgbClr val="1F2D3A"/>
                </a:solidFill>
              </a:rPr>
              <a:t>, ~1978 (Micali ve Vazirani, 1981 üzerinden atfedilir)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Aşama 1: DFS, her köşenin </a:t>
            </a:r>
            <a:r>
              <a:rPr sz="2000" b="1">
                <a:solidFill>
                  <a:srgbClr val="1F2D3A"/>
                </a:solidFill>
              </a:rPr>
              <a:t>bitiş zamanını</a:t>
            </a:r>
            <a:r>
              <a:rPr sz="2000" b="0">
                <a:solidFill>
                  <a:srgbClr val="1F2D3A"/>
                </a:solidFill>
              </a:rPr>
              <a:t> kaydet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Aşama 2: </a:t>
            </a:r>
            <a:r>
              <a:rPr sz="2000" b="1">
                <a:solidFill>
                  <a:srgbClr val="1F2D3A"/>
                </a:solidFill>
              </a:rPr>
              <a:t>Devrik</a:t>
            </a:r>
            <a:r>
              <a:rPr sz="2000" b="0">
                <a:solidFill>
                  <a:srgbClr val="1F2D3A"/>
                </a:solidFill>
              </a:rPr>
              <a:t> (kenarları ters çevrilmiş) çizgede DFS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Kökleri </a:t>
            </a:r>
            <a:r>
              <a:rPr sz="2000" b="1">
                <a:solidFill>
                  <a:srgbClr val="1F2D3A"/>
                </a:solidFill>
              </a:rPr>
              <a:t>azalan</a:t>
            </a:r>
            <a:r>
              <a:rPr sz="2000" b="0">
                <a:solidFill>
                  <a:srgbClr val="1F2D3A"/>
                </a:solidFill>
              </a:rPr>
              <a:t> bitiş zamanı sırasıyla ziyaret et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Aşama 2'deki her DFS ağacı = bir GBB (güçlü bağlı bileşen)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Kosaraju'nun kodu (C)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54203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void dfs1(int u) {            /* phase 1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visited[u]=1;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(AdjNode *n=cur_g-&gt;adj[u]; n; n=n-&gt;next)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if (!visited[n-&gt;to]) dfs1(n-&gt;to);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finish[finish_len++]=u;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void dfs2(int u, int id) {    /* phase 2, on adjT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visited[u]=1; comp_of[u]=id;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(AdjNode *n=cur_g-&gt;adjT[u]; n; n=n-&gt;next)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if (!visited[n-&gt;to]) dfs2(n-&gt;to, id);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Kosaraju'nun kodu (Java)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54203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static void dfs1(int u) {            // phase 1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visited[u]=1;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(AdjNode n=curG.adj[u]; n!=null; n=n.next)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if (visited[n.to]==0) dfs1(n.to);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finish[finishLen]=u; finishLen++;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static void dfs2(int u, int id) {    // phase 2, on adjT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visited[u]=1; compOf[u]=id;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(AdjNode n=curG.adjT[u]; n!=null; n=n.next)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if (visited[n.to]==0) dfs2(n.to, id);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Güçlü bağlı bileşenler</a:t>
            </a:r>
          </a:p>
        </p:txBody>
      </p:sp>
      <p:pic>
        <p:nvPicPr>
          <p:cNvPr id="7" name="Picture 6" descr="strongly-connected-components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3769" y="1325880"/>
            <a:ext cx="3704157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Uç durum: tek bir büyük döngü</a:t>
            </a:r>
          </a:p>
        </p:txBody>
      </p:sp>
      <p:pic>
        <p:nvPicPr>
          <p:cNvPr id="7" name="Picture 6" descr="strongly-connected-components--one-big-scc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3769" y="1325880"/>
            <a:ext cx="3704157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Gerçek çıktı: güçlü bağlı bileşenler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164079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-- normal: 8 vertices, 2 cyclic components + 2 singletons --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4 components: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A B C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D E F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G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H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-- edge: everything is one big cycle --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1 component: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A B C D E F G H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Karmaşıklık ve tuzak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O(V + E)</a:t>
            </a:r>
            <a:r>
              <a:rPr sz="2000" b="0">
                <a:solidFill>
                  <a:srgbClr val="1F2D3A"/>
                </a:solidFill>
              </a:rPr>
              <a:t> — iki tam DFS geçişi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Tuzak: aşama 2'yi aşama 1 ile </a:t>
            </a:r>
            <a:r>
              <a:rPr sz="2000" b="1">
                <a:solidFill>
                  <a:srgbClr val="1F2D3A"/>
                </a:solidFill>
              </a:rPr>
              <a:t>aynı</a:t>
            </a:r>
            <a:r>
              <a:rPr sz="2000" b="0">
                <a:solidFill>
                  <a:srgbClr val="1F2D3A"/>
                </a:solidFill>
              </a:rPr>
              <a:t> sırada çalıştırmak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Tersine çevrilmeli</a:t>
            </a:r>
            <a:r>
              <a:rPr sz="2000" b="0">
                <a:solidFill>
                  <a:srgbClr val="1F2D3A"/>
                </a:solidFill>
              </a:rPr>
              <a:t> — buradaki en yaygın hata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Kısa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</a:t>
            </a:r>
            <a:r>
              <a:rPr sz="2000" b="1">
                <a:solidFill>
                  <a:srgbClr val="1F2D3A"/>
                </a:solidFill>
              </a:rPr>
              <a:t>DAG</a:t>
            </a:r>
            <a:r>
              <a:rPr sz="2000" b="0">
                <a:solidFill>
                  <a:srgbClr val="1F2D3A"/>
                </a:solidFill>
              </a:rPr>
              <a:t>'da (hiç döngü yok), Kosaraju'nun algoritması kaç güçlü bağlı bileşen bulur?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 i="1">
                <a:solidFill>
                  <a:srgbClr val="1F2D3A"/>
                </a:solidFill>
              </a:rPr>
              <a:t>(cevap bir sonraki slaytta)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Cevap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Tam olarak </a:t>
            </a:r>
            <a:r>
              <a:rPr sz="2000" b="1">
                <a:solidFill>
                  <a:srgbClr val="1F2D3A"/>
                </a:solidFill>
              </a:rPr>
              <a:t>V</a:t>
            </a:r>
            <a:r>
              <a:rPr sz="2000" b="0">
                <a:solidFill>
                  <a:srgbClr val="1F2D3A"/>
                </a:solidFill>
              </a:rPr>
              <a:t> — köşe başına bir tane.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Hiçbir yerde döngü olmadığında, hiçbir köşe herhangi bir yoldan kendine dönemez, bu yüzden her bileşen tek başınadır (singleton). Bu, bu haftaki GBB animasyonundaki son uç durumdur.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Hafta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Güz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8. İki Parçalı Çizgeler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Başlangıç sorusu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Sınavları hiçbir öğrencinin aynı anda iki sınavı olmayacak şekilde planlayın. Bir öğrenciyi paylaşan dersler → bir kenar.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Bu çizge 2 renklenebilir mi</a:t>
            </a:r>
            <a:r>
              <a:rPr sz="2000" b="0">
                <a:solidFill>
                  <a:srgbClr val="1F2D3A"/>
                </a:solidFill>
              </a:rPr>
              <a:t> — mümkün olan en basit ders programı?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İki renkli BFS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Başlangıcı </a:t>
            </a:r>
            <a:r>
              <a:rPr sz="2000" b="0">
                <a:solidFill>
                  <a:srgbClr val="A1123F"/>
                </a:solidFill>
                <a:latin typeface="Consolas"/>
              </a:rPr>
              <a:t>0</a:t>
            </a:r>
            <a:r>
              <a:rPr sz="2000" b="0">
                <a:solidFill>
                  <a:srgbClr val="1F2D3A"/>
                </a:solidFill>
              </a:rPr>
              <a:t> renklendir; her komşuyu </a:t>
            </a:r>
            <a:r>
              <a:rPr sz="2000" b="1">
                <a:solidFill>
                  <a:srgbClr val="1F2D3A"/>
                </a:solidFill>
              </a:rPr>
              <a:t>karşıt</a:t>
            </a:r>
            <a:r>
              <a:rPr sz="2000" b="0">
                <a:solidFill>
                  <a:srgbClr val="1F2D3A"/>
                </a:solidFill>
              </a:rPr>
              <a:t> renk yap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Zaten kuyrukta olan aynı renkli bir komşu mu? </a:t>
            </a:r>
            <a:r>
              <a:rPr sz="2000" b="1">
                <a:solidFill>
                  <a:srgbClr val="1F2D3A"/>
                </a:solidFill>
              </a:rPr>
              <a:t>Çelişki</a:t>
            </a:r>
            <a:r>
              <a:rPr sz="2000" b="0">
                <a:solidFill>
                  <a:srgbClr val="1F2D3A"/>
                </a:solidFill>
              </a:rPr>
              <a:t> — iki parçalı değil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Bileşen başına bir BFS (Hafta 5'in bileşenler döngüsü gibi)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Tek sayılı döngü denkliği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Bir çizge, ancak ve ancak tek uzunluklu bir döngüsü yoksa iki parçalıdır.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Çift bir döngü renkleri kusursuzca değiştirir. Tek bir döngü tutarlı bir şekilde kapanamaz.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İki parçalılık kontrolü kodu (C) — bölüm 1/2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59715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is_bipartite(Graph *g)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i=0;i&lt;g-&gt;vertex_count;i++) color_of[i]=-1;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s=0;s&lt;g-&gt;vertex_count;s++)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if (color_of[s]!=-1) continue;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color_of[s]=0; front=rear=0; enqueue(s);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while (front&lt;rear)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int u=dequeue();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İki parçalılık kontrolü kodu (C) — bölüm 2/2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35305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for (AdjNode *n=g-&gt;adj[u]; n; n=n-&gt;next)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if (color_of[n-&gt;to]==-1)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    { color_of[n-&gt;to]=1-color_of[u];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      enqueue(n-&gt;to);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else if (color_of[n-&gt;to]==color_of[u])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    return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İki parçalılık kontrolü kodu (Java) — bölüm 1/2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59715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static boolean isBipartite(Graph g)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i=0;i&lt;g.vertexCount;i++) colorOf[i]=-1;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s=0;s&lt;g.vertexCount;s++)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if (colorOf[s]!=-1) continue;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colorOf[s]=0; front=rear=0; enqueue(s);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while (front&lt;rear)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int u=dequeue();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İki parçalılık kontrolü kodu (Java) — bölüm 2/2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35305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for (AdjNode n=g.adj[u]; n!=null; n=n.next)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if (colorOf[n.to]==-1)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    { colorOf[n.to]=1-colorOf[u];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      enqueue(n.to);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else if (colorOf[n.to]==colorOf[u])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    return false;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true;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İki parçalı çizge kontrolü</a:t>
            </a:r>
          </a:p>
        </p:txBody>
      </p:sp>
      <p:pic>
        <p:nvPicPr>
          <p:cNvPr id="7" name="Picture 6" descr="bipartite-check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0489" y="1325880"/>
            <a:ext cx="3970717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Uç durum: tek sayılı bir döngü</a:t>
            </a:r>
          </a:p>
        </p:txBody>
      </p:sp>
      <p:pic>
        <p:nvPicPr>
          <p:cNvPr id="7" name="Picture 6" descr="bipartite-check--odd-cycle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0489" y="1325880"/>
            <a:ext cx="3970717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Gerçek çıktı: iki parçalılık kontrolü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59715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-- normal: an even cycle plus 2 safe diagonals --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colors: A=0 B=1 C=0 D=1 E=0 F=1 G=0 H=1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bipartite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-- edge: A-B-C-D-E-A is a 5-cycle (odd) --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colors: A=0 B=1 C=0 D=-1 E=1 F=1 G=-1 H=-1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NOT bipartite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Karmaşıklık ve tuzak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O(V + E)</a:t>
            </a:r>
            <a:r>
              <a:rPr sz="2000" b="0">
                <a:solidFill>
                  <a:srgbClr val="1F2D3A"/>
                </a:solidFill>
              </a:rPr>
              <a:t> — bir BFS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Tuzak: </a:t>
            </a:r>
            <a:r>
              <a:rPr sz="2000" b="1">
                <a:solidFill>
                  <a:srgbClr val="1F2D3A"/>
                </a:solidFill>
              </a:rPr>
              <a:t>bağlı olmayan</a:t>
            </a:r>
            <a:r>
              <a:rPr sz="2000" b="0">
                <a:solidFill>
                  <a:srgbClr val="1F2D3A"/>
                </a:solidFill>
              </a:rPr>
              <a:t> çizgeleri ele almamak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İkinci bir bileşende izole bir tek sayılı döngü, bileşen başına döngü olmadan görünmez kalır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Kısa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Neden bir </a:t>
            </a:r>
            <a:r>
              <a:rPr sz="2000" b="1">
                <a:solidFill>
                  <a:srgbClr val="1F2D3A"/>
                </a:solidFill>
              </a:rPr>
              <a:t>çelişki kenarı</a:t>
            </a:r>
            <a:r>
              <a:rPr sz="2000" b="0">
                <a:solidFill>
                  <a:srgbClr val="1F2D3A"/>
                </a:solidFill>
              </a:rPr>
              <a:t> ("komşusuyla aynı renk") her zaman tek bir BFS katmanı içinde veya iki komşu katman arasında ortaya çıkar — asla bir katman atlamaz?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 i="1">
                <a:solidFill>
                  <a:srgbClr val="1F2D3A"/>
                </a:solidFill>
              </a:rPr>
              <a:t>(cevap bir sonraki slaytta)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Cevap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BFS, kaynaktan </a:t>
            </a:r>
            <a:r>
              <a:rPr sz="2000" b="1">
                <a:solidFill>
                  <a:srgbClr val="1F2D3A"/>
                </a:solidFill>
              </a:rPr>
              <a:t>mesafe tek/çift durumuna</a:t>
            </a:r>
            <a:r>
              <a:rPr sz="2000" b="0">
                <a:solidFill>
                  <a:srgbClr val="1F2D3A"/>
                </a:solidFill>
              </a:rPr>
              <a:t> göre kesin olarak renklendirir — çift mesafe 0 rengini, tek mesafe 1 rengini alır.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Herhangi bir kenar, BFS mesafeleri tam olarak 0 veya 1 farklı olan köşeleri bağlar (asla 2+ değil, yoksa doğrudan bir kenar olmazdı) — bu yüzden bir çelişki tam olarak orada ortaya çıkabilir.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Hafta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Güz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9. En Büyük Akış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Başlangıç sorusu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su ağı: kaynak, hedef, kapasiteli borular.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Ağın aynı anda taşıyabileceği en büyük toplam akış nedir?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Kısa tarihçe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Ford</a:t>
            </a:r>
            <a:r>
              <a:rPr sz="2000" b="0">
                <a:solidFill>
                  <a:srgbClr val="1F2D3A"/>
                </a:solidFill>
              </a:rPr>
              <a:t> ve </a:t>
            </a:r>
            <a:r>
              <a:rPr sz="2000" b="1">
                <a:solidFill>
                  <a:srgbClr val="1F2D3A"/>
                </a:solidFill>
              </a:rPr>
              <a:t>Fulkerson</a:t>
            </a:r>
            <a:r>
              <a:rPr sz="2000" b="0">
                <a:solidFill>
                  <a:srgbClr val="1F2D3A"/>
                </a:solidFill>
              </a:rPr>
              <a:t>, 1956 — genel yöntem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Edmonds</a:t>
            </a:r>
            <a:r>
              <a:rPr sz="2000" b="0">
                <a:solidFill>
                  <a:srgbClr val="1F2D3A"/>
                </a:solidFill>
              </a:rPr>
              <a:t> ve </a:t>
            </a:r>
            <a:r>
              <a:rPr sz="2000" b="1">
                <a:solidFill>
                  <a:srgbClr val="1F2D3A"/>
                </a:solidFill>
              </a:rPr>
              <a:t>Karp</a:t>
            </a:r>
            <a:r>
              <a:rPr sz="2000" b="0">
                <a:solidFill>
                  <a:srgbClr val="1F2D3A"/>
                </a:solidFill>
              </a:rPr>
              <a:t>, 1972 — her zaman </a:t>
            </a:r>
            <a:r>
              <a:rPr sz="2000" b="1">
                <a:solidFill>
                  <a:srgbClr val="1F2D3A"/>
                </a:solidFill>
              </a:rPr>
              <a:t>en kısa</a:t>
            </a:r>
            <a:r>
              <a:rPr sz="2000" b="0">
                <a:solidFill>
                  <a:srgbClr val="1F2D3A"/>
                </a:solidFill>
              </a:rPr>
              <a:t> genişletme yolunu kullan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Kanıtlandı: bu seçim polinom zaman garantiler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Fikir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Boş kapasitesi olan, s'den t'ye herhangi bir </a:t>
            </a:r>
            <a:r>
              <a:rPr sz="2000" b="1">
                <a:solidFill>
                  <a:srgbClr val="1F2D3A"/>
                </a:solidFill>
              </a:rPr>
              <a:t>genişletme yolu</a:t>
            </a:r>
            <a:r>
              <a:rPr sz="2000" b="0">
                <a:solidFill>
                  <a:srgbClr val="1F2D3A"/>
                </a:solidFill>
              </a:rPr>
              <a:t> bul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Darboğazı</a:t>
            </a:r>
            <a:r>
              <a:rPr sz="2000" b="0">
                <a:solidFill>
                  <a:srgbClr val="1F2D3A"/>
                </a:solidFill>
              </a:rPr>
              <a:t> it (yol üzerindeki en küçük kapasite)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İleri itmek bir </a:t>
            </a:r>
            <a:r>
              <a:rPr sz="2000" b="1">
                <a:solidFill>
                  <a:srgbClr val="1F2D3A"/>
                </a:solidFill>
              </a:rPr>
              <a:t>ters</a:t>
            </a:r>
            <a:r>
              <a:rPr sz="2000" b="0">
                <a:solidFill>
                  <a:srgbClr val="1F2D3A"/>
                </a:solidFill>
              </a:rPr>
              <a:t> kenar açar — sonraki bir yol bunu "geri alabilir"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"Hâlâ kullanılabilir" çizgesi, </a:t>
            </a:r>
            <a:r>
              <a:rPr sz="2000" b="1">
                <a:solidFill>
                  <a:srgbClr val="1F2D3A"/>
                </a:solidFill>
              </a:rPr>
              <a:t>artık (residual) çizge</a:t>
            </a:r>
            <a:r>
              <a:rPr sz="2000" b="0">
                <a:solidFill>
                  <a:srgbClr val="1F2D3A"/>
                </a:solidFill>
              </a:rPr>
              <a:t>dir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En büyük akış - en küçük kesim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En büyük akış, en ucuz kesime </a:t>
            </a:r>
            <a:r>
              <a:rPr sz="2000" b="1">
                <a:solidFill>
                  <a:srgbClr val="1F2D3A"/>
                </a:solidFill>
              </a:rPr>
              <a:t>eşittir</a:t>
            </a:r>
            <a:r>
              <a:rPr sz="2000" b="0">
                <a:solidFill>
                  <a:srgbClr val="1F2D3A"/>
                </a:solidFill>
              </a:rPr>
              <a:t> — s'yi t'den ayıran en küçük toplam kapasite.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Geriye genişletme yolu kalmaması = s'den BFS'in erişilebilir kümesi, o kesimin </a:t>
            </a:r>
            <a:r>
              <a:rPr sz="2000" b="1">
                <a:solidFill>
                  <a:srgbClr val="1F2D3A"/>
                </a:solidFill>
              </a:rPr>
              <a:t>kendisidir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Edmonds-Karp kodu (C) — bölüm 1/2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59715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edmonds_karp(int vertex_cnt, int s, int t)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max_flow=0;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while (bfs_augmenting_path(vertex_cnt, s, t))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int bottleneck=INF;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for (int v=t; v!=s; v=parent_of[v])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if (cap_of[parent_of[v]][v]&lt;bottleneck)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bottleneck=cap_of[parent_of[v]][v];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Edmonds-Karp kodu (C) — bölüm 2/2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97510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for (int v=t; v!=s; v=parent_of[v])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int u=parent_of[v];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cap_of[u][v]-=bottleneck;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cap_of[v][u]+=bottleneck;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max_flow+=bottleneck;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max_flow;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Edmonds-Karp kodu (Java) — bölüm 1/2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97510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static int edmondsKarp(int vertexCnt, int s, int t)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maxFlow=0;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while (bfsAugmentingPath(vertexCnt, s, t))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int bottleneck=INF;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for (int v=t; v!=s; v=parentOf[v])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int u=parentOf[v];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if (capOf[u][v]&lt;bottleneck)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bottleneck=capOf[u][v];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}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Edmonds-Karp kodu (Java) — bölüm 2/2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97510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for (int v=t; v!=s; v=parentOf[v])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int u=parentOf[v];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capOf[u][v]-=bottleneck;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capOf[v][u]+=bottleneck;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maxFlow+=bottleneck;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maxFlow;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Edmonds-Karp en büyük akış</a:t>
            </a:r>
          </a:p>
        </p:txBody>
      </p:sp>
      <p:pic>
        <p:nvPicPr>
          <p:cNvPr id="7" name="Picture 6" descr="max-flow-edmonds-karp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8188" y="1325880"/>
            <a:ext cx="3675318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Gerçek çıktı: Edmonds-Karp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-- normal: 6 vertices, 10 edges, A to F --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max flow from A to F = 9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-- edge: A and J are in two separate components --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max flow from A to J = 0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Karmaşıklık ve tuzak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Özellikle Edmonds-Karp için *</a:t>
            </a:r>
            <a:r>
              <a:rPr sz="2000" b="0" i="1">
                <a:solidFill>
                  <a:srgbClr val="1F2D3A"/>
                </a:solidFill>
              </a:rPr>
              <a:t>O(V </a:t>
            </a:r>
            <a:r>
              <a:rPr sz="2000" b="0">
                <a:solidFill>
                  <a:srgbClr val="1F2D3A"/>
                </a:solidFill>
              </a:rPr>
              <a:t> E^2)**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Tuzak: </a:t>
            </a:r>
            <a:r>
              <a:rPr sz="2000" b="1">
                <a:solidFill>
                  <a:srgbClr val="1F2D3A"/>
                </a:solidFill>
              </a:rPr>
              <a:t>ters</a:t>
            </a:r>
            <a:r>
              <a:rPr sz="2000" b="0">
                <a:solidFill>
                  <a:srgbClr val="1F2D3A"/>
                </a:solidFill>
              </a:rPr>
              <a:t> kenar güncellemesini unutmak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Onsuz: sade Ford-Fulkerson, en iyi sonuçtan kısa kalabilir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Kısa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Bölüm 3'ün union-find'ı "0 akış, s ve t bağlı değil" cevabını </a:t>
            </a:r>
            <a:r>
              <a:rPr sz="2000" b="1">
                <a:solidFill>
                  <a:srgbClr val="1F2D3A"/>
                </a:solidFill>
              </a:rPr>
              <a:t>anında</a:t>
            </a:r>
            <a:r>
              <a:rPr sz="2000" b="0">
                <a:solidFill>
                  <a:srgbClr val="1F2D3A"/>
                </a:solidFill>
              </a:rPr>
              <a:t> verebilirdi. Bu bölüm neden hâlâ önce tam bir BFS çalıştırıyor?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 i="1">
                <a:solidFill>
                  <a:srgbClr val="1F2D3A"/>
                </a:solidFill>
              </a:rPr>
              <a:t>(cevap bir sonraki slaytta)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Cevap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Union-find sadece </a:t>
            </a:r>
            <a:r>
              <a:rPr sz="2000" b="1">
                <a:solidFill>
                  <a:srgbClr val="1F2D3A"/>
                </a:solidFill>
              </a:rPr>
              <a:t>erişilebilirliği</a:t>
            </a:r>
            <a:r>
              <a:rPr sz="2000" b="0">
                <a:solidFill>
                  <a:srgbClr val="1F2D3A"/>
                </a:solidFill>
              </a:rPr>
              <a:t> bilir, </a:t>
            </a:r>
            <a:r>
              <a:rPr sz="2000" b="1">
                <a:solidFill>
                  <a:srgbClr val="1F2D3A"/>
                </a:solidFill>
              </a:rPr>
              <a:t>kapasiteyi</a:t>
            </a:r>
            <a:r>
              <a:rPr sz="2000" b="0">
                <a:solidFill>
                  <a:srgbClr val="1F2D3A"/>
                </a:solidFill>
              </a:rPr>
              <a:t> değil.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 ve t bağlı OLSA bile, gerçek en büyük akış yol boyunca darboğaz kapasitelerine bağlıdır — union-find'ın ebeveyn işaretçilerinin hiç kaydetmediği bir şey.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Hafta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Güz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10. Geri İzleme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Başlangıç sorusu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haritayı, hiçbir iki komşu aynı rengi paylaşmayacak şekilde, mümkün olduğunca az renkle boyayın.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Bilinen bir formül yok.</a:t>
            </a:r>
            <a:r>
              <a:rPr sz="2000" b="0">
                <a:solidFill>
                  <a:srgbClr val="1F2D3A"/>
                </a:solidFill>
              </a:rPr>
              <a:t> Sistematik olarak nasıl arama yaparsınız?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Fikir: dene, özyinele, geri 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Kısmi bir çözümü bir kararla genişlet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Hâlâ tutarlı mı? </a:t>
            </a:r>
            <a:r>
              <a:rPr sz="2000" b="1">
                <a:solidFill>
                  <a:srgbClr val="1F2D3A"/>
                </a:solidFill>
              </a:rPr>
              <a:t>Özyinele</a:t>
            </a:r>
            <a:r>
              <a:rPr sz="2000" b="0">
                <a:solidFill>
                  <a:srgbClr val="1F2D3A"/>
                </a:solidFill>
              </a:rPr>
              <a:t> ve genişletmeye devam et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Tutarsız mı, veya her genişletme başarısız mı? </a:t>
            </a:r>
            <a:r>
              <a:rPr sz="2000" b="1">
                <a:solidFill>
                  <a:srgbClr val="1F2D3A"/>
                </a:solidFill>
              </a:rPr>
              <a:t>Geri al</a:t>
            </a:r>
            <a:r>
              <a:rPr sz="2000" b="0">
                <a:solidFill>
                  <a:srgbClr val="1F2D3A"/>
                </a:solidFill>
              </a:rPr>
              <a:t> ve bir sonraki seçeneği dene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Neden çizge boyama, Hamilton yolu değil?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Boyama, Bölüm 8'in tam </a:t>
            </a:r>
            <a:r>
              <a:rPr sz="2000" b="0">
                <a:solidFill>
                  <a:srgbClr val="A1123F"/>
                </a:solidFill>
                <a:latin typeface="Consolas"/>
              </a:rPr>
              <a:t>color[]</a:t>
            </a:r>
            <a:r>
              <a:rPr sz="2000" b="0">
                <a:solidFill>
                  <a:srgbClr val="1F2D3A"/>
                </a:solidFill>
              </a:rPr>
              <a:t> satırını ve komşu-çelişki kontrolünü yeniden kullanır.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Hamilton yolu, görece az ekstra kavrayış için tamamen yeni bir "şimdiye kadarki yol" kuralına ihtiyaç duyar.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Geri izleme kodu (C)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35305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color_graph(int v, int k)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(v==cur_g-&gt;vertex_count) return 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c=1;c&lt;=k;c++)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if (safe(v,c))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color_of[v]=c;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if (color_graph(v+1,k)) return 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color_of[v]=0;   /* backtrack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Geri izleme kodu (Java)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35305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static boolean colorGraph(int v, int k)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(v==curG.vertexCount) return true;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c=1;c&lt;=k;c++)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if (safe(v,c))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colorOf[v]=c;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if (colorGraph(v+1,k)) return true;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colorOf[v]=0;   // backtrack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false;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Geri izleme: çizge boyama</a:t>
            </a:r>
          </a:p>
        </p:txBody>
      </p:sp>
      <p:pic>
        <p:nvPicPr>
          <p:cNvPr id="7" name="Picture 6" descr="backtracking-graph-coloring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2546" y="1325880"/>
            <a:ext cx="4206602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Zorunlu uç durum: K4, çözülemez</a:t>
            </a:r>
          </a:p>
        </p:txBody>
      </p:sp>
      <p:pic>
        <p:nvPicPr>
          <p:cNvPr id="7" name="Picture 6" descr="backtracking-graph-coloring--impossible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2546" y="1325880"/>
            <a:ext cx="4206602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Gerçek çıktı: geri izlemeli çizge boyama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-- normal: 6 vertices, 10 edges, k=3 --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colouring: A=1 B=2 C=3 D=1 E=2 F=3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-- edge: K4 is UNSOLVABLE with k=3 --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no valid colouring with k=3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Karmaşıklık ve tuzak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En kötü durum </a:t>
            </a:r>
            <a:r>
              <a:rPr sz="2000" b="1">
                <a:solidFill>
                  <a:srgbClr val="1F2D3A"/>
                </a:solidFill>
              </a:rPr>
              <a:t>O(k^V)</a:t>
            </a:r>
            <a:r>
              <a:rPr sz="2000" b="0">
                <a:solidFill>
                  <a:srgbClr val="1F2D3A"/>
                </a:solidFill>
              </a:rPr>
              <a:t> — son çare bir teknik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safe()</a:t>
            </a:r>
            <a:r>
              <a:rPr sz="2000" b="0">
                <a:solidFill>
                  <a:srgbClr val="1F2D3A"/>
                </a:solidFill>
              </a:rPr>
              <a:t> erkenden büyük kısımları budar — kullanılabilir olmasının sebebi bu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Tuzak: </a:t>
            </a:r>
            <a:r>
              <a:rPr sz="2000" b="1">
                <a:solidFill>
                  <a:srgbClr val="1F2D3A"/>
                </a:solidFill>
              </a:rPr>
              <a:t>geri alma</a:t>
            </a:r>
            <a:r>
              <a:rPr sz="2000" b="0">
                <a:solidFill>
                  <a:srgbClr val="1F2D3A"/>
                </a:solidFill>
              </a:rPr>
              <a:t> adımını unutmak sonraki dalları bozar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Kısa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K4, 4 renk gerektirir. Algoritma, k=3 ile "çözülemez" bildirmeden önce gerçekten kaç </a:t>
            </a:r>
            <a:r>
              <a:rPr sz="2000" b="1">
                <a:solidFill>
                  <a:srgbClr val="1F2D3A"/>
                </a:solidFill>
              </a:rPr>
              <a:t>köşeyi</a:t>
            </a:r>
            <a:r>
              <a:rPr sz="2000" b="0">
                <a:solidFill>
                  <a:srgbClr val="1F2D3A"/>
                </a:solidFill>
              </a:rPr>
              <a:t> boyamaya çalışır?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 i="1">
                <a:solidFill>
                  <a:srgbClr val="1F2D3A"/>
                </a:solidFill>
              </a:rPr>
              <a:t>(cevap bir sonraki slaytta)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Cevap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Her seferinde köşe 0'ın ötesine geri izleme yaptığında hepsini — ama başarısızlık köşe 3'te, K4'ün 4. köşesinde tespit edilir, çünkü ilk 3'ü aralarında zaten 3 mevcut rengin tamamını kullanmıştır.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359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safe()</a:t>
            </a:r>
            <a:r>
              <a:rPr sz="2000" b="0">
                <a:solidFill>
                  <a:srgbClr val="1F2D3A"/>
                </a:solidFill>
              </a:rPr>
              <a:t> ardından köşe 3 için her rengi reddeder, başa kadar bir geri alma zinciri zorlar.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Her program nasıl kontrol edildi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C programı </a:t>
            </a:r>
            <a:r>
              <a:rPr sz="2000" b="0">
                <a:solidFill>
                  <a:srgbClr val="A1123F"/>
                </a:solidFill>
                <a:latin typeface="Consolas"/>
              </a:rPr>
              <a:t>-Wall -Wextra -Werror</a:t>
            </a:r>
            <a:r>
              <a:rPr sz="2000" b="0">
                <a:solidFill>
                  <a:srgbClr val="1F2D3A"/>
                </a:solidFill>
              </a:rPr>
              <a:t> ile derlenir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Java programı </a:t>
            </a:r>
            <a:r>
              <a:rPr sz="2000" b="0">
                <a:solidFill>
                  <a:srgbClr val="A1123F"/>
                </a:solidFill>
                <a:latin typeface="Consolas"/>
              </a:rPr>
              <a:t>-Xlint:all -Werror</a:t>
            </a:r>
            <a:r>
              <a:rPr sz="2000" b="0">
                <a:solidFill>
                  <a:srgbClr val="1F2D3A"/>
                </a:solidFill>
              </a:rPr>
              <a:t> ile derlenir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 ve Java çıktısı </a:t>
            </a:r>
            <a:r>
              <a:rPr sz="2000" b="1">
                <a:solidFill>
                  <a:srgbClr val="1F2D3A"/>
                </a:solidFill>
              </a:rPr>
              <a:t>bayt bayt özdeş</a:t>
            </a:r>
            <a:r>
              <a:rPr sz="2000" b="0">
                <a:solidFill>
                  <a:srgbClr val="1F2D3A"/>
                </a:solidFill>
              </a:rPr>
              <a:t> olarak karşılaştırıldı, aynı senaryolar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birim test dosyası </a:t>
            </a:r>
            <a:r>
              <a:rPr sz="2000" b="1">
                <a:solidFill>
                  <a:srgbClr val="1F2D3A"/>
                </a:solidFill>
              </a:rPr>
              <a:t>AddressSanitizer</a:t>
            </a:r>
            <a:r>
              <a:rPr sz="2000" b="0">
                <a:solidFill>
                  <a:srgbClr val="1F2D3A"/>
                </a:solidFill>
              </a:rPr>
              <a:t> altında da yeniden derlendi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Algoritma başına tek cümle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346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Kahn / DFS topolojik sıralama</a:t>
            </a:r>
            <a:r>
              <a:rPr sz="2000" b="0">
                <a:solidFill>
                  <a:srgbClr val="1F2D3A"/>
                </a:solidFill>
              </a:rPr>
              <a:t>: her "önce" kuralına uyan sıra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Döngü tespiti</a:t>
            </a:r>
            <a:r>
              <a:rPr sz="2000" b="0">
                <a:solidFill>
                  <a:srgbClr val="1F2D3A"/>
                </a:solidFill>
              </a:rPr>
              <a:t>: sadece var mı değil, hangi köşeler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Union-find</a:t>
            </a:r>
            <a:r>
              <a:rPr sz="2000" b="0">
                <a:solidFill>
                  <a:srgbClr val="1F2D3A"/>
                </a:solidFill>
              </a:rPr>
              <a:t>: "aynı grup mu?" sorusu neredeyse sabit zamanda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Kruskal / Prim</a:t>
            </a:r>
            <a:r>
              <a:rPr sz="2000" b="0">
                <a:solidFill>
                  <a:srgbClr val="1F2D3A"/>
                </a:solidFill>
              </a:rPr>
              <a:t>: her şeyi bağlamanın en ucuz yolu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Dijkstra / Bellman-Ford</a:t>
            </a:r>
            <a:r>
              <a:rPr sz="2000" b="0">
                <a:solidFill>
                  <a:srgbClr val="1F2D3A"/>
                </a:solidFill>
              </a:rPr>
              <a:t>: bir başlangıçtan en ucuz yol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Floyd-Warshall</a:t>
            </a:r>
            <a:r>
              <a:rPr sz="2000" b="0">
                <a:solidFill>
                  <a:srgbClr val="1F2D3A"/>
                </a:solidFill>
              </a:rPr>
              <a:t>: her çift arasındaki en ucuz yol, aynı anda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Algoritma başına tek cümle (devam)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Kosaraju GBB</a:t>
            </a:r>
            <a:r>
              <a:rPr sz="2000" b="0">
                <a:solidFill>
                  <a:srgbClr val="1F2D3A"/>
                </a:solidFill>
              </a:rPr>
              <a:t>: karşılıklı erişilebilirlik, yönlü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İki parçalılık kontrolü</a:t>
            </a:r>
            <a:r>
              <a:rPr sz="2000" b="0">
                <a:solidFill>
                  <a:srgbClr val="1F2D3A"/>
                </a:solidFill>
              </a:rPr>
              <a:t>: bu tam olarak iki takıma bölünebilir mi?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Edmonds-Karp</a:t>
            </a:r>
            <a:r>
              <a:rPr sz="2000" b="0">
                <a:solidFill>
                  <a:srgbClr val="1F2D3A"/>
                </a:solidFill>
              </a:rPr>
              <a:t>: bir ağın taşıyabileceği en büyük akış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Geri izleme</a:t>
            </a:r>
            <a:r>
              <a:rPr sz="2000" b="0">
                <a:solidFill>
                  <a:srgbClr val="1F2D3A"/>
                </a:solidFill>
              </a:rPr>
              <a:t>: dene, özyinele, geri al — formülü olmayan problemler için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Özet tablosu (1/3)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4382"/>
                <a:gridCol w="4849571"/>
                <a:gridCol w="3117581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Problem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Algoritma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Süre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Sıralama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Kahn / DFS topo-sıralama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O(V+E)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Döngü var mı?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 renkli DFS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O(V+E)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Gruplar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Union-find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~O(1) amortize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Özet tablosu (2/3)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4080"/>
                <a:gridCol w="4091825"/>
                <a:gridCol w="3485629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Problem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Algoritma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Süre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En ucuz bağlantı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Kruskal / Prim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O(E log E) / O(V^2)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En ucuz yol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Dijkstra / Bellman-Ford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O(V^2) / O(V*E)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Tüm çiftler yollar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Floyd-Warshall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O(V^3)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Özet tablosu (3/3)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1852"/>
                <a:gridCol w="4463809"/>
                <a:gridCol w="2975873"/>
              </a:tblGrid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Problem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Algoritma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Süre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Karşılıklı erişim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Kosaraju GBB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O(V+E)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 takıma bölme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İki parçalılık kontrolü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O(V+E)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En büyük akış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Edmonds-Karp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O(V*E^2)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Formül yok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Geri izleme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En kötü O(k^V)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Alıştırmalar (birkaçını seçin)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Kahn'ın algoritmasını 5 kenarlı bir DAG üzerinde elle izleyin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Negatif bir kenarı olan ama negatif döngüsü olmayan bir çizge kurun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GBB'yi önemsiz (tek köşeli) bileşenleri işaretleyecek şekilde değiştirin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ağacın iki parçalı olduğunu kanıtlayın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Kendini sınama: 3 hızlı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Dijkstra neden negatif bir kenarda başarısız olur?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Kosaraju'nun topolojik-sıralama-DFS'e kattığı TEK yeni fikir nedir?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Ters bir artık kenar, sonraki bir genişletme yoluna ne yapmasına izin verir?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Sırada ne var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Hafta 10: İleri Ağaç Yapıları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AVL ağaçları, kırmızı-siyah ağaçlar, B-ağaçları — talihsiz eklemelerde </a:t>
            </a:r>
            <a:r>
              <a:rPr sz="2000" b="0">
                <a:solidFill>
                  <a:srgbClr val="A1123F"/>
                </a:solidFill>
                <a:latin typeface="Consolas"/>
              </a:rPr>
              <a:t>O(log n)</a:t>
            </a:r>
            <a:r>
              <a:rPr sz="2000" b="0">
                <a:solidFill>
                  <a:srgbClr val="1F2D3A"/>
                </a:solidFill>
              </a:rPr>
              <a:t>'in </a:t>
            </a:r>
            <a:r>
              <a:rPr sz="2000" b="0">
                <a:solidFill>
                  <a:srgbClr val="A1123F"/>
                </a:solidFill>
                <a:latin typeface="Consolas"/>
              </a:rPr>
              <a:t>O(n)</a:t>
            </a:r>
            <a:r>
              <a:rPr sz="2000" b="0">
                <a:solidFill>
                  <a:srgbClr val="1F2D3A"/>
                </a:solidFill>
              </a:rPr>
              <a:t>'e çökmesini önleyen kendi kendini dengeleyen makine.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Güz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2E7D32"/>
                </a:solidFill>
              </a:rPr>
              <a:t>Sorular?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CEN207 Veri Yapıları · Hafta 9 · Çizge Algoritmaları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CEN207 Hafta 9 — Çizge Algoritmaları</dc:title>
  <dc:subject/>
  <dc:creator>Dr. Öğr. Üyesi Uğur CORUH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