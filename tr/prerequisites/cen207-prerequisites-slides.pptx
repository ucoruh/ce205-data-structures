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sunum Ön Gereksinimler sayfasını izler; sondaki "Kendinizi sınayın" görevleri o sayfayla aynıdır.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bir "olsa iyi olur" listesi değil — 1. haftanın C atölyesi bunların hazır olduğunu varsayar.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 görevde takılırsanız çözüm, ilgili CEN107/CEN108 konusuna dönmektir, görevi atlamak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Beş konu, her biri CEN107/CEN108'de zaten öğretilmiş ve bu ders 1. haftadan itibaren yeniden kullanıyor.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hazır değilse, 1. haftanın C atölyesi daha başlamadan zorlu geçer.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Hem vize hem final kontrol noktası, kısmen Git'in gerçekten nasıl kullanıldığına göre notlandırılır, yalnızca son koda göre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%100 test kapsamı proje rehberinde sert bir kabul koşuludur — bu beceri buradan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Şablon; derleme, test, dokümantasyon ve kapsamı zaten bağlamış durumda — sıfırdan kurmuyorsunuz, üzerine ekliyorsunuz.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Özyineleme "3. hafta konusu" değildir — bu ders boyunca, dosya organizasyonuna kadar tekrar tekrar başvurulan bir araçtır.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Vize projesi C, final projesi Java — işlenen veri yapılarının neredeyse tamamı doğrudan bu yapı taşları üzerine kurulur.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İlk derse gelmeden önce bunların hepsini rahatça hem okuyup hem yazabilmelisiniz, yalnızca tanımanız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projesi her C veri yapısını jenerik kullanarak Java'ya taşır — bu kısa liste tam olarak o taşıma için gerekli olan şey.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ikisi hatırlatılır, soğuktan bilindiği varsayılmaz — sunumun geri kalanı ise varsayılıyor.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Dizüstü bilgisayar gereklidir — ilk derse bunların hepsi kurulu olarak gelin.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Bunların hepsi ücretsiz ve platformlar arası — hazır gelmenin önünde bir lisans engeli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Sekiz görev. Her birini önce kendi bilgisayarınızda deneyin, sonra bir sonraki slaytta cevaba bakın.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Cevabı görmeden önce p ile x'in gerçekte neyi paylaştığını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Bütün dersin üzerine kurulduğu tek fikir bu: bir işaretçi ile işaret ettiği değişken aynı bellektir.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İki gösterim de tam olarak aynı bellek erişimini tanımlar.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eşdeğerlik, C fonksiyon imzalarında dizi ve işaretçilerin neden birbirinin yerine geçebilir göründüğünü açıklar.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arr'ın gerçekte nerede yaşadığını ve fonksiyon döndüğü anda o belleğe ne olduğunu sorun.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"Dangling pointer" tam olarak Yığınlar ve Kuyruklar sunumunun 1. Hafta hatırlatma slaytında adlandırılan hata.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Bu, 2–3. haftalardaki her bağlı liste fonksiyonunun alacağı tam biçim.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derste her özyinelemeli fonksiyon tam olarak bu biçimi alır: bir taban durum, sonra kesinlikle daha küçük bir problem üzerinde çağrı.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Bunu, metin üretecek olan fprintf ile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Dosya organizasyonu (13–14. hafta), tam olarak aynı fwrite/fread örüntüsü üzerine kurulur, yalnızca int yerine kayıtlarla.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List&lt;Integer&gt;'ın neyi kısıtladığını ve for-each döngüsünün onunla ne yaptığını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projesinin F1 gereksinimi, her C yapısını tam olarak bu türden bir jenerik kullanarak Java'ya taşır.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"finally"in, istisna fırlatılsın ya da fırlatılmasın neyi garanti ettiğini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try/catch/finally biçimi, final projesinin dosya işleme kodunda yeniden karşınıza çıkar.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Bunlar proje rehberinde vize ve final kontrol noktaları için adı geçen tam olarak aynı iki şablon.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Sorunsuz bir 1. haftanın en iyi göstergesi, iki şablonda da önceden alınmış yeşil bir sonuçtur.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iki sayfa/sunum, buradan sonraki doğal durak.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Ön Gereksinimler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ilk güne ne getirmeli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2026-2027 Güz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neden önemli — 1. haftadan itibaren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İlk haftadan itibaren </a:t>
            </a:r>
            <a:r>
              <a:rPr sz="2000" b="1">
                <a:solidFill>
                  <a:srgbClr val="1F2D3A"/>
                </a:solidFill>
              </a:rPr>
              <a:t>kendi bilgisayarınızda program yazıyor, derliyor ve test ediyorsunuz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Vize projesi için önce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, final projesi için ardından </a:t>
            </a:r>
            <a:r>
              <a:rPr sz="2000" b="1">
                <a:solidFill>
                  <a:srgbClr val="1F2D3A"/>
                </a:solidFill>
              </a:rPr>
              <a:t>Java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Çalışmanızı baştan sona </a:t>
            </a:r>
            <a:r>
              <a:rPr sz="2000" b="1">
                <a:solidFill>
                  <a:srgbClr val="1F2D3A"/>
                </a:solidFill>
              </a:rPr>
              <a:t>Git ve GitHub</a:t>
            </a:r>
            <a:r>
              <a:rPr sz="2000" b="0">
                <a:solidFill>
                  <a:srgbClr val="1F2D3A"/>
                </a:solidFill>
              </a:rPr>
              <a:t> üzerinde yürütüyorsunuz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bu sunumdaki bilgi ve araçlarla gelmeniz gerekir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Resmî ön koşullar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CEN107 Algoritmalar ve Programlama 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CEN108 Algoritmalar ve Programlama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CEN107'nin ilk haftalarında öğretilen geliştirme ortamı, Git, birim test ve şablon kullanımı bu derste </a:t>
            </a:r>
            <a:r>
              <a:rPr sz="2000" b="1">
                <a:solidFill>
                  <a:srgbClr val="1F2D3A"/>
                </a:solidFill>
              </a:rPr>
              <a:t>bilindiği varsayılarak</a:t>
            </a:r>
            <a:r>
              <a:rPr sz="2000" b="0">
                <a:solidFill>
                  <a:srgbClr val="1F2D3A"/>
                </a:solidFill>
              </a:rPr>
              <a:t> kullanılır.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İlk dersten önce:</a:t>
            </a:r>
            <a:r>
              <a:rPr sz="2000" b="0">
                <a:solidFill>
                  <a:srgbClr val="1F2D3A"/>
                </a:solidFill>
              </a:rPr>
              <a:t> bu sunumun sonundaki kendinizi sınama görevlerini kendi bilgisayarınızda çözün.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Ön Gereksinimler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CEN107/CEN108'den gelenler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Geliştirme ortamı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Derleyici (GCC/Clang/MSVC), IDE, Windows'ta WSL, CMake ile derleme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Öğretildiği yer: </a:t>
            </a:r>
            <a:r>
              <a:rPr sz="2000" b="1">
                <a:solidFill>
                  <a:srgbClr val="1F2D3A"/>
                </a:solidFill>
              </a:rPr>
              <a:t>CEN107 Hafta 2 — Geliştirme ortamları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Burada kullanıldığı yer: 1. haftanın C atölyesi; vize (C) projesinin kurulumu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Git ve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Depo oluşturma, </a:t>
            </a:r>
            <a:r>
              <a:rPr sz="2000" b="0">
                <a:solidFill>
                  <a:srgbClr val="A1123F"/>
                </a:solidFill>
                <a:latin typeface="Consolas"/>
              </a:rPr>
              <a:t>clone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commit</a:t>
            </a:r>
            <a:r>
              <a:rPr sz="2000" b="0">
                <a:solidFill>
                  <a:srgbClr val="1F2D3A"/>
                </a:solidFill>
              </a:rPr>
              <a:t>, dal (branch), </a:t>
            </a:r>
            <a:r>
              <a:rPr sz="2000" b="0">
                <a:solidFill>
                  <a:srgbClr val="A1123F"/>
                </a:solidFill>
                <a:latin typeface="Consolas"/>
              </a:rPr>
              <a:t>pull request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.gitignore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Öğretildiği yer: </a:t>
            </a:r>
            <a:r>
              <a:rPr sz="2000" b="1">
                <a:solidFill>
                  <a:srgbClr val="1F2D3A"/>
                </a:solidFill>
              </a:rPr>
              <a:t>CEN107 Hafta 3 — Git ile sürüm yönetimi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Burada kullanıldığı yer: proje rehberinin iş akışı (çatallama, plan, teslim) — her iki kontrol noktası için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Birim test ve kapsam araçları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yazma, çalıştırma, kapsam (coverage) raporu okuma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Öğretildiği yer: </a:t>
            </a:r>
            <a:r>
              <a:rPr sz="2000" b="1">
                <a:solidFill>
                  <a:srgbClr val="1F2D3A"/>
                </a:solidFill>
              </a:rPr>
              <a:t>CEN107 Hafta 4 — Birim test ve kütüphaneler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Burada kullanıldığı yer: vize rubriği (GoogleTest, gcov/lcov) ve final rubriği (JUnit 5, JaCoCo)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Proje şablonlarının kullanımı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şablonu çatallamak (fork), derlemek, testlerini ve dokümantasyonunu üretmek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Öğretildiği yer: </a:t>
            </a:r>
            <a:r>
              <a:rPr sz="2000" b="1">
                <a:solidFill>
                  <a:srgbClr val="1F2D3A"/>
                </a:solidFill>
              </a:rPr>
              <a:t>CEN107 Hafta 2–4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Burada kullanıldığı yer: proje rehberindeki </a:t>
            </a:r>
            <a:r>
              <a:rPr sz="2000" b="0">
                <a:solidFill>
                  <a:srgbClr val="A1123F"/>
                </a:solidFill>
                <a:latin typeface="Consolas"/>
              </a:rPr>
              <a:t>cpp-cmake-ctest-template</a:t>
            </a:r>
            <a:r>
              <a:rPr sz="2000" b="0">
                <a:solidFill>
                  <a:srgbClr val="1F2D3A"/>
                </a:solidFill>
              </a:rPr>
              <a:t> (vize)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eclipse-java-maven-template</a:t>
            </a:r>
            <a:r>
              <a:rPr sz="2000" b="0">
                <a:solidFill>
                  <a:srgbClr val="1F2D3A"/>
                </a:solidFill>
              </a:rPr>
              <a:t> (final)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Temel algoritma analizi ve özyineleme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5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İşlem sayısını saymak, basit bir özyinelemeli fonksiyon yazmak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Öğretildiği yer: </a:t>
            </a:r>
            <a:r>
              <a:rPr sz="2000" b="1">
                <a:solidFill>
                  <a:srgbClr val="1F2D3A"/>
                </a:solidFill>
              </a:rPr>
              <a:t>CEN108, ilk haftalar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Burada kullanıldığı yer: 1. haftada Big-O hatırlatması; 3. haftadan itibaren özyinelemeli çözümler (Hanoi Kuleleri, DFS, ağaç dolaşımları, birleştirmeli/hızlı sıralama)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Ön Gereksinimler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C ve Java programlama temelleri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 temelleri (vize projesi)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İşaretçiler ve işaretçi aritmetiği (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*p;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 + 1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 farkı)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Diziler: tanımlama, indeksleme, fonksiyona geçirme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</a:t>
            </a:r>
            <a:r>
              <a:rPr sz="2000" b="0">
                <a:solidFill>
                  <a:srgbClr val="1F2D3A"/>
                </a:solidFill>
              </a:rPr>
              <a:t> tanımları; alanları bir arada tutmak (örn. bağlı liste düğümü)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Dinamik bellek: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, her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'un neden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gerektirdiği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Özyineleme: kendini çağıran bir fonksiyon, taban durumuyla birlikte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Dosya G/Ç, özellikle </a:t>
            </a:r>
            <a:r>
              <a:rPr sz="2000" b="1">
                <a:solidFill>
                  <a:srgbClr val="1F2D3A"/>
                </a:solidFill>
              </a:rPr>
              <a:t>binary dosyalar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"rb"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"wb"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0">
                <a:solidFill>
                  <a:srgbClr val="A1123F"/>
                </a:solidFill>
                <a:latin typeface="Consolas"/>
              </a:rPr>
              <a:t>fopen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fread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fwrite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Java temelleri (final projesi)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Sınıflar ve nesneler: alanlar, yapıcılar (constructor), metotlar, </a:t>
            </a:r>
            <a:r>
              <a:rPr sz="2000" b="0">
                <a:solidFill>
                  <a:srgbClr val="A1123F"/>
                </a:solidFill>
                <a:latin typeface="Consolas"/>
              </a:rPr>
              <a:t>this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Jenerik temelleri: </a:t>
            </a:r>
            <a:r>
              <a:rPr sz="2000" b="0">
                <a:solidFill>
                  <a:srgbClr val="A1123F"/>
                </a:solidFill>
                <a:latin typeface="Consolas"/>
              </a:rPr>
              <a:t>List&lt;T&gt;</a:t>
            </a:r>
            <a:r>
              <a:rPr sz="2000" b="0">
                <a:solidFill>
                  <a:srgbClr val="1F2D3A"/>
                </a:solidFill>
              </a:rPr>
              <a:t> kullanmak, basit bir jenerik sınıf/metot tanımlamak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İstisnalar: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try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catch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finally</a:t>
            </a:r>
            <a:r>
              <a:rPr sz="2000" b="0">
                <a:solidFill>
                  <a:srgbClr val="1F2D3A"/>
                </a:solidFill>
              </a:rPr>
              <a:t>, denetimli/denetimsiz istisna farkı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Derste kısaca hatırlatılanlar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Ayrıntısıyla hatırlamasanız sorun değil — 1. hafta, kullanılmadan önce kısa bir hatırlatma yapar.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05736"/>
          <a:ext cx="10911534" cy="1655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2833"/>
                <a:gridCol w="5188701"/>
              </a:tblGrid>
              <a:tr h="55168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 bilgi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Hangi haftada gerekiyor?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Big-O gösterimi: işlem sayısını saymak, büyüme hızlarını karşılaştırmak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 hafta, ardından veri yapılarını karşılaştırmak için her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Bellek yerleşimi: yığın (stack) ve heap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 hafta, ardından işaretçi/dinamik bellek kullanılan her yerde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Ön Gereksinimler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Bilgisayarınızda kurulu olması gerekenler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Gerekli araç zinciri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7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 derleyicisi: Windows'ta </a:t>
            </a:r>
            <a:r>
              <a:rPr sz="2000" b="1">
                <a:solidFill>
                  <a:srgbClr val="1F2D3A"/>
                </a:solidFill>
              </a:rPr>
              <a:t>Visual Studio 2022</a:t>
            </a:r>
            <a:r>
              <a:rPr sz="2000" b="0">
                <a:solidFill>
                  <a:srgbClr val="1F2D3A"/>
                </a:solidFill>
              </a:rPr>
              <a:t> (C++ ile masaüstü geliştirme), Linux/WSL/macOS'ta </a:t>
            </a:r>
            <a:r>
              <a:rPr sz="2000" b="1">
                <a:solidFill>
                  <a:srgbClr val="1F2D3A"/>
                </a:solidFill>
              </a:rPr>
              <a:t>GCC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1">
                <a:solidFill>
                  <a:srgbClr val="1F2D3A"/>
                </a:solidFill>
              </a:rPr>
              <a:t>Clang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CMake</a:t>
            </a:r>
            <a:r>
              <a:rPr sz="2000" b="0">
                <a:solidFill>
                  <a:srgbClr val="1F2D3A"/>
                </a:solidFill>
              </a:rPr>
              <a:t> — vize şablonu bununla derlenip test edilir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 kapsam aracı: Linux/WSL'de </a:t>
            </a:r>
            <a:r>
              <a:rPr sz="2000" b="1">
                <a:solidFill>
                  <a:srgbClr val="1F2D3A"/>
                </a:solidFill>
              </a:rPr>
              <a:t>gcov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1">
                <a:solidFill>
                  <a:srgbClr val="1F2D3A"/>
                </a:solidFill>
              </a:rPr>
              <a:t>lcov</a:t>
            </a:r>
            <a:r>
              <a:rPr sz="2000" b="0">
                <a:solidFill>
                  <a:srgbClr val="1F2D3A"/>
                </a:solidFill>
              </a:rPr>
              <a:t>, Windows'ta MSVC ile </a:t>
            </a:r>
            <a:r>
              <a:rPr sz="2000" b="1">
                <a:solidFill>
                  <a:srgbClr val="1F2D3A"/>
                </a:solidFill>
              </a:rPr>
              <a:t>OpenCppCoverage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Doxygen</a:t>
            </a:r>
            <a:r>
              <a:rPr sz="2000" b="0">
                <a:solidFill>
                  <a:srgbClr val="1F2D3A"/>
                </a:solidFill>
              </a:rPr>
              <a:t> — proje dokümantasyonunu üretir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JDK 21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Maven</a:t>
            </a:r>
            <a:r>
              <a:rPr sz="2000" b="0">
                <a:solidFill>
                  <a:srgbClr val="1F2D3A"/>
                </a:solidFill>
              </a:rPr>
              <a:t> — Maven, JUnit 5 ve JaCoCo'yu otomatik getirir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</a:t>
            </a:r>
            <a:r>
              <a:rPr sz="2000" b="0">
                <a:solidFill>
                  <a:srgbClr val="1F2D3A"/>
                </a:solidFill>
              </a:rPr>
              <a:t> ve bir </a:t>
            </a:r>
            <a:r>
              <a:rPr sz="2000" b="1">
                <a:solidFill>
                  <a:srgbClr val="1F2D3A"/>
                </a:solidFill>
              </a:rPr>
              <a:t>GitHub</a:t>
            </a:r>
            <a:r>
              <a:rPr sz="2000" b="0">
                <a:solidFill>
                  <a:srgbClr val="1F2D3A"/>
                </a:solidFill>
              </a:rPr>
              <a:t> hesabı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27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Kurulum adımları ve proje şablonlarının kendisi: </a:t>
            </a:r>
            <a:r>
              <a:rPr sz="2000" b="1">
                <a:solidFill>
                  <a:srgbClr val="1F2D3A"/>
                </a:solidFill>
              </a:rPr>
              <a:t>proje rehberi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Ön Gereksinimler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İlk dersten önce kendinizi sınayın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1 — Derleyip tahmin 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program ne yazdırır?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x = 5;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*p = &amp;x;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*p = *p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printf("%d %d\n", x, *p);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1 — Cevap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6 6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'in adresini tutar; bu yüzden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 aynı bellek konumunu gösterir. Birini değiştirmek diğerini de değiştirir.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2 — İşaretçi aritmetiği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int arr[4] = {10, 20, 30, 40}; int *p = arr;</a:t>
            </a:r>
            <a:r>
              <a:rPr sz="2000" b="0">
                <a:solidFill>
                  <a:srgbClr val="1F2D3A"/>
                </a:solidFill>
              </a:rPr>
              <a:t> verildiğinde, </a:t>
            </a:r>
            <a:r>
              <a:rPr sz="2000" b="0">
                <a:solidFill>
                  <a:srgbClr val="A1123F"/>
                </a:solidFill>
                <a:latin typeface="Consolas"/>
              </a:rPr>
              <a:t>*(p + 2)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p[2]</a:t>
            </a:r>
            <a:r>
              <a:rPr sz="2000" b="0">
                <a:solidFill>
                  <a:srgbClr val="1F2D3A"/>
                </a:solidFill>
              </a:rPr>
              <a:t> ifadelerinin değeri nedir?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2 — 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İkisi de </a:t>
            </a:r>
            <a:r>
              <a:rPr sz="2000" b="0">
                <a:solidFill>
                  <a:srgbClr val="A1123F"/>
                </a:solidFill>
                <a:latin typeface="Consolas"/>
              </a:rPr>
              <a:t>30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p[2]</a:t>
            </a:r>
            <a:r>
              <a:rPr sz="2000" b="0">
                <a:solidFill>
                  <a:srgbClr val="1F2D3A"/>
                </a:solidFill>
              </a:rPr>
              <a:t>, tanım gereği </a:t>
            </a:r>
            <a:r>
              <a:rPr sz="2000" b="0">
                <a:solidFill>
                  <a:srgbClr val="A1123F"/>
                </a:solidFill>
                <a:latin typeface="Consolas"/>
              </a:rPr>
              <a:t>*(p + 2)</a:t>
            </a:r>
            <a:r>
              <a:rPr sz="2000" b="0">
                <a:solidFill>
                  <a:srgbClr val="1F2D3A"/>
                </a:solidFill>
              </a:rPr>
              <a:t> anlamına gelir — dizi indeksleme, farklı yazılmış işaretçi aritmetiğinden başka bir şey değildir.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3 — Hatayı bulun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*make_array(int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arr[n];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n; i++) arr[i] = i *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arr;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Ne yanlış, nasıl düzeltirsiniz?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3 — 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arr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yığın (stack)</a:t>
            </a:r>
            <a:r>
              <a:rPr sz="2000" b="0">
                <a:solidFill>
                  <a:srgbClr val="1F2D3A"/>
                </a:solidFill>
              </a:rPr>
              <a:t> üzerinde yaşayan yerel bir dizidir; fonksiyon döndüğünde yok olur, dolayısıyla dönen işaretçi </a:t>
            </a:r>
            <a:r>
              <a:rPr sz="2000" b="1">
                <a:solidFill>
                  <a:srgbClr val="1F2D3A"/>
                </a:solidFill>
              </a:rPr>
              <a:t>sahipsiz (dangling)</a:t>
            </a:r>
            <a:r>
              <a:rPr sz="2000" b="0">
                <a:solidFill>
                  <a:srgbClr val="1F2D3A"/>
                </a:solidFill>
              </a:rPr>
              <a:t> kalır. Çözüm, </a:t>
            </a:r>
            <a:r>
              <a:rPr sz="2000" b="1">
                <a:solidFill>
                  <a:srgbClr val="1F2D3A"/>
                </a:solidFill>
              </a:rPr>
              <a:t>heap</a:t>
            </a:r>
            <a:r>
              <a:rPr sz="2000" b="0">
                <a:solidFill>
                  <a:srgbClr val="1F2D3A"/>
                </a:solidFill>
              </a:rPr>
              <a:t> üzerinde ayırmaktır —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59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*arr = malloc(n * sizeof(int));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— ve çağıranın, ihtiyaç kalmadığında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ile serbest bırakmasıdır.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4 — Yapı (struct) ve özyineleme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struct Node { int value; struct Node *next; };</a:t>
            </a:r>
            <a:r>
              <a:rPr sz="2000" b="0">
                <a:solidFill>
                  <a:srgbClr val="1F2D3A"/>
                </a:solidFill>
              </a:rPr>
              <a:t> tanımlayın; düğüm sayısını döndüren özyinelemeli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length(struct Node *head)</a:t>
            </a:r>
            <a:r>
              <a:rPr sz="2000" b="0">
                <a:solidFill>
                  <a:srgbClr val="1F2D3A"/>
                </a:solidFill>
              </a:rPr>
              <a:t> yazın.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length(NULL)</a:t>
            </a:r>
            <a:r>
              <a:rPr sz="2000" b="0">
                <a:solidFill>
                  <a:srgbClr val="1F2D3A"/>
                </a:solidFill>
              </a:rPr>
              <a:t> ne döndürür ve özyineleme neden orada durur?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4 — Cevap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length(struct Node *head)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(head == NULL)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1 + length(head-&gt;next);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length(NULL)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0</a:t>
            </a:r>
            <a:r>
              <a:rPr sz="2000" b="0">
                <a:solidFill>
                  <a:srgbClr val="1F2D3A"/>
                </a:solidFill>
              </a:rPr>
              <a:t> döndürür — </a:t>
            </a:r>
            <a:r>
              <a:rPr sz="2000" b="1">
                <a:solidFill>
                  <a:srgbClr val="1F2D3A"/>
                </a:solidFill>
              </a:rPr>
              <a:t>taban durum (base case)</a:t>
            </a:r>
            <a:r>
              <a:rPr sz="2000" b="0">
                <a:solidFill>
                  <a:srgbClr val="1F2D3A"/>
                </a:solidFill>
              </a:rPr>
              <a:t>; bu olmadan özyineleme hiç durmaz.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5 — Binary dosya G/Ç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values[3] = {1, 2, 3};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FILE *f = fopen("data.bin", "wb");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fwrite(values, sizeof(int), 3, f);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fclose(f);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data.bin</a:t>
            </a:r>
            <a:r>
              <a:rPr sz="2000" b="0">
                <a:solidFill>
                  <a:srgbClr val="1F2D3A"/>
                </a:solidFill>
              </a:rPr>
              <a:t> kaç bayt içerir, neden?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5 — 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3 * sizeof(int)</a:t>
            </a:r>
            <a:r>
              <a:rPr sz="2000" b="0">
                <a:solidFill>
                  <a:srgbClr val="1F2D3A"/>
                </a:solidFill>
              </a:rPr>
              <a:t> bayt — günümüz masaüstü platformlarının neredeyse tamamında </a:t>
            </a:r>
            <a:r>
              <a:rPr sz="2000" b="1">
                <a:solidFill>
                  <a:srgbClr val="1F2D3A"/>
                </a:solidFill>
              </a:rPr>
              <a:t>12 bayt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fwrite</a:t>
            </a:r>
            <a:r>
              <a:rPr sz="2000" b="0">
                <a:solidFill>
                  <a:srgbClr val="1F2D3A"/>
                </a:solidFill>
              </a:rPr>
              <a:t>, dizinin ham baytlarını doğrudan dosyaya kopyalar; </a:t>
            </a:r>
            <a:r>
              <a:rPr sz="2000" b="0">
                <a:solidFill>
                  <a:srgbClr val="A1123F"/>
                </a:solidFill>
                <a:latin typeface="Consolas"/>
              </a:rPr>
              <a:t>fprintf</a:t>
            </a:r>
            <a:r>
              <a:rPr sz="2000" b="0">
                <a:solidFill>
                  <a:srgbClr val="1F2D3A"/>
                </a:solidFill>
              </a:rPr>
              <a:t>'in aksine metin biçimlendirmesi yoktur.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6 — Java jenerikleri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List&lt;Integer&gt; numbers = new ArrayList&lt;&gt;();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numbers.add(10);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numbers.add(20);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sum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n : numbers) { sum += n;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System.out.println(sum);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program ne yazdırır?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6 — Cevap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List&lt;Integer&gt;</a:t>
            </a:r>
            <a:r>
              <a:rPr sz="2000" b="0">
                <a:solidFill>
                  <a:srgbClr val="1F2D3A"/>
                </a:solidFill>
              </a:rPr>
              <a:t>, yalnızca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Integer</a:t>
            </a:r>
            <a:r>
              <a:rPr sz="2000" b="0">
                <a:solidFill>
                  <a:srgbClr val="1F2D3A"/>
                </a:solidFill>
              </a:rPr>
              <a:t> elemanlarına izin veren jenerik bir koleksiyondur; for-each döngüsü her elemanı okuyup </a:t>
            </a:r>
            <a:r>
              <a:rPr sz="2000" b="0">
                <a:solidFill>
                  <a:srgbClr val="A1123F"/>
                </a:solidFill>
                <a:latin typeface="Consolas"/>
              </a:rPr>
              <a:t>sum</a:t>
            </a:r>
            <a:r>
              <a:rPr sz="2000" b="0">
                <a:solidFill>
                  <a:srgbClr val="1F2D3A"/>
                </a:solidFill>
              </a:rPr>
              <a:t>'a ekler.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7 — Java istisnaları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try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System.out.println("A");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throw new RuntimeException("boom");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catch (RuntimeException 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System.out.println("B");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finally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System.out.println("C");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1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Üç harf hangi sırayla yazdırılır?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7 — Cevap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İstisna, eşleşen </a:t>
            </a:r>
            <a:r>
              <a:rPr sz="2000" b="0">
                <a:solidFill>
                  <a:srgbClr val="A1123F"/>
                </a:solidFill>
                <a:latin typeface="Consolas"/>
              </a:rPr>
              <a:t>catch</a:t>
            </a:r>
            <a:r>
              <a:rPr sz="2000" b="0">
                <a:solidFill>
                  <a:srgbClr val="1F2D3A"/>
                </a:solidFill>
              </a:rPr>
              <a:t> tarafından hemen yakalanır (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);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finally</a:t>
            </a:r>
            <a:r>
              <a:rPr sz="2000" b="0">
                <a:solidFill>
                  <a:srgbClr val="1F2D3A"/>
                </a:solidFill>
              </a:rPr>
              <a:t> ise istisna fırlatılsın ya da fırlatılmasın her zaman çalışır (</a:t>
            </a:r>
            <a:r>
              <a:rPr sz="2000" b="0">
                <a:solidFill>
                  <a:srgbClr val="A1123F"/>
                </a:solidFill>
                <a:latin typeface="Consolas"/>
              </a:rPr>
              <a:t>C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8 — İki araç zincirini de derleyip test 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 araç zinciri: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--version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cmake --version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cpp-cmake-ctest-template</a:t>
            </a:r>
            <a:r>
              <a:rPr sz="2000" b="0">
                <a:solidFill>
                  <a:srgbClr val="1F2D3A"/>
                </a:solidFill>
              </a:rPr>
              <a:t>'i klonlayın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cmake -S . -B build &amp;&amp; cmake --build build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ctest --test-dir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Java araç zinciri: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 -version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mvn -version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eclipse-java-maven-template</a:t>
            </a:r>
            <a:r>
              <a:rPr sz="2000" b="0">
                <a:solidFill>
                  <a:srgbClr val="1F2D3A"/>
                </a:solidFill>
              </a:rPr>
              <a:t>'i klonlayın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mvn test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Görev 8 — Başarı nasıl görünür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ctest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100% tests passed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Maven: </a:t>
            </a:r>
            <a:r>
              <a:rPr sz="2000" b="1">
                <a:solidFill>
                  <a:srgbClr val="1F2D3A"/>
                </a:solidFill>
              </a:rPr>
              <a:t>BUILD SUCCESS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Failures: 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iki araç zincirinde de yol boyunca hiçbir derleyici hatası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Biri başarısız olursa: "Kurulu olması gerekenler"e dönün, eksik aracı kurun, ilk dersten önce yeniden deneyin.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Ön Gereksinimler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Derse hazırsınız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Sekiz görevin de mantıklı geldiyse ve iki araç zinciri de hatasız derlenip test edildiyse hazırsınız.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20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Sırada:</a:t>
            </a:r>
            <a:r>
              <a:rPr sz="2000" b="0">
                <a:solidFill>
                  <a:srgbClr val="1F2D3A"/>
                </a:solidFill>
              </a:rPr>
              <a:t> haftalık programı gösteren </a:t>
            </a:r>
            <a:r>
              <a:rPr sz="2000" b="1">
                <a:solidFill>
                  <a:srgbClr val="1F2D3A"/>
                </a:solidFill>
              </a:rPr>
              <a:t>izlence</a:t>
            </a:r>
            <a:r>
              <a:rPr sz="2000" b="0">
                <a:solidFill>
                  <a:srgbClr val="1F2D3A"/>
                </a:solidFill>
              </a:rPr>
              <a:t> ve her kontrol noktasının tam rubriğini içeren </a:t>
            </a:r>
            <a:r>
              <a:rPr sz="2000" b="1">
                <a:solidFill>
                  <a:srgbClr val="1F2D3A"/>
                </a:solidFill>
              </a:rPr>
              <a:t>proje rehberi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Veri Yapıları — Ön Gereksinimler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