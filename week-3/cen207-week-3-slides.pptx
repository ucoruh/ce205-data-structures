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we meet the two oldest, most-used linear structures in computing. Stack = touch one end only. Queue = add at one end, remove at the other. That single rule change explains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Sixteen short animations carry the whole lecture; each appears once, exactly where its idea is introduced.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term gets a full definition the first time it appears; this table just says where to find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a terminal now if you want to run these live; every snippet on today's slides compiles and runs exactly as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new about memory is needed today — only new rules about which end of it you are allowed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do both malloc and free again today, and point out exactly where a forgotten free would bite.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new part today is restricting which end(s) of the chain you are allowed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class: which end of a queue do the ones who arrived first sit at? The front — and that is the whole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box on this map gets its own slides below, most with a short animation and a complete C/Java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builds the stack from scratch: an array version, then a linked version, both with the same tiny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how would you build that "history" feature with only an array or a linked list? The answer is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function call your computer makes right now still uses a hardware/software stack, exactly like these early machines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LIFO = Last In, First Out. Keep this cafeteria picture in mind for every operation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short names are standard across every language and textbook; learn them now, they never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ADT describes what a structure does, not how — this table holds whether it is built from an array or a linked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else in memory ever moves — only the single integer top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10 pushes (12, 7, 25, 3, 18, 9, 30, 14, 5, 21), then 4 pops — watch top and the array update one step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first, refuse if full, then two writes — top moves, the value lands. Two steps,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shape as push, mirrored: check empty, read the top slot, move top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pushed (21) comes back first, then 5, 14, 30 — last in, first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constant-time guarantee is the entire point of a stack — reaching the middle needs a different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Writing outside array bounds in C does not raise a friendly error — it corrupts nearby memory silently.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10-slot stack takes 11 pushes (overflow on the last one), then 13 pops (underflow after draining) — watch both checks fire.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 indices run 0..CAP-1, so the stack is full the moment top reaches CAP-1, not one step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 class answer before revealing — index 0 is a real, valid slot.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-1 is not a valid index, so it can only ever mean "no elements".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the same node-and-pointer idea from Week 2, restricted to touching one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malloc create a node, then three pointer rewrites move top — no capacity limit anywhere.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node points at the old top, then top moves to the new node — three assignments,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tmp holds the old top just long enough to read its value and free it after top has already moved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trade for unlimited capacity is a little extra memory per element and worse cache locality.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free(tmp); return tmp-&gt;data; reads memory already given back — sometimes it "works", sometimes it crashes.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push and pop are O(1) either way; the difference is capacity and memory locality, not speed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push adds 1 to top, each pop subtracts 1 — do the arithmetic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the bookkeeping the push/pop code we just read performs, one step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classic algorithms, all built on the same tiny stack interface: check brackets, evaluate postfix, convert infix to postfix.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class to compute A + B * C by hand — everyone silently applies precedence without noticing.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RPN calculators are still sold today; the algorithm on the next slides is exactly what runs inside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Postfix and prefix need no parentheses and no precedence table at evaluation time — that work was already done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"Most recently opened" should immediately make everyone think of a stack — that phrase is the whole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distinct ways to fail; a correct checker must catch all three, not just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the mismatch: a `]` arrives while `(` sits on top — no match, reject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tiny helper: does this closing bracket pair with this opening bracket?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very last line is the one people forget: the string can end with unmatched openers still on the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pass, one stack, done — this is the shape almost every stack algorithm today will 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common bug: checking only case 1 and forgetting the final `return top == -1;`.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unmatched opening parenthesis — walk through what the stack looks like at the very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failure case 3 from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class to predict the result before the animation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is pushed; every operator pops two values, applies itself, and pushes the result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small dispatcher — nothing surprising, just the four arithmetic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comes off first (right operand), a second (left operand) — order matters for minus and divide.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Calculators and compilers evaluate expressions exactly this way, in real time, on huge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common bug students write in this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each algorithm is actually producing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distinction — collapsing values vs. reordering symbols — is worth restating slowly.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Prefix is the mirror image of postfix in every respect — direction of scan, and which operand comes off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11 tokens, no errors. The "hard" example actually errors out — more tokens is not automatically a valid expression.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Getting the pop order backwards silently breaks every non-commutative operator: minus and divide.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classic first "compiler-shaped" algorithm most students ever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operand goes straight to output; every operator first flushes stronger waiting operators, then is pushed.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tiny precedence table — multiply/divide bind tighter than plus/minus.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while-loop is the "flush" step: whatever is left on the stack still has to reach the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shape, same bound, as every other stack algorithm we have seen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A-B-C must become (A-B)-C, which needs equal-precedence operators to also be popped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class thirty seconds, then reveal and compare to the algorithm's own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this trace line by line if the class looks unsure.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already-familiar steps instead of a brand-new algorithm — that is the whole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normal example as infix-to-postfix, A+B*C-D+E*F, so the two outputs can be compared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the postfix and prefix outputs for a same-precedence chain like A+B+C+... to see the rule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connection that makes recursion click: every function call, recursive or not, pushes a real stack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function that calls itself on a smaller version of the same problem, until a case simple enough to answer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are about to meet exactly the memory structure that runs out — the call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smallest possible recursive function — everything about base cases shows up here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countdown from 10. Edge cases n=0 and n=-4 both hit the base case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exact bug that turned "countdown from -4" into an infinite loop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have been using a stack every time you called a function — you just could not see it until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fact(10), 10 frames deep — each waits on the next, then frames unwind in reverse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lines: a base case that stops the recursion, and a recursive call on a strictly smaller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output, but the call-stack machinery behind it is the real subject of this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Recursion often reads more clearly than a loop, but it is never free of memory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the "hard" example in the picker stops at 12 — one call short of the overflow.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crash has a name you already know from Section 1: stack overflow — just applied to the call stack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Decrementing by 2 from an odd starting n that expects to hit 0 is a classic version of this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 them together: fact(3), fact(2), fact(1), fact(0).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frames have returned yet — that is exactly why they are still on the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-1 never equals 1 on the way down through -2, -3, -4...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wrong base-case condition is just as dangerous as a missing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standard first example of a problem that is easy to solve recursively yet fundamentally exponential.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legend: monks moving 64 golden disks, and the world ends when they finish. Not a bad time estimate, as we'll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Steps 1 and 3 are the same problem, just smaller, with the rods relabeled — a perfect recursion.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4 disks, 15 moves. No explicit stack needed in the code — the call stack itself remembers "from, to, via".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lines, and the recursion structure is identical in spirit to fact() — smaller problem, act, smaller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moves for four disks — we will see exactly why that number in a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implementation trick fixes exponential growth — only a smaller n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monks' prophecy about the world ending was, in a sense, a reasonable time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call stack that tracked "from, to, via" here is the same call stack DFS will use to track "where to backtrack".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formula from two slides 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Doubling the disks by one adds roughly double the moves, minus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what the "destination" and "spare" are for the smaller sub-problem.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rotation is the part students find hardest to trace by hand — the animation makes it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mirror image of the stack: same two operations, opposite ends, different name — FIFO instead of LIFO.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who leaves the supermarket line first — the newest arrival, or the one who has waited longest?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Stack: one end. Queue: two ends, one for each operation — that is the entire conceptual jump.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build this ADT three different ways, each with its own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Something goes wrong with the unused space at the front as elements are dequeued — the animation shows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fill 8 cells, remove 3, then two more enqueues still fail — front never reuses the cells dequeue frees.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 and O(1), but rear never comes back, no matter how many cells dequeue frees near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Cells 0, 1, 2 are empty, yet the queue insists it is full — that is the drift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Shifting every element after each dequeue would fix it, but turns O(1) dequeues into O(n) — not acceptable.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Look again at what enqueue actually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sets up the circular queue perfectly.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wasted space was only wasted because we were thinking of the array as a straight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10-cell ring, moderate mixing, one wrap-around — watch rear reuse the cells dequeue freed at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change from the naive version: rear wraps with modulo, and count tracks true fullness.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mirror shape as enqueue — front also wraps with modulo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 resolves the ambiguity directly instead of relying on clever index tricks.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queue implementation you would actually use in a real bounded buffer.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only rear wraps and not front, the ring breaks silently after the first wrap-around.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"just became empty" and "just became full" can show front == rear.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count is not optional bookkeeping — it is the only thing resolving the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overflow-removal trade as the linked stack, but this time we need a pointer to each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one node, front and rear point to the same node — watch that special case at the very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empty-queue case sets both pointers to the new node; otherwise only rear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queue just became empty, rear must also be reset to NULL, or the next enqueue writes through garbage.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single node is both the front and the rear — both pointers must point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where each structure adds and where it removes.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Without rear, enqueue would need to walk the entire list to find the last node — O(n), not O(1).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deque behaves like a stack and a queue at the same time, depending only on which operations you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here on a doubly linked list, each end getting its own pair of pointer rewrites.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push_front insert at the opposite end from push_back — something a plain queue could never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push_front is the mirror image of this function, touching front/prev instead of back/next.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pop_front mirrors this exactly, touching front/next instead of back/prev.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 there is no standard deque, so we build one; in Java, java.util.ArrayDeque already gives us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one call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Front-inserts build backwards from the left; back-inserts build forwards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needs no new code today — just several of the queues we already built, plus a small selection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scheduler serves higher queues first, falling through to lower ones only when higher ones are empty.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12 processes evenly spread across three classes. admit() enqueues by level; pick_next() always tries level 0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schedulers add aging or time-slicing so a lower level is never starved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Look at what each individual level actually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will meet its close relative, the priority queue, built on a heap,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obey the exact same LIFO rule — only the storage and the capacity limit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circular queue is the one you would actually ship; the naive array queue is a teaching stepping 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generalize the plain queue — one by relaxing which end you touch, one by adding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very different-looking problems, all solved by the exact same tiny stack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 student remembers only one sentence from today, this is the one worth remembering.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same five exercises listed at the end of the written notes, with worked answer sketches.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mirror the self-check quiz at the end of the week notes, one question per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Ask, wait,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plate-stack picture from Section 1 is the whole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Ask, wait,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waiting-line picture from Section 5 is the whole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the valid index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Waiting for top == CAP would already be one slot past the array's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the "right operand first"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why 8 2 - means 8 - 2, not 2 - 8.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drift problem, restated as 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queue "drifts" right until it hits the end of the 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the front == rear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wraparound, front == rear no longer decides the question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the very first code slide of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recursive function needs at least one reachable base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it to the LIFO rule from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Just like the most recently pushed element of any stack is the next one popped.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the recurrence from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n = 64, that is about 585 billion years at one move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which ends each structure is allowed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stack only ever touches its top; a plain queue only adds at one end and removes at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Solve the left subtree, visit the node, solve the right subtree — exactly Hanoi's recursion shape, on a new shape of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same references listed at the end of the week's written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historical references (Lucas, Łukasiewicz) are what today's "short history" slides drew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gif"/><Relationship Id="rId4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gif"/><Relationship Id="rId4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gif"/><Relationship Id="rId4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gif"/><Relationship Id="rId4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gif"/><Relationship Id="rId4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gif"/><Relationship Id="rId4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gif"/><Relationship Id="rId4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Stacks and Queues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Data Structures —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Fall 2026–2027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Today's plan (3 hours)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866"/>
                <a:gridCol w="9992668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Hour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Stack ADT · array stack · overflow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linked stack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Stack apps: brackets, postfix, prefix, infix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4–8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recursion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9–10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Hanoi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queue variants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12–16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self-check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Learning outcomes:</a:t>
            </a:r>
            <a:r>
              <a:rPr sz="2000" b="0">
                <a:solidFill>
                  <a:srgbClr val="1F2D3A"/>
                </a:solidFill>
              </a:rPr>
              <a:t> LO.1 (explain fundamental data structures) · LO.7 (choose the right structure)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This week's concepts — where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6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38074"/>
                <a:gridCol w="2909742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Stack ADT, LIFO, push/pop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Expression algorithms (postfix, infix)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 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Recursion, call stack, Tower of Hanoi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Queue ADT, FIFO, circular queue, deque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 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How the code examples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idea has a complete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program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C: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-std=c11 -Wall -Wextra -o /tmp/x file.c &amp;&amp; /tmp/x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javac -d /tmp/j File.java &amp;&amp; java -cp /tmp/j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Sources: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code/week-03/c/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code/week-03/java/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program's expected output is in the week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Bridge from Weeks 1–2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Weeks 1–2 gave you two tools: </a:t>
            </a:r>
            <a:r>
              <a:rPr sz="2000" b="1">
                <a:solidFill>
                  <a:srgbClr val="1F2D3A"/>
                </a:solidFill>
              </a:rPr>
              <a:t>pointers/memory</a:t>
            </a:r>
            <a:r>
              <a:rPr sz="2000" b="0">
                <a:solidFill>
                  <a:srgbClr val="1F2D3A"/>
                </a:solidFill>
              </a:rPr>
              <a:t> and the </a:t>
            </a:r>
            <a:r>
              <a:rPr sz="2000" b="1">
                <a:solidFill>
                  <a:srgbClr val="1F2D3A"/>
                </a:solidFill>
              </a:rPr>
              <a:t>linked list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week reuses both, constantly, in new shapes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New idea this week: restricting </a:t>
            </a:r>
            <a:r>
              <a:rPr sz="2000" b="0" i="1">
                <a:solidFill>
                  <a:srgbClr val="1F2D3A"/>
                </a:solidFill>
              </a:rPr>
              <a:t>where</a:t>
            </a:r>
            <a:r>
              <a:rPr sz="2000" b="0">
                <a:solidFill>
                  <a:srgbClr val="1F2D3A"/>
                </a:solidFill>
              </a:rPr>
              <a:t> you may touch a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Recap — Week 1: pointers and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*p</a:t>
            </a:r>
            <a:r>
              <a:rPr sz="2000" b="0">
                <a:solidFill>
                  <a:srgbClr val="1F2D3A"/>
                </a:solidFill>
              </a:rPr>
              <a:t> holds an </a:t>
            </a:r>
            <a:r>
              <a:rPr sz="2000" b="1">
                <a:solidFill>
                  <a:srgbClr val="1F2D3A"/>
                </a:solidFill>
              </a:rPr>
              <a:t>address</a:t>
            </a:r>
            <a:r>
              <a:rPr sz="2000" b="0">
                <a:solidFill>
                  <a:srgbClr val="1F2D3A"/>
                </a:solidFill>
              </a:rPr>
              <a:t>, not a number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asks the OS for a box;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gives it back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memory leak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Using memory after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dangling pointer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Recap — Week 2: linked 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linked list is a chain of </a:t>
            </a:r>
            <a:r>
              <a:rPr sz="2000" b="1">
                <a:solidFill>
                  <a:srgbClr val="1F2D3A"/>
                </a:solidFill>
              </a:rPr>
              <a:t>nodes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node: a value + a pointer to the next node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Adding/removing rewires a couple of pointers — no shifting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Today's linked stack/queue reuse this idea exactly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Map of the week — the one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Both stacks and queues are </a:t>
            </a:r>
            <a:r>
              <a:rPr sz="2000" b="1">
                <a:solidFill>
                  <a:srgbClr val="1F2D3A"/>
                </a:solidFill>
              </a:rPr>
              <a:t>linear</a:t>
            </a:r>
            <a:r>
              <a:rPr sz="2000" b="0">
                <a:solidFill>
                  <a:srgbClr val="1F2D3A"/>
                </a:solidFill>
              </a:rPr>
              <a:t> structures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stack</a:t>
            </a:r>
            <a:r>
              <a:rPr sz="2000" b="0">
                <a:solidFill>
                  <a:srgbClr val="1F2D3A"/>
                </a:solidFill>
              </a:rPr>
              <a:t> lets you touch only </a:t>
            </a:r>
            <a:r>
              <a:rPr sz="2000" b="1">
                <a:solidFill>
                  <a:srgbClr val="1F2D3A"/>
                </a:solidFill>
              </a:rPr>
              <a:t>one</a:t>
            </a:r>
            <a:r>
              <a:rPr sz="2000" b="0">
                <a:solidFill>
                  <a:srgbClr val="1F2D3A"/>
                </a:solidFill>
              </a:rPr>
              <a:t> end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queue</a:t>
            </a:r>
            <a:r>
              <a:rPr sz="2000" b="0">
                <a:solidFill>
                  <a:srgbClr val="1F2D3A"/>
                </a:solidFill>
              </a:rPr>
              <a:t> makes you add at one end, remove at the other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That single rule change decides what each is good for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Map of the week —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3908"/>
                <a:gridCol w="563762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Stack topics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Queue topics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Array stack, linked stack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Array queue, circular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Brackets, postfix, infix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Linked-list queue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Recursion, call stack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Deque, multilevel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Tower of Hanoi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The Stack: Last In, First 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Visit three web pages, then click </a:t>
            </a:r>
            <a:r>
              <a:rPr sz="2000" b="1">
                <a:solidFill>
                  <a:srgbClr val="1F2D3A"/>
                </a:solidFill>
              </a:rPr>
              <a:t>Back</a:t>
            </a:r>
            <a:r>
              <a:rPr sz="2000" b="0">
                <a:solidFill>
                  <a:srgbClr val="1F2D3A"/>
                </a:solidFill>
              </a:rPr>
              <a:t> three times.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You land on page 2, then page 1, then nowhere. The </a:t>
            </a:r>
            <a:r>
              <a:rPr sz="2000" b="0" i="1">
                <a:solidFill>
                  <a:srgbClr val="1F2D3A"/>
                </a:solidFill>
              </a:rPr>
              <a:t>last</a:t>
            </a:r>
            <a:r>
              <a:rPr sz="2000" b="0">
                <a:solidFill>
                  <a:srgbClr val="1F2D3A"/>
                </a:solidFill>
              </a:rPr>
              <a:t> page visited is the </a:t>
            </a:r>
            <a:r>
              <a:rPr sz="2000" b="0" i="1">
                <a:solidFill>
                  <a:srgbClr val="1F2D3A"/>
                </a:solidFill>
              </a:rPr>
              <a:t>first</a:t>
            </a:r>
            <a:r>
              <a:rPr sz="2000" b="0">
                <a:solidFill>
                  <a:srgbClr val="1F2D3A"/>
                </a:solidFill>
              </a:rPr>
              <a:t> one revisited.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Late 1950s: "stack", "push", "pop" already in CS literature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1957</a:t>
            </a:r>
            <a:r>
              <a:rPr sz="2000" b="0">
                <a:solidFill>
                  <a:srgbClr val="1F2D3A"/>
                </a:solidFill>
              </a:rPr>
              <a:t> — Bauer &amp; Samelson (Munich) patent a hardware stack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1946</a:t>
            </a:r>
            <a:r>
              <a:rPr sz="2000" b="0">
                <a:solidFill>
                  <a:srgbClr val="1F2D3A"/>
                </a:solidFill>
              </a:rPr>
              <a:t> — Turing used a similar idea in the ACE computer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of the oldest ideas in computing — still in every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Intuition — a stack of plates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Take a plate only from the </a:t>
            </a:r>
            <a:r>
              <a:rPr sz="2000" b="1">
                <a:solidFill>
                  <a:srgbClr val="1F2D3A"/>
                </a:solidFill>
              </a:rPr>
              <a:t>top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 a plate only to the </a:t>
            </a:r>
            <a:r>
              <a:rPr sz="2000" b="1">
                <a:solidFill>
                  <a:srgbClr val="1F2D3A"/>
                </a:solidFill>
              </a:rPr>
              <a:t>top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Cannot reach the middle without removing everything above 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Last plate placed is the first one removed — </a:t>
            </a:r>
            <a:r>
              <a:rPr sz="2000" b="1">
                <a:solidFill>
                  <a:srgbClr val="1F2D3A"/>
                </a:solidFill>
              </a:rPr>
              <a:t>LIFO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Three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push</a:t>
            </a:r>
            <a:r>
              <a:rPr sz="2000" b="0">
                <a:solidFill>
                  <a:srgbClr val="1F2D3A"/>
                </a:solidFill>
              </a:rPr>
              <a:t> — put a new element on top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pop</a:t>
            </a:r>
            <a:r>
              <a:rPr sz="2000" b="0">
                <a:solidFill>
                  <a:srgbClr val="1F2D3A"/>
                </a:solidFill>
              </a:rPr>
              <a:t> — remove and return the top element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peek</a:t>
            </a:r>
            <a:r>
              <a:rPr sz="2000" b="0">
                <a:solidFill>
                  <a:srgbClr val="1F2D3A"/>
                </a:solidFill>
              </a:rPr>
              <a:t> (or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) — look at the top without removing 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three touch only </a:t>
            </a:r>
            <a:r>
              <a:rPr sz="2000" b="1">
                <a:solidFill>
                  <a:srgbClr val="1F2D3A"/>
                </a:solidFill>
              </a:rPr>
              <a:t>one end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Stack ADT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236"/>
                <a:gridCol w="3485629"/>
                <a:gridCol w="3030981"/>
                <a:gridCol w="212168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Operation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Precondition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push(x)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Add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x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on top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not full (array)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pop()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Remove/return top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not empty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peek()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Return top, keep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not empty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isEmpty()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zero elements?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Array stack — 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Reserve a fixed-size array </a:t>
            </a:r>
            <a:r>
              <a:rPr sz="2000" b="0">
                <a:solidFill>
                  <a:srgbClr val="A1123F"/>
                </a:solidFill>
                <a:latin typeface="Consolas"/>
              </a:rPr>
              <a:t>data[CAP]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Keep one integer,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: index of the topmost slot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Empty stack: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== -1</a:t>
            </a:r>
            <a:r>
              <a:rPr sz="2000" b="0">
                <a:solidFill>
                  <a:srgbClr val="1F2D3A"/>
                </a:solidFill>
              </a:rPr>
              <a:t> — "no top yet"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top++</a:t>
            </a:r>
            <a:r>
              <a:rPr sz="2000" b="0">
                <a:solidFill>
                  <a:srgbClr val="1F2D3A"/>
                </a:solidFill>
              </a:rPr>
              <a:t>, write;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</a:t>
            </a:r>
            <a:r>
              <a:rPr sz="2000" b="0">
                <a:solidFill>
                  <a:srgbClr val="1F2D3A"/>
                </a:solidFill>
              </a:rPr>
              <a:t>: read,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top--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Array stack: push and pop</a:t>
            </a:r>
          </a:p>
        </p:txBody>
      </p:sp>
      <p:pic>
        <p:nvPicPr>
          <p:cNvPr id="7" name="Picture 6" descr="array-stack-push-pop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190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push()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push(int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(top == CAP - 1)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top = top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data[top] =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pop()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pop(int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(top == -1)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 = data[top];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top = top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Expected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push(12) -&gt; true   [top = 0]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push(21) -&gt; true   [top = 9]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pop()    -&gt; 21     [top = 8]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pop()    -&gt; 5      [top = 7]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pop()    -&gt; 14     [top = 6]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pop()    -&gt; 30     [top = 5]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Why every operation is O(1)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pop</a:t>
            </a:r>
            <a:r>
              <a:rPr sz="2000" b="0">
                <a:solidFill>
                  <a:srgbClr val="1F2D3A"/>
                </a:solidFill>
              </a:rPr>
              <a:t> do a </a:t>
            </a:r>
            <a:r>
              <a:rPr sz="2000" b="1">
                <a:solidFill>
                  <a:srgbClr val="1F2D3A"/>
                </a:solidFill>
              </a:rPr>
              <a:t>fixed number of steps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condition check, one move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, one array access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True whether the stack holds 1 element or a million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loop ever touches the other elements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Overflow and underflow — the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 array has a </a:t>
            </a:r>
            <a:r>
              <a:rPr sz="2000" b="1">
                <a:solidFill>
                  <a:srgbClr val="1F2D3A"/>
                </a:solidFill>
              </a:rPr>
              <a:t>fixed size</a:t>
            </a:r>
            <a:r>
              <a:rPr sz="2000" b="0">
                <a:solidFill>
                  <a:srgbClr val="1F2D3A"/>
                </a:solidFill>
              </a:rPr>
              <a:t>. What happens when you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</a:t>
            </a:r>
            <a:r>
              <a:rPr sz="2000" b="0">
                <a:solidFill>
                  <a:srgbClr val="1F2D3A"/>
                </a:solidFill>
              </a:rPr>
              <a:t> a full stack, or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</a:t>
            </a:r>
            <a:r>
              <a:rPr sz="2000" b="0">
                <a:solidFill>
                  <a:srgbClr val="1F2D3A"/>
                </a:solidFill>
              </a:rPr>
              <a:t> an empty 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correct stack must </a:t>
            </a:r>
            <a:r>
              <a:rPr sz="2000" b="1">
                <a:solidFill>
                  <a:srgbClr val="1F2D3A"/>
                </a:solidFill>
              </a:rPr>
              <a:t>check first and refuse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Stack overflow and underflow</a:t>
            </a:r>
          </a:p>
        </p:txBody>
      </p:sp>
      <p:pic>
        <p:nvPicPr>
          <p:cNvPr id="7" name="Picture 6" descr="stack-overflow-underflow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07942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 (array stack)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Checking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== CAP</a:t>
            </a:r>
            <a:r>
              <a:rPr sz="2000" b="0">
                <a:solidFill>
                  <a:srgbClr val="1F2D3A"/>
                </a:solidFill>
              </a:rPr>
              <a:t>, not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== CAP - 1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Popping without checking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isEmpty</a:t>
            </a:r>
            <a:r>
              <a:rPr sz="2000" b="0">
                <a:solidFill>
                  <a:srgbClr val="1F2D3A"/>
                </a:solidFill>
              </a:rPr>
              <a:t> first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Ignoring the </a:t>
            </a:r>
            <a:r>
              <a:rPr sz="2000" b="0">
                <a:solidFill>
                  <a:srgbClr val="A1123F"/>
                </a:solidFill>
                <a:latin typeface="Consolas"/>
              </a:rPr>
              <a:t>bool</a:t>
            </a:r>
            <a:r>
              <a:rPr sz="2000" b="0">
                <a:solidFill>
                  <a:srgbClr val="1F2D3A"/>
                </a:solidFill>
              </a:rPr>
              <a:t> return value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is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 -1</a:t>
            </a:r>
            <a:r>
              <a:rPr sz="2000" b="0">
                <a:solidFill>
                  <a:srgbClr val="1F2D3A"/>
                </a:solidFill>
              </a:rPr>
              <a:t> a better choice for "empty" than, say,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 0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Index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 is a </a:t>
            </a:r>
            <a:r>
              <a:rPr sz="2000" b="1">
                <a:solidFill>
                  <a:srgbClr val="1F2D3A"/>
                </a:solidFill>
              </a:rPr>
              <a:t>valid slot</a:t>
            </a:r>
            <a:r>
              <a:rPr sz="2000" b="0">
                <a:solidFill>
                  <a:srgbClr val="1F2D3A"/>
                </a:solidFill>
              </a:rPr>
              <a:t>. If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 0</a:t>
            </a:r>
            <a:r>
              <a:rPr sz="2000" b="0">
                <a:solidFill>
                  <a:srgbClr val="1F2D3A"/>
                </a:solidFill>
              </a:rPr>
              <a:t> meant "empty", you could not tell an empty stack from one holding a single element at index 0.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stack that never overflows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Array stack has a hard ceiling: </a:t>
            </a:r>
            <a:r>
              <a:rPr sz="2000" b="0">
                <a:solidFill>
                  <a:srgbClr val="A1123F"/>
                </a:solidFill>
                <a:latin typeface="Consolas"/>
              </a:rPr>
              <a:t>CAP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Linked-list stack</a:t>
            </a:r>
            <a:r>
              <a:rPr sz="2000" b="0">
                <a:solidFill>
                  <a:srgbClr val="1F2D3A"/>
                </a:solidFill>
              </a:rPr>
              <a:t>: every element is its own node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 is now a </a:t>
            </a:r>
            <a:r>
              <a:rPr sz="2000" b="1">
                <a:solidFill>
                  <a:srgbClr val="1F2D3A"/>
                </a:solidFill>
              </a:rPr>
              <a:t>pointer</a:t>
            </a:r>
            <a:r>
              <a:rPr sz="2000" b="0">
                <a:solidFill>
                  <a:srgbClr val="1F2D3A"/>
                </a:solidFill>
              </a:rPr>
              <a:t>, not an index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</a:t>
            </a:r>
            <a:r>
              <a:rPr sz="2000" b="0">
                <a:solidFill>
                  <a:srgbClr val="1F2D3A"/>
                </a:solidFill>
              </a:rPr>
              <a:t> allocates;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</a:t>
            </a:r>
            <a:r>
              <a:rPr sz="2000" b="0">
                <a:solidFill>
                  <a:srgbClr val="1F2D3A"/>
                </a:solidFill>
              </a:rPr>
              <a:t> frees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Linked-list stack: push and pop</a:t>
            </a:r>
          </a:p>
        </p:txBody>
      </p:sp>
      <p:pic>
        <p:nvPicPr>
          <p:cNvPr id="7" name="Picture 6" descr="linked-stack-push-pop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2303" y="1325880"/>
            <a:ext cx="834708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struct Node + push()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Node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data;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struct Node *next;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Node;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Node *top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push(int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*n = malloc(sizeof(Node));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n-&gt;data =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n-&gt;next = top;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top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pop()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pop(int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(top == NULL)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*tmp = top;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 = tmp-&gt;data;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top = top-&gt;next;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free(tmp);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Why push is still O(1)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for </a:t>
            </a:r>
            <a:r>
              <a:rPr sz="2000" b="1">
                <a:solidFill>
                  <a:srgbClr val="1F2D3A"/>
                </a:solidFill>
              </a:rPr>
              <a:t>one fixed-size node</a:t>
            </a:r>
            <a:r>
              <a:rPr sz="2000" b="0">
                <a:solidFill>
                  <a:srgbClr val="1F2D3A"/>
                </a:solidFill>
              </a:rPr>
              <a:t> is constant time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Does not depend on how many nodes already exist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loop over existing elements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Cost: one pointer (</a:t>
            </a:r>
            <a:r>
              <a:rPr sz="2000" b="0">
                <a:solidFill>
                  <a:srgbClr val="A1123F"/>
                </a:solidFill>
                <a:latin typeface="Consolas"/>
              </a:rPr>
              <a:t>next</a:t>
            </a:r>
            <a:r>
              <a:rPr sz="2000" b="0">
                <a:solidFill>
                  <a:srgbClr val="1F2D3A"/>
                </a:solidFill>
              </a:rPr>
              <a:t>) per node vs. array's zero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 (linked stack)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free(tmp)</a:t>
            </a:r>
            <a:r>
              <a:rPr sz="2000" b="0">
                <a:solidFill>
                  <a:srgbClr val="1F2D3A"/>
                </a:solidFill>
              </a:rPr>
              <a:t> in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</a:t>
            </a:r>
            <a:r>
              <a:rPr sz="2000" b="0">
                <a:solidFill>
                  <a:srgbClr val="1F2D3A"/>
                </a:solidFill>
              </a:rPr>
              <a:t> — slow memory leak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Using a pointer after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ing it — undefined behavior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holding an old reference blocks garbage collection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Array vs. linked-list stack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7865"/>
                <a:gridCol w="4047827"/>
                <a:gridCol w="3695842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Array stack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Linked stack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Capacity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Fixed, can overflow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Limited by 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Extra memory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One pointer/node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Cache behavior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Contiguous, fast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Scattered, slower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CAP = 8</a:t>
            </a:r>
            <a:r>
              <a:rPr sz="2000" b="0">
                <a:solidFill>
                  <a:srgbClr val="1F2D3A"/>
                </a:solidFill>
              </a:rPr>
              <a:t>. After 5 pushes and 2 pops, what is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-1 + 5 - 2 = 2</a:t>
            </a:r>
            <a:r>
              <a:rPr sz="2000" b="0">
                <a:solidFill>
                  <a:srgbClr val="1F2D3A"/>
                </a:solidFill>
              </a:rPr>
              <a:t>. Three elements remain (indices 0, 1, 2),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== 2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Stack Applications: Expressions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Infix is awkward for computers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 + B * C</a:t>
            </a:r>
            <a:r>
              <a:rPr sz="2000" b="0">
                <a:solidFill>
                  <a:srgbClr val="1F2D3A"/>
                </a:solidFill>
              </a:rPr>
              <a:t> — is </a:t>
            </a:r>
            <a:r>
              <a:rPr sz="2000" b="0">
                <a:solidFill>
                  <a:srgbClr val="A1123F"/>
                </a:solidFill>
                <a:latin typeface="Consolas"/>
              </a:rPr>
              <a:t>*</a:t>
            </a:r>
            <a:r>
              <a:rPr sz="2000" b="0">
                <a:solidFill>
                  <a:srgbClr val="1F2D3A"/>
                </a:solidFill>
              </a:rPr>
              <a:t> computed before </a:t>
            </a:r>
            <a:r>
              <a:rPr sz="2000" b="0">
                <a:solidFill>
                  <a:srgbClr val="A1123F"/>
                </a:solidFill>
                <a:latin typeface="Consolas"/>
              </a:rPr>
              <a:t>+</a:t>
            </a:r>
            <a:r>
              <a:rPr sz="2000" b="0">
                <a:solidFill>
                  <a:srgbClr val="1F2D3A"/>
                </a:solidFill>
              </a:rPr>
              <a:t>? Needs </a:t>
            </a:r>
            <a:r>
              <a:rPr sz="2000" b="1">
                <a:solidFill>
                  <a:srgbClr val="1F2D3A"/>
                </a:solidFill>
              </a:rPr>
              <a:t>precedence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Two other notations move the operator so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precedence rule is ever needed at evaluation time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1920s — Polish logician </a:t>
            </a:r>
            <a:r>
              <a:rPr sz="2000" b="1">
                <a:solidFill>
                  <a:srgbClr val="1F2D3A"/>
                </a:solidFill>
              </a:rPr>
              <a:t>Jan Łukasiewicz</a:t>
            </a:r>
            <a:r>
              <a:rPr sz="2000" b="0">
                <a:solidFill>
                  <a:srgbClr val="1F2D3A"/>
                </a:solidFill>
              </a:rPr>
              <a:t> introduces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prefix ("Polish") and postfix ("Reverse Polish")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Famous via </a:t>
            </a:r>
            <a:r>
              <a:rPr sz="2000" b="1">
                <a:solidFill>
                  <a:srgbClr val="1F2D3A"/>
                </a:solidFill>
              </a:rPr>
              <a:t>HP calculators</a:t>
            </a:r>
            <a:r>
              <a:rPr sz="2000" b="0">
                <a:solidFill>
                  <a:srgbClr val="1F2D3A"/>
                </a:solidFill>
              </a:rPr>
              <a:t>: no parenthesis keys needed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Evaluated by a small stack machine — what you build next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Three notations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4364613"/>
                <a:gridCol w="2727883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Notation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Operator position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A + B * C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Infix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Between operands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 + B *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Postfix (RPN)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After both operands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 B C * +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Prefix (Polish)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Before both operands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+ A * B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Balanced brackets — the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Is </a:t>
            </a:r>
            <a:r>
              <a:rPr sz="2000" b="0">
                <a:solidFill>
                  <a:srgbClr val="A1123F"/>
                </a:solidFill>
                <a:latin typeface="Consolas"/>
              </a:rPr>
              <a:t>{([])(]}</a:t>
            </a:r>
            <a:r>
              <a:rPr sz="2000" b="0">
                <a:solidFill>
                  <a:srgbClr val="1F2D3A"/>
                </a:solidFill>
              </a:rPr>
              <a:t> validly nested?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Every closer must match the </a:t>
            </a:r>
            <a:r>
              <a:rPr sz="2000" b="1">
                <a:solidFill>
                  <a:srgbClr val="1F2D3A"/>
                </a:solidFill>
              </a:rPr>
              <a:t>most recently opened</a:t>
            </a:r>
            <a:r>
              <a:rPr sz="2000" b="0">
                <a:solidFill>
                  <a:srgbClr val="1F2D3A"/>
                </a:solidFill>
              </a:rPr>
              <a:t> bracket that is still open.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Scan the string once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</a:t>
            </a:r>
            <a:r>
              <a:rPr sz="2000" b="1">
                <a:solidFill>
                  <a:srgbClr val="1F2D3A"/>
                </a:solidFill>
              </a:rPr>
              <a:t>opener</a:t>
            </a:r>
            <a:r>
              <a:rPr sz="2000" b="0">
                <a:solidFill>
                  <a:srgbClr val="1F2D3A"/>
                </a:solidFill>
              </a:rPr>
              <a:t>: push 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</a:t>
            </a:r>
            <a:r>
              <a:rPr sz="2000" b="1">
                <a:solidFill>
                  <a:srgbClr val="1F2D3A"/>
                </a:solidFill>
              </a:rPr>
              <a:t>closer</a:t>
            </a:r>
            <a:r>
              <a:rPr sz="2000" b="0">
                <a:solidFill>
                  <a:srgbClr val="1F2D3A"/>
                </a:solidFill>
              </a:rPr>
              <a:t>: pop, and it must match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empty stack when a closer arrives → unbalanced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the stack is not empty at the end → unbalanced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Checking brackets with a stack</a:t>
            </a:r>
          </a:p>
        </p:txBody>
      </p:sp>
      <p:pic>
        <p:nvPicPr>
          <p:cNvPr id="7" name="Picture 6" descr="bracket-matching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28219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matches()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bool matches(char open, char close)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(open == '(' &amp;&amp; close == ')')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(open == '[' &amp;&amp; close == ']')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(open == '{' &amp;&amp; close == '}');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balanced()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91998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balanced(const char *s)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st[100]; int top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s[i] != '\0';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char c = 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(c == '(' || c == '[' || c == '{')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st[++top] = c;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 else if (c == ')' || c == ']' || c == '}')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(top == -1)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char o = st[top--];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(!matches(o, c))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top ==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Each character is looked at </a:t>
            </a:r>
            <a:r>
              <a:rPr sz="2000" b="1">
                <a:solidFill>
                  <a:srgbClr val="1F2D3A"/>
                </a:solidFill>
              </a:rPr>
              <a:t>exactly once</a:t>
            </a:r>
            <a:r>
              <a:rPr sz="2000" b="0">
                <a:solidFill>
                  <a:srgbClr val="1F2D3A"/>
                </a:solidFill>
              </a:rPr>
              <a:t>, each stack op is O(1)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balanced</a:t>
            </a:r>
            <a:r>
              <a:rPr sz="2000" b="0">
                <a:solidFill>
                  <a:srgbClr val="1F2D3A"/>
                </a:solidFill>
              </a:rPr>
              <a:t> runs in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Worst-case space: O(n) — a string of all openers.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Pitfall — three ways to be unbalanced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Closer arrives, top does not match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(]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Closer arrives, stack already empty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String ends, stack </a:t>
            </a:r>
            <a:r>
              <a:rPr sz="2000" b="1">
                <a:solidFill>
                  <a:srgbClr val="1F2D3A"/>
                </a:solidFill>
              </a:rPr>
              <a:t>not</a:t>
            </a:r>
            <a:r>
              <a:rPr sz="2000" b="0">
                <a:solidFill>
                  <a:srgbClr val="1F2D3A"/>
                </a:solidFill>
              </a:rPr>
              <a:t> empty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(()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Is </a:t>
            </a:r>
            <a:r>
              <a:rPr sz="2000" b="0">
                <a:solidFill>
                  <a:srgbClr val="A1123F"/>
                </a:solidFill>
                <a:latin typeface="Consolas"/>
              </a:rPr>
              <a:t>((A+B)</a:t>
            </a:r>
            <a:r>
              <a:rPr sz="2000" b="0">
                <a:solidFill>
                  <a:srgbClr val="1F2D3A"/>
                </a:solidFill>
              </a:rPr>
              <a:t> accepted by </a:t>
            </a:r>
            <a:r>
              <a:rPr sz="2000" b="0">
                <a:solidFill>
                  <a:srgbClr val="A1123F"/>
                </a:solidFill>
                <a:latin typeface="Consolas"/>
              </a:rPr>
              <a:t>balanced</a:t>
            </a:r>
            <a:r>
              <a:rPr sz="2000" b="0">
                <a:solidFill>
                  <a:srgbClr val="1F2D3A"/>
                </a:solidFill>
              </a:rPr>
              <a:t>? Why or why not?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No. Every </a:t>
            </a:r>
            <a:r>
              <a:rPr sz="2000" b="0">
                <a:solidFill>
                  <a:srgbClr val="A1123F"/>
                </a:solidFill>
                <a:latin typeface="Consolas"/>
              </a:rPr>
              <a:t>(</a:t>
            </a:r>
            <a:r>
              <a:rPr sz="2000" b="0">
                <a:solidFill>
                  <a:srgbClr val="1F2D3A"/>
                </a:solidFill>
              </a:rPr>
              <a:t> is pushed, and the string ends with the stack still holding one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== -1</a:t>
            </a:r>
            <a:r>
              <a:rPr sz="2000" b="0">
                <a:solidFill>
                  <a:srgbClr val="1F2D3A"/>
                </a:solidFill>
              </a:rPr>
              <a:t> is false, so </a:t>
            </a:r>
            <a:r>
              <a:rPr sz="2000" b="0">
                <a:solidFill>
                  <a:srgbClr val="A1123F"/>
                </a:solidFill>
                <a:latin typeface="Consolas"/>
              </a:rPr>
              <a:t>balanced</a:t>
            </a:r>
            <a:r>
              <a:rPr sz="2000" b="0">
                <a:solidFill>
                  <a:srgbClr val="1F2D3A"/>
                </a:solidFill>
              </a:rPr>
              <a:t> correctly returns false.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Postfix evaluation — the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5 3 + 8 2 - * 6 + 12 -</a:t>
            </a:r>
            <a:r>
              <a:rPr sz="2000" b="0">
                <a:solidFill>
                  <a:srgbClr val="1F2D3A"/>
                </a:solidFill>
              </a:rPr>
              <a:t> should evaluate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(5+3)*(8-2) = 48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48+6 = 54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54-12 = 42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No precedence rules needed at all — just a scan.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Evaluating a postfix expression</a:t>
            </a:r>
          </a:p>
        </p:txBody>
      </p:sp>
      <p:pic>
        <p:nvPicPr>
          <p:cNvPr id="7" name="Picture 6" descr="postfix-evaluation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06637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apply()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apply(char op, int a, int b)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switch (op)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case '+': return a + b;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case '-': return a - b;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case '*': return a * b;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case '/': return a / b;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default: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eval_postfix()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91998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eval_postfix(char *tok[], int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st[100]; int top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char *t = tok[i];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(isdigit(t[0]))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st[++top] = atoi(t);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int b = st[top--];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int a = st[top--];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st[++top] = apply(t[0], a, b);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st[top];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 in the number of tokens: each token is pushed at most once and popped at most once.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Pitfall — operand order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8 2 -</a:t>
            </a:r>
            <a:r>
              <a:rPr sz="2000" b="0">
                <a:solidFill>
                  <a:srgbClr val="1F2D3A"/>
                </a:solidFill>
              </a:rPr>
              <a:t> means </a:t>
            </a:r>
            <a:r>
              <a:rPr sz="2000" b="0">
                <a:solidFill>
                  <a:srgbClr val="A1123F"/>
                </a:solidFill>
                <a:latin typeface="Consolas"/>
              </a:rPr>
              <a:t>8 - 2</a:t>
            </a:r>
            <a:r>
              <a:rPr sz="2000" b="0">
                <a:solidFill>
                  <a:srgbClr val="1F2D3A"/>
                </a:solidFill>
              </a:rPr>
              <a:t>. First popped (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) is the </a:t>
            </a:r>
            <a:r>
              <a:rPr sz="2000" b="1">
                <a:solidFill>
                  <a:srgbClr val="1F2D3A"/>
                </a:solidFill>
              </a:rPr>
              <a:t>right</a:t>
            </a:r>
            <a:r>
              <a:rPr sz="2000" b="0">
                <a:solidFill>
                  <a:srgbClr val="1F2D3A"/>
                </a:solidFill>
              </a:rPr>
              <a:t> operand; second popped (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) is the </a:t>
            </a:r>
            <a:r>
              <a:rPr sz="2000" b="1">
                <a:solidFill>
                  <a:srgbClr val="1F2D3A"/>
                </a:solidFill>
              </a:rPr>
              <a:t>left</a:t>
            </a:r>
            <a:r>
              <a:rPr sz="2000" b="0">
                <a:solidFill>
                  <a:srgbClr val="1F2D3A"/>
                </a:solidFill>
              </a:rPr>
              <a:t>. Swap them and you compute </a:t>
            </a:r>
            <a:r>
              <a:rPr sz="2000" b="0">
                <a:solidFill>
                  <a:srgbClr val="A1123F"/>
                </a:solidFill>
                <a:latin typeface="Consolas"/>
              </a:rPr>
              <a:t>2 - 8</a:t>
            </a:r>
            <a:r>
              <a:rPr sz="2000" b="0">
                <a:solidFill>
                  <a:srgbClr val="1F2D3A"/>
                </a:solidFill>
              </a:rPr>
              <a:t> instead.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eval_postfix</a:t>
            </a:r>
            <a:r>
              <a:rPr sz="2000" b="0">
                <a:solidFill>
                  <a:srgbClr val="1F2D3A"/>
                </a:solidFill>
              </a:rPr>
              <a:t> need only </a:t>
            </a:r>
            <a:r>
              <a:rPr sz="2000" b="1">
                <a:solidFill>
                  <a:srgbClr val="1F2D3A"/>
                </a:solidFill>
              </a:rPr>
              <a:t>one</a:t>
            </a:r>
            <a:r>
              <a:rPr sz="2000" b="0">
                <a:solidFill>
                  <a:srgbClr val="1F2D3A"/>
                </a:solidFill>
              </a:rPr>
              <a:t> stack, while </a:t>
            </a:r>
            <a:r>
              <a:rPr sz="2000" b="0">
                <a:solidFill>
                  <a:srgbClr val="A1123F"/>
                </a:solidFill>
                <a:latin typeface="Consolas"/>
              </a:rPr>
              <a:t>to_postfix</a:t>
            </a:r>
            <a:r>
              <a:rPr sz="2000" b="0">
                <a:solidFill>
                  <a:srgbClr val="1F2D3A"/>
                </a:solidFill>
              </a:rPr>
              <a:t> (coming next) needs a second output area too?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Evaluation </a:t>
            </a:r>
            <a:r>
              <a:rPr sz="2000" b="1">
                <a:solidFill>
                  <a:srgbClr val="1F2D3A"/>
                </a:solidFill>
              </a:rPr>
              <a:t>collapses</a:t>
            </a:r>
            <a:r>
              <a:rPr sz="2000" b="0">
                <a:solidFill>
                  <a:srgbClr val="1F2D3A"/>
                </a:solidFill>
              </a:rPr>
              <a:t> two operands and an operator into one number immediately — nothing extra to remember. Conversion only </a:t>
            </a:r>
            <a:r>
              <a:rPr sz="2000" b="1">
                <a:solidFill>
                  <a:srgbClr val="1F2D3A"/>
                </a:solidFill>
              </a:rPr>
              <a:t>reorders</a:t>
            </a:r>
            <a:r>
              <a:rPr sz="2000" b="0">
                <a:solidFill>
                  <a:srgbClr val="1F2D3A"/>
                </a:solidFill>
              </a:rPr>
              <a:t> symbols, so it needs a place to collect them.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Evaluating a prefix expression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Operator comes </a:t>
            </a:r>
            <a:r>
              <a:rPr sz="2000" b="1">
                <a:solidFill>
                  <a:srgbClr val="1F2D3A"/>
                </a:solidFill>
              </a:rPr>
              <a:t>before</a:t>
            </a:r>
            <a:r>
              <a:rPr sz="2000" b="0">
                <a:solidFill>
                  <a:srgbClr val="1F2D3A"/>
                </a:solidFill>
              </a:rPr>
              <a:t> its operands: </a:t>
            </a:r>
            <a:r>
              <a:rPr sz="2000" b="0">
                <a:solidFill>
                  <a:srgbClr val="A1123F"/>
                </a:solidFill>
                <a:latin typeface="Consolas"/>
              </a:rPr>
              <a:t>+ A B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Same idea as postfix, scanned </a:t>
            </a:r>
            <a:r>
              <a:rPr sz="2000" b="1">
                <a:solidFill>
                  <a:srgbClr val="1F2D3A"/>
                </a:solidFill>
              </a:rPr>
              <a:t>right to left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First value popped is now the </a:t>
            </a:r>
            <a:r>
              <a:rPr sz="2000" b="1">
                <a:solidFill>
                  <a:srgbClr val="1F2D3A"/>
                </a:solidFill>
              </a:rPr>
              <a:t>left</a:t>
            </a:r>
            <a:r>
              <a:rPr sz="2000" b="0">
                <a:solidFill>
                  <a:srgbClr val="1F2D3A"/>
                </a:solidFill>
              </a:rPr>
              <a:t> operand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Evaluating a prefix expression</a:t>
            </a:r>
          </a:p>
        </p:txBody>
      </p:sp>
      <p:pic>
        <p:nvPicPr>
          <p:cNvPr id="7" name="Picture 6" descr="prefix-evaluation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6863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Prefix vs. postfix — the mirror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Scan </a:t>
            </a:r>
            <a:r>
              <a:rPr sz="2000" b="1">
                <a:solidFill>
                  <a:srgbClr val="1F2D3A"/>
                </a:solidFill>
              </a:rPr>
              <a:t>right to left</a:t>
            </a:r>
            <a:r>
              <a:rPr sz="2000" b="0">
                <a:solidFill>
                  <a:srgbClr val="1F2D3A"/>
                </a:solidFill>
              </a:rPr>
              <a:t>, not left to right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Pop the </a:t>
            </a:r>
            <a:r>
              <a:rPr sz="2000" b="1">
                <a:solidFill>
                  <a:srgbClr val="1F2D3A"/>
                </a:solidFill>
              </a:rPr>
              <a:t>left</a:t>
            </a:r>
            <a:r>
              <a:rPr sz="2000" b="0">
                <a:solidFill>
                  <a:srgbClr val="1F2D3A"/>
                </a:solidFill>
              </a:rPr>
              <a:t> operand first, then the right 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Same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 complexity, same error checks (division by zero, too few/many operands)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Infix to postfix — 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Humans write infix; our evaluator needs postfix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Shunting-yard algorithm</a:t>
            </a:r>
            <a:r>
              <a:rPr sz="2000" b="0">
                <a:solidFill>
                  <a:srgbClr val="1F2D3A"/>
                </a:solidFill>
              </a:rPr>
              <a:t> (Dijkstra) — after railway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yards that reorder freight cars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second stack, holding </a:t>
            </a:r>
            <a:r>
              <a:rPr sz="2000" b="1">
                <a:solidFill>
                  <a:srgbClr val="1F2D3A"/>
                </a:solidFill>
              </a:rPr>
              <a:t>operators</a:t>
            </a:r>
            <a:r>
              <a:rPr sz="2000" b="0">
                <a:solidFill>
                  <a:srgbClr val="1F2D3A"/>
                </a:solidFill>
              </a:rPr>
              <a:t>, resolves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precedence once, up front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Converting infix to postfix</a:t>
            </a:r>
          </a:p>
        </p:txBody>
      </p:sp>
      <p:pic>
        <p:nvPicPr>
          <p:cNvPr id="7" name="Picture 6" descr="infix-to-postfix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993" y="1325880"/>
            <a:ext cx="939970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prec()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prec(char op)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(op == '+' || op == '-')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(op == '*' || op == '/') return 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to_postfix()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91998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to_postfix(const char *in, char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ops[100]; int top = -1, k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in[i];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char c = in[i];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(isalnum(c)) { out[k++] = c;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while (top &gt;= 0 &amp;&amp; prec(ops[top]) &gt;= prec(c))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out[k++] = ops[top--];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ops[++top] = c;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(top &gt;= 0) out[k++] = ops[top--];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out[k] = '\0';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: every character is pushed onto the operator stack at most once, popped at most once.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Pitfall — three bugs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</a:t>
            </a:r>
            <a:r>
              <a:rPr sz="2000" b="0">
                <a:solidFill>
                  <a:srgbClr val="1F2D3A"/>
                </a:solidFill>
              </a:rPr>
              <a:t> instead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</a:t>
            </a:r>
            <a:r>
              <a:rPr sz="2000" b="0">
                <a:solidFill>
                  <a:srgbClr val="1F2D3A"/>
                </a:solidFill>
              </a:rPr>
              <a:t> breaks left-associativity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the final flush loses trailing operators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parentheses support (left as a natural extension)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Convert </a:t>
            </a:r>
            <a:r>
              <a:rPr sz="2000" b="0">
                <a:solidFill>
                  <a:srgbClr val="A1123F"/>
                </a:solidFill>
                <a:latin typeface="Consolas"/>
              </a:rPr>
              <a:t>A*B+C</a:t>
            </a:r>
            <a:r>
              <a:rPr sz="2000" b="0">
                <a:solidFill>
                  <a:srgbClr val="1F2D3A"/>
                </a:solidFill>
              </a:rPr>
              <a:t> to postfix by hand.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AB*C+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→out. </a:t>
            </a:r>
            <a:r>
              <a:rPr sz="2000" b="0">
                <a:solidFill>
                  <a:srgbClr val="A1123F"/>
                </a:solidFill>
                <a:latin typeface="Consolas"/>
              </a:rPr>
              <a:t>*</a:t>
            </a:r>
            <a:r>
              <a:rPr sz="2000" b="0">
                <a:solidFill>
                  <a:srgbClr val="1F2D3A"/>
                </a:solidFill>
              </a:rPr>
              <a:t>→push.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→out. </a:t>
            </a:r>
            <a:r>
              <a:rPr sz="2000" b="0">
                <a:solidFill>
                  <a:srgbClr val="A1123F"/>
                </a:solidFill>
                <a:latin typeface="Consolas"/>
              </a:rPr>
              <a:t>+</a:t>
            </a:r>
            <a:r>
              <a:rPr sz="2000" b="0">
                <a:solidFill>
                  <a:srgbClr val="1F2D3A"/>
                </a:solidFill>
              </a:rPr>
              <a:t> sees </a:t>
            </a:r>
            <a:r>
              <a:rPr sz="2000" b="0">
                <a:solidFill>
                  <a:srgbClr val="A1123F"/>
                </a:solidFill>
                <a:latin typeface="Consolas"/>
              </a:rPr>
              <a:t>*</a:t>
            </a:r>
            <a:r>
              <a:rPr sz="2000" b="0">
                <a:solidFill>
                  <a:srgbClr val="1F2D3A"/>
                </a:solidFill>
              </a:rPr>
              <a:t> (prec 2 ≥ 1): pop </a:t>
            </a:r>
            <a:r>
              <a:rPr sz="2000" b="0">
                <a:solidFill>
                  <a:srgbClr val="A1123F"/>
                </a:solidFill>
                <a:latin typeface="Consolas"/>
              </a:rPr>
              <a:t>*</a:t>
            </a:r>
            <a:r>
              <a:rPr sz="2000" b="0">
                <a:solidFill>
                  <a:srgbClr val="1F2D3A"/>
                </a:solidFill>
              </a:rPr>
              <a:t>→out, push </a:t>
            </a:r>
            <a:r>
              <a:rPr sz="2000" b="0">
                <a:solidFill>
                  <a:srgbClr val="A1123F"/>
                </a:solidFill>
                <a:latin typeface="Consolas"/>
              </a:rPr>
              <a:t>+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→out. Flush </a:t>
            </a:r>
            <a:r>
              <a:rPr sz="2000" b="0">
                <a:solidFill>
                  <a:srgbClr val="A1123F"/>
                </a:solidFill>
                <a:latin typeface="Consolas"/>
              </a:rPr>
              <a:t>+</a:t>
            </a:r>
            <a:r>
              <a:rPr sz="2000" b="0">
                <a:solidFill>
                  <a:srgbClr val="1F2D3A"/>
                </a:solidFill>
              </a:rPr>
              <a:t>. Result: </a:t>
            </a:r>
            <a:r>
              <a:rPr sz="2000" b="0">
                <a:solidFill>
                  <a:srgbClr val="A1123F"/>
                </a:solidFill>
                <a:latin typeface="Consolas"/>
              </a:rPr>
              <a:t>A B * C +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Converting infix to prefix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Reverse</a:t>
            </a:r>
            <a:r>
              <a:rPr sz="2000" b="0">
                <a:solidFill>
                  <a:srgbClr val="1F2D3A"/>
                </a:solidFill>
              </a:rPr>
              <a:t> the input, swapping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(</a:t>
            </a:r>
            <a:r>
              <a:rPr sz="2000" b="0">
                <a:solidFill>
                  <a:srgbClr val="1F2D3A"/>
                </a:solidFill>
              </a:rPr>
              <a:t> ↔ </a:t>
            </a:r>
            <a:r>
              <a:rPr sz="2000" b="0">
                <a:solidFill>
                  <a:srgbClr val="A1123F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Run shunting-yard again, but pop only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waiting operator is </a:t>
            </a:r>
            <a:r>
              <a:rPr sz="2000" b="1">
                <a:solidFill>
                  <a:srgbClr val="1F2D3A"/>
                </a:solidFill>
              </a:rPr>
              <a:t>strictly</a:t>
            </a:r>
            <a:r>
              <a:rPr sz="2000" b="0">
                <a:solidFill>
                  <a:srgbClr val="1F2D3A"/>
                </a:solidFill>
              </a:rPr>
              <a:t> stronger (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</a:t>
            </a:r>
            <a:r>
              <a:rPr sz="2000" b="0">
                <a:solidFill>
                  <a:srgbClr val="1F2D3A"/>
                </a:solidFill>
              </a:rPr>
              <a:t>, not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Reverse</a:t>
            </a:r>
            <a:r>
              <a:rPr sz="2000" b="0">
                <a:solidFill>
                  <a:srgbClr val="1F2D3A"/>
                </a:solidFill>
              </a:rPr>
              <a:t> the result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Converting infix to prefix</a:t>
            </a:r>
          </a:p>
        </p:txBody>
      </p:sp>
      <p:pic>
        <p:nvPicPr>
          <p:cNvPr id="7" name="Picture 6" descr="infix-to-prefix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528" y="1325880"/>
            <a:ext cx="715263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Pitfall — strict </a:t>
            </a:r>
            <a:r>
              <a:rPr sz="3000" b="1">
                <a:solidFill>
                  <a:srgbClr val="2E7D32"/>
                </a:solidFill>
                <a:latin typeface="Consolas"/>
              </a:rPr>
              <a:t>&gt;</a:t>
            </a:r>
            <a:r>
              <a:rPr sz="3000" b="1">
                <a:solidFill>
                  <a:srgbClr val="2E7D32"/>
                </a:solidFill>
              </a:rPr>
              <a:t>, not </a:t>
            </a:r>
            <a:r>
              <a:rPr sz="3000" b="1">
                <a:solidFill>
                  <a:srgbClr val="2E7D32"/>
                </a:solidFill>
                <a:latin typeface="Consolas"/>
              </a:rPr>
              <a:t>&gt;=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Prefix conversion pops only a </a:t>
            </a:r>
            <a:r>
              <a:rPr sz="2000" b="1">
                <a:solidFill>
                  <a:srgbClr val="1F2D3A"/>
                </a:solidFill>
              </a:rPr>
              <a:t>strictly stronger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waiting operator — using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</a:t>
            </a:r>
            <a:r>
              <a:rPr sz="2000" b="0">
                <a:solidFill>
                  <a:srgbClr val="1F2D3A"/>
                </a:solidFill>
              </a:rPr>
              <a:t> breaks the final reversal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to swap </a:t>
            </a:r>
            <a:r>
              <a:rPr sz="2000" b="0">
                <a:solidFill>
                  <a:srgbClr val="A1123F"/>
                </a:solidFill>
                <a:latin typeface="Consolas"/>
              </a:rPr>
              <a:t>(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)</a:t>
            </a:r>
            <a:r>
              <a:rPr sz="2000" b="0">
                <a:solidFill>
                  <a:srgbClr val="1F2D3A"/>
                </a:solidFill>
              </a:rPr>
              <a:t> while reversing breaks grouping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Recursion and the Call Stack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What is recursion — 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fact(n) = n * fact(n - 1)</a:t>
            </a:r>
            <a:r>
              <a:rPr sz="2000" b="0">
                <a:solidFill>
                  <a:srgbClr val="1F2D3A"/>
                </a:solidFill>
              </a:rPr>
              <a:t>, base case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fact(0) 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fact(3) = 3 * (2 * (1 * fact(0))) = 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base case is mandatory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optional — it is what </a:t>
            </a:r>
            <a:r>
              <a:rPr sz="2000" b="1">
                <a:solidFill>
                  <a:srgbClr val="1F2D3A"/>
                </a:solidFill>
              </a:rPr>
              <a:t>stops</a:t>
            </a:r>
            <a:r>
              <a:rPr sz="2000" b="0">
                <a:solidFill>
                  <a:srgbClr val="1F2D3A"/>
                </a:solidFill>
              </a:rPr>
              <a:t> the recursion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Without one: the function calls itself </a:t>
            </a:r>
            <a:r>
              <a:rPr sz="2000" b="1">
                <a:solidFill>
                  <a:srgbClr val="1F2D3A"/>
                </a:solidFill>
              </a:rPr>
              <a:t>forever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"Forever" really means: until memory runs out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simplest recursion: countdown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Print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, recurse on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, until the base case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Base case must be </a:t>
            </a:r>
            <a:r>
              <a:rPr sz="2000" b="0">
                <a:solidFill>
                  <a:srgbClr val="A1123F"/>
                </a:solidFill>
                <a:latin typeface="Consolas"/>
              </a:rPr>
              <a:t>n &lt;= 0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not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== 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 0</a:t>
            </a:r>
            <a:r>
              <a:rPr sz="2000" b="0">
                <a:solidFill>
                  <a:srgbClr val="1F2D3A"/>
                </a:solidFill>
              </a:rPr>
              <a:t> or negative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must stop on the very first call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Recursion: countdown</a:t>
            </a:r>
          </a:p>
        </p:txBody>
      </p:sp>
      <p:pic>
        <p:nvPicPr>
          <p:cNvPr id="7" name="Picture 6" descr="recursion-countdown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4225" y="1325880"/>
            <a:ext cx="458324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Pitfall — the wrong base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n == 0</a:t>
            </a:r>
            <a:r>
              <a:rPr sz="2000" b="0">
                <a:solidFill>
                  <a:srgbClr val="1F2D3A"/>
                </a:solidFill>
              </a:rPr>
              <a:t> only: a negative starting value </a:t>
            </a:r>
            <a:r>
              <a:rPr sz="2000" b="1">
                <a:solidFill>
                  <a:srgbClr val="1F2D3A"/>
                </a:solidFill>
              </a:rPr>
              <a:t>never</a:t>
            </a:r>
            <a:r>
              <a:rPr sz="2000" b="0">
                <a:solidFill>
                  <a:srgbClr val="1F2D3A"/>
                </a:solidFill>
              </a:rPr>
              <a:t> satisfies it — infinite recursion. </a:t>
            </a:r>
            <a:r>
              <a:rPr sz="2000" b="0">
                <a:solidFill>
                  <a:srgbClr val="A1123F"/>
                </a:solidFill>
                <a:latin typeface="Consolas"/>
              </a:rPr>
              <a:t>n &lt;= 0</a:t>
            </a:r>
            <a:r>
              <a:rPr sz="2000" b="0">
                <a:solidFill>
                  <a:srgbClr val="1F2D3A"/>
                </a:solidFill>
              </a:rPr>
              <a:t> fixes it: negative input stops on the very first call.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call stack: recursion is a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function call pushes a </a:t>
            </a:r>
            <a:r>
              <a:rPr sz="2000" b="1">
                <a:solidFill>
                  <a:srgbClr val="1F2D3A"/>
                </a:solidFill>
              </a:rPr>
              <a:t>frame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local variables + the return 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Returning from a function </a:t>
            </a:r>
            <a:r>
              <a:rPr sz="2000" b="1">
                <a:solidFill>
                  <a:srgbClr val="1F2D3A"/>
                </a:solidFill>
              </a:rPr>
              <a:t>pops</a:t>
            </a:r>
            <a:r>
              <a:rPr sz="2000" b="0">
                <a:solidFill>
                  <a:srgbClr val="1F2D3A"/>
                </a:solidFill>
              </a:rPr>
              <a:t> that frame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a genuine </a:t>
            </a:r>
            <a:r>
              <a:rPr sz="2000" b="1">
                <a:solidFill>
                  <a:srgbClr val="1F2D3A"/>
                </a:solidFill>
              </a:rPr>
              <a:t>LIFO stack</a:t>
            </a:r>
            <a:r>
              <a:rPr sz="2000" b="0">
                <a:solidFill>
                  <a:srgbClr val="1F2D3A"/>
                </a:solidFill>
              </a:rPr>
              <a:t>, built into every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running program, whether you write one or not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Recursion and the call stack: fact(n)</a:t>
            </a:r>
          </a:p>
        </p:txBody>
      </p:sp>
      <p:pic>
        <p:nvPicPr>
          <p:cNvPr id="7" name="Picture 6" descr="recursion-call-stack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704" y="1325880"/>
            <a:ext cx="389428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fact()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fact(int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0)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n * fact(n - 1);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Expected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fact(10) = 3628800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fact(n)</a:t>
            </a:r>
            <a:r>
              <a:rPr sz="2000" b="0">
                <a:solidFill>
                  <a:srgbClr val="1F2D3A"/>
                </a:solidFill>
              </a:rPr>
              <a:t> makes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recursive calls: </a:t>
            </a:r>
            <a:r>
              <a:rPr sz="2000" b="1">
                <a:solidFill>
                  <a:srgbClr val="1F2D3A"/>
                </a:solidFill>
              </a:rPr>
              <a:t>O(n) time</a:t>
            </a:r>
            <a:r>
              <a:rPr sz="2000" b="0">
                <a:solidFill>
                  <a:srgbClr val="1F2D3A"/>
                </a:solidFill>
              </a:rPr>
              <a:t>, and — easy to forget — </a:t>
            </a:r>
            <a:r>
              <a:rPr sz="2000" b="1">
                <a:solidFill>
                  <a:srgbClr val="1F2D3A"/>
                </a:solidFill>
              </a:rPr>
              <a:t>O(n) stack space</a:t>
            </a:r>
            <a:r>
              <a:rPr sz="2000" b="0">
                <a:solidFill>
                  <a:srgbClr val="1F2D3A"/>
                </a:solidFill>
              </a:rPr>
              <a:t>, one frame per pending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loop computing the same product uses O(1) space.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Pitfall — silent </a:t>
            </a:r>
            <a:r>
              <a:rPr sz="3000" b="1">
                <a:solidFill>
                  <a:srgbClr val="2E7D32"/>
                </a:solidFill>
                <a:latin typeface="Consolas"/>
              </a:rPr>
              <a:t>int</a:t>
            </a:r>
            <a:r>
              <a:rPr sz="3000" b="1">
                <a:solidFill>
                  <a:srgbClr val="2E7D32"/>
                </a:solidFill>
              </a:rPr>
              <a:t>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13! = 6227020800</a:t>
            </a:r>
            <a:r>
              <a:rPr sz="2000" b="0">
                <a:solidFill>
                  <a:srgbClr val="1F2D3A"/>
                </a:solidFill>
              </a:rPr>
              <a:t> — too big for a 32-bit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 (max </a:t>
            </a:r>
            <a:r>
              <a:rPr sz="2000" b="0">
                <a:solidFill>
                  <a:srgbClr val="A1123F"/>
                </a:solidFill>
                <a:latin typeface="Consolas"/>
              </a:rPr>
              <a:t>2147483647</a:t>
            </a:r>
            <a:r>
              <a:rPr sz="2000" b="0">
                <a:solidFill>
                  <a:srgbClr val="1F2D3A"/>
                </a:solidFill>
              </a:rPr>
              <a:t>). The program does </a:t>
            </a:r>
            <a:r>
              <a:rPr sz="2000" b="1">
                <a:solidFill>
                  <a:srgbClr val="1F2D3A"/>
                </a:solidFill>
              </a:rPr>
              <a:t>not</a:t>
            </a:r>
            <a:r>
              <a:rPr sz="2000" b="0">
                <a:solidFill>
                  <a:srgbClr val="1F2D3A"/>
                </a:solidFill>
              </a:rPr>
              <a:t> crash; it silently wraps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1932053504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Pitfall — missing base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Without a reachable base case, a recursive function pushes a </a:t>
            </a:r>
            <a:r>
              <a:rPr sz="2000" b="1">
                <a:solidFill>
                  <a:srgbClr val="1F2D3A"/>
                </a:solidFill>
              </a:rPr>
              <a:t>new frame every call</a:t>
            </a:r>
            <a:r>
              <a:rPr sz="2000" b="0">
                <a:solidFill>
                  <a:srgbClr val="1F2D3A"/>
                </a:solidFill>
              </a:rPr>
              <a:t>, forever — until the call stack itself overflows.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Pitfall — a problem that doesn't shrink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fact(n)</a:t>
            </a:r>
            <a:r>
              <a:rPr sz="2000" b="0">
                <a:solidFill>
                  <a:srgbClr val="1F2D3A"/>
                </a:solidFill>
              </a:rPr>
              <a:t> calls itself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, strictly smaller. Every recursive call </a:t>
            </a:r>
            <a:r>
              <a:rPr sz="2000" b="1">
                <a:solidFill>
                  <a:srgbClr val="1F2D3A"/>
                </a:solidFill>
              </a:rPr>
              <a:t>must</a:t>
            </a:r>
            <a:r>
              <a:rPr sz="2000" b="0">
                <a:solidFill>
                  <a:srgbClr val="1F2D3A"/>
                </a:solidFill>
              </a:rPr>
              <a:t> move measurably closer to the base case.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fact(3)</a:t>
            </a:r>
            <a:r>
              <a:rPr sz="2000" b="0">
                <a:solidFill>
                  <a:srgbClr val="1F2D3A"/>
                </a:solidFill>
              </a:rPr>
              <a:t> is the original call. How many frames sit on the call stack the instant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fact(0)</a:t>
            </a:r>
            <a:r>
              <a:rPr sz="2000" b="0">
                <a:solidFill>
                  <a:srgbClr val="1F2D3A"/>
                </a:solidFill>
              </a:rPr>
              <a:t> starts?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Four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fact(3)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fact(2)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fact(1)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fact(0)</a:t>
            </a:r>
            <a:r>
              <a:rPr sz="2000" b="0">
                <a:solidFill>
                  <a:srgbClr val="1F2D3A"/>
                </a:solidFill>
              </a:rPr>
              <a:t>, each still waiting for the one below it to return.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If the base case were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(n == 1) return 1;</a:t>
            </a:r>
            <a:r>
              <a:rPr sz="2000" b="0">
                <a:solidFill>
                  <a:srgbClr val="1F2D3A"/>
                </a:solidFill>
              </a:rPr>
              <a:t> and someone called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fact(-1)</a:t>
            </a:r>
            <a:r>
              <a:rPr sz="2000" b="0">
                <a:solidFill>
                  <a:srgbClr val="1F2D3A"/>
                </a:solidFill>
              </a:rPr>
              <a:t>, what happens?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never equals 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; the function recurses on </a:t>
            </a:r>
            <a:r>
              <a:rPr sz="2000" b="0">
                <a:solidFill>
                  <a:srgbClr val="A1123F"/>
                </a:solidFill>
                <a:latin typeface="Consolas"/>
              </a:rPr>
              <a:t>-2, -3, -4, ...</a:t>
            </a:r>
            <a:r>
              <a:rPr sz="2000" b="0">
                <a:solidFill>
                  <a:srgbClr val="1F2D3A"/>
                </a:solidFill>
              </a:rPr>
              <a:t> forever, eventually </a:t>
            </a:r>
            <a:r>
              <a:rPr sz="2000" b="1">
                <a:solidFill>
                  <a:srgbClr val="1F2D3A"/>
                </a:solidFill>
              </a:rPr>
              <a:t>overflowing the call stack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The Tower of Hanoi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puzzle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Three rods; disks stacked large-to-small on rod 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Move the whole stack to rod C, one disk at a time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Never place a larger disk on a smaller 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Invented by </a:t>
            </a:r>
            <a:r>
              <a:rPr sz="2000" b="1">
                <a:solidFill>
                  <a:srgbClr val="1F2D3A"/>
                </a:solidFill>
              </a:rPr>
              <a:t>Édouard Lucas</a:t>
            </a:r>
            <a:r>
              <a:rPr sz="2000" b="0">
                <a:solidFill>
                  <a:srgbClr val="1F2D3A"/>
                </a:solidFill>
              </a:rPr>
              <a:t>, 1883 (monks legend)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recursive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To move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disks from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from</a:t>
            </a:r>
            <a:r>
              <a:rPr sz="2000" b="0">
                <a:solidFill>
                  <a:srgbClr val="1F2D3A"/>
                </a:solidFill>
              </a:rPr>
              <a:t>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to</a:t>
            </a:r>
            <a:r>
              <a:rPr sz="2000" b="0">
                <a:solidFill>
                  <a:srgbClr val="1F2D3A"/>
                </a:solidFill>
              </a:rPr>
              <a:t>, via </a:t>
            </a:r>
            <a:r>
              <a:rPr sz="2000" b="0">
                <a:solidFill>
                  <a:srgbClr val="A1123F"/>
                </a:solidFill>
                <a:latin typeface="Consolas"/>
              </a:rPr>
              <a:t>via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Move top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 disks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via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Move the largest disk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to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Move the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 disks from </a:t>
            </a:r>
            <a:r>
              <a:rPr sz="2000" b="0">
                <a:solidFill>
                  <a:srgbClr val="A1123F"/>
                </a:solidFill>
                <a:latin typeface="Consolas"/>
              </a:rPr>
              <a:t>via</a:t>
            </a:r>
            <a:r>
              <a:rPr sz="2000" b="0">
                <a:solidFill>
                  <a:srgbClr val="1F2D3A"/>
                </a:solidFill>
              </a:rPr>
              <a:t> onto it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Tower of Hanoi</a:t>
            </a:r>
          </a:p>
        </p:txBody>
      </p:sp>
      <p:pic>
        <p:nvPicPr>
          <p:cNvPr id="7" name="Picture 6" descr="tower-of-hanoi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2843" y="1325880"/>
            <a:ext cx="688600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hanoi()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hanoi(int n, char from, char to, char via)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0) return;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hanoi(n - 1, from, via, to);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move_disk(n, from, to);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hanoi(n - 1, via, to, from);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Expected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move 1: disk 1 from A to 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move 2: disk 2 from A to 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move 3: disk 1 from B to 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move 4: disk 3 from A to 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total moves = 15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T(n) = 2*T(n-1) + 1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T(0) = 0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T(n) = 2ⁿ - 1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1">
                <a:solidFill>
                  <a:srgbClr val="1F2D3A"/>
                </a:solidFill>
              </a:rPr>
              <a:t>exponential</a:t>
            </a:r>
            <a:r>
              <a:rPr sz="2000" b="0">
                <a:solidFill>
                  <a:srgbClr val="1F2D3A"/>
                </a:solidFill>
              </a:rPr>
              <a:t>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n = 4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2⁴ - 1 = 15</a:t>
            </a:r>
            <a:r>
              <a:rPr sz="2000" b="0">
                <a:solidFill>
                  <a:srgbClr val="1F2D3A"/>
                </a:solidFill>
              </a:rPr>
              <a:t>, matching the program above.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legend's 64 disks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2⁶⁴ - 1 ≈ 1.8 × 10¹⁹</a:t>
            </a:r>
            <a:r>
              <a:rPr sz="2000" b="0">
                <a:solidFill>
                  <a:srgbClr val="1F2D3A"/>
                </a:solidFill>
              </a:rPr>
              <a:t> moves.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At one move per second: </a:t>
            </a:r>
            <a:r>
              <a:rPr sz="2000" b="1">
                <a:solidFill>
                  <a:srgbClr val="1F2D3A"/>
                </a:solidFill>
              </a:rPr>
              <a:t>~585 billion years</a:t>
            </a:r>
            <a:r>
              <a:rPr sz="2000" b="0">
                <a:solidFill>
                  <a:srgbClr val="1F2D3A"/>
                </a:solidFill>
              </a:rPr>
              <a:t> — tens of times the current age of the universe.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Looking further ahead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"Solve a smaller version, then combine" is exactly how </a:t>
            </a:r>
            <a:r>
              <a:rPr sz="2000" b="1">
                <a:solidFill>
                  <a:srgbClr val="1F2D3A"/>
                </a:solidFill>
              </a:rPr>
              <a:t>depth-first search (DFS)</a:t>
            </a:r>
            <a:r>
              <a:rPr sz="2000" b="0">
                <a:solidFill>
                  <a:srgbClr val="1F2D3A"/>
                </a:solidFill>
              </a:rPr>
              <a:t> explores a tree or graph, coming in the next two weeks.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How many moves does a 5-disk Tower of Hanoi need?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2⁵ - 1 = 31</a:t>
            </a:r>
            <a:r>
              <a:rPr sz="2000" b="0">
                <a:solidFill>
                  <a:srgbClr val="1F2D3A"/>
                </a:solidFill>
              </a:rPr>
              <a:t> moves.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</a:t>
            </a:r>
            <a:r>
              <a:rPr sz="2000" b="0">
                <a:solidFill>
                  <a:srgbClr val="A1123F"/>
                </a:solidFill>
                <a:latin typeface="Consolas"/>
              </a:rPr>
              <a:t>hanoi(n - 1, from, via, to)</a:t>
            </a:r>
            <a:r>
              <a:rPr sz="2000" b="0">
                <a:solidFill>
                  <a:srgbClr val="1F2D3A"/>
                </a:solidFill>
              </a:rPr>
              <a:t>, why are the last two arguments swapped vs. the outer call?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For moving the top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 disks out of the way, the </a:t>
            </a:r>
            <a:r>
              <a:rPr sz="2000" b="0" i="1">
                <a:solidFill>
                  <a:srgbClr val="1F2D3A"/>
                </a:solidFill>
              </a:rPr>
              <a:t>destination</a:t>
            </a:r>
            <a:r>
              <a:rPr sz="2000" b="0">
                <a:solidFill>
                  <a:srgbClr val="1F2D3A"/>
                </a:solidFill>
              </a:rPr>
              <a:t> is the spare rod, and the </a:t>
            </a:r>
            <a:r>
              <a:rPr sz="2000" b="0" i="1">
                <a:solidFill>
                  <a:srgbClr val="1F2D3A"/>
                </a:solidFill>
              </a:rPr>
              <a:t>spare</a:t>
            </a:r>
            <a:r>
              <a:rPr sz="2000" b="0">
                <a:solidFill>
                  <a:srgbClr val="1F2D3A"/>
                </a:solidFill>
              </a:rPr>
              <a:t> is the original destination — roles rotate at every level of recursion.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The Queue: First In, First Out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Intuition — a waiting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checkout line, a print queue, a web request queue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New arrivals join at the </a:t>
            </a:r>
            <a:r>
              <a:rPr sz="2000" b="1">
                <a:solidFill>
                  <a:srgbClr val="1F2D3A"/>
                </a:solidFill>
              </a:rPr>
              <a:t>back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longest-waiting item leaves from the </a:t>
            </a:r>
            <a:r>
              <a:rPr sz="2000" b="1">
                <a:solidFill>
                  <a:srgbClr val="1F2D3A"/>
                </a:solidFill>
              </a:rPr>
              <a:t>front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FIFO — the mirror of LIFO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First In, First Out.</a:t>
            </a:r>
            <a:r>
              <a:rPr sz="2000" b="0">
                <a:solidFill>
                  <a:srgbClr val="1F2D3A"/>
                </a:solidFill>
              </a:rPr>
              <a:t> Same two underlying operations as a stack, different names, and now they touch </a:t>
            </a:r>
            <a:r>
              <a:rPr sz="2000" b="1">
                <a:solidFill>
                  <a:srgbClr val="1F2D3A"/>
                </a:solidFill>
              </a:rPr>
              <a:t>different ends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Queue ADT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7794"/>
                <a:gridCol w="3637178"/>
                <a:gridCol w="2909742"/>
                <a:gridCol w="203681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Operation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Precondition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enqueue(x)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Add at the back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not full (array)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dequeue()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Remove/return front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not empty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peek()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Return front, keep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not empty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isEmpty()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zero elements?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Array queue — 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Keep two indices: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 (oldest)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(newest)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enqueue</a:t>
            </a:r>
            <a:r>
              <a:rPr sz="2000" b="0">
                <a:solidFill>
                  <a:srgbClr val="1F2D3A"/>
                </a:solidFill>
              </a:rPr>
              <a:t>: advance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, write there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dequeue</a:t>
            </a:r>
            <a:r>
              <a:rPr sz="2000" b="0">
                <a:solidFill>
                  <a:srgbClr val="1F2D3A"/>
                </a:solidFill>
              </a:rPr>
              <a:t>: read at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, advance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elements shifted — but watch the space at index 0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Queue in a plain array</a:t>
            </a:r>
          </a:p>
        </p:txBody>
      </p:sp>
      <p:pic>
        <p:nvPicPr>
          <p:cNvPr id="7" name="Picture 6" descr="array-queue-drif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463809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enqueue()/dequeue() (naive)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enqueue(int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(rear == CAP - 1)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q[++rear] =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dequeue(int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(front &gt; rear)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 = q[front++];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Expected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enqueue(5,12,7,19,3,27,14,8): front=0, rear=7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dequeue() x3:    front=3, rear=7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enqueue(99) -&gt; false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enqueue(42) -&gt; false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Pitfall — the drift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only ever moves </a:t>
            </a:r>
            <a:r>
              <a:rPr sz="2000" b="1">
                <a:solidFill>
                  <a:srgbClr val="1F2D3A"/>
                </a:solidFill>
              </a:rPr>
              <a:t>forward</a:t>
            </a:r>
            <a:r>
              <a:rPr sz="2000" b="0">
                <a:solidFill>
                  <a:srgbClr val="1F2D3A"/>
                </a:solidFill>
              </a:rPr>
              <a:t>. The queue reports "full" while cells sit empty at the front — it has </a:t>
            </a:r>
            <a:r>
              <a:rPr sz="2000" b="1">
                <a:solidFill>
                  <a:srgbClr val="1F2D3A"/>
                </a:solidFill>
              </a:rPr>
              <a:t>drifted</a:t>
            </a:r>
            <a:r>
              <a:rPr sz="2000" b="0">
                <a:solidFill>
                  <a:srgbClr val="1F2D3A"/>
                </a:solidFill>
              </a:rPr>
              <a:t> off the array.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this queue say "full" even with three empty cells at the beginning?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enqueue</a:t>
            </a:r>
            <a:r>
              <a:rPr sz="2000" b="0">
                <a:solidFill>
                  <a:srgbClr val="1F2D3A"/>
                </a:solidFill>
              </a:rPr>
              <a:t> only checks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 == CAP - 1</a:t>
            </a:r>
            <a:r>
              <a:rPr sz="2000" b="0">
                <a:solidFill>
                  <a:srgbClr val="1F2D3A"/>
                </a:solidFill>
              </a:rPr>
              <a:t>; it never looks at whether cells before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 are free. The real fix is next: think of the array as a </a:t>
            </a:r>
            <a:r>
              <a:rPr sz="2000" b="1">
                <a:solidFill>
                  <a:srgbClr val="1F2D3A"/>
                </a:solidFill>
              </a:rPr>
              <a:t>ring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circular queue — think 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After the last index comes the first one again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(index + 1) % CAP</a:t>
            </a:r>
            <a:r>
              <a:rPr sz="2000" b="0">
                <a:solidFill>
                  <a:srgbClr val="1F2D3A"/>
                </a:solidFill>
              </a:rPr>
              <a:t> walks forward, wraps around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 == rear</a:t>
            </a:r>
            <a:r>
              <a:rPr sz="2000" b="0">
                <a:solidFill>
                  <a:srgbClr val="1F2D3A"/>
                </a:solidFill>
              </a:rPr>
              <a:t> is now ambiguous (empty? full?)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Keep one more field, </a:t>
            </a:r>
            <a:r>
              <a:rPr sz="2000" b="0">
                <a:solidFill>
                  <a:srgbClr val="A1123F"/>
                </a:solidFill>
                <a:latin typeface="Consolas"/>
              </a:rPr>
              <a:t>count</a:t>
            </a:r>
            <a:r>
              <a:rPr sz="2000" b="0">
                <a:solidFill>
                  <a:srgbClr val="1F2D3A"/>
                </a:solidFill>
              </a:rPr>
              <a:t>, to resolve it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Circular queue</a:t>
            </a:r>
          </a:p>
        </p:txBody>
      </p:sp>
      <p:pic>
        <p:nvPicPr>
          <p:cNvPr id="7" name="Picture 6" descr="circular-queu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771" y="1325880"/>
            <a:ext cx="548215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enqueue() (circular)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enqueue(int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(count == CAP)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rear = (rear + 1) % CAP;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q[rear] =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dequeue() (circular)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dequeue(int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(count == 0)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 = q[front];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front = (front + 1) % CAP;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count--;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Why we also need </a:t>
            </a:r>
            <a:r>
              <a:rPr sz="3000" b="1">
                <a:solidFill>
                  <a:srgbClr val="2E7D32"/>
                </a:solidFill>
                <a:latin typeface="Consolas"/>
              </a:rPr>
              <a:t>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front == rear</a:t>
            </a:r>
            <a:r>
              <a:rPr sz="2000" b="0">
                <a:solidFill>
                  <a:srgbClr val="1F2D3A"/>
                </a:solidFill>
              </a:rPr>
              <a:t> could mean "one element", "empty", </a:t>
            </a:r>
            <a:r>
              <a:rPr sz="2000" b="1">
                <a:solidFill>
                  <a:srgbClr val="1F2D3A"/>
                </a:solidFill>
              </a:rPr>
              <a:t>or</a:t>
            </a:r>
            <a:r>
              <a:rPr sz="2000" b="0">
                <a:solidFill>
                  <a:srgbClr val="1F2D3A"/>
                </a:solidFill>
              </a:rPr>
              <a:t> "completely full" — a plain index comparison can no longer tell these apart.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— still O(1), no drift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All five cells are used before the queue reports "full". The drift problem is completely gone, and every operation is still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 (circular queue)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 == rear</a:t>
            </a:r>
            <a:r>
              <a:rPr sz="2000" b="0">
                <a:solidFill>
                  <a:srgbClr val="1F2D3A"/>
                </a:solidFill>
              </a:rPr>
              <a:t> alone to mean "empty"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the modulo on </a:t>
            </a:r>
            <a:r>
              <a:rPr sz="2000" b="1">
                <a:solidFill>
                  <a:srgbClr val="1F2D3A"/>
                </a:solidFill>
              </a:rPr>
              <a:t>one</a:t>
            </a:r>
            <a:r>
              <a:rPr sz="2000" b="0">
                <a:solidFill>
                  <a:srgbClr val="1F2D3A"/>
                </a:solidFill>
              </a:rPr>
              <a:t> of the two indices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Either mistake corrupts the ring after one wrap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After </a:t>
            </a:r>
            <a:r>
              <a:rPr sz="2000" b="0">
                <a:solidFill>
                  <a:srgbClr val="A1123F"/>
                </a:solidFill>
                <a:latin typeface="Consolas"/>
              </a:rPr>
              <a:t>count</a:t>
            </a:r>
            <a:r>
              <a:rPr sz="2000" b="0">
                <a:solidFill>
                  <a:srgbClr val="1F2D3A"/>
                </a:solidFill>
              </a:rPr>
              <a:t> reaches </a:t>
            </a:r>
            <a:r>
              <a:rPr sz="2000" b="0">
                <a:solidFill>
                  <a:srgbClr val="A1123F"/>
                </a:solidFill>
                <a:latin typeface="Consolas"/>
              </a:rPr>
              <a:t>CAP</a:t>
            </a:r>
            <a:r>
              <a:rPr sz="2000" b="0">
                <a:solidFill>
                  <a:srgbClr val="1F2D3A"/>
                </a:solidFill>
              </a:rPr>
              <a:t>, what does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 == rear</a:t>
            </a:r>
            <a:r>
              <a:rPr sz="2000" b="0">
                <a:solidFill>
                  <a:srgbClr val="1F2D3A"/>
                </a:solidFill>
              </a:rPr>
              <a:t> mean now, vs. when empty?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Both states can show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 == rear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`count`</a:t>
            </a:r>
            <a:r>
              <a:rPr sz="2000" b="0">
                <a:solidFill>
                  <a:srgbClr val="1F2D3A"/>
                </a:solidFill>
              </a:rPr>
              <a:t> is exactly what tells them apart, since the indices alone are ambiguous.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queue that never overflows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Linked-list queue: one node per element, no </a:t>
            </a:r>
            <a:r>
              <a:rPr sz="2000" b="0">
                <a:solidFill>
                  <a:srgbClr val="A1123F"/>
                </a:solidFill>
                <a:latin typeface="Consolas"/>
              </a:rPr>
              <a:t>CAP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Needs </a:t>
            </a:r>
            <a:r>
              <a:rPr sz="2000" b="1">
                <a:solidFill>
                  <a:srgbClr val="1F2D3A"/>
                </a:solidFill>
              </a:rPr>
              <a:t>two</a:t>
            </a:r>
            <a:r>
              <a:rPr sz="2000" b="0">
                <a:solidFill>
                  <a:srgbClr val="1F2D3A"/>
                </a:solidFill>
              </a:rPr>
              <a:t> pointers: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 (remove),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(add) — so both stay O(1)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Without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enqueue</a:t>
            </a:r>
            <a:r>
              <a:rPr sz="2000" b="0">
                <a:solidFill>
                  <a:srgbClr val="1F2D3A"/>
                </a:solidFill>
              </a:rPr>
              <a:t> would walk the whole list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Linked-list queue</a:t>
            </a:r>
          </a:p>
        </p:txBody>
      </p:sp>
      <p:pic>
        <p:nvPicPr>
          <p:cNvPr id="7" name="Picture 6" descr="linked-queu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52214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enqueue() (linked)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enqueue(int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QNode *n = malloc(sizeof(QNode));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n-&gt;data = x; n-&gt;next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(rear == NULL)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front = rear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rear-&gt;next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rear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dequeue() (linked)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dequeue(int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(front == NULL)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QNode *tmp = front;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 = tmp-&gt;data;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front = front-&gt;next;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(front == NULL) rear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free(tmp);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 (linked queue)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to reset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when empty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Updating only one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with one node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Both lead to a </a:t>
            </a:r>
            <a:r>
              <a:rPr sz="2000" b="1">
                <a:solidFill>
                  <a:srgbClr val="1F2D3A"/>
                </a:solidFill>
              </a:rPr>
              <a:t>dangling pointer</a:t>
            </a:r>
            <a:r>
              <a:rPr sz="2000" b="0">
                <a:solidFill>
                  <a:srgbClr val="1F2D3A"/>
                </a:solidFill>
              </a:rPr>
              <a:t> on the next enqueue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the linked queue need a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pointer, while the linked stack does not?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stack adds/removes at the </a:t>
            </a:r>
            <a:r>
              <a:rPr sz="2000" b="1">
                <a:solidFill>
                  <a:srgbClr val="1F2D3A"/>
                </a:solidFill>
              </a:rPr>
              <a:t>same</a:t>
            </a:r>
            <a:r>
              <a:rPr sz="2000" b="0">
                <a:solidFill>
                  <a:srgbClr val="1F2D3A"/>
                </a:solidFill>
              </a:rPr>
              <a:t> end (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) — one pointer suffices. The queue adds at one end, removes at the other — it needs a pointer to </a:t>
            </a:r>
            <a:r>
              <a:rPr sz="2000" b="1">
                <a:solidFill>
                  <a:srgbClr val="1F2D3A"/>
                </a:solidFill>
              </a:rPr>
              <a:t>each</a:t>
            </a:r>
            <a:r>
              <a:rPr sz="2000" b="0">
                <a:solidFill>
                  <a:srgbClr val="1F2D3A"/>
                </a:solidFill>
              </a:rPr>
              <a:t> end to stay O(1).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deque — both 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deque</a:t>
            </a:r>
            <a:r>
              <a:rPr sz="2000" b="0">
                <a:solidFill>
                  <a:srgbClr val="1F2D3A"/>
                </a:solidFill>
              </a:rPr>
              <a:t> (double-ended queue) drops the "one end only" rule: it allows push/pop at </a:t>
            </a:r>
            <a:r>
              <a:rPr sz="2000" b="1">
                <a:solidFill>
                  <a:srgbClr val="1F2D3A"/>
                </a:solidFill>
              </a:rPr>
              <a:t>both</a:t>
            </a:r>
            <a:r>
              <a:rPr sz="2000" b="0">
                <a:solidFill>
                  <a:srgbClr val="1F2D3A"/>
                </a:solidFill>
              </a:rPr>
              <a:t> the front and the back.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Deque ADT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3637178"/>
                <a:gridCol w="254602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Operation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push_back(x)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Add at the back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push_front(x)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Add at the front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pop_back()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Remove the back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pop_front()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Remove the front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Double-ended queue (deque)</a:t>
            </a:r>
          </a:p>
        </p:txBody>
      </p:sp>
      <p:pic>
        <p:nvPicPr>
          <p:cNvPr id="7" name="Picture 6" descr="dequ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463809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push_back()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push_back(Deque *d, 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DNode *n = malloc(sizeof(DNode));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n-&gt;data =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n-&gt;next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n-&gt;prev = d-&gt;back;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(d-&gt;back != NULL)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d-&gt;back-&gt;next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d-&gt;front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d-&gt;back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pop_back()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pop_back(Deque *d)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(d-&gt;back == NULL)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DNode *tmp = d-&gt;back;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d-&gt;back = tmp-&gt;prev;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(d-&gt;back != NULL)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d-&gt;back-&gt;next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d-&gt;front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free(tmp);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Note — a deque can be a stack or a queue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Only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push_back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pop_back</a:t>
            </a:r>
            <a:r>
              <a:rPr sz="2000" b="0">
                <a:solidFill>
                  <a:srgbClr val="1F2D3A"/>
                </a:solidFill>
              </a:rPr>
              <a:t> → behaves like a </a:t>
            </a:r>
            <a:r>
              <a:rPr sz="2000" b="1">
                <a:solidFill>
                  <a:srgbClr val="1F2D3A"/>
                </a:solidFill>
              </a:rPr>
              <a:t>stack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Only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push_back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pop_front</a:t>
            </a:r>
            <a:r>
              <a:rPr sz="2000" b="0">
                <a:solidFill>
                  <a:srgbClr val="1F2D3A"/>
                </a:solidFill>
              </a:rPr>
              <a:t> → behaves like a </a:t>
            </a:r>
            <a:r>
              <a:rPr sz="2000" b="1">
                <a:solidFill>
                  <a:srgbClr val="1F2D3A"/>
                </a:solidFill>
              </a:rPr>
              <a:t>queue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Java's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ArrayDeque</a:t>
            </a:r>
            <a:r>
              <a:rPr sz="2000" b="0">
                <a:solidFill>
                  <a:srgbClr val="1F2D3A"/>
                </a:solidFill>
              </a:rPr>
              <a:t> is recommended as a faster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general replacement for both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Empty deque: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push_front(1)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push_back(2)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push_front(3)</a:t>
            </a:r>
            <a:r>
              <a:rPr sz="2000" b="0">
                <a:solidFill>
                  <a:srgbClr val="1F2D3A"/>
                </a:solidFill>
              </a:rPr>
              <a:t>. Front to back — what is it?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3 1 2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push_front(1)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[1]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push_back(2)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[1, 2]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push_front(3)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[3, 1, 2]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multilevel queue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Real schedulers rarely treat all work equally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OS scheduler: keeps </a:t>
            </a:r>
            <a:r>
              <a:rPr sz="2000" b="1">
                <a:solidFill>
                  <a:srgbClr val="1F2D3A"/>
                </a:solidFill>
              </a:rPr>
              <a:t>several</a:t>
            </a:r>
            <a:r>
              <a:rPr sz="2000" b="0">
                <a:solidFill>
                  <a:srgbClr val="1F2D3A"/>
                </a:solidFill>
              </a:rPr>
              <a:t> FIFO queues at once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Interactive first, then background, then batch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level is an </a:t>
            </a:r>
            <a:r>
              <a:rPr sz="2000" b="1">
                <a:solidFill>
                  <a:srgbClr val="1F2D3A"/>
                </a:solidFill>
              </a:rPr>
              <a:t>ordinary queue</a:t>
            </a:r>
            <a:r>
              <a:rPr sz="2000" b="0">
                <a:solidFill>
                  <a:srgbClr val="1F2D3A"/>
                </a:solidFill>
              </a:rPr>
              <a:t>; a policy picks one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Multilevel queue — levels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09249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7"/>
                <a:gridCol w="2909742"/>
                <a:gridCol w="218230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Level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Kind of work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Queue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Interactive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Highest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Queue 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Background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Queue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Lowest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Multilevel queue scheduling</a:t>
            </a:r>
          </a:p>
        </p:txBody>
      </p:sp>
      <p:pic>
        <p:nvPicPr>
          <p:cNvPr id="7" name="Picture 6" descr="multilevel-queu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5549" y="1325880"/>
            <a:ext cx="622059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Pitfall — starvation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One early </a:t>
            </a:r>
            <a:r>
              <a:rPr sz="2000" b="1">
                <a:solidFill>
                  <a:srgbClr val="1F2D3A"/>
                </a:solidFill>
              </a:rPr>
              <a:t>batch</a:t>
            </a:r>
            <a:r>
              <a:rPr sz="2000" b="0">
                <a:solidFill>
                  <a:srgbClr val="1F2D3A"/>
                </a:solidFill>
              </a:rPr>
              <a:t> process among nine system/interactive ones is served </a:t>
            </a:r>
            <a:r>
              <a:rPr sz="2000" b="1">
                <a:solidFill>
                  <a:srgbClr val="1F2D3A"/>
                </a:solidFill>
              </a:rPr>
              <a:t>last</a:t>
            </a:r>
            <a:r>
              <a:rPr sz="2000" b="0">
                <a:solidFill>
                  <a:srgbClr val="1F2D3A"/>
                </a:solidFill>
              </a:rPr>
              <a:t> — plain priority order alone cannot prevent starvation.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Quick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is a multilevel queue not, strictly speaking, a new data structure?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Each level is an </a:t>
            </a:r>
            <a:r>
              <a:rPr sz="2000" b="1">
                <a:solidFill>
                  <a:srgbClr val="1F2D3A"/>
                </a:solidFill>
              </a:rPr>
              <a:t>ordinary queue</a:t>
            </a:r>
            <a:r>
              <a:rPr sz="2000" b="0">
                <a:solidFill>
                  <a:srgbClr val="1F2D3A"/>
                </a:solidFill>
              </a:rPr>
              <a:t>; "multilevel" describes a </a:t>
            </a:r>
            <a:r>
              <a:rPr sz="2000" b="0" i="1">
                <a:solidFill>
                  <a:srgbClr val="1F2D3A"/>
                </a:solidFill>
              </a:rPr>
              <a:t>scheduling policy</a:t>
            </a:r>
            <a:r>
              <a:rPr sz="2000" b="0">
                <a:solidFill>
                  <a:srgbClr val="1F2D3A"/>
                </a:solidFill>
              </a:rPr>
              <a:t> for choosing among several existing queues — not a new way to store data.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Summary — stack-based structures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211"/>
                <a:gridCol w="1265105"/>
                <a:gridCol w="3162763"/>
                <a:gridCol w="395345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Add/remove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Typical use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Array stack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LIFO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O(1), fixed cap.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Small, bounded stacks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Linked stack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LIFO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O(1), unbounded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Unpredictable size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Call stack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LIFO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Automatic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Every running program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Summary — queue-based structures (I)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27480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4"/>
                <a:gridCol w="1454871"/>
                <a:gridCol w="3637178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Add/remove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Array queue (naive)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FIFO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O(1), but drifts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Circular queue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FIFO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O(1), no drift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Linked-list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FIFO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O(1), unbounded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Summary — queue-based structures (II)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3782665"/>
                <a:gridCol w="4219126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Typical use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Both ends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Sliding window, undo/redo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Multilevel queue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Several FIFOs + policy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OS scheduling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Summary — stack applications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672"/>
                <a:gridCol w="3682643"/>
                <a:gridCol w="422821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Application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Key idea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Balanced brackets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Most recent, first 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Postfix evaluation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Stack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Pop two, apply, push result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Infix → postfix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Operator stack + output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Resolve precedence 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Tower of Hanoi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Call stack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Solve n-1, act, solve n-1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big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One rule — </a:t>
            </a:r>
            <a:r>
              <a:rPr sz="2000" b="1">
                <a:solidFill>
                  <a:srgbClr val="1F2D3A"/>
                </a:solidFill>
              </a:rPr>
              <a:t>which end(s) you may touch</a:t>
            </a:r>
            <a:r>
              <a:rPr sz="2000" b="0">
                <a:solidFill>
                  <a:srgbClr val="1F2D3A"/>
                </a:solidFill>
              </a:rPr>
              <a:t> — separates every structure in this lecture: one end (stack), two ends (queue/deque), or several parallel queues (multilevel).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Exercises for all of today's topics are in the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week notes: </a:t>
            </a:r>
            <a:r>
              <a:rPr sz="2000" b="0">
                <a:solidFill>
                  <a:srgbClr val="A1123F"/>
                </a:solidFill>
                <a:latin typeface="Consolas"/>
              </a:rPr>
              <a:t>docs/week-3/cen207-week-3.en.md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Peek, unbalanced-parens detection, prefix-free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infix-to-prefix, count-free circular queue, palindrome check, fairer multilevel scheduling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Self-check 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Ten short questions. Think before the answer appears on the next slide.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1. What does LIFO stand for?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Last In, First Out — the stack.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2. What does FIFO stand for?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First In, First Out — the queue.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3. Why does array </a:t>
            </a:r>
            <a:r>
              <a:rPr sz="3000" b="1">
                <a:solidFill>
                  <a:srgbClr val="2E7D32"/>
                </a:solidFill>
                <a:latin typeface="Consolas"/>
              </a:rPr>
              <a:t>push</a:t>
            </a:r>
            <a:r>
              <a:rPr sz="3000" b="1">
                <a:solidFill>
                  <a:srgbClr val="2E7D32"/>
                </a:solidFill>
              </a:rPr>
              <a:t> check </a:t>
            </a:r>
            <a:r>
              <a:rPr sz="3000" b="1">
                <a:solidFill>
                  <a:srgbClr val="2E7D32"/>
                </a:solidFill>
                <a:latin typeface="Consolas"/>
              </a:rPr>
              <a:t>top == CAP - 1</a:t>
            </a:r>
            <a:r>
              <a:rPr sz="3000" b="1">
                <a:solidFill>
                  <a:srgbClr val="2E7D32"/>
                </a:solidFill>
              </a:rPr>
              <a:t>, not </a:t>
            </a:r>
            <a:r>
              <a:rPr sz="3000" b="1">
                <a:solidFill>
                  <a:srgbClr val="2E7D32"/>
                </a:solidFill>
                <a:latin typeface="Consolas"/>
              </a:rPr>
              <a:t>top == CAP</a:t>
            </a:r>
            <a:r>
              <a:rPr sz="3000" b="1">
                <a:solidFill>
                  <a:srgbClr val="2E7D32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Valid indices run 0..CAP-1; the stack is full the moment </a:t>
            </a:r>
            <a:r>
              <a:rPr sz="3000" b="1">
                <a:solidFill>
                  <a:srgbClr val="2E7D32"/>
                </a:solidFill>
                <a:latin typeface="Consolas"/>
              </a:rPr>
              <a:t>top</a:t>
            </a:r>
            <a:r>
              <a:rPr sz="3000" b="1">
                <a:solidFill>
                  <a:srgbClr val="2E7D32"/>
                </a:solidFill>
              </a:rPr>
              <a:t> reaches CAP-1.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4. In postfix evaluation, which operand is popped first?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right-hand operand — it was pushed most recently.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5. Why does a plain array queue eventually report "full" even with empty cells at the front?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  <a:latin typeface="Consolas"/>
              </a:rPr>
              <a:t>rear</a:t>
            </a:r>
            <a:r>
              <a:rPr sz="3000" b="1">
                <a:solidFill>
                  <a:srgbClr val="2E7D32"/>
                </a:solidFill>
              </a:rPr>
              <a:t> only increases and never reuses cells </a:t>
            </a:r>
            <a:r>
              <a:rPr sz="3000" b="1">
                <a:solidFill>
                  <a:srgbClr val="2E7D32"/>
                </a:solidFill>
                <a:latin typeface="Consolas"/>
              </a:rPr>
              <a:t>dequeue</a:t>
            </a:r>
            <a:r>
              <a:rPr sz="3000" b="1">
                <a:solidFill>
                  <a:srgbClr val="2E7D32"/>
                </a:solidFill>
              </a:rPr>
              <a:t> frees near the front.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6. What extra state does a circular queue need beyond </a:t>
            </a:r>
            <a:r>
              <a:rPr sz="3000" b="1">
                <a:solidFill>
                  <a:srgbClr val="2E7D32"/>
                </a:solidFill>
                <a:latin typeface="Consolas"/>
              </a:rPr>
              <a:t>front</a:t>
            </a:r>
            <a:r>
              <a:rPr sz="3000" b="1">
                <a:solidFill>
                  <a:srgbClr val="2E7D32"/>
                </a:solidFill>
              </a:rPr>
              <a:t>/</a:t>
            </a:r>
            <a:r>
              <a:rPr sz="3000" b="1">
                <a:solidFill>
                  <a:srgbClr val="2E7D32"/>
                </a:solidFill>
                <a:latin typeface="Consolas"/>
              </a:rPr>
              <a:t>rear</a:t>
            </a:r>
            <a:r>
              <a:rPr sz="3000" b="1">
                <a:solidFill>
                  <a:srgbClr val="2E7D32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</a:t>
            </a:r>
            <a:r>
              <a:rPr sz="3000" b="1">
                <a:solidFill>
                  <a:srgbClr val="2E7D32"/>
                </a:solidFill>
                <a:latin typeface="Consolas"/>
              </a:rPr>
              <a:t>count</a:t>
            </a:r>
            <a:r>
              <a:rPr sz="3000" b="1">
                <a:solidFill>
                  <a:srgbClr val="2E7D32"/>
                </a:solidFill>
              </a:rPr>
              <a:t> of current elements — indices alone cannot tell empty from full.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7. What is the base case of </a:t>
            </a:r>
            <a:r>
              <a:rPr sz="3000" b="1">
                <a:solidFill>
                  <a:srgbClr val="2E7D32"/>
                </a:solidFill>
                <a:latin typeface="Consolas"/>
              </a:rPr>
              <a:t>fact(n) = n * fact(n - 1)</a:t>
            </a:r>
            <a:r>
              <a:rPr sz="3000" b="1">
                <a:solidFill>
                  <a:srgbClr val="2E7D32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  <a:latin typeface="Consolas"/>
              </a:rPr>
              <a:t>fact(0) = 1</a:t>
            </a:r>
            <a:r>
              <a:rPr sz="3000" b="1">
                <a:solidFill>
                  <a:srgbClr val="2E7D32"/>
                </a:solidFill>
              </a:rPr>
              <a:t>. Without it, calls never stop and the call stack overflows.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8. Why does the call stack qualify as a genuine stack?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It obeys LIFO exactly: the most recent call is always the next one to finish.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9. For </a:t>
            </a:r>
            <a:r>
              <a:rPr sz="3000" b="1">
                <a:solidFill>
                  <a:srgbClr val="2E7D32"/>
                </a:solidFill>
                <a:latin typeface="Consolas"/>
              </a:rPr>
              <a:t>n</a:t>
            </a:r>
            <a:r>
              <a:rPr sz="3000" b="1">
                <a:solidFill>
                  <a:srgbClr val="2E7D32"/>
                </a:solidFill>
              </a:rPr>
              <a:t> disks, how many Hanoi moves are needed?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  <a:latin typeface="Consolas"/>
              </a:rPr>
              <a:t>2ⁿ - 1</a:t>
            </a:r>
            <a:r>
              <a:rPr sz="3000" b="1">
                <a:solidFill>
                  <a:srgbClr val="2E7D32"/>
                </a:solidFill>
              </a:rPr>
              <a:t> moves — exponential growth in </a:t>
            </a:r>
            <a:r>
              <a:rPr sz="3000" b="1">
                <a:solidFill>
                  <a:srgbClr val="2E7D32"/>
                </a:solidFill>
                <a:latin typeface="Consolas"/>
              </a:rPr>
              <a:t>n</a:t>
            </a:r>
            <a:r>
              <a:rPr sz="3000" b="1">
                <a:solidFill>
                  <a:srgbClr val="2E7D32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10. Name one thing a deque can do that a plain stack or queue cannot.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Add or remove at </a:t>
            </a:r>
            <a:r>
              <a:rPr sz="3000" b="1">
                <a:solidFill>
                  <a:srgbClr val="2E7D32"/>
                </a:solidFill>
              </a:rPr>
              <a:t>both</a:t>
            </a:r>
            <a:r>
              <a:rPr sz="3000" b="1">
                <a:solidFill>
                  <a:srgbClr val="2E7D32"/>
                </a:solidFill>
              </a:rPr>
              <a:t> the front and the back, each in O(1).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Next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Week 4 — Trees: Binary Trees, Traversals, Heaps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Every stack and queue today stored elements in a strict, unbranching sequence. Trees let a node have several children — traversed with the very same recursive pattern used for the Tower of Hanoi.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References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Course syllabus, Week 3: </a:t>
            </a:r>
            <a:r>
              <a:rPr sz="2000" b="0">
                <a:solidFill>
                  <a:srgbClr val="A1123F"/>
                </a:solidFill>
                <a:latin typeface="Consolas"/>
              </a:rPr>
              <a:t>docs/syllabus/syllabus.en.md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Cormen, Leiserson, Rivest, Stein. *Introduction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Algorithms*, 3rd ed. MIT 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Sedgewick, Wayne. </a:t>
            </a:r>
            <a:r>
              <a:rPr sz="2000" b="0" i="1">
                <a:solidFill>
                  <a:srgbClr val="1F2D3A"/>
                </a:solidFill>
              </a:rPr>
              <a:t>Algorithms</a:t>
            </a:r>
            <a:r>
              <a:rPr sz="2000" b="0">
                <a:solidFill>
                  <a:srgbClr val="1F2D3A"/>
                </a:solidFill>
              </a:rPr>
              <a:t>, 4th 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Addison-Wesley, 2011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References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Deitel &amp; Deitel. </a:t>
            </a:r>
            <a:r>
              <a:rPr sz="2000" b="0" i="1">
                <a:solidFill>
                  <a:srgbClr val="1F2D3A"/>
                </a:solidFill>
              </a:rPr>
              <a:t>C How to Program</a:t>
            </a:r>
            <a:r>
              <a:rPr sz="2000" b="0">
                <a:solidFill>
                  <a:srgbClr val="1F2D3A"/>
                </a:solidFill>
              </a:rPr>
              <a:t>, 7th 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Y. D. Liang. </a:t>
            </a:r>
            <a:r>
              <a:rPr sz="2000" b="0" i="1">
                <a:solidFill>
                  <a:srgbClr val="1F2D3A"/>
                </a:solidFill>
              </a:rPr>
              <a:t>Introduction to Java Programming</a:t>
            </a:r>
            <a:r>
              <a:rPr sz="2000" b="0">
                <a:solidFill>
                  <a:srgbClr val="1F2D3A"/>
                </a:solidFill>
              </a:rPr>
              <a:t>, 10th 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É. Lucas, </a:t>
            </a:r>
            <a:r>
              <a:rPr sz="2000" b="0" i="1">
                <a:solidFill>
                  <a:srgbClr val="1F2D3A"/>
                </a:solidFill>
              </a:rPr>
              <a:t>Récréations mathématiques</a:t>
            </a:r>
            <a:r>
              <a:rPr sz="2000" b="0">
                <a:solidFill>
                  <a:srgbClr val="1F2D3A"/>
                </a:solidFill>
              </a:rPr>
              <a:t>, 1883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J. Łukasiewicz, Polish/Reverse Polish notation, 1920s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Week 3 — Stacks and Queues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