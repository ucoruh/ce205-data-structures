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week one — today builds the two foundations every later week stands on: how to measure cost, and how memory actually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Fourteen short animations carry most of today's lecture; each appears once, with a second look at its trickiest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class we only touch the highlights — read the syllabus, project guide and prerequisites page before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a team early — the rule exists so a team's work has time to build momentum before it locks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structures is a course about exactly two things: how to arrange data in memory, and how much that arrangement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asks the most basic question of the whole course, before we touch any code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arrangement of the names IS the difference — that arrangement is what we call a data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ADT distinction — what versus how — is one this course leans on constantly, starting informally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stack of trays is fast to add/take from the top, terrible for finding something in the middle — that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"Known, analyzable cost" is the part that turns a vague idea of "organizing data" into something this course can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cannot usually have all four operations be fast at once in the same structure — that trade-off is today's real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 before advancing.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sentence is the reason the rest of the semester introduces one new structure per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structure this semester falls into exactly one of these two families — this map is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changes what operations are cheap or expensive — that is the whole point of today's second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tree node can have several children; a graph node can connect to several others — no single "next" any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are linear — every element still has exactly one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 tables and files are still linear in how their slots sit — only the access pattern, by key, is new; Week 7 makes this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tree and a graph are extremely structured — they simply allow more than one "next".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single, unambiguous next in both directions is exactly the linear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branching idea as the org chart from two slides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biggest section today — the tool, Big-O, that every later week uses to judge a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want is a property of the algorithm itself: how its work grows as the input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notation predates computers by decades — it originally described how closely one function approximates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count depends only on the algorithm and n — never on the machine, the language, or today's CPU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watch it count comparisons on an 11-element array, hunting for a value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11 values, target in the middle. Watch the comparison counter climb one box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target is missing, linear search still checks every single box before it can say so — the true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comparison per iteration, counted explicitly — this is exactly what the animation just counted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million-element array would need up to a million comparisons in the worst case — that direct growth is O(n).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search for the same target, 42, that just took linear search 9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16 sorted values, target found. Watch lo, hi and mid close in on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 values this time; the range keeps halving until lo is greater than hi — nothing left to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comparison eliminates half of whatever is left — that halving is the entire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trade-off: binary search needs the array sorted first, and sorting itself costs more than one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points on a much larger scale — this animation shows the whole scale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n doubling from 1 to 512. Watch n-squared and 2^n pull away from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at n = 400, 2^n is already far too large to draw on the same chart as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n = 100,000, n-squared is over 6,000 times larger than n log n — instant on a toy input, very different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loop that produced the table you just saw, for five realistic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rarely compute the constants formally — you count the steps and read off the fastest-growing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pattern: keep the fastest-growing term, throw away everything smaller and every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O(1) is constant-time array access from pointer arithmetic; O(log n) is binary search; O(n) is linear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trusting the table, let's count a real, counted program and see n-squared appear for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 square loop (j &lt; n), n = 3 shown in full detail, then nine more 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triangle loop (j &lt; i) still runs the inner body n(n-1)/2 times — still O(n squared), a different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measured count matched n*n exactly for every n tried — T(n) = n squared, plus smaller dropped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worst case is the guarantee that matters most when you cannot control the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recursive function pushes one stack frame per call; that is extra memory a loop never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values. Watch the call stack grow one frame per call, then unwind.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elements means 23 frames at the peak — the stack really can run out for large enough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return the same sum. sum_recursive uses O(n) stack space; sum_iterative always uses exactly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hidden loop inside a line (like arr.contains(x)) can quietly turn an O(n) loop into O(n squared).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"read off the dominant term" table applied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2 builds exactly this structure, so this question previews next week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cases tend to look similar across algorithms, which is exactly why the worst case is more useful to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pointer is the location of a variable, not just its value — today we make that idea completely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reach back into the caller's variables, a function needs the LOCATION of each one, not just its value — that location is a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still have two Java variables name the same object — you just cannot compute an arbitrary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 x = 3 puts 3 in some mailbox, say number 1000 — &amp;x gets you that 1000.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is O(1) — following a pointer is always a single jump, never a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five operations — address-of, write through, copy (alias), move, add through the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write through a NULL pointer is never executed here — it is flagged as undefined behavior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= p copies the ADDRESS, not the value — q and p now alias the same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alias is a second name for the SAME array as box; y is an independent COPY of x — same syntax shape, opposite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O(1) arithmetic that array indexing, arr[i], compiles down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an int array, five valid offsets. Watch each computed address and its dereferenced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negative offset and one past the end are both flagged as undefined behavior, never dereferenced.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 has no pointer arithmetic at all — only a[k], and an out-of-range k throws a clear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pointer to a struct lets you reach — and modify — the ORIGINAL struct, not a copy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students, 2 grade updates. Watch (*p).id, p-&gt;grade, and p++ advance by sizeof(Student).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 reaches "one past the end" immediately — legal to HOLD, but never to dereference.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(*p).id and p-&gt;id are the same value — the arrow is purely a shorthand, nothing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 checks every dereference and fails loudly; C simply does whatever the hardware does with a bad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variable, two completely different questions depending on whether you dereference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needs both . (for values) and -&gt; (for pointers); Java only ever needs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fact about memory you will use all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questions have completely different answers — that difference is today's whole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GC is much older than most people assume — it predates Java by 36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Pushing or popping a stack frame is just moving one pointer — that is why it is so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stack overflow is deep recursion outrunning a small, fixed region; the heap is much larger but 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blocks, properly owned, some freed. Watch main's blocks[] column point at each heap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second alias still holds a freed block's old address; using it is flagged as UB, never executed.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 is local to alloc_block's own frame — only the RETURNED address survives once that frame pops.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object lives on the heap until the garbage collector proves nothing can reach it any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 reference chain, ordinary collection. Watch objects become unreachable and get swept.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objects point at each other, but once NO root reaches either, both are collected — reachability, not reference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C, this exact pattern would leak forever — C has no garbage collector to notice the cycle is unreachable.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object you keep an unneeded reference to cannot be collected, and still "leaks" in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week you build exactly this linked structure — today is only the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values, k = 4. Compare one computed address versus four hops through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array still reaches the last element in one step; the linked list needs every single hop from the 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n values, opposite access cost: array O(1), linked list O(n) — same data, completely different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fix: allocate with malloc instead, so the memory survives the function returning.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is not a style choice — reversing it silently creates a memory leak.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never a moment where a reachable reference points at memory already taken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two completely different programs agree, byte for byte, on a structured record?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compiler, platform and padding rules all affect a struct's exact byte layout — we need something both sides agree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ASN.1 with BER still underlies X.509 certificates — the basis of HTTPS — LDAP, and SNMP, invisibly.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decoder that has never seen your record before can still walk it correctly: read tag, read length, skip that many bytes,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INTEGER is tag 0x02, UTF8String is tag 0x0C, SEQUENCE is tag 0x30 — real ASN.1 universal-class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fields — integers, short strings, booleans — each becomes Tag, Length,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300-character string's length no longer fits in one byte — the long form spends extra bytes just to say "how many".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short form is one byte; the long form's top bit set means "the next n bytes ARE the length".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encode the same abstract information — BER trades size for self-description, PER trades the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kind of record as BER, this time packed bit by bit instead of byte by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fields — name characters, an age, a few constrained numbers — packed into a handful of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min equals max, there is only one possible value — the receiver already knows it, so NOTHING is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output is only byte-aligned at the very end, not field by field — bits pack right up against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 decoder cannot parse BER bytes, or vice versa — two different byte formats for the same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decoder never has to guess a size — the length prefix always tells it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 1 10000 in binary is exactly 0x30 — the constructed bit is what changes 0x10 into 0x30.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idea today is worthless until it compiles and runs — this section sets up the workflow for the whole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lab sets up, once, the exact workflow you repeat all semester: compile, run,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compiler translates source to machine code; a linker stitches it together with the C standard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gcc compiles hello_workshop.c into x; &amp;&amp; only runs it if the compile succeeded.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warning is the compiler telling you something is probably a bug, before you find out the hard way at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average it prints is wrong — sum and n look right, but something in the last line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scales to bugs far subtler than the one we are about to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elements. Watch i, sum and n in the watch panel as we step, then print sum /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 == 0 stops the program right at the guard line — dividing by zero would be undefined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sum/n gives 7 (integer division); (double) sum/n gives the real answer, 7.666... — the bug was only in the final division.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command CONFIGURES: reads CMakeLists.txt, checks the compiler. The second BUILDS: compiles and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Studio can open a CMakeLists.txt directly — the same file from the last slide works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chain the run with &amp;&amp; so a failed compile never lets you run yesterday's binary by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discovered later, at runtime, the hard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Configure once (usually), build every time you change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later week adds one more structure, judged with exactly these same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Pointers, the stack and the heap are the picture of memory every later week assumes you already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student remembers only one sentence from today, this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mirror the self-check quiz at the end of the written notes, one question per slide, a shorter set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Correctness and cost are two completely separate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exact order comes back every single week for the rest of the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sorted order, discarding a whole half would be a guess, not a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Length never counts the Tag byte or its own Length byte(s).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Dereference-then-access is such a frequent pattern that C gave it its own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O(1)-insert-anywhere, O(n)-access trade-off from today's preview, now in full: insertion, deletion, traversal,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references — Bachmann, Landau, Knuth, Liskov, Cayley's spirit of counting structures — are what today's "short history" slides drew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Introduction, Big-O and Pointers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153"/>
                <a:gridCol w="9820381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Course plan · what a data structure is · linear vs non-linear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Big-O: search, growth, loops, space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Pointers, stack/heap, TLV/PER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6–13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C workshop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(linear/non-linear structures) · LO.2 (time and space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792"/>
                <a:gridCol w="290974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structure, linear vs non-linear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1–2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Big-O, growth, best/worst/average, space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Pointers, structs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Stack, heap, TLV/PER, C workshop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5–7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code/week-01/c/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code/week-01/java/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Course logistics: how you are graded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One project</a:t>
            </a:r>
            <a:r>
              <a:rPr sz="2000" b="0">
                <a:solidFill>
                  <a:srgbClr val="1F2D3A"/>
                </a:solidFill>
              </a:rPr>
              <a:t>, built all semester: C first, then Java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Two checkpoints</a:t>
            </a:r>
            <a:r>
              <a:rPr sz="2000" b="0">
                <a:solidFill>
                  <a:srgbClr val="1F2D3A"/>
                </a:solidFill>
              </a:rPr>
              <a:t>: a midterm check in C, a final in Java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Two quizzes</a:t>
            </a:r>
            <a:r>
              <a:rPr sz="2000" b="0">
                <a:solidFill>
                  <a:srgbClr val="1F2D3A"/>
                </a:solidFill>
              </a:rPr>
              <a:t> — no separate homework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Weekly notes like this one, English and Turkish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Full grading breakdown: the course </a:t>
            </a:r>
            <a:r>
              <a:rPr sz="2000" b="1">
                <a:solidFill>
                  <a:srgbClr val="1F2D3A"/>
                </a:solidFill>
              </a:rPr>
              <a:t>syllabus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Course logistics: teams and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Team size: </a:t>
            </a:r>
            <a:r>
              <a:rPr sz="2000" b="1">
                <a:solidFill>
                  <a:srgbClr val="1F2D3A"/>
                </a:solidFill>
              </a:rPr>
              <a:t>up to 3</a:t>
            </a:r>
            <a:r>
              <a:rPr sz="2000" b="0">
                <a:solidFill>
                  <a:srgbClr val="1F2D3A"/>
                </a:solidFill>
              </a:rPr>
              <a:t> students per project team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team changes after week 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Project guide: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docs/project-guide/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Prerequisites: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docs/prerequisites/</a:t>
            </a:r>
            <a:r>
              <a:rPr sz="2000" b="0">
                <a:solidFill>
                  <a:srgbClr val="1F2D3A"/>
                </a:solidFill>
              </a:rPr>
              <a:t> (C toolchain, background)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Older syllabus PDF conflicts with class? </a:t>
            </a:r>
            <a:r>
              <a:rPr sz="2000" b="1">
                <a:solidFill>
                  <a:srgbClr val="1F2D3A"/>
                </a:solidFill>
              </a:rPr>
              <a:t>Ask, don't guess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map of this week — and of the course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6698"/>
                <a:gridCol w="5534836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This week builds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Every later week adds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How to measure cost (Big-O)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more way to arrange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picture of memory (pointers)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Judged with the same Big-O tool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What Is a Data Structure?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Your contacts app finds "Alice" among ten thousand names almost instantly. Unsorted, the very same phone would scan every name.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1960s</a:t>
            </a:r>
            <a:r>
              <a:rPr sz="2000" b="0">
                <a:solidFill>
                  <a:srgbClr val="1F2D3A"/>
                </a:solidFill>
              </a:rPr>
              <a:t> — "data structure" enters common use in CS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1968</a:t>
            </a:r>
            <a:r>
              <a:rPr sz="2000" b="0">
                <a:solidFill>
                  <a:srgbClr val="1F2D3A"/>
                </a:solidFill>
              </a:rPr>
              <a:t> — Knuth's </a:t>
            </a:r>
            <a:r>
              <a:rPr sz="2000" b="0" i="1">
                <a:solidFill>
                  <a:srgbClr val="1F2D3A"/>
                </a:solidFill>
              </a:rPr>
              <a:t>TAOCP</a:t>
            </a:r>
            <a:r>
              <a:rPr sz="2000" b="0">
                <a:solidFill>
                  <a:srgbClr val="1F2D3A"/>
                </a:solidFill>
              </a:rPr>
              <a:t> Vol. 1 studies lists, stacks, trees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1974</a:t>
            </a:r>
            <a:r>
              <a:rPr sz="2000" b="0">
                <a:solidFill>
                  <a:srgbClr val="1F2D3A"/>
                </a:solidFill>
              </a:rPr>
              <a:t> — Liskov &amp; Zilles: the </a:t>
            </a:r>
            <a:r>
              <a:rPr sz="2000" b="1">
                <a:solidFill>
                  <a:srgbClr val="1F2D3A"/>
                </a:solidFill>
              </a:rPr>
              <a:t>abstract data type</a:t>
            </a:r>
            <a:r>
              <a:rPr sz="2000" b="0">
                <a:solidFill>
                  <a:srgbClr val="1F2D3A"/>
                </a:solidFill>
              </a:rPr>
              <a:t> (ADT)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ADT = </a:t>
            </a:r>
            <a:r>
              <a:rPr sz="2000" b="0" i="1">
                <a:solidFill>
                  <a:srgbClr val="1F2D3A"/>
                </a:solidFill>
              </a:rPr>
              <a:t>what</a:t>
            </a:r>
            <a:r>
              <a:rPr sz="2000" b="0">
                <a:solidFill>
                  <a:srgbClr val="1F2D3A"/>
                </a:solidFill>
              </a:rPr>
              <a:t> a structure does, not </a:t>
            </a:r>
            <a:r>
              <a:rPr sz="2000" b="0" i="1">
                <a:solidFill>
                  <a:srgbClr val="1F2D3A"/>
                </a:solidFill>
              </a:rPr>
              <a:t>how</a:t>
            </a:r>
            <a:r>
              <a:rPr sz="2000" b="0">
                <a:solidFill>
                  <a:srgbClr val="1F2D3A"/>
                </a:solidFill>
              </a:rPr>
              <a:t> it is built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Intuition: furniture for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filing cabinet, a bookshelf, a stack of trays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holds the same </a:t>
            </a:r>
            <a:r>
              <a:rPr sz="2000" b="0" i="1">
                <a:solidFill>
                  <a:srgbClr val="1F2D3A"/>
                </a:solidFill>
              </a:rPr>
              <a:t>kind</a:t>
            </a:r>
            <a:r>
              <a:rPr sz="2000" b="0">
                <a:solidFill>
                  <a:srgbClr val="1F2D3A"/>
                </a:solidFill>
              </a:rPr>
              <a:t> of content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is good at </a:t>
            </a:r>
            <a:r>
              <a:rPr sz="2000" b="1">
                <a:solidFill>
                  <a:srgbClr val="1F2D3A"/>
                </a:solidFill>
              </a:rPr>
              <a:t>different things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single "best" arrangement — only trade-offs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data structure, precisely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way of organizing data so that specific operations — access, search, insert, delete — can be done at a known, analyzable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there isn't just 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8282"/>
                <a:gridCol w="8383252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Why it isn't free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Some layouts compute a position; others walk from the start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Unsorted: check one by one. Sorted: can be halved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Insert / Delete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Some shift everything after; others relink two pointers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there no single "best" data structure that beats every other one at everything?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layout makes a </a:t>
            </a:r>
            <a:r>
              <a:rPr sz="2000" b="1">
                <a:solidFill>
                  <a:srgbClr val="1F2D3A"/>
                </a:solidFill>
              </a:rPr>
              <a:t>trade-off</a:t>
            </a:r>
            <a:r>
              <a:rPr sz="2000" b="0">
                <a:solidFill>
                  <a:srgbClr val="1F2D3A"/>
                </a:solidFill>
              </a:rPr>
              <a:t>: what makes access fast (e.g. a sorted array) tends to make insertion slow, and vice versa. No exceptions.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Linear vs Non-linear: the Map of the Course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Your last five songs played form a single line. A company's org chart branches. Is that just about drawing, or a real structural fact?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Linear</a:t>
            </a:r>
            <a:r>
              <a:rPr sz="2000" b="0">
                <a:solidFill>
                  <a:srgbClr val="1F2D3A"/>
                </a:solidFill>
              </a:rPr>
              <a:t>: every element has exactly one "next"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can always ask "what comes next?" — one answer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Non-linear</a:t>
            </a:r>
            <a:r>
              <a:rPr sz="2000" b="0">
                <a:solidFill>
                  <a:srgbClr val="1F2D3A"/>
                </a:solidFill>
              </a:rPr>
              <a:t>: an element can have several "next"s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Traversing means </a:t>
            </a:r>
            <a:r>
              <a:rPr sz="2000" b="0" i="1">
                <a:solidFill>
                  <a:srgbClr val="1F2D3A"/>
                </a:solidFill>
              </a:rPr>
              <a:t>choosing</a:t>
            </a:r>
            <a:r>
              <a:rPr sz="2000" b="0">
                <a:solidFill>
                  <a:srgbClr val="1F2D3A"/>
                </a:solidFill>
              </a:rPr>
              <a:t> which branch to follow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course, sorted: linear structures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794"/>
                <a:gridCol w="1454871"/>
                <a:gridCol w="7128869"/>
              </a:tblGrid>
              <a:tr h="51755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Defining trade-off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access; O(n) insert/delete in the middle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Linked list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 access; O(1) insert/delete once there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1755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 (LIFO)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Touch one end only; every op 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75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Queue (FIFO)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 one end, remove the other; every op 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course, sorted: non-linear and by-key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678"/>
                <a:gridCol w="1971964"/>
                <a:gridCol w="5915892"/>
              </a:tblGrid>
              <a:tr h="47000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Defining trade-off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tree, heap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 when balanced, up to 2 children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Graph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Weeks 5–6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Any number of connections; networks, maps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7000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Hash table (by key)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 average, by key, not position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000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Files (on disk)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Weeks 13–15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Same trade-offs, paid in disk I/O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"Non-linear"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mean "disorganized"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"Sorted" is not the same as "linear" — different axes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table's </a:t>
            </a:r>
            <a:r>
              <a:rPr sz="2000" b="0" i="1">
                <a:solidFill>
                  <a:srgbClr val="1F2D3A"/>
                </a:solidFill>
              </a:rPr>
              <a:t>slots</a:t>
            </a:r>
            <a:r>
              <a:rPr sz="2000" b="0">
                <a:solidFill>
                  <a:srgbClr val="1F2D3A"/>
                </a:solidFill>
              </a:rPr>
              <a:t> are linear; access by key is new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a stack of plates linear or non-linear? Why?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Linear.</a:t>
            </a:r>
            <a:r>
              <a:rPr sz="2000" b="0">
                <a:solidFill>
                  <a:srgbClr val="1F2D3A"/>
                </a:solidFill>
              </a:rPr>
              <a:t> Every plate (except the top) has exactly one plate above it, and (except the bottom) exactly one below it — one "next".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a family tree linear or non-linear?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Non-linear.</a:t>
            </a:r>
            <a:r>
              <a:rPr sz="2000" b="0">
                <a:solidFill>
                  <a:srgbClr val="1F2D3A"/>
                </a:solidFill>
              </a:rPr>
              <a:t> A parent can have several children, so there is more than one "next" from a given person.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Performance Analysis: Counting Steps, Not Seconds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write a function that searches an array. It works. Is it </a:t>
            </a:r>
            <a:r>
              <a:rPr sz="2000" b="0" i="1">
                <a:solidFill>
                  <a:srgbClr val="1F2D3A"/>
                </a:solidFill>
              </a:rPr>
              <a:t>fast</a:t>
            </a:r>
            <a:r>
              <a:rPr sz="2000" b="0">
                <a:solidFill>
                  <a:srgbClr val="1F2D3A"/>
                </a:solidFill>
              </a:rPr>
              <a:t>? A stopwatch tells you about your laptop today — not about the algorithm.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1894</a:t>
            </a:r>
            <a:r>
              <a:rPr sz="2000" b="0">
                <a:solidFill>
                  <a:srgbClr val="1F2D3A"/>
                </a:solidFill>
              </a:rPr>
              <a:t> — Bachmann introduces capital-</a:t>
            </a:r>
            <a:r>
              <a:rPr sz="2000" b="1">
                <a:solidFill>
                  <a:srgbClr val="1F2D3A"/>
                </a:solidFill>
              </a:rPr>
              <a:t>O</a:t>
            </a:r>
            <a:r>
              <a:rPr sz="2000" b="0">
                <a:solidFill>
                  <a:srgbClr val="1F2D3A"/>
                </a:solidFill>
              </a:rPr>
              <a:t> notation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Early 1900s</a:t>
            </a:r>
            <a:r>
              <a:rPr sz="2000" b="0">
                <a:solidFill>
                  <a:srgbClr val="1F2D3A"/>
                </a:solidFill>
              </a:rPr>
              <a:t> — Landau popularizes it (a "Landau symbol")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1960s</a:t>
            </a:r>
            <a:r>
              <a:rPr sz="2000" b="0">
                <a:solidFill>
                  <a:srgbClr val="1F2D3A"/>
                </a:solidFill>
              </a:rPr>
              <a:t> — computer science adopts it for algorithm cost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1976</a:t>
            </a:r>
            <a:r>
              <a:rPr sz="2000" b="0">
                <a:solidFill>
                  <a:srgbClr val="1F2D3A"/>
                </a:solidFill>
              </a:rPr>
              <a:t> — Knuth's article standardizes O/Ω/Θ for 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Intuition: count the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Count how many times the algorithm does its basic unit of work — one comparison, one array access — as a function of input size </a:t>
            </a:r>
            <a:r>
              <a:rPr sz="2000" b="1">
                <a:solidFill>
                  <a:srgbClr val="1F2D3A"/>
                </a:solidFill>
              </a:rPr>
              <a:t>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Linear search: try every 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Starts at the front, checks one element after another until it finds the target or runs out. Needs </a:t>
            </a:r>
            <a:r>
              <a:rPr sz="2000" b="1">
                <a:solidFill>
                  <a:srgbClr val="1F2D3A"/>
                </a:solidFill>
              </a:rPr>
              <a:t>no particular order</a:t>
            </a:r>
            <a:r>
              <a:rPr sz="2000" b="0">
                <a:solidFill>
                  <a:srgbClr val="1F2D3A"/>
                </a:solidFill>
              </a:rPr>
              <a:t> in the data.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Linear search, step by step</a:t>
            </a:r>
          </a:p>
        </p:txBody>
      </p:sp>
      <p:pic>
        <p:nvPicPr>
          <p:cNvPr id="7" name="Picture 6" descr="linear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90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target not in the array</a:t>
            </a:r>
          </a:p>
        </p:txBody>
      </p:sp>
      <p:pic>
        <p:nvPicPr>
          <p:cNvPr id="7" name="Picture 6" descr="linear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90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linear_search (the loop)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(*comparisons)++;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(arr[i] ==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Linear search: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 (last element, or absent): </a:t>
            </a:r>
            <a:r>
              <a:rPr sz="2000" b="1">
                <a:solidFill>
                  <a:srgbClr val="1F2D3A"/>
                </a:solidFill>
              </a:rPr>
              <a:t>n</a:t>
            </a:r>
            <a:r>
              <a:rPr sz="2000" b="0">
                <a:solidFill>
                  <a:srgbClr val="1F2D3A"/>
                </a:solidFill>
              </a:rPr>
              <a:t> comparisons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 (first element): </a:t>
            </a:r>
            <a:r>
              <a:rPr sz="2000" b="1">
                <a:solidFill>
                  <a:srgbClr val="1F2D3A"/>
                </a:solidFill>
              </a:rPr>
              <a:t>1</a:t>
            </a:r>
            <a:r>
              <a:rPr sz="2000" b="0">
                <a:solidFill>
                  <a:srgbClr val="1F2D3A"/>
                </a:solidFill>
              </a:rPr>
              <a:t> comparison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Cost grows </a:t>
            </a:r>
            <a:r>
              <a:rPr sz="2000" b="1">
                <a:solidFill>
                  <a:srgbClr val="1F2D3A"/>
                </a:solidFill>
              </a:rPr>
              <a:t>directly with n</a:t>
            </a:r>
            <a:r>
              <a:rPr sz="2000" b="0">
                <a:solidFill>
                  <a:srgbClr val="1F2D3A"/>
                </a:solidFill>
              </a:rPr>
              <a:t> — this is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search: eliminate half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array is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: check the middle. Too small? Discard the left half. Too big? Discard the right half. Repeat.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search, step by step</a:t>
            </a:r>
          </a:p>
        </p:txBody>
      </p:sp>
      <p:pic>
        <p:nvPicPr>
          <p:cNvPr id="7" name="Picture 6" descr="binary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96" y="1325880"/>
            <a:ext cx="62115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not found: lo crosses hi</a:t>
            </a:r>
          </a:p>
        </p:txBody>
      </p:sp>
      <p:pic>
        <p:nvPicPr>
          <p:cNvPr id="7" name="Picture 6" descr="binary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96" y="1325880"/>
            <a:ext cx="621150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binary_search (core step)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mid = lo + (hi - lo) /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(*comparisons)++;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(arr[mid] ==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mid;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(arr[mid] &lt; target)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lo = mid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hi = mid - 1;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Binary search: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42</a:t>
            </a:r>
            <a:r>
              <a:rPr sz="2000" b="0">
                <a:solidFill>
                  <a:srgbClr val="1F2D3A"/>
                </a:solidFill>
              </a:rPr>
              <a:t> took </a:t>
            </a:r>
            <a:r>
              <a:rPr sz="2000" b="1">
                <a:solidFill>
                  <a:srgbClr val="1F2D3A"/>
                </a:solidFill>
              </a:rPr>
              <a:t>3</a:t>
            </a:r>
            <a:r>
              <a:rPr sz="2000" b="0">
                <a:solidFill>
                  <a:srgbClr val="1F2D3A"/>
                </a:solidFill>
              </a:rPr>
              <a:t> comparisons, not 9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comparison throws away </a:t>
            </a:r>
            <a:r>
              <a:rPr sz="2000" b="1">
                <a:solidFill>
                  <a:srgbClr val="1F2D3A"/>
                </a:solidFill>
              </a:rPr>
              <a:t>half</a:t>
            </a:r>
            <a:r>
              <a:rPr sz="2000" b="0">
                <a:solidFill>
                  <a:srgbClr val="1F2D3A"/>
                </a:solidFill>
              </a:rPr>
              <a:t> of what is left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Number of halvings before reaching 1: </a:t>
            </a:r>
            <a:r>
              <a:rPr sz="2000" b="1">
                <a:solidFill>
                  <a:srgbClr val="1F2D3A"/>
                </a:solidFill>
              </a:rPr>
              <a:t>log₂ n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O(log n)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growth race: shape beats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Watch three functions race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doubles: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n·log₂n</a:t>
            </a:r>
            <a:r>
              <a:rPr sz="2000" b="0">
                <a:solidFill>
                  <a:srgbClr val="1F2D3A"/>
                </a:solidFill>
              </a:rPr>
              <a:t> (best sorts),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n²</a:t>
            </a:r>
            <a:r>
              <a:rPr sz="2000" b="0">
                <a:solidFill>
                  <a:srgbClr val="1F2D3A"/>
                </a:solidFill>
              </a:rPr>
              <a:t> (simple sorts, and nested loops in general).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growth race, step by step</a:t>
            </a:r>
          </a:p>
        </p:txBody>
      </p:sp>
      <p:pic>
        <p:nvPicPr>
          <p:cNvPr id="7" name="Picture 6" descr="growth-rac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30" y="1325880"/>
            <a:ext cx="79414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2^n overflows almost at once</a:t>
            </a:r>
          </a:p>
        </p:txBody>
      </p:sp>
      <p:pic>
        <p:nvPicPr>
          <p:cNvPr id="7" name="Picture 6" descr="growth-rac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30" y="1325880"/>
            <a:ext cx="79414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Growth, at realistic sizes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2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7"/>
                <a:gridCol w="2364165"/>
                <a:gridCol w="327346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n·log₂n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n²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664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10,000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132,877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100,000,000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1,660,964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10,000,000,000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growth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count;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long n = ns[i];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double nlogn = (double) n * log2((double) 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double nsq = (double) n * (double)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Big-O, precisely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f(n)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O(g(n))</a:t>
            </a:r>
            <a:r>
              <a:rPr sz="2000" b="0">
                <a:solidFill>
                  <a:srgbClr val="1F2D3A"/>
                </a:solidFill>
              </a:rPr>
              <a:t> if, from some point on, </a:t>
            </a:r>
            <a:r>
              <a:rPr sz="2000" b="0">
                <a:solidFill>
                  <a:srgbClr val="A1123F"/>
                </a:solidFill>
                <a:latin typeface="Consolas"/>
              </a:rPr>
              <a:t>f</a:t>
            </a:r>
            <a:r>
              <a:rPr sz="2000" b="0">
                <a:solidFill>
                  <a:srgbClr val="1F2D3A"/>
                </a:solidFill>
              </a:rPr>
              <a:t> never grows faster than a constant multiple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g</a:t>
            </a:r>
            <a:r>
              <a:rPr sz="2000" b="0">
                <a:solidFill>
                  <a:srgbClr val="1F2D3A"/>
                </a:solidFill>
              </a:rPr>
              <a:t>. In practice: </a:t>
            </a:r>
            <a:r>
              <a:rPr sz="2000" b="1">
                <a:solidFill>
                  <a:srgbClr val="1F2D3A"/>
                </a:solidFill>
              </a:rPr>
              <a:t>drop constants, keep the dominant term.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Reading off the dominant term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8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1601"/>
                <a:gridCol w="3091601"/>
                <a:gridCol w="218230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Steps counted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Dominant term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Big-O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3n + 7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n² + 2n + 1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n²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O(n²)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2·log₂n + 5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log 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O(log 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order, fastest to slowest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O(1) &lt; O(log n) &lt; O(n) &lt; O(n log n) &lt; O(n²) &lt; O(2ⁿ)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already met the first three today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O(2ⁿ)</a:t>
            </a:r>
            <a:r>
              <a:rPr sz="2000" b="0">
                <a:solidFill>
                  <a:srgbClr val="1F2D3A"/>
                </a:solidFill>
              </a:rPr>
              <a:t> arrive later this semester.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Building T(n) by hand: a nested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loop inside another loop: for every one of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outer iterations, the inner loop runs all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of its own — the classic </a:t>
            </a:r>
            <a:r>
              <a:rPr sz="2000" b="0">
                <a:solidFill>
                  <a:srgbClr val="A1123F"/>
                </a:solidFill>
                <a:latin typeface="Consolas"/>
              </a:rPr>
              <a:t>n²</a:t>
            </a:r>
            <a:r>
              <a:rPr sz="2000" b="0">
                <a:solidFill>
                  <a:srgbClr val="1F2D3A"/>
                </a:solidFill>
              </a:rPr>
              <a:t> source.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Counting a nested loop, step by step</a:t>
            </a:r>
          </a:p>
        </p:txBody>
      </p:sp>
      <p:pic>
        <p:nvPicPr>
          <p:cNvPr id="7" name="Picture 6" descr="nested-loop-count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95" y="1325880"/>
            <a:ext cx="86355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different loop shape</a:t>
            </a:r>
          </a:p>
        </p:txBody>
      </p:sp>
      <p:pic>
        <p:nvPicPr>
          <p:cNvPr id="7" name="Picture 6" descr="nested-loop-count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95" y="1325880"/>
            <a:ext cx="863550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nested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long count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j = 0; j &lt; n; j++)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(*operations)++;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Best, worst, and average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Best</a:t>
            </a:r>
            <a:r>
              <a:rPr sz="2000" b="0">
                <a:solidFill>
                  <a:srgbClr val="1F2D3A"/>
                </a:solidFill>
              </a:rPr>
              <a:t>: target is first checked — 1 comparison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Worst</a:t>
            </a:r>
            <a:r>
              <a:rPr sz="2000" b="0">
                <a:solidFill>
                  <a:srgbClr val="1F2D3A"/>
                </a:solidFill>
              </a:rPr>
              <a:t>: target is last, or absent — n comparisons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Average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(1 + 2 + ... + n) / n = (n + 1) / 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Unqualified "Big-O of an algorithm" usually means </a:t>
            </a:r>
            <a:r>
              <a:rPr sz="2000" b="1">
                <a:solidFill>
                  <a:srgbClr val="1F2D3A"/>
                </a:solidFill>
              </a:rPr>
              <a:t>worst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Space complexity: the same idea, for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Big-O counts </a:t>
            </a:r>
            <a:r>
              <a:rPr sz="2000" b="1">
                <a:solidFill>
                  <a:srgbClr val="1F2D3A"/>
                </a:solidFill>
              </a:rPr>
              <a:t>time</a:t>
            </a:r>
            <a:r>
              <a:rPr sz="2000" b="0">
                <a:solidFill>
                  <a:srgbClr val="1F2D3A"/>
                </a:solidFill>
              </a:rPr>
              <a:t> by counting steps; space complexity counts </a:t>
            </a:r>
            <a:r>
              <a:rPr sz="2000" b="1">
                <a:solidFill>
                  <a:srgbClr val="1F2D3A"/>
                </a:solidFill>
              </a:rPr>
              <a:t>memory</a:t>
            </a:r>
            <a:r>
              <a:rPr sz="2000" b="0">
                <a:solidFill>
                  <a:srgbClr val="1F2D3A"/>
                </a:solidFill>
              </a:rPr>
              <a:t> — extra storage beyond the input itself.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Recursive vs iterative sum, step by step</a:t>
            </a:r>
          </a:p>
        </p:txBody>
      </p:sp>
      <p:pic>
        <p:nvPicPr>
          <p:cNvPr id="7" name="Picture 6" descr="space-recursive-vs-iterativ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29" y="1325880"/>
            <a:ext cx="71286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deep recursion, 22 frames</a:t>
            </a:r>
          </a:p>
        </p:txBody>
      </p:sp>
      <p:pic>
        <p:nvPicPr>
          <p:cNvPr id="7" name="Picture 6" descr="space-recursive-vs-iterativ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529" y="1325880"/>
            <a:ext cx="712863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recursive vs iterative sum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sum_recursive(const 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arr[n - 1] + sum_recursive(arr, n - 1);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sum_iterative(const 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total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total += arr[i];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total;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Reading Big-O off the </a:t>
            </a:r>
            <a:r>
              <a:rPr sz="2000" b="0" i="1">
                <a:solidFill>
                  <a:srgbClr val="1F2D3A"/>
                </a:solidFill>
              </a:rPr>
              <a:t>code</a:t>
            </a:r>
            <a:r>
              <a:rPr sz="2000" b="0">
                <a:solidFill>
                  <a:srgbClr val="1F2D3A"/>
                </a:solidFill>
              </a:rPr>
              <a:t>, not the </a:t>
            </a:r>
            <a:r>
              <a:rPr sz="2000" b="0" i="1">
                <a:solidFill>
                  <a:srgbClr val="1F2D3A"/>
                </a:solidFill>
              </a:rPr>
              <a:t>steps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binary search needs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input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O(1) with "instant" — it just means "not growing"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Quoting only worst case when average matters more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algorithm does exactly </a:t>
            </a:r>
            <a:r>
              <a:rPr sz="2000" b="0">
                <a:solidFill>
                  <a:srgbClr val="A1123F"/>
                </a:solidFill>
                <a:latin typeface="Consolas"/>
              </a:rPr>
              <a:t>5n + 20</a:t>
            </a:r>
            <a:r>
              <a:rPr sz="2000" b="0">
                <a:solidFill>
                  <a:srgbClr val="1F2D3A"/>
                </a:solidFill>
              </a:rPr>
              <a:t> basic operations. What is its Big-O?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. Drop the constant factor (5) and the additive constant (20); only the fastest-growing term,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survives.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can't binary search be used directly on a linked list the way it is on an array?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Binary search needs </a:t>
            </a:r>
            <a:r>
              <a:rPr sz="2000" b="1">
                <a:solidFill>
                  <a:srgbClr val="1F2D3A"/>
                </a:solidFill>
              </a:rPr>
              <a:t>O(1) access</a:t>
            </a:r>
            <a:r>
              <a:rPr sz="2000" b="0">
                <a:solidFill>
                  <a:srgbClr val="1F2D3A"/>
                </a:solidFill>
              </a:rPr>
              <a:t> to the middle by index. A linked list must be walked node by node — already O(n), erasing the gain.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Without qualification, which case does "Big-O of an algorithm" usually mean?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worst case</a:t>
            </a:r>
            <a:r>
              <a:rPr sz="2000" b="0">
                <a:solidFill>
                  <a:srgbClr val="1F2D3A"/>
                </a:solidFill>
              </a:rPr>
              <a:t>: the guaranteed upper bound, useful precisely because it holds no matter what input you are given.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Pointers and Objects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</a:t>
            </a:r>
            <a:r>
              <a:rPr sz="2000" b="0">
                <a:solidFill>
                  <a:srgbClr val="A1123F"/>
                </a:solidFill>
                <a:latin typeface="Consolas"/>
              </a:rPr>
              <a:t>swap(a, b)</a:t>
            </a:r>
            <a:r>
              <a:rPr sz="2000" b="0">
                <a:solidFill>
                  <a:srgbClr val="1F2D3A"/>
                </a:solidFill>
              </a:rPr>
              <a:t> to exchange two variables in the caller. In many languages this is impossible — the function only sees </a:t>
            </a:r>
            <a:r>
              <a:rPr sz="2000" b="0" i="1">
                <a:solidFill>
                  <a:srgbClr val="1F2D3A"/>
                </a:solidFill>
              </a:rPr>
              <a:t>copies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1966/1969</a:t>
            </a:r>
            <a:r>
              <a:rPr sz="2000" b="0">
                <a:solidFill>
                  <a:srgbClr val="1F2D3A"/>
                </a:solidFill>
              </a:rPr>
              <a:t> — BCPL, then B: address-of, dereference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1972</a:t>
            </a:r>
            <a:r>
              <a:rPr sz="2000" b="0">
                <a:solidFill>
                  <a:srgbClr val="1F2D3A"/>
                </a:solidFill>
              </a:rPr>
              <a:t> — Dennis Ritchie's C makes pointers central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1995</a:t>
            </a:r>
            <a:r>
              <a:rPr sz="2000" b="0">
                <a:solidFill>
                  <a:srgbClr val="1F2D3A"/>
                </a:solidFill>
              </a:rPr>
              <a:t> — Java removes raw pointers, keeps </a:t>
            </a:r>
            <a:r>
              <a:rPr sz="2000" b="1">
                <a:solidFill>
                  <a:srgbClr val="1F2D3A"/>
                </a:solidFill>
              </a:rPr>
              <a:t>references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References: shared data, no arithmetic, no bad addresses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Intuition: memory as numbered mailboxes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variable is a mailbox: address + contents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&amp;x</a:t>
            </a:r>
            <a:r>
              <a:rPr sz="2000" b="0">
                <a:solidFill>
                  <a:srgbClr val="1F2D3A"/>
                </a:solidFill>
              </a:rPr>
              <a:t> asks "what is x's mailbox number?"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pointer</a:t>
            </a:r>
            <a:r>
              <a:rPr sz="2000" b="0">
                <a:solidFill>
                  <a:srgbClr val="1F2D3A"/>
                </a:solidFill>
              </a:rPr>
              <a:t> holds another mailbox's number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Dereferencing (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): go read that mailbox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pointer operations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7790"/>
                <a:gridCol w="3519850"/>
                <a:gridCol w="2463895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Syntax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Address-of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&amp;x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Declare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int *p;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Assign an address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 = &amp;x;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Dereference (read/write)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*p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*p = v;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variable, its address, a pointer</a:t>
            </a:r>
          </a:p>
        </p:txBody>
      </p:sp>
      <p:pic>
        <p:nvPicPr>
          <p:cNvPr id="7" name="Picture 6" descr="pointer-basic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500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NULL-pointer dereference</a:t>
            </a:r>
          </a:p>
        </p:txBody>
      </p:sp>
      <p:pic>
        <p:nvPicPr>
          <p:cNvPr id="7" name="Picture 6" descr="pointer-basic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62500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pointers: address, alias,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*p = NULL, *q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 = &amp;v[i];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*p = val;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 =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*q += 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(r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*r = val;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Java: reference vs value, side by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int[] box = {3};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int[] alias = box;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alias[0] = 5;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y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 = 99;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Pointer arithmetic: p + k, not k bytes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 + k</a:t>
            </a:r>
            <a:r>
              <a:rPr sz="2000" b="0">
                <a:solidFill>
                  <a:srgbClr val="1F2D3A"/>
                </a:solidFill>
              </a:rPr>
              <a:t> never moves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bytes — it moves </a:t>
            </a:r>
            <a:r>
              <a:rPr sz="2000" b="0">
                <a:solidFill>
                  <a:srgbClr val="A1123F"/>
                </a:solidFill>
                <a:latin typeface="Consolas"/>
              </a:rPr>
              <a:t>k × sizeof(*p)</a:t>
            </a:r>
            <a:r>
              <a:rPr sz="2000" b="0">
                <a:solidFill>
                  <a:srgbClr val="1F2D3A"/>
                </a:solidFill>
              </a:rPr>
              <a:t> bytes.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 is 4 bytes, so </a:t>
            </a:r>
            <a:r>
              <a:rPr sz="2000" b="0">
                <a:solidFill>
                  <a:srgbClr val="A1123F"/>
                </a:solidFill>
                <a:latin typeface="Consolas"/>
              </a:rPr>
              <a:t>p + 1</a:t>
            </a:r>
            <a:r>
              <a:rPr sz="2000" b="0">
                <a:solidFill>
                  <a:srgbClr val="1F2D3A"/>
                </a:solidFill>
              </a:rPr>
              <a:t> skips 4 bytes, not 1.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Pointer arithmetic, step by step</a:t>
            </a:r>
          </a:p>
        </p:txBody>
      </p:sp>
      <p:pic>
        <p:nvPicPr>
          <p:cNvPr id="7" name="Picture 6" descr="pointer-arithmetic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4544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out-of-range offsets</a:t>
            </a:r>
          </a:p>
        </p:txBody>
      </p:sp>
      <p:pic>
        <p:nvPicPr>
          <p:cNvPr id="7" name="Picture 6" descr="pointer-arithmetic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4544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pointer arithmetic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a[N];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*p = 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(k &lt; 0 || k &gt;=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out of range: undefined behavior (UB)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void *addr = (void *) (p + k);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v = *(p + k);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Pointer to a struct, and </a:t>
            </a:r>
            <a:r>
              <a:rPr sz="3000" b="1">
                <a:solidFill>
                  <a:srgbClr val="2E7D32"/>
                </a:solidFill>
                <a:latin typeface="Consolas"/>
              </a:rPr>
              <a:t>-&gt;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 groups fields into one value. </a:t>
            </a:r>
            <a:r>
              <a:rPr sz="2000" b="0">
                <a:solidFill>
                  <a:srgbClr val="A1123F"/>
                </a:solidFill>
                <a:latin typeface="Consolas"/>
              </a:rPr>
              <a:t>(*p).field</a:t>
            </a:r>
            <a:r>
              <a:rPr sz="2000" b="0">
                <a:solidFill>
                  <a:srgbClr val="1F2D3A"/>
                </a:solidFill>
              </a:rPr>
              <a:t> is so common C gives it a shorthand: </a:t>
            </a:r>
            <a:r>
              <a:rPr sz="2000" b="0">
                <a:solidFill>
                  <a:srgbClr val="A1123F"/>
                </a:solidFill>
                <a:latin typeface="Consolas"/>
              </a:rPr>
              <a:t>p-&gt;field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Struct pointer, walking an array</a:t>
            </a:r>
          </a:p>
        </p:txBody>
      </p:sp>
      <p:pic>
        <p:nvPicPr>
          <p:cNvPr id="7" name="Picture 6" descr="struct-point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2386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one student only</a:t>
            </a:r>
          </a:p>
        </p:txBody>
      </p:sp>
      <p:pic>
        <p:nvPicPr>
          <p:cNvPr id="7" name="Picture 6" descr="struct-point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22386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walking an array of structs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Student *p = students;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(; p != students + N; p++)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id = (*p).id;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grade = p-&gt;grade;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p-&gt;grade = new_grade;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*p;</a:t>
            </a:r>
            <a:r>
              <a:rPr sz="2000" b="0">
                <a:solidFill>
                  <a:srgbClr val="1F2D3A"/>
                </a:solidFill>
              </a:rPr>
              <a:t> before it points anywhere (wild pointer)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*p, x;</a:t>
            </a:r>
            <a:r>
              <a:rPr sz="2000" b="0">
                <a:solidFill>
                  <a:srgbClr val="1F2D3A"/>
                </a:solidFill>
              </a:rPr>
              <a:t> —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is a pointer,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 in a </a:t>
            </a:r>
            <a:r>
              <a:rPr sz="2000" b="1">
                <a:solidFill>
                  <a:srgbClr val="1F2D3A"/>
                </a:solidFill>
              </a:rPr>
              <a:t>declaration</a:t>
            </a:r>
            <a:r>
              <a:rPr sz="2000" b="0">
                <a:solidFill>
                  <a:srgbClr val="1F2D3A"/>
                </a:solidFill>
              </a:rPr>
              <a:t> vs an </a:t>
            </a:r>
            <a:r>
              <a:rPr sz="2000" b="1">
                <a:solidFill>
                  <a:srgbClr val="1F2D3A"/>
                </a:solidFill>
              </a:rPr>
              <a:t>expression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Java's exception is not the same as C's undefined behavior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Given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 = &amp;x;</a:t>
            </a:r>
            <a:r>
              <a:rPr sz="2000" b="0">
                <a:solidFill>
                  <a:srgbClr val="1F2D3A"/>
                </a:solidFill>
              </a:rPr>
              <a:t>, what is the difference between </a:t>
            </a:r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p</a:t>
            </a:r>
            <a:r>
              <a:rPr sz="2000" b="0">
                <a:solidFill>
                  <a:srgbClr val="1F2D3A"/>
                </a:solidFill>
              </a:rPr>
              <a:t> is the </a:t>
            </a:r>
            <a:r>
              <a:rPr sz="2000" b="1">
                <a:solidFill>
                  <a:srgbClr val="1F2D3A"/>
                </a:solidFill>
              </a:rPr>
              <a:t>address</a:t>
            </a:r>
            <a:r>
              <a:rPr sz="2000" b="0">
                <a:solidFill>
                  <a:srgbClr val="1F2D3A"/>
                </a:solidFill>
              </a:rPr>
              <a:t> stored in the pointer (x's address). </a:t>
            </a:r>
            <a:r>
              <a:rPr sz="2000" b="0">
                <a:solidFill>
                  <a:srgbClr val="A1123F"/>
                </a:solidFill>
                <a:latin typeface="Consolas"/>
              </a:rPr>
              <a:t>*p</a:t>
            </a:r>
            <a:r>
              <a:rPr sz="2000" b="0">
                <a:solidFill>
                  <a:srgbClr val="1F2D3A"/>
                </a:solidFill>
              </a:rPr>
              <a:t> is the </a:t>
            </a:r>
            <a:r>
              <a:rPr sz="2000" b="1">
                <a:solidFill>
                  <a:srgbClr val="1F2D3A"/>
                </a:solidFill>
              </a:rPr>
              <a:t>value</a:t>
            </a:r>
            <a:r>
              <a:rPr sz="2000" b="0">
                <a:solidFill>
                  <a:srgbClr val="1F2D3A"/>
                </a:solidFill>
              </a:rPr>
              <a:t> at that address (x's value).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Java need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-&gt;</a:t>
            </a:r>
            <a:r>
              <a:rPr sz="2000" b="0">
                <a:solidFill>
                  <a:srgbClr val="1F2D3A"/>
                </a:solidFill>
              </a:rPr>
              <a:t> operator at all?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object/array variable in Java is </a:t>
            </a:r>
            <a:r>
              <a:rPr sz="2000" b="1">
                <a:solidFill>
                  <a:srgbClr val="1F2D3A"/>
                </a:solidFill>
              </a:rPr>
              <a:t>already a reference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.</a:t>
            </a:r>
            <a:r>
              <a:rPr sz="2000" b="0">
                <a:solidFill>
                  <a:srgbClr val="1F2D3A"/>
                </a:solidFill>
              </a:rPr>
              <a:t> always means "follow it, then access the field".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Memory Layout: Stack, Heap, and Who Cleans Up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function declares a local array and returns. What happens to it? Now compare: a function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s a block and returns without freeing.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 — one frame per call, back to Algol 60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`malloc`/`free`</a:t>
            </a:r>
            <a:r>
              <a:rPr sz="2000" b="0">
                <a:solidFill>
                  <a:srgbClr val="1F2D3A"/>
                </a:solidFill>
              </a:rPr>
              <a:t> — earliest Unix C libraries, early 1970s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Garbage collection</a:t>
            </a:r>
            <a:r>
              <a:rPr sz="2000" b="0">
                <a:solidFill>
                  <a:srgbClr val="1F2D3A"/>
                </a:solidFill>
              </a:rPr>
              <a:t> — McCarthy, Lisp, </a:t>
            </a:r>
            <a:r>
              <a:rPr sz="2000" b="1">
                <a:solidFill>
                  <a:srgbClr val="1F2D3A"/>
                </a:solidFill>
              </a:rPr>
              <a:t>1959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 (1995) made GC mainstream for everyday programming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Intuition: a neat pile vs a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: every call pushes a frame; return pops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Always LIFO, always automatic, always fast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Heap</a:t>
            </a:r>
            <a:r>
              <a:rPr sz="2000" b="0">
                <a:solidFill>
                  <a:srgbClr val="1F2D3A"/>
                </a:solidFill>
              </a:rPr>
              <a:t>: you ask for a block; it stays until </a:t>
            </a:r>
            <a:r>
              <a:rPr sz="2000" b="0" i="1">
                <a:solidFill>
                  <a:srgbClr val="1F2D3A"/>
                </a:solidFill>
              </a:rPr>
              <a:t>given back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Nobody does that "giving back" for you in C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Stack vs heap, side by side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207"/>
                <a:gridCol w="3967830"/>
                <a:gridCol w="5101496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Stack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Heap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Allocates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Compiler, automatically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You: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malloc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(C)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new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(Java)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Freed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Automatically, on return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C: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free()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. Java: the GC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Extremely fast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Slower: finds a free block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a stack frame connects to a heap block</a:t>
            </a:r>
          </a:p>
        </p:txBody>
      </p:sp>
      <p:pic>
        <p:nvPicPr>
          <p:cNvPr id="7" name="Picture 6" descr="stack-vs-he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055" y="1325880"/>
            <a:ext cx="34235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dangling pointer, flagged</a:t>
            </a:r>
          </a:p>
        </p:txBody>
      </p:sp>
      <p:pic>
        <p:nvPicPr>
          <p:cNvPr id="7" name="Picture 6" descr="stack-vs-he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055" y="1325880"/>
            <a:ext cx="342358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alloc_block / free_block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*alloc_block(int size)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*p = malloc(size * sizeof(int));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free_block(int *p)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Java: </a:t>
            </a:r>
            <a:r>
              <a:rPr sz="3000" b="1">
                <a:solidFill>
                  <a:srgbClr val="2E7D32"/>
                </a:solidFill>
                <a:latin typeface="Consolas"/>
              </a:rPr>
              <a:t>new</a:t>
            </a:r>
            <a:r>
              <a:rPr sz="3000" b="1">
                <a:solidFill>
                  <a:srgbClr val="2E7D32"/>
                </a:solidFill>
              </a:rPr>
              <a:t> and garbage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C, 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— or using a pointer after freeing it — is entirely your job to avoid. Java removes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from the language.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Java references, aliasing, GC</a:t>
            </a:r>
          </a:p>
        </p:txBody>
      </p:sp>
      <p:pic>
        <p:nvPicPr>
          <p:cNvPr id="7" name="Picture 6" descr="java-reference-he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670" y="1325880"/>
            <a:ext cx="80163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cycle, still collected</a:t>
            </a:r>
          </a:p>
        </p:txBody>
      </p:sp>
      <p:pic>
        <p:nvPicPr>
          <p:cNvPr id="7" name="Picture 6" descr="java-reference-hea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670" y="1325880"/>
            <a:ext cx="801635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Java references: alias and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p = new Node();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q =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p.ref = q;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q.ref = 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q = null;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Dangling pointer: use pointer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Double free: freeing the same pointer twice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on an early-return path (a </a:t>
            </a:r>
            <a:r>
              <a:rPr sz="2000" b="1">
                <a:solidFill>
                  <a:srgbClr val="1F2D3A"/>
                </a:solidFill>
              </a:rPr>
              <a:t>leak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Java's GC makes leaks impossible (it does not)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Preview: array layout vs linked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 reserves one contiguous block: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arr[i]</a:t>
            </a:r>
            <a:r>
              <a:rPr sz="2000" b="0">
                <a:solidFill>
                  <a:srgbClr val="1F2D3A"/>
                </a:solidFill>
              </a:rPr>
              <a:t> is a single calculation, O(1). A linked list scatters nodes, joined by pointers.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vs linked layout, step by step</a:t>
            </a:r>
          </a:p>
        </p:txBody>
      </p:sp>
      <p:pic>
        <p:nvPicPr>
          <p:cNvPr id="7" name="Picture 6" descr="array-vs-linked-previe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79" y="1325880"/>
            <a:ext cx="849733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last element: most hops</a:t>
            </a:r>
          </a:p>
        </p:txBody>
      </p:sp>
      <p:pic>
        <p:nvPicPr>
          <p:cNvPr id="7" name="Picture 6" descr="array-vs-linked-previe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179" y="1325880"/>
            <a:ext cx="849733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building a linked 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*head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N - 1; i &gt;= 0; i--)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*node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node-&gt;data = arr[i];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node-&gt;next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head = node;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function declares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arr[100];</a:t>
            </a:r>
            <a:r>
              <a:rPr sz="2000" b="0">
                <a:solidFill>
                  <a:srgbClr val="1F2D3A"/>
                </a:solidFill>
              </a:rPr>
              <a:t> locally and returns a pointer to it. What is wrong?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arr</a:t>
            </a:r>
            <a:r>
              <a:rPr sz="2000" b="0">
                <a:solidFill>
                  <a:srgbClr val="1F2D3A"/>
                </a:solidFill>
              </a:rPr>
              <a:t> lives on the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, in that frame. The instant the function returns, the frame is popped — the pointer is dangling already.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free(block); block = NULL;</a:t>
            </a:r>
            <a:r>
              <a:rPr sz="2000" b="0">
                <a:solidFill>
                  <a:srgbClr val="1F2D3A"/>
                </a:solidFill>
              </a:rPr>
              <a:t> — in that order — matter?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needs the real address.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ing first makes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free(NULL)</a:t>
            </a:r>
            <a:r>
              <a:rPr sz="2000" b="0">
                <a:solidFill>
                  <a:srgbClr val="1F2D3A"/>
                </a:solidFill>
              </a:rPr>
              <a:t> do nothing — the block leaks, its address lost forever.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can a dangling pointer never occur in Java the way it does in C?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Java has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: an object is only reclaimed once the GC proves nothing can reach it — never while still reachable.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ASN.1, BER TLV, and PER TLV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Two programs, different languages, different machines, exchange a record as bytes. A raw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</a:t>
            </a:r>
            <a:r>
              <a:rPr sz="2000" b="0">
                <a:solidFill>
                  <a:srgbClr val="1F2D3A"/>
                </a:solidFill>
              </a:rPr>
              <a:t> layout is not portable at all.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1984</a:t>
            </a:r>
            <a:r>
              <a:rPr sz="2000" b="0">
                <a:solidFill>
                  <a:srgbClr val="1F2D3A"/>
                </a:solidFill>
              </a:rPr>
              <a:t> — ASN.1 born as ITU-T/CCITT X.409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1995</a:t>
            </a:r>
            <a:r>
              <a:rPr sz="2000" b="0">
                <a:solidFill>
                  <a:srgbClr val="1F2D3A"/>
                </a:solidFill>
              </a:rPr>
              <a:t> — X.680 series: the modern, current form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BER</a:t>
            </a:r>
            <a:r>
              <a:rPr sz="2000" b="0">
                <a:solidFill>
                  <a:srgbClr val="1F2D3A"/>
                </a:solidFill>
              </a:rPr>
              <a:t> (X.690) — self-describing tag + length + value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PER</a:t>
            </a:r>
            <a:r>
              <a:rPr sz="2000" b="0">
                <a:solidFill>
                  <a:srgbClr val="1F2D3A"/>
                </a:solidFill>
              </a:rPr>
              <a:t> (X.691, 1994) — packs bits when both sides know the schema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Intuition: an envelope, three parts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Tag</a:t>
            </a:r>
            <a:r>
              <a:rPr sz="2000" b="0">
                <a:solidFill>
                  <a:srgbClr val="1F2D3A"/>
                </a:solidFill>
              </a:rPr>
              <a:t>: what kind of value is this?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Length</a:t>
            </a:r>
            <a:r>
              <a:rPr sz="2000" b="0">
                <a:solidFill>
                  <a:srgbClr val="1F2D3A"/>
                </a:solidFill>
              </a:rPr>
              <a:t>: how many bytes does it take?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Value</a:t>
            </a:r>
            <a:r>
              <a:rPr sz="2000" b="0">
                <a:solidFill>
                  <a:srgbClr val="1F2D3A"/>
                </a:solidFill>
              </a:rPr>
              <a:t>: the content itself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Universally called </a:t>
            </a:r>
            <a:r>
              <a:rPr sz="2000" b="1">
                <a:solidFill>
                  <a:srgbClr val="1F2D3A"/>
                </a:solidFill>
              </a:rPr>
              <a:t>TLV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TLV byte layout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64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490"/>
                <a:gridCol w="2424785"/>
                <a:gridCol w="6971258"/>
              </a:tblGrid>
              <a:tr h="441197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Part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encodes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 byte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class · primitive/constructed · tag number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4119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Length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1+ bytes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short form (0–127) or long form (≥128)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44120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Length bytes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the content, or nested TLVs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TLV encoding, field by field</a:t>
            </a:r>
          </a:p>
        </p:txBody>
      </p:sp>
      <p:pic>
        <p:nvPicPr>
          <p:cNvPr id="7" name="Picture 6" descr="tlv-encod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12" y="1325880"/>
            <a:ext cx="2789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length that needs the long form</a:t>
            </a:r>
          </a:p>
        </p:txBody>
      </p:sp>
      <p:pic>
        <p:nvPicPr>
          <p:cNvPr id="7" name="Picture 6" descr="tlv-encod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12" y="1325880"/>
            <a:ext cx="278967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encode_length: short vs long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(len &lt; 128)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out[0] = (unsigned char) 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n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(len &gt;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tmp[n++] = (unsigned char) (len &amp; 0xFF);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len &gt;&gt;= 8;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out[0] = (unsigned char) (0x80 | n);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BER vs PER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049"/>
                <a:gridCol w="4236243"/>
                <a:gridCol w="4236243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Self-describing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Yes: tag + length every field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No: schema must be known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Larger: 2+ bytes per field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Much smaller: bits, not bytes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Typical use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X.509, LDAP, SNMP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Bandwidth-critical (cellular)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PER: exactly as many bits as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both sides know a field's range </a:t>
            </a:r>
            <a:r>
              <a:rPr sz="2000" b="0">
                <a:solidFill>
                  <a:srgbClr val="A1123F"/>
                </a:solidFill>
                <a:latin typeface="Consolas"/>
              </a:rPr>
              <a:t>[min, max]</a:t>
            </a:r>
            <a:r>
              <a:rPr sz="2000" b="0">
                <a:solidFill>
                  <a:srgbClr val="1F2D3A"/>
                </a:solidFill>
              </a:rPr>
              <a:t>, no tag and no length are needed —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ceil(log2(max - min + 1))</a:t>
            </a:r>
            <a:r>
              <a:rPr sz="2000" b="0">
                <a:solidFill>
                  <a:srgbClr val="1F2D3A"/>
                </a:solidFill>
              </a:rPr>
              <a:t> bits.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PER encoding, bit by bit</a:t>
            </a:r>
          </a:p>
        </p:txBody>
      </p:sp>
      <p:pic>
        <p:nvPicPr>
          <p:cNvPr id="7" name="Picture 6" descr="per-encod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50" y="1325880"/>
            <a:ext cx="403099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range of size 1: zero bits</a:t>
            </a:r>
          </a:p>
        </p:txBody>
      </p:sp>
      <p:pic>
        <p:nvPicPr>
          <p:cNvPr id="7" name="Picture 6" descr="per-encod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0350" y="1325880"/>
            <a:ext cx="403099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pack_bits: one bit at a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bit = (int) ((value &gt;&gt; i) &amp; 1u);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byte_index = *bitpos / 8;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bit_index = 7 - (*bitpos % 8);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if (bit) buf[byte_index] |= the bit, MSB first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(*bitpos)++;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length prefix, hoping a fixed read works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length always fits one byte (only under 128)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Length (just V) with the whole TLV's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BER and PER bytes as interchangeable — they are not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do the three letters in TLV stand for, and in what order?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Tag, Length, Value</a:t>
            </a:r>
            <a:r>
              <a:rPr sz="2000" b="0">
                <a:solidFill>
                  <a:srgbClr val="1F2D3A"/>
                </a:solidFill>
              </a:rPr>
              <a:t> — in exactly that order: what kind, how many bytes, then the bytes themselves.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SEQUENCE's tag byte </a:t>
            </a:r>
            <a:r>
              <a:rPr sz="2000" b="0">
                <a:solidFill>
                  <a:srgbClr val="A1123F"/>
                </a:solidFill>
                <a:latin typeface="Consolas"/>
              </a:rPr>
              <a:t>0x30</a:t>
            </a:r>
            <a:r>
              <a:rPr sz="2000" b="0">
                <a:solidFill>
                  <a:srgbClr val="1F2D3A"/>
                </a:solidFill>
              </a:rPr>
              <a:t>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0x10</a:t>
            </a:r>
            <a:r>
              <a:rPr sz="2000" b="0">
                <a:solidFill>
                  <a:srgbClr val="1F2D3A"/>
                </a:solidFill>
              </a:rPr>
              <a:t> (tag number 16 in binary)?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top 3 bits are not the tag number: 2 class bits (</a:t>
            </a:r>
            <a:r>
              <a:rPr sz="2000" b="0">
                <a:solidFill>
                  <a:srgbClr val="A1123F"/>
                </a:solidFill>
                <a:latin typeface="Consolas"/>
              </a:rPr>
              <a:t>00</a:t>
            </a:r>
            <a:r>
              <a:rPr sz="2000" b="0">
                <a:solidFill>
                  <a:srgbClr val="1F2D3A"/>
                </a:solidFill>
              </a:rPr>
              <a:t>) + 1 constructed bit (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, since SEQUENCE holds more TLVs) = </a:t>
            </a:r>
            <a:r>
              <a:rPr sz="2000" b="0">
                <a:solidFill>
                  <a:srgbClr val="A1123F"/>
                </a:solidFill>
                <a:latin typeface="Consolas"/>
              </a:rPr>
              <a:t>0x30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Hands-on Lab: the C Toolchain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From here on, every week hands you C and Java programs to build yourself. The midterm project is graded, in part, on a clean build.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toolchain, briefly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GCC</a:t>
            </a:r>
            <a:r>
              <a:rPr sz="2000" b="0">
                <a:solidFill>
                  <a:srgbClr val="1F2D3A"/>
                </a:solidFill>
              </a:rPr>
              <a:t> — Richard Stallman, GNU project, </a:t>
            </a:r>
            <a:r>
              <a:rPr sz="2000" b="1">
                <a:solidFill>
                  <a:srgbClr val="1F2D3A"/>
                </a:solidFill>
              </a:rPr>
              <a:t>1987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GDB</a:t>
            </a:r>
            <a:r>
              <a:rPr sz="2000" b="0">
                <a:solidFill>
                  <a:srgbClr val="1F2D3A"/>
                </a:solidFill>
              </a:rPr>
              <a:t> — same GNU project, </a:t>
            </a:r>
            <a:r>
              <a:rPr sz="2000" b="1">
                <a:solidFill>
                  <a:srgbClr val="1F2D3A"/>
                </a:solidFill>
              </a:rPr>
              <a:t>1986</a:t>
            </a:r>
            <a:r>
              <a:rPr sz="2000" b="0">
                <a:solidFill>
                  <a:srgbClr val="1F2D3A"/>
                </a:solidFill>
              </a:rPr>
              <a:t>: step through, inspect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CMake</a:t>
            </a:r>
            <a:r>
              <a:rPr sz="2000" b="0">
                <a:solidFill>
                  <a:srgbClr val="1F2D3A"/>
                </a:solidFill>
              </a:rPr>
              <a:t> — generates build files for whatever tool you have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CMakeLists.txt</a:t>
            </a:r>
            <a:r>
              <a:rPr sz="2000" b="0">
                <a:solidFill>
                  <a:srgbClr val="1F2D3A"/>
                </a:solidFill>
              </a:rPr>
              <a:t> builds on Windows, WSL, and Linux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your first compile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#include &lt;stdio.h&gt;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main(void)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printf("Hello, Data Structures!\n");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hello_workshop.c &amp;&amp; /tmp/x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Compile with warnings on, and read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-Wall -Wextra</a:t>
            </a:r>
            <a:r>
              <a:rPr sz="2000" b="0">
                <a:solidFill>
                  <a:srgbClr val="1F2D3A"/>
                </a:solidFill>
              </a:rPr>
              <a:t> catches unused variables, suspicious comparisons, format mismatches. Every program here must compile </a:t>
            </a:r>
            <a:r>
              <a:rPr sz="2000" b="1">
                <a:solidFill>
                  <a:srgbClr val="1F2D3A"/>
                </a:solidFill>
              </a:rPr>
              <a:t>cleanly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small bug hunt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average_buggy(const 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sum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sum = sum + arr[i];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sum /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Finding it with gdb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method: set a breakpoint, run, inspect a variable, confirm or refute a hypothesis. Watch it happen live, step by step.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Debugger stepping, live</a:t>
            </a:r>
          </a:p>
        </p:txBody>
      </p:sp>
      <p:pic>
        <p:nvPicPr>
          <p:cNvPr id="7" name="Picture 6" descr="debugger-stepp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empty-array guard</a:t>
            </a:r>
          </a:p>
        </p:txBody>
      </p:sp>
      <p:pic>
        <p:nvPicPr>
          <p:cNvPr id="7" name="Picture 6" descr="debugger-stepp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92629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gdb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break debug_average.c:11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run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print sum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print sum / 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print (double) sum / 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(gdb) continue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CMakeLists.txt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cmake_minimum_required(VERSION 3.20)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project(week1_cmake_demo C)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add_executable(week1_cmake_demo main.c)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cmake -S . -B build &amp;&amp; cmake --build build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note on Visual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Build → Build Solution compiles; Debug → Start Debugging (F5) runs under the debugger; clicking the margin sets a breakpoint.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-std=c11</a:t>
            </a:r>
            <a:r>
              <a:rPr sz="2000" b="0">
                <a:solidFill>
                  <a:srgbClr val="1F2D3A"/>
                </a:solidFill>
              </a:rPr>
              <a:t>: different behavior per machine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Committing a </a:t>
            </a:r>
            <a:r>
              <a:rPr sz="2000" b="0">
                <a:solidFill>
                  <a:srgbClr val="A1123F"/>
                </a:solidFill>
                <a:latin typeface="Consolas"/>
              </a:rPr>
              <a:t>build/</a:t>
            </a:r>
            <a:r>
              <a:rPr sz="2000" b="0">
                <a:solidFill>
                  <a:srgbClr val="1F2D3A"/>
                </a:solidFill>
              </a:rPr>
              <a:t> folder or 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 files to Git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Running a stale executable after a failed compile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Reaching only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printf</a:t>
            </a:r>
            <a:r>
              <a:rPr sz="2000" b="0">
                <a:solidFill>
                  <a:srgbClr val="1F2D3A"/>
                </a:solidFill>
              </a:rPr>
              <a:t>, never a two-minute gdb session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-Wall -Wextra</a:t>
            </a:r>
            <a:r>
              <a:rPr sz="2000" b="0">
                <a:solidFill>
                  <a:srgbClr val="1F2D3A"/>
                </a:solidFill>
              </a:rPr>
              <a:t> do, and why does this course require a clean build under it?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enables a wide set of warnings. They usually point at real bugs — requiring a clean build fixes them immediately.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is the difference between what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 -S . -B build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cmake --build build</a:t>
            </a:r>
            <a:r>
              <a:rPr sz="2000" b="0">
                <a:solidFill>
                  <a:srgbClr val="1F2D3A"/>
                </a:solidFill>
              </a:rPr>
              <a:t> each do?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first </a:t>
            </a:r>
            <a:r>
              <a:rPr sz="2000" b="1">
                <a:solidFill>
                  <a:srgbClr val="1F2D3A"/>
                </a:solidFill>
              </a:rPr>
              <a:t>configures</a:t>
            </a:r>
            <a:r>
              <a:rPr sz="2000" b="0">
                <a:solidFill>
                  <a:srgbClr val="1F2D3A"/>
                </a:solidFill>
              </a:rPr>
              <a:t>: generates build files, compiles nothing. The second </a:t>
            </a:r>
            <a:r>
              <a:rPr sz="2000" b="1">
                <a:solidFill>
                  <a:srgbClr val="1F2D3A"/>
                </a:solidFill>
              </a:rPr>
              <a:t>builds</a:t>
            </a:r>
            <a:r>
              <a:rPr sz="2000" b="0">
                <a:solidFill>
                  <a:srgbClr val="1F2D3A"/>
                </a:solidFill>
              </a:rPr>
              <a:t>: invokes that tool to compile and link.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foundations of the semester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997"/>
                <a:gridCol w="751053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Data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Known, analyzable cost — always a trade-off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Linear vs non-linear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"next" vs possibly several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Big-O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Upper bound on growth; read off the dominant term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Space complexity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Same idea, applied to extra memory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memory and encoding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204"/>
                <a:gridCol w="7565330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Pointer / reference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Stores an address;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&amp;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*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-&gt;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 / heap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Automatic, LIFO / requested, released explicitly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TLV / BER / 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Self-describing bytes, or bits packed by schema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toolchain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gcc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gdb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CMake — compile, run, debug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Two tools, built today — </a:t>
            </a:r>
            <a:r>
              <a:rPr sz="2000" b="1">
                <a:solidFill>
                  <a:srgbClr val="1F2D3A"/>
                </a:solidFill>
              </a:rPr>
              <a:t>Big-O</a:t>
            </a:r>
            <a:r>
              <a:rPr sz="2000" b="0">
                <a:solidFill>
                  <a:srgbClr val="1F2D3A"/>
                </a:solidFill>
              </a:rPr>
              <a:t> to measure cost, and a picture of </a:t>
            </a:r>
            <a:r>
              <a:rPr sz="2000" b="1">
                <a:solidFill>
                  <a:srgbClr val="1F2D3A"/>
                </a:solidFill>
              </a:rPr>
              <a:t>memory</a:t>
            </a:r>
            <a:r>
              <a:rPr sz="2000" b="0">
                <a:solidFill>
                  <a:srgbClr val="1F2D3A"/>
                </a:solidFill>
              </a:rPr>
              <a:t> — judge every single structure for the rest of term.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Five short questions. Think before the answer appears. Full exercises and a ten-question quiz are in the week notes.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Why can two different, correct algorithms have very different Big-O?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Big-O measures the </a:t>
            </a:r>
            <a:r>
              <a:rPr sz="3000" b="1" i="1">
                <a:solidFill>
                  <a:srgbClr val="2E7D32"/>
                </a:solidFill>
              </a:rPr>
              <a:t>number of steps</a:t>
            </a:r>
            <a:r>
              <a:rPr sz="3000" b="1">
                <a:solidFill>
                  <a:srgbClr val="2E7D32"/>
                </a:solidFill>
              </a:rPr>
              <a:t>, not whether the answer is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Linear search and binary search both correctly find a value, at O(n) and O(log n) respectively.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Order these from fastest- to slowest-growing: O(n log n), O(1), O(n), O(log n), O(n²)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O(1) &lt; O(log n) &lt; O(n) &lt; O(n log n) &lt; O(n²)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Why does binary search require a sorted array?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Comparing to the middle only helps if one side is guaranteed smaller and the other larger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That guarantee is exactly what "sorted" means. Linear search relies on no ordering.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In a BER TLV encoding, what does the Length field actually count?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bytes in the Value that immediately follow — not the whole TLV's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SEQUENCE example had Length = 8, but the whole encoded SEQUENCE was 10 bytes.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 Why does </a:t>
            </a:r>
            <a:r>
              <a:rPr sz="3000" b="1">
                <a:solidFill>
                  <a:srgbClr val="2E7D32"/>
                </a:solidFill>
                <a:latin typeface="Consolas"/>
              </a:rPr>
              <a:t>p-&gt;x</a:t>
            </a:r>
            <a:r>
              <a:rPr sz="3000" b="1">
                <a:solidFill>
                  <a:srgbClr val="2E7D32"/>
                </a:solidFill>
              </a:rPr>
              <a:t> exist, and what is it shorthand for?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p-&gt;x</a:t>
            </a:r>
            <a:r>
              <a:rPr sz="3000" b="1">
                <a:solidFill>
                  <a:srgbClr val="2E7D32"/>
                </a:solidFill>
              </a:rPr>
              <a:t> is shorthand for </a:t>
            </a:r>
            <a:r>
              <a:rPr sz="3000" b="1">
                <a:solidFill>
                  <a:srgbClr val="2E7D32"/>
                </a:solidFill>
                <a:latin typeface="Consolas"/>
              </a:rPr>
              <a:t>(*p).x</a:t>
            </a:r>
            <a:r>
              <a:rPr sz="3000" b="1">
                <a:solidFill>
                  <a:srgbClr val="2E7D32"/>
                </a:solidFill>
              </a:rPr>
              <a:t>: dereference, then access the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It exists because this exact combination is extremely common in C code.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2 — 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Build a chain of individually allocated nodes, connected by exactly the pointers you met today, living on today's heap.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1: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CEN207-2026-2027-Guz-Izlence.en.md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</a:t>
            </a:r>
            <a:r>
              <a:rPr sz="2000" b="0" i="1">
                <a:solidFill>
                  <a:srgbClr val="1F2D3A"/>
                </a:solidFill>
              </a:rPr>
              <a:t>The Art of Computer Programming, Vol. 1</a:t>
            </a:r>
            <a:r>
              <a:rPr sz="2000" b="0">
                <a:solidFill>
                  <a:srgbClr val="1F2D3A"/>
                </a:solidFill>
              </a:rPr>
              <a:t>, 3rd 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Liskov, Zilles. "Programming with Abstract Data Types," 1974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"Big Omicron and Big Omega and Big Theta," 1976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</a:t>
            </a:r>
            <a:r>
              <a:rPr sz="2000" b="0" i="1">
                <a:solidFill>
                  <a:srgbClr val="1F2D3A"/>
                </a:solidFill>
              </a:rPr>
              <a:t>Introduction to Algorithms</a:t>
            </a:r>
            <a:r>
              <a:rPr sz="2000" b="0">
                <a:solidFill>
                  <a:srgbClr val="1F2D3A"/>
                </a:solidFill>
              </a:rPr>
              <a:t>, 3rd ed.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Kernighan, Ritchie. </a:t>
            </a:r>
            <a:r>
              <a:rPr sz="2000" b="0" i="1">
                <a:solidFill>
                  <a:srgbClr val="1F2D3A"/>
                </a:solidFill>
              </a:rPr>
              <a:t>The C Programming Language</a:t>
            </a:r>
            <a:r>
              <a:rPr sz="2000" b="0">
                <a:solidFill>
                  <a:srgbClr val="1F2D3A"/>
                </a:solidFill>
              </a:rPr>
              <a:t>, 2nd 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Liang. </a:t>
            </a:r>
            <a:r>
              <a:rPr sz="2000" b="0" i="1">
                <a:solidFill>
                  <a:srgbClr val="1F2D3A"/>
                </a:solidFill>
              </a:rPr>
              <a:t>Introduction to Java Programming</a:t>
            </a:r>
            <a:r>
              <a:rPr sz="2000" b="0">
                <a:solidFill>
                  <a:srgbClr val="1F2D3A"/>
                </a:solidFill>
              </a:rPr>
              <a:t>, 10th 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ITU-T X.680 / X.690 / X.691 — ASN.1, BER, PER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GNU (GCC, GDB) and Kitware (CMake)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1 — Introduction, Big-O and Pointers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