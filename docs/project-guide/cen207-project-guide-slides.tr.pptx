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sunum, proje rehberi sayfasını bölüm bölüm izler — hızlı başvuru sürümü olarak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ve Java sürümleri iki ayrı proje değildir — Java sürümü aynı uygulamayı genişletir.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sunumdaki her soru, sonunda bu dört bilgiye dayanıyor.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"Her konuda zorunlu" kilit ifade — konu hikâyeyi değiştirir, gereksinim listesini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Altı aşama; haftalık planın tamamı izlencededir.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Haftalık planın tamamı izlencededir — bu yalnızca projenin kendi aşamaları.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İzlencedeki aynı formüller, şimdi her kontrolün hangi ÖÇ'leri ölçtüğüyle eşleştirilmiş.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RAP1/RAP2 bu sunumun konusu olan iki kontrol noktası.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ÖÇ.6 (dosya organizasyonu) yalnız RAP2'de görünür — 13–14. haftada, vize kontrolünden sonra işlenir.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 Gereksinimler sunumundaki aynı araç zinciri, şimdi tam şablon ve depo adlarıyla.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"Yalnız PDF, HTML klasörü yok" gerçek bir kabul koşulu — arşivde HTML Doxygen çıktısı reddedilme riski taşır.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deposu ayrıca bir sürüm (release) üretmeli — bu, gösterim sırasında kontrol edilir.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Dönem boyunca açık (public) bir depo, kod kalitesinden bağımsız olarak kendi başına bir kabul koşulu sorunudur.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 şablon da github.com/ucoruh altında bulunur — "fork" burayı işaret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Neredeyse her rubrik kriteri, app'e dağılmış değil özellikle lib'te olması gereken koda karşılık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konu, sekiz grup, tek kural: tabloya ilk yazan takım 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sunum, sonlara doğru bir temsilî konuyu gösterir — 200'ü tam olarak yalnız sayfada, bilerek.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Öğrencilerin unuttuğu adım 3'tür — onay, tabloya isim yazmakla değil, planla birlikte gerçekleşir.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Gereksinimin kendisi — hangi yapı, hangi işlem — hiç değişmez, yalnızca uygulamadaki hangi özelliğin bunu gösterdiği değişir.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Vize (C) için V1–V6, final (Java) için F1–F9 — kütüphaneden değil, sizin tarafınızdan gerçekleştirilir.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Bu, gösterimde kontrol edilir — kütüphane çağrısı değil, KENDİ ekleme/silme kodunuzda satır satır gezinme.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üçü ilk üç içerik haftasında bitmeli — proje planını bunlara göre kurun, tüm listeye göre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V6, vize gösteriminden hemen önceki haftada işlenen son gereksinim — tampon süreyi buna göre planlayın.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F1, C'de zaten kurulmuş her şeyin taşınmasıdır — yeni işlevsellik değildir, ama gerçek bir iştir.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F6, iki ayrı haftada işlenir (trie 9. haftada, ayrık kümeler dizelerle birlikte 12. haftada) — iki geçişte planlayın.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F7–F9, final gösteriminden hemen önceki iki haftada işlenen son üç gereksinim — takvimin en sıkışık kısmı.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"Kalıcı" gösterimde tam olarak sınanır: kayıt ekleyin, programı kapatın, yeniden açın, kaydın hâlâ orada olduğunu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dört kural, sunumun ilerisindeki "Kabul koşulları"nda kontrol edilen aynı dört kuraldır — isteğe bağlı cila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Kontrol başına bir arşiv, rapor kapağında depo bağlantısıyla birlikte.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Sunum ve video yalnız final içindir — vize kontrolü kod, rapor ve canlı gösterimden ibarettir, önceden kaydedilen bir şey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Bu, gitignore'a göre süzülmüş bir GitHub deposu klonudur — açıldığında kendi başına derlenir.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video/ açıkça GitHub'a commit EDİLMEZ — yalnız teslimden hemen önce zip arşivine eklenir.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Tutarsız adlandırma, onlarca teslimi notlandırırken küçük ama önlenebilir bir kafa karışıklığı kaynağıdır.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yalnız tavsiye değil, notlandırılır — "Yazılım mühendisliği" her kontrolde 20 puanlık bir rubrik kriteridir.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 gösterim sorusu doğrudan "dallar nasıl kullanıldı, birleştirme/çakışma nasıl çözüldü" diye sorar — bu bir formalite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İKİ üyeden anlamlı commit'ler açık bir kabul koşulu — commit'lerin hepsinde tek bir üyenin adı kırmızı bayraktır.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Sürüm etiketi, "değerlendirmeye sunduğunuz durum" ifadesinin tam karşılığıdır — etiketleyin, main o an ne ise onu teslim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 rubrik, her biri 100 puan, yedişer kriter — her kriter 1–5 başarı ölçeğinde.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Formül önemli: düzey-3 bir kriter puanının %60'ını alır, sıfır değil — kısmi puan gerçek ve doğrusal ölçeklenir.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1–4. kriterler (65 puan) dört V-kod grubu; 5–7 (35 puan) yalnız kod değil, analiz ve mühendislik.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Yalnız dosya organizasyonu finalde 100 puanın 20'si — mühendislik ve sunumun toplamıyla aynı ağırlık.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kaybedilen rubrik puanı değil — bunlardan birini karşılamayan teslim hiç kabul edilmez.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Bu, rubrik uygulanmadan önce kontrol edilen sert bir kapıdır — önce bunları düzeltin, sonra puanı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 takım başına yaklaşık 10 dakika — bunlar soru kategorileri, sabit bir senaryo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"İki üye" tam olarak kontrol edilir — yalnız bir üyenin commit attığı depo başlı başına bir bulgudur.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"Satır satır" gerçektir — kodu gösterip anlatabilmek burada değerlendirilen şeydir.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Bu, kurallar slaytındaki "kalıcılık" testinin tam olarak öğretim üyesi önünde canlı yapılan hâli.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"Ortak anlama"nın yalnız test edilmekle kalmayıp notlandırılmasının nedeni bu bölüm — gösterim bunu doğrudan kontrol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Kod incelemesi ve gösterim, etik ilkelerin tarif ettiği dürüstlüğü tam olarak sınar — bu soyut bir madde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"Notlandırılmaz", "puan kaybeder"den daha güçlü — açıklanamayan bir bölüm puana hiç dahil edilmez.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sık sorulanlardan birkaçı — tam liste proje rehberi sayfasında.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Üç cevap da aynı kurala dayanır: takım-konu tablosu ilk gelene, sonra kilitlenir.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üçü de bu sunumun daha önceki "Kabul koşulları" slaydına dayanır — tekrar okumaya değer.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25'erli sekiz grupta 200 konu — bu sunum haritayı ve tek bir çözümlü örneği gösterir, 200'ünü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veriler sentetiktir ve her uygulama ağ bağlantısı kullanmaz — 5.3'teki bu kural sekiz grubun tamamında geçerli.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Sonraki iki slayt, bu örüntünün çözümlü örneği olarak tek bir konu kutusunu tam olarak gösteriyor.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Bu, 200 konudan 001 numaralısı — sayfadaki diğerlerine göz atmadan önce örüntünün tamamının görülmesi için tam olarak gösterildi.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V1–V6 ve F1–F9'un her biri tam olarak bir kez geçiyor — 200 konu kutusunun tamamının izlediği kural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Sunuma yalnız bir konu koymak bilinçli bir tercih — 200 konu kutusu sayfaya aittir, 200 slayta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İzlence, Ön Gereksinimler ve bu rehber, 1. haftada her öğrencinin açık tutması gereken üç sayfa.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CEN207 Dönem Projesi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Proje Rehberi — 2026-2027 Güz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Tek proje, iki kez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dönem </a:t>
            </a:r>
            <a:r>
              <a:rPr sz="2000" b="1">
                <a:solidFill>
                  <a:srgbClr val="1F2D3A"/>
                </a:solidFill>
              </a:rPr>
              <a:t>tek bir proje</a:t>
            </a:r>
            <a:r>
              <a:rPr sz="2000" b="0">
                <a:solidFill>
                  <a:srgbClr val="1F2D3A"/>
                </a:solidFill>
              </a:rPr>
              <a:t>: listeden seçtiğiniz bir uygulama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öğrenilen veri yapıları ve algoritmalarla </a:t>
            </a:r>
            <a:r>
              <a:rPr sz="2000" b="1">
                <a:solidFill>
                  <a:srgbClr val="1F2D3A"/>
                </a:solidFill>
              </a:rPr>
              <a:t>iki kez</a:t>
            </a:r>
            <a:r>
              <a:rPr sz="2000" b="0">
                <a:solidFill>
                  <a:srgbClr val="1F2D3A"/>
                </a:solidFill>
              </a:rPr>
              <a:t> gerçekleştirilir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ile (vize kontrolü), sonra genişletilerek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ile (final kontrolü)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"neden bu yapıyı seçtim?" sorusunu </a:t>
            </a:r>
            <a:r>
              <a:rPr sz="2000" b="1">
                <a:solidFill>
                  <a:srgbClr val="1F2D3A"/>
                </a:solidFill>
              </a:rPr>
              <a:t>sayılarla</a:t>
            </a:r>
            <a:r>
              <a:rPr sz="2000" b="0">
                <a:solidFill>
                  <a:srgbClr val="1F2D3A"/>
                </a:solidFill>
              </a:rPr>
              <a:t> yanıtlamak — karmaşıklık ve ölçüm, görüş değil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Kısaca — takım ve kontroller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Takım:</a:t>
            </a:r>
            <a:r>
              <a:rPr sz="2000" b="0">
                <a:solidFill>
                  <a:srgbClr val="1F2D3A"/>
                </a:solidFill>
              </a:rPr>
              <a:t> en çok 3 kişi (tek başınıza da olur)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konuyu </a:t>
            </a:r>
            <a:r>
              <a:rPr sz="2000" b="1">
                <a:solidFill>
                  <a:srgbClr val="1F2D3A"/>
                </a:solidFill>
              </a:rPr>
              <a:t>yalnız bir takım</a:t>
            </a:r>
            <a:r>
              <a:rPr sz="2000" b="0">
                <a:solidFill>
                  <a:srgbClr val="1F2D3A"/>
                </a:solidFill>
              </a:rPr>
              <a:t> alır; 3. haftadan sonra takım değişmez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Vize kontrolü (RAP1):</a:t>
            </a:r>
            <a:r>
              <a:rPr sz="2000" b="0">
                <a:solidFill>
                  <a:srgbClr val="1F2D3A"/>
                </a:solidFill>
              </a:rPr>
              <a:t> C gerçekleştirimi, rapor, gösterim — 7. hafta, 30.10.2026 — vizenin %60'ı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Final kontrolü (RAP2):</a:t>
            </a:r>
            <a:r>
              <a:rPr sz="2000" b="0">
                <a:solidFill>
                  <a:srgbClr val="1F2D3A"/>
                </a:solidFill>
              </a:rPr>
              <a:t> Java gerçekleştirimi, rapor, gösterim — 15. hafta, 25.12.2026 — finalin %70'i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Kısaca — araçlar, kapsam, son tarihler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CMake + GoogleTest + Doxygen (C); JDK 21 + Maven + JUnit 5 (Java); Git ve GitHub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Kapsam:</a:t>
            </a:r>
            <a:r>
              <a:rPr sz="2000" b="0">
                <a:solidFill>
                  <a:srgbClr val="1F2D3A"/>
                </a:solidFill>
              </a:rPr>
              <a:t> her konuda bütün gereksinim kodları (V1–V6, F1–F9) zorunludur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Konu kutusu, her kodun o uygulamada neyi temsil ettiğini söyler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 tarihler:</a:t>
            </a:r>
            <a:r>
              <a:rPr sz="2000" b="0">
                <a:solidFill>
                  <a:srgbClr val="1F2D3A"/>
                </a:solidFill>
              </a:rPr>
              <a:t> konu/takım seçimi 3. hafta sonuna kadar (04.10.2026); plan onayı 4. haftada (09.10.2026)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Takvim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Proje takvimi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5550"/>
                <a:gridCol w="2378155"/>
                <a:gridCol w="2797829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Konu ve takım seçimi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3. hafta sonu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04.10.2026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 planı onayı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4. hafta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09.10.2026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Vize gösterimi + ara rapor (RAP1)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30.10.2026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8. hafta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31.10–08.11.2026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 gösterimi + final raporu (RAP2)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25.12.2026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16. hafta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04–17.01.2027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Değerlendirme Yapısı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Proje not hesabını nasıl besliyor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Not_{Vize} = 0{,}6 cdot RAP1 + 0{,}4 cdot Quiztext{-}1 $$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Not_{Final} = 0{,}7 cdot RAP2 + 0{,}3 cdot Quiztext{-}2 $$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Başarı notu = 0{,}4 cdot Vize + 0{,}6 cdot Final $$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Her kontrol hangi ÖÇ'leri ölçüyor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10459"/>
                <a:gridCol w="2473281"/>
                <a:gridCol w="1163897"/>
                <a:gridCol w="1163897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Bloom düzeyi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RAP1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RAP2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 Doğrusal/doğrusal olmayan yapılar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ÖÇ.2 Zaman/uzay karmaşıklığı (Büyük O)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 Sıralama ve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ÖÇ.4 Ağaçlar ve hash tabloları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ÖÇ.5 Çizge algoritmaları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ÖÇ.6 Dosya organizasyonu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ÖÇ.7 Yapı/algoritma seçimi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Sentez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Araçlar ve Kurulum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Araçlar — C tarafı (vize)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59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163"/>
                <a:gridCol w="2117163"/>
                <a:gridCol w="3012886"/>
                <a:gridCol w="3664321"/>
              </a:tblGrid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için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Çıktı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Koşul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GCC/Clang/MSVC + CMake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uygulamasını 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Çalıştırılabilir (teslim edilmez)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Hatasız, Windows + WSL/Linux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GoogleTest + gcov/lcov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Birim testi, kapsam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HTML kapsam raporu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%100 satır kapsamı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649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Doxygen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belgesi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%100 kapsam; yalnız PDF, HTML klasörü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Araçlar — Java tarafı (final) ve ortak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7651"/>
                <a:gridCol w="2326724"/>
                <a:gridCol w="2326724"/>
                <a:gridCol w="361043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için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Çıktı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Koşul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JDK 21 + Maven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uygulamasını 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 (release) derlemesi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mvn clean verify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hatasız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JUnit 5 + JaCoCo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Birim testi, kapsam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HTML kapsam raporu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%100 satır kapsamı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Javadoc/Doxygen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belgesi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%100 kapsam; yalnız 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+ GitHub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 kontrolü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 (private) depo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Anlamlı commit'ler, düzgün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.gitignore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GitHub Actions (isteğe bağlı)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Sürekli entegrasyon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 durumu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Etkinse, birleştirmeden önce yeşil olmalı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Şablonu fork edin, adlandırın, paylaşın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deposunu </a:t>
            </a:r>
            <a:r>
              <a:rPr sz="2000" b="1">
                <a:solidFill>
                  <a:srgbClr val="1F2D3A"/>
                </a:solidFill>
              </a:rPr>
              <a:t>fork</a:t>
            </a:r>
            <a:r>
              <a:rPr sz="2000" b="0">
                <a:solidFill>
                  <a:srgbClr val="1F2D3A"/>
                </a:solidFill>
              </a:rPr>
              <a:t> edin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koduyla adlandırın (kalıp bir sonraki slaytta)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Depoyu </a:t>
            </a:r>
            <a:r>
              <a:rPr sz="2000" b="1">
                <a:solidFill>
                  <a:srgbClr val="1F2D3A"/>
                </a:solidFill>
              </a:rPr>
              <a:t>özel (private)</a:t>
            </a:r>
            <a:r>
              <a:rPr sz="2000" b="0">
                <a:solidFill>
                  <a:srgbClr val="1F2D3A"/>
                </a:solidFill>
              </a:rPr>
              <a:t> yapın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Ders sorumlusunu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takım arkadaşınızı</a:t>
            </a:r>
            <a:r>
              <a:rPr sz="2000" b="0">
                <a:solidFill>
                  <a:srgbClr val="1F2D3A"/>
                </a:solidFill>
              </a:rPr>
              <a:t> collaborator ekleyin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Şablonlar ve depo adları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364"/>
                <a:gridCol w="4445440"/>
                <a:gridCol w="431072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Kontrol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Şablon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Depo adı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Vize (C)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cpp-cmake-ctest-template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cen207-proje-ad-soyad-c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 (Java)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eclipse-java-maven-template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cen207-proje-ad-soyad-java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şablon da derleme, birim testi, dokümantasyon üretimi, kapsam ölçümü ve paketlemeyi hazır verir — bunların </a:t>
            </a:r>
            <a:r>
              <a:rPr sz="2000" b="1">
                <a:solidFill>
                  <a:srgbClr val="1F2D3A"/>
                </a:solidFill>
              </a:rPr>
              <a:t>üzerine</a:t>
            </a:r>
            <a:r>
              <a:rPr sz="2000" b="0">
                <a:solidFill>
                  <a:srgbClr val="1F2D3A"/>
                </a:solidFill>
              </a:rPr>
              <a:t> inşa edersiniz.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lib / app / test düzeni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`lib`</a:t>
            </a:r>
            <a:r>
              <a:rPr sz="2000" b="0">
                <a:solidFill>
                  <a:srgbClr val="1F2D3A"/>
                </a:solidFill>
              </a:rPr>
              <a:t> — veri yapıları ve algoritmalar burada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`app`</a:t>
            </a:r>
            <a:r>
              <a:rPr sz="2000" b="0">
                <a:solidFill>
                  <a:srgbClr val="1F2D3A"/>
                </a:solidFill>
              </a:rPr>
              <a:t> — konsol menüleri ve kullanıcı etkileşimi;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  <a:r>
              <a:rPr sz="2000" b="0">
                <a:solidFill>
                  <a:srgbClr val="1F2D3A"/>
                </a:solidFill>
              </a:rPr>
              <a:t>'i kullanır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`test`</a:t>
            </a:r>
            <a:r>
              <a:rPr sz="2000" b="0">
                <a:solidFill>
                  <a:srgbClr val="1F2D3A"/>
                </a:solidFill>
              </a:rPr>
              <a:t> — birim testleri;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  <a:r>
              <a:rPr sz="2000" b="0">
                <a:solidFill>
                  <a:srgbClr val="1F2D3A"/>
                </a:solidFill>
              </a:rPr>
              <a:t>'i kullanır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Başlamadan önce: ortamınızın hazır olduğundan emin olun — </a:t>
            </a:r>
            <a:r>
              <a:rPr sz="2000" b="1">
                <a:solidFill>
                  <a:srgbClr val="1F2D3A"/>
                </a:solidFill>
              </a:rPr>
              <a:t>Ön Gereksinimler</a:t>
            </a:r>
            <a:r>
              <a:rPr sz="2000" b="0">
                <a:solidFill>
                  <a:srgbClr val="1F2D3A"/>
                </a:solidFill>
              </a:rPr>
              <a:t> sayfasına/sunumuna bakın.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Konu Seçimi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Konular nerede?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 rehberi sayfasının sonundaki </a:t>
            </a:r>
            <a:r>
              <a:rPr sz="2000" b="1">
                <a:solidFill>
                  <a:srgbClr val="1F2D3A"/>
                </a:solidFill>
              </a:rPr>
              <a:t>Ek — Proje konuları listesi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25'erli </a:t>
            </a:r>
            <a:r>
              <a:rPr sz="2000" b="1">
                <a:solidFill>
                  <a:srgbClr val="1F2D3A"/>
                </a:solidFill>
              </a:rPr>
              <a:t>sekiz grupta 200 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konu kutusu: kısa bir tanım, ardından her gereksinim kodu için tek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cümle — o uygulamada </a:t>
            </a:r>
            <a:r>
              <a:rPr sz="2000" b="1">
                <a:solidFill>
                  <a:srgbClr val="1F2D3A"/>
                </a:solidFill>
              </a:rPr>
              <a:t>ne sakladığı ve hangi işlemi yaptığı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Nasıl seçilir?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Listeyi inceleyin, bir konu seçin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Seçiminizi Microsoft Teams'teki </a:t>
            </a:r>
            <a:r>
              <a:rPr sz="2000" b="1">
                <a:solidFill>
                  <a:srgbClr val="1F2D3A"/>
                </a:solidFill>
              </a:rPr>
              <a:t>takım ve konu tablosuna</a:t>
            </a:r>
            <a:r>
              <a:rPr sz="2000" b="0">
                <a:solidFill>
                  <a:srgbClr val="1F2D3A"/>
                </a:solidFill>
              </a:rPr>
              <a:t> yazın — bir konuyu bir takım alır, ilk yazan 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Proje planınızla</a:t>
            </a:r>
            <a:r>
              <a:rPr sz="2000" b="0">
                <a:solidFill>
                  <a:srgbClr val="1F2D3A"/>
                </a:solidFill>
              </a:rPr>
              <a:t> birlikte onaylatın — onaydan sonra konu değişmez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Konunun kendisiyle ilgili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Konu kutusundaki eşlemeler </a:t>
            </a:r>
            <a:r>
              <a:rPr sz="2000" b="1">
                <a:solidFill>
                  <a:srgbClr val="1F2D3A"/>
                </a:solidFill>
              </a:rPr>
              <a:t>başlangıç önerisidir</a:t>
            </a:r>
            <a:r>
              <a:rPr sz="2000" b="0">
                <a:solidFill>
                  <a:srgbClr val="1F2D3A"/>
                </a:solidFill>
              </a:rPr>
              <a:t> — aynı gereksinimi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daha doğal bir özellik karşılıyorsa raporda gerekçelendirerek değiştirin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Listede olmayan bir fikir, bütün gereksinimleri anlamlı karşılıyorsa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ders sorumlusunun onayıyla seçilebilir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936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Dersi tekrar alıyorsanız:</a:t>
            </a:r>
            <a:r>
              <a:rPr sz="2000" b="0">
                <a:solidFill>
                  <a:srgbClr val="1F2D3A"/>
                </a:solidFill>
              </a:rPr>
              <a:t> önceki projenizden farklı bir konu seçin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Gereksinimler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Kütüphaneden değil, sizden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kodun yanında </a:t>
            </a:r>
            <a:r>
              <a:rPr sz="2000" b="1">
                <a:solidFill>
                  <a:srgbClr val="1F2D3A"/>
                </a:solidFill>
              </a:rPr>
              <a:t>hangi haftada işlendiği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 ÖÇ</a:t>
            </a:r>
            <a:r>
              <a:rPr sz="2000" b="0">
                <a:solidFill>
                  <a:srgbClr val="1F2D3A"/>
                </a:solidFill>
              </a:rPr>
              <a:t> vardır. Her yapının temel işlemlerini (ekleme, silme, arama, listeleme…) </a:t>
            </a:r>
            <a:r>
              <a:rPr sz="2000" b="1">
                <a:solidFill>
                  <a:srgbClr val="1F2D3A"/>
                </a:solidFill>
              </a:rPr>
              <a:t>kendiniz</a:t>
            </a:r>
            <a:r>
              <a:rPr sz="2000" b="0">
                <a:solidFill>
                  <a:srgbClr val="1F2D3A"/>
                </a:solidFill>
              </a:rPr>
              <a:t> yazarsınız.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Hazır kütüphane yapıları (ör. 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java.util</a:t>
            </a:r>
            <a:r>
              <a:rPr sz="2000" b="0">
                <a:solidFill>
                  <a:srgbClr val="1F2D3A"/>
                </a:solidFill>
              </a:rPr>
              <a:t>) bu gereksinimlerin yerine </a:t>
            </a:r>
            <a:r>
              <a:rPr sz="2000" b="1">
                <a:solidFill>
                  <a:srgbClr val="1F2D3A"/>
                </a:solidFill>
              </a:rPr>
              <a:t>sayılmaz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5.1 Vize kapsamı (C, 1–6. hafta) — V1–V3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17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0327"/>
                <a:gridCol w="8183651"/>
                <a:gridCol w="909294"/>
                <a:gridCol w="808261"/>
              </a:tblGrid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Bağlı liste: çift + XOR/dairesel; ekleme, silme, arama, iki yönde gezinme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Seyrek matris: yalnız dolu hücreleri saklama; okuma, yazma, satır/sütun gezme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62545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ve kuyruk: dizi ya da bağlı liste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5.1 Vize kapsamı (C, 1–6. hafta) — V4–V6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87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94"/>
                <a:gridCol w="7910862"/>
                <a:gridCol w="818365"/>
                <a:gridCol w="1273012"/>
              </a:tblGrid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Ağaç ve öbek: ikili ağaç + 3 dolaşma; öbek tabanlı öncelik kuyruğu; öbek sıralaması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ÖÇ.1, ÖÇ.4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Çizge ve dolaşma: komşuluk listesi/matrisi; BFS ve DFS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ÖÇ.1, ÖÇ.5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Arama ve hash: ikili arama; hash tablosu + çakışma çözümü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ÖÇ.3, ÖÇ.4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5.2 Final kapsamı (Java, 9–14. hafta) — F1–F3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17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7780398"/>
                <a:gridCol w="853946"/>
                <a:gridCol w="1328360"/>
              </a:tblGrid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Java'ya taşıma: V1–V6'nın generics'li sürümü; tek menüde bütün özellikler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9–14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ÖÇ.1, ÖÇ.7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Çizge algoritmaları: MST/en kısa yol/topo-sıralama/SCC/döngü/max-akıştan ≥2'si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62545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Sıralama: ≥3 algoritma, veri boyutlarında süreli karşılaştırma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ÖÇ.2, ÖÇ.3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5.2 Final kapsamı (Java, 9–14. hafta) — F4–F6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87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390"/>
                <a:gridCol w="7514547"/>
                <a:gridCol w="926451"/>
                <a:gridCol w="1441146"/>
              </a:tblGrid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BST ve AVL: dengeleme dönüşleri; ekleme, silme, arama, aralık sorgusu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algoritmaları: KMP/Boyer–Moore + düzenleme uzaklığı/LCS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ÖÇ.1, ÖÇ.3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Trie ve ayrık kümeler: önek ağacı + union-find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5.2 Final kapsamı (Java, 9–14. hafta) — F7–F9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17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649"/>
                <a:gridCol w="7807391"/>
                <a:gridCol w="846584"/>
                <a:gridCol w="1316909"/>
              </a:tblGrid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organizasyonu: sıralı + doğrudan erişimli dosya; dosyada çakışma çözümü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F8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B+ ağacı dizini: dosya kayıtları için ikincil anahtar dizini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ÖÇ.4, ÖÇ.6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62545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Genişleyen dosyalar: genişletilebilir hash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 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dış birleştirmeli sıralama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ÖÇ.3, ÖÇ.6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5.3 Her iki kontrolde — uygulama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Konsol uygulaması, klavyeyle gezilen menü</a:t>
            </a:r>
            <a:r>
              <a:rPr sz="2000" b="0">
                <a:solidFill>
                  <a:srgbClr val="1F2D3A"/>
                </a:solidFill>
              </a:rPr>
              <a:t> — ok tuşları/Tab, yalnız numara girişi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 veri binary dosyalarda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.bin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.dat</a:t>
            </a:r>
            <a:r>
              <a:rPr sz="2000" b="0">
                <a:solidFill>
                  <a:srgbClr val="1F2D3A"/>
                </a:solidFill>
              </a:rPr>
              <a:t>) — kayıtlar yeniden başlatmada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Karmaşıklık:</a:t>
            </a:r>
            <a:r>
              <a:rPr sz="2000" b="0">
                <a:solidFill>
                  <a:srgbClr val="1F2D3A"/>
                </a:solidFill>
              </a:rPr>
              <a:t> her işlemin Büyük O'su, hem kod yorumunda hem raporda;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iki yapı için ölçüm tablosu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5.3 Her iki kontrolde — mühendislik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 ve belge:</a:t>
            </a:r>
            <a:r>
              <a:rPr sz="2000" b="0">
                <a:solidFill>
                  <a:srgbClr val="1F2D3A"/>
                </a:solidFill>
              </a:rPr>
              <a:t> birim test kapsamı </a:t>
            </a:r>
            <a:r>
              <a:rPr sz="2000" b="1">
                <a:solidFill>
                  <a:srgbClr val="1F2D3A"/>
                </a:solidFill>
              </a:rPr>
              <a:t>%100</a:t>
            </a:r>
            <a:r>
              <a:rPr sz="2000" b="0">
                <a:solidFill>
                  <a:srgbClr val="1F2D3A"/>
                </a:solidFill>
              </a:rPr>
              <a:t>, dokümantasyon kapsamı </a:t>
            </a:r>
            <a:r>
              <a:rPr sz="2000" b="1">
                <a:solidFill>
                  <a:srgbClr val="1F2D3A"/>
                </a:solidFill>
              </a:rPr>
              <a:t>%100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Platform:</a:t>
            </a:r>
            <a:r>
              <a:rPr sz="2000" b="0">
                <a:solidFill>
                  <a:srgbClr val="1F2D3A"/>
                </a:solidFill>
              </a:rPr>
              <a:t> hem </a:t>
            </a:r>
            <a:r>
              <a:rPr sz="2000" b="1">
                <a:solidFill>
                  <a:srgbClr val="1F2D3A"/>
                </a:solidFill>
              </a:rPr>
              <a:t>Windows</a:t>
            </a:r>
            <a:r>
              <a:rPr sz="2000" b="0">
                <a:solidFill>
                  <a:srgbClr val="1F2D3A"/>
                </a:solidFill>
              </a:rPr>
              <a:t> hem </a:t>
            </a:r>
            <a:r>
              <a:rPr sz="2000" b="1">
                <a:solidFill>
                  <a:srgbClr val="1F2D3A"/>
                </a:solidFill>
              </a:rPr>
              <a:t>WSL/Linux</a:t>
            </a:r>
            <a:r>
              <a:rPr sz="2000" b="0">
                <a:solidFill>
                  <a:srgbClr val="1F2D3A"/>
                </a:solidFill>
              </a:rPr>
              <a:t>'ta derlenip çalışır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GitHub:</a:t>
            </a:r>
            <a:r>
              <a:rPr sz="2000" b="0">
                <a:solidFill>
                  <a:srgbClr val="1F2D3A"/>
                </a:solidFill>
              </a:rPr>
              <a:t> özel depo, anlamlı commit'ler, dal kullanımı, düzgün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  <a:r>
              <a:rPr sz="2000" b="0">
                <a:solidFill>
                  <a:srgbClr val="1F2D3A"/>
                </a:solidFill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dosya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Java deposu bir </a:t>
            </a:r>
            <a:r>
              <a:rPr sz="2000" b="1">
                <a:solidFill>
                  <a:srgbClr val="1F2D3A"/>
                </a:solidFill>
              </a:rPr>
              <a:t>sürüm (release)</a:t>
            </a:r>
            <a:r>
              <a:rPr sz="2000" b="0">
                <a:solidFill>
                  <a:srgbClr val="1F2D3A"/>
                </a:solidFill>
              </a:rPr>
              <a:t> üretir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Veri:</a:t>
            </a:r>
            <a:r>
              <a:rPr sz="2000" b="0">
                <a:solidFill>
                  <a:srgbClr val="1F2D3A"/>
                </a:solidFill>
              </a:rPr>
              <a:t> bütün veriler </a:t>
            </a:r>
            <a:r>
              <a:rPr sz="2000" b="1">
                <a:solidFill>
                  <a:srgbClr val="1F2D3A"/>
                </a:solidFill>
              </a:rPr>
              <a:t>sentetiktir</a:t>
            </a:r>
            <a:r>
              <a:rPr sz="2000" b="0">
                <a:solidFill>
                  <a:srgbClr val="1F2D3A"/>
                </a:solidFill>
              </a:rPr>
              <a:t> — gerçek kişi verisi asla kullanılmaz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Teslim Edilecekler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Kontrol başına ne teslim ediyorsunuz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17486"/>
                <a:gridCol w="1235268"/>
                <a:gridCol w="2058780"/>
              </a:tblGrid>
              <a:tr h="48348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Teslim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Vize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Final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 arşivi (derlenmiş dosya yok)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.docx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): tasarım, karmaşıklık, ölçüm, kapsam ekran görüntüleri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 (güncellenmiş)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Doxygen/Javadoc çıktısı —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yalnız 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kapsamı raporu (HTML, arşiv içinde)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Sunum (en çok 10 slayt)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Video (kişi başı en çok 4 dk)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Canlı gösterim ve sorular (~10 dk/takım)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Arşiv yapısı — vize (C)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cen207-vize-ad-soyad.zip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└── cen207-proje-ad-soyad-c/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lib/          # V1–V6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app/          # konsol menüleri, lib'i kullanır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test/         # GoogleTest, lib'i kullanır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CMakeLists.txt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report/cen207-vize-ad-soyad.docx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docs/cen207-vize-ad-soyad-doxygen.pdf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coverage/     # gcov/lcov HTML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.gitignore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└── README.md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Arşiv yapısı — final (Java)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cen207-final-ad-soyad.zip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└── cen207-proje-ad-soyad-java/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src/main/java/...   # V1–V6'nın taşınmışı F1, artı F2–F9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src/test/java/...   # JUnit 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pom.xml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report/, docs/, coverage/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presentation/cen207-final-ad-soyad.pptx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video/               # ziplemeden önce eklenir, commit edilmez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.gitignore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└── README.md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Her şeyi adlandırma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dosyayı </a:t>
            </a:r>
            <a:r>
              <a:rPr sz="2000" b="1">
                <a:solidFill>
                  <a:srgbClr val="1F2D3A"/>
                </a:solidFill>
              </a:rPr>
              <a:t>ders kodu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kontrol adı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ad-soyad</a:t>
            </a:r>
            <a:r>
              <a:rPr sz="2000" b="0">
                <a:solidFill>
                  <a:srgbClr val="1F2D3A"/>
                </a:solidFill>
              </a:rPr>
              <a:t> ile adlandırın: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cen207-vize-ad-soyad.zip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cen207-final-ad-soyad.zip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cen207-vize-ad-soyad.docx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Depo adları, araçlar/kurulum bölümündeki kalıbı izler.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Takım Çalışması ve Mühendislik Uygulamaları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GitHub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`main`</a:t>
            </a:r>
            <a:r>
              <a:rPr sz="2000" b="0">
                <a:solidFill>
                  <a:srgbClr val="1F2D3A"/>
                </a:solidFill>
              </a:rPr>
              <a:t> korumalıdır — bütün çalışma </a:t>
            </a:r>
            <a:r>
              <a:rPr sz="2000" b="1">
                <a:solidFill>
                  <a:srgbClr val="1F2D3A"/>
                </a:solidFill>
              </a:rPr>
              <a:t>özellik dallarında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</a:t>
            </a:r>
            <a:r>
              <a:rPr sz="2000" b="0">
                <a:solidFill>
                  <a:srgbClr val="A1123F"/>
                </a:solidFill>
                <a:latin typeface="Consolas"/>
              </a:rPr>
              <a:t>feature/hash-table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fix/avl-rotation</a:t>
            </a:r>
            <a:r>
              <a:rPr sz="2000" b="0">
                <a:solidFill>
                  <a:srgbClr val="1F2D3A"/>
                </a:solidFill>
              </a:rPr>
              <a:t>) yapılır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 </a:t>
            </a:r>
            <a:r>
              <a:rPr sz="2000" b="1">
                <a:solidFill>
                  <a:srgbClr val="1F2D3A"/>
                </a:solidFill>
              </a:rPr>
              <a:t>çekme isteğiyle (pull request)</a:t>
            </a:r>
            <a:r>
              <a:rPr sz="2000" b="0">
                <a:solidFill>
                  <a:srgbClr val="1F2D3A"/>
                </a:solidFill>
              </a:rPr>
              <a:t> birleştirilir,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main</a:t>
            </a:r>
            <a:r>
              <a:rPr sz="2000" b="0">
                <a:solidFill>
                  <a:srgbClr val="1F2D3A"/>
                </a:solidFill>
              </a:rPr>
              <a:t>'e doğrudan push yok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Commit'ler ve inceleme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Conventional Commits: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feat(lib): implement AVL rotation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fix(app): correct menu navigation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test(hash): add collision unit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Çekme istekleri:</a:t>
            </a:r>
            <a:r>
              <a:rPr sz="2000" b="0">
                <a:solidFill>
                  <a:srgbClr val="1F2D3A"/>
                </a:solidFill>
              </a:rPr>
              <a:t> dalınızdan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main</a:t>
            </a:r>
            <a:r>
              <a:rPr sz="2000" b="0">
                <a:solidFill>
                  <a:srgbClr val="1F2D3A"/>
                </a:solidFill>
              </a:rPr>
              <a:t>'e açın; takım arkadaşınız neyin değiştiğini ve nasıl test edildiğini inceleyip birleştirmeden önce onaylar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Issue'lar, CI, etiketler, Bitti Tanımı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kodu (V1–V6, F1–F9) için bir </a:t>
            </a:r>
            <a:r>
              <a:rPr sz="2000" b="1">
                <a:solidFill>
                  <a:srgbClr val="1F2D3A"/>
                </a:solidFill>
              </a:rPr>
              <a:t>GitHub Issue</a:t>
            </a:r>
            <a:r>
              <a:rPr sz="2000" b="0">
                <a:solidFill>
                  <a:srgbClr val="1F2D3A"/>
                </a:solidFill>
              </a:rPr>
              <a:t>; bir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Projects panosunda izlenir (Backlog → Sürüyor → İncelemede →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(etkinse):</a:t>
            </a:r>
            <a:r>
              <a:rPr sz="2000" b="0">
                <a:solidFill>
                  <a:srgbClr val="1F2D3A"/>
                </a:solidFill>
              </a:rPr>
              <a:t> derleme/testler kırmızıyken asla birleştirmeyin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Sürüm etiketleri:</a:t>
            </a:r>
            <a:r>
              <a:rPr sz="2000" b="0">
                <a:solidFill>
                  <a:srgbClr val="1F2D3A"/>
                </a:solidFill>
              </a:rPr>
              <a:t> teslim ettiğiniz durum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midterm-v1.0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final-v1.0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Bitti tanımı:</a:t>
            </a:r>
            <a:r>
              <a:rPr sz="2000" b="0">
                <a:solidFill>
                  <a:srgbClr val="1F2D3A"/>
                </a:solidFill>
              </a:rPr>
              <a:t> uyarısız derleniyor, tam kapsamla test geçiyor,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8155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karmaşıklık belgelenmiş, takım arkadaşı kodu incelemiş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Rubrikler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Başarı düzeyleri (her kriter için)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91"/>
                <a:gridCol w="854924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5 — Mükemmel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 çalışıyor, testli, belgeli; gösterimde adım adım açıklanabiliyor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4 — İyi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Küçük eksik/uç durum hatası; genelde tam ve testli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3 — Yeterli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işlemler çalışıyor; test/belge/ölçümde belirgin eksik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2 — Zayıf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Derleniyor ama çoğu işlem hatalı/eksik; açıklama zayıf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1 — Kanıt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Teslim edilmemiş ya da çalışmıyor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Puan = (düzey ÷ 5) × kriter puanı.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8.1 Vize rubriği — RAP1 (C, 100 puan)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4105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50"/>
                <a:gridCol w="3824661"/>
                <a:gridCol w="5624502"/>
                <a:gridCol w="899920"/>
              </a:tblGrid>
              <a:tr h="5132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Puan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Doğrusal yapılar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V1 listeler, V2 seyrek matris, V3 yığın/kuyruk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Ağaç ve öbek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V4 dolaşmalar, öbek, öbek sıralaması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Çizge ve dolaşma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V5 gösterim, BFS/DFS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Arama ve hash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V6 ikili arama, hash, çakışmalar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Karmaşıklık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Büyük O + ölçüm tablosu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Problem çözümleme, yapı seçimi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Raporda "neden bu yapı?"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Yazılım mühendisliği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CMake, testler %100, belge %100, GitHub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8.2 Final rubriği — RAP2 (Java, 100 puan)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3637178"/>
                <a:gridCol w="5698246"/>
                <a:gridCol w="969914"/>
              </a:tblGrid>
              <a:tr h="54292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Puan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Taşıma + tümleşik 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F1 generics, tek menü, binary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Çizge algoritmaları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F2, iki algoritma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F3, üç algoritma, karşılaştırma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Dengeli ağaçlar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F4 BST/AVL, dönüşler, aralık sorgusu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Dizeler ve yapılar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F5 arama/hizalama, F6 trie/union-find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 organizasyonu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F7 dosyalar, F8 B+ dizini, F9 hash/sıralama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Mühendislik + sunum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Maven, testler %100, belge, video, gösterim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Kabul Koşulları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Teslim kabul edilmez, eğer…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GitHub deposu yoksa, özel değilse ya da bir üyenin commit'i yoksa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 ya da dokümantasyon kapsamı </a:t>
            </a:r>
            <a:r>
              <a:rPr sz="2000" b="1">
                <a:solidFill>
                  <a:srgbClr val="1F2D3A"/>
                </a:solidFill>
              </a:rPr>
              <a:t>%100'ün altındaysa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Depoda/arşivde derlenmiş dosya varsa, Java deposunda sürüm yoksa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</a:t>
            </a:r>
            <a:r>
              <a:rPr sz="2000" b="1">
                <a:solidFill>
                  <a:srgbClr val="1F2D3A"/>
                </a:solidFill>
              </a:rPr>
              <a:t>Windows ya da WSL/Linux</a:t>
            </a:r>
            <a:r>
              <a:rPr sz="2000" b="0">
                <a:solidFill>
                  <a:srgbClr val="1F2D3A"/>
                </a:solidFill>
              </a:rPr>
              <a:t>'ta derlenip çalışmıyorsa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İntihal</a:t>
            </a:r>
            <a:r>
              <a:rPr sz="2000" b="0">
                <a:solidFill>
                  <a:srgbClr val="1F2D3A"/>
                </a:solidFill>
              </a:rPr>
              <a:t> tespit edilirse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Gösterimde Sorulacaklar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Gösterim soruları — Git/GitHub ve kurulum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Fork doğru adla mı? İki üyenin de commit'i var mı, dal kullanılmış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Birleştirme ve çakışmalar nasıl çözüldü?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  <a:r>
              <a:rPr sz="2000" b="0">
                <a:solidFill>
                  <a:srgbClr val="1F2D3A"/>
                </a:solidFill>
              </a:rPr>
              <a:t> doğru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Windows ve WSL</a:t>
            </a:r>
            <a:r>
              <a:rPr sz="2000" b="0">
                <a:solidFill>
                  <a:srgbClr val="1F2D3A"/>
                </a:solidFill>
              </a:rPr>
              <a:t>'de derleyip çalıştırın;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app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</a:t>
            </a:r>
            <a:r>
              <a:rPr sz="2000" b="0">
                <a:solidFill>
                  <a:srgbClr val="1F2D3A"/>
                </a:solidFill>
              </a:rPr>
              <a:t> ve bağımlılıklarını gösterin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Gösterim soruları — veri yapıları ve testler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Seçtiğiniz bir işlemi (ör. çift bağlı listede silme, AVL dönüşü, hash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çakışması) </a:t>
            </a:r>
            <a:r>
              <a:rPr sz="2000" b="1">
                <a:solidFill>
                  <a:srgbClr val="1F2D3A"/>
                </a:solidFill>
              </a:rPr>
              <a:t>satır satır</a:t>
            </a:r>
            <a:r>
              <a:rPr sz="2000" b="0">
                <a:solidFill>
                  <a:srgbClr val="1F2D3A"/>
                </a:solidFill>
              </a:rPr>
              <a:t>, bellekte kutu-ok çizimiyle anlatın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Karmaşıklığı nedir, neden?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Test/dokümantasyon kapsamı raporlarını açın; bir uç durum testini gösterin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Gösterim soruları — dosya işlemleri ve programlama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Kayıt ekleyin, programı kapatıp açın, binary dosyadan geri geldiğini gösterin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C:</a:t>
            </a:r>
            <a:r>
              <a:rPr sz="2000" b="0">
                <a:solidFill>
                  <a:srgbClr val="1F2D3A"/>
                </a:solidFill>
              </a:rPr>
              <a:t> işaretçiler/diziler,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, dosya G/Ç, hata ayıklayıcıda çağrı yığını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Java:</a:t>
            </a:r>
            <a:r>
              <a:rPr sz="2000" b="0">
                <a:solidFill>
                  <a:srgbClr val="1F2D3A"/>
                </a:solidFill>
              </a:rPr>
              <a:t> generics, arayüzler, istisnalar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Mesleki Sorumluluk ve Dürüstlük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Etik, lisans, sentetik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IEEE/ACM ilkeleri, kodunuzun ne yapıp yapmadığı konusunda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dürüstlük ve adil teknik eleştiriyi hem vermeyi hem kabul etmeyi 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Lisans ve atıf:</a:t>
            </a:r>
            <a:r>
              <a:rPr sz="2000" b="0">
                <a:solidFill>
                  <a:srgbClr val="1F2D3A"/>
                </a:solidFill>
              </a:rPr>
              <a:t> raporda dış kaynakları belirtin; kullanılan kod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parçasının kaynağını/lisansını yorumda yazın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936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Sentetik veri:</a:t>
            </a:r>
            <a:r>
              <a:rPr sz="2000" b="0">
                <a:solidFill>
                  <a:srgbClr val="1F2D3A"/>
                </a:solidFill>
              </a:rPr>
              <a:t> bütün veriler kendi ürettiğiniz örnek veridir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56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kişi verisi asla değil (bkz. kural 5.3)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İntihal ve ortak 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ve rapor </a:t>
            </a:r>
            <a:r>
              <a:rPr sz="2000" b="1">
                <a:solidFill>
                  <a:srgbClr val="1F2D3A"/>
                </a:solidFill>
              </a:rPr>
              <a:t>takımınıza</a:t>
            </a:r>
            <a:r>
              <a:rPr sz="2000" b="0">
                <a:solidFill>
                  <a:srgbClr val="1F2D3A"/>
                </a:solidFill>
              </a:rPr>
              <a:t> aittir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Başka bir takımdan, önceki dönemden ya da internetten kopyalamak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intihaldir</a:t>
            </a:r>
            <a:r>
              <a:rPr sz="2000" b="0">
                <a:solidFill>
                  <a:srgbClr val="1F2D3A"/>
                </a:solidFill>
              </a:rPr>
              <a:t> — benzerlik denetimi yapılır, intihal </a:t>
            </a:r>
            <a:r>
              <a:rPr sz="2000" b="1">
                <a:solidFill>
                  <a:srgbClr val="1F2D3A"/>
                </a:solidFill>
              </a:rPr>
              <a:t>sıfır puan</a:t>
            </a:r>
            <a:r>
              <a:rPr sz="2000" b="0">
                <a:solidFill>
                  <a:srgbClr val="1F2D3A"/>
                </a:solidFill>
              </a:rPr>
              <a:t> demektir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üye takımın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kodunu açıklayabilmelidir — gösterimde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açıklanamayan kod </a:t>
            </a:r>
            <a:r>
              <a:rPr sz="2000" b="1">
                <a:solidFill>
                  <a:srgbClr val="1F2D3A"/>
                </a:solidFill>
              </a:rPr>
              <a:t>notlandırılmaz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Sık Sorulan Sorular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SSS — takım ve konu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İki kişilik takım yerine tek başıma çalışabilir miyim?</a:t>
            </a:r>
            <a:r>
              <a:rPr sz="2000" b="0">
                <a:solidFill>
                  <a:srgbClr val="1F2D3A"/>
                </a:solidFill>
              </a:rPr>
              <a:t> Evet — en çok 3 kişi, tek başına çalışmaya izin var. Takımlar 3. hafta sonunda kesinleşir.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İki takım aynı konuyu isterse?</a:t>
            </a:r>
            <a:r>
              <a:rPr sz="2000" b="0">
                <a:solidFill>
                  <a:srgbClr val="1F2D3A"/>
                </a:solidFill>
              </a:rPr>
              <a:t> Teams tablosuna ilk yazan alır.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Onaylı konuyu değiştirebilir miyim?</a:t>
            </a:r>
            <a:r>
              <a:rPr sz="2000" b="0">
                <a:solidFill>
                  <a:srgbClr val="1F2D3A"/>
                </a:solidFill>
              </a:rPr>
              <a:t> Hayır — proje planıyla birlikte kesinleşir.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SSS — kapsam ve teslim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Kapsam %100'ün altında kalırsa?</a:t>
            </a:r>
            <a:r>
              <a:rPr sz="2000" b="0">
                <a:solidFill>
                  <a:srgbClr val="1F2D3A"/>
                </a:solidFill>
              </a:rPr>
              <a:t> Kabul edilmez (bkz. kabul koşulları) — son tarihten önce %100'e ulaşın.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Kütüphane koleksiyonları (ör. `java.util`) sayılır mı?</a:t>
            </a:r>
            <a:r>
              <a:rPr sz="2000" b="0">
                <a:solidFill>
                  <a:srgbClr val="1F2D3A"/>
                </a:solidFill>
              </a:rPr>
              <a:t> Hayır — temel işlemleri kendiniz yazarsınız.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Depoda/arşivde derlenmiş dosya olabilir mi?</a:t>
            </a:r>
            <a:r>
              <a:rPr sz="2000" b="0">
                <a:solidFill>
                  <a:srgbClr val="1F2D3A"/>
                </a:solidFill>
              </a:rPr>
              <a:t> Hayır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  <a:r>
              <a:rPr sz="2000" b="0">
                <a:solidFill>
                  <a:srgbClr val="1F2D3A"/>
                </a:solidFill>
              </a:rPr>
              <a:t> ile kaldırın; varlığı reddedilme nedenidir.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Proje Rehberi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— Proje Konuları Listesi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Sekiz konu grubu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9" cy="3264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6365061"/>
              </a:tblGrid>
              <a:tr h="36271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Aralık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001–025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Ulaşım, harita ve rota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026–050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Oyun ve bulmaca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051–075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Metin, dil ve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076–100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Bilim, sağlık ve biyoinformatik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101–125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Ağlar ve bilgisayar sistemleri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126–150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Lojistik, üretim ve ticaret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151–175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Medya, sosyal ağ ve kültür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176–200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Kent, çevre, afet ve tarım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 konu kutusu nasıl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Uygulamanın kısa bir </a:t>
            </a:r>
            <a:r>
              <a:rPr sz="2000" b="1">
                <a:solidFill>
                  <a:srgbClr val="1F2D3A"/>
                </a:solidFill>
              </a:rPr>
              <a:t>özeti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Ardından </a:t>
            </a:r>
            <a:r>
              <a:rPr sz="2000" b="1">
                <a:solidFill>
                  <a:srgbClr val="1F2D3A"/>
                </a:solidFill>
              </a:rPr>
              <a:t>her</a:t>
            </a:r>
            <a:r>
              <a:rPr sz="2000" b="0">
                <a:solidFill>
                  <a:srgbClr val="1F2D3A"/>
                </a:solidFill>
              </a:rPr>
              <a:t> gereksinim kodu için (V1–V6 ve F1–F9) tek cümle: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</a:t>
            </a:r>
            <a:r>
              <a:rPr sz="2000" b="1">
                <a:solidFill>
                  <a:srgbClr val="1F2D3A"/>
                </a:solidFill>
              </a:rPr>
              <a:t>ne saklandığı ve hangi işlemin yapıldığı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gereksinim, her seferinde farklı bir hikâye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Örnek — 001 Metro Ağı Rota Planlayıcı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şehrin metro/tramvay/füniküler hatlarını tek ağda birleştiren; en hızlı ya da en az aktarmalı rotayı öneren konsol uygulaması (~12 hat, 250 istasyon).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V1</a:t>
            </a:r>
            <a:r>
              <a:rPr sz="2000" b="0">
                <a:solidFill>
                  <a:srgbClr val="1F2D3A"/>
                </a:solidFill>
              </a:rPr>
              <a:t> Her hat: istasyonların çift bağlı listesi; ring hatları dairesel liste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V2</a:t>
            </a:r>
            <a:r>
              <a:rPr sz="2000" b="0">
                <a:solidFill>
                  <a:srgbClr val="1F2D3A"/>
                </a:solidFill>
              </a:rPr>
              <a:t> Saat dilimi × istasyon yoğunluğu tablosu seyrek matris olarak saklanır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V3</a:t>
            </a:r>
            <a:r>
              <a:rPr sz="2000" b="0">
                <a:solidFill>
                  <a:srgbClr val="1F2D3A"/>
                </a:solidFill>
              </a:rPr>
              <a:t> Rota düzenlemeleri yığınla geri alınır; turnike girişleri kuyrukta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V4</a:t>
            </a:r>
            <a:r>
              <a:rPr sz="2000" b="0">
                <a:solidFill>
                  <a:srgbClr val="1F2D3A"/>
                </a:solidFill>
              </a:rPr>
              <a:t> Arıza ihbarları önem derecesine göre öbekte tutulur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V5</a:t>
            </a:r>
            <a:r>
              <a:rPr sz="2000" b="0">
                <a:solidFill>
                  <a:srgbClr val="1F2D3A"/>
                </a:solidFill>
              </a:rPr>
              <a:t> BFS en az duraklı yolu bulur; DFS kapanma sonrası kopan bölgeleri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V6</a:t>
            </a:r>
            <a:r>
              <a:rPr sz="2000" b="0">
                <a:solidFill>
                  <a:srgbClr val="1F2D3A"/>
                </a:solidFill>
              </a:rPr>
              <a:t> İstasyon adı → kayıt hash tablosunda; sıralı kodlarda ikili arama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Örnek — 001 Metro Ağı Rota Planlayıcı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979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F2</a:t>
            </a:r>
            <a:r>
              <a:rPr sz="2000" b="0">
                <a:solidFill>
                  <a:srgbClr val="1F2D3A"/>
                </a:solidFill>
              </a:rPr>
              <a:t> Dijkstra: dakika cinsinden en hızlı rota; Kruskal: en ucuz yeni hat ağı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F3</a:t>
            </a:r>
            <a:r>
              <a:rPr sz="2000" b="0">
                <a:solidFill>
                  <a:srgbClr val="1F2D3A"/>
                </a:solidFill>
              </a:rPr>
              <a:t> Rota seçenekleri süre/aktarma/mesafeye göre sıralanır, üç algoritma karşılaştırılır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F4</a:t>
            </a:r>
            <a:r>
              <a:rPr sz="2000" b="0">
                <a:solidFill>
                  <a:srgbClr val="1F2D3A"/>
                </a:solidFill>
              </a:rPr>
              <a:t> İstasyon başına sefer saatleri AVL ağacında — hızlı "X'ten sonraki ilk tren" sorgusu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F5</a:t>
            </a:r>
            <a:r>
              <a:rPr sz="2000" b="0">
                <a:solidFill>
                  <a:srgbClr val="1F2D3A"/>
                </a:solidFill>
              </a:rPr>
              <a:t> Yazılan istasyon adı KMP ile eşlenir; yazım hatası düzenleme uzaklığıyla düzeltilir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F6</a:t>
            </a:r>
            <a:r>
              <a:rPr sz="2000" b="0">
                <a:solidFill>
                  <a:srgbClr val="1F2D3A"/>
                </a:solidFill>
              </a:rPr>
              <a:t> İstasyon adları trie ile otomatik tamamlanır; union-find ulaşılabilir bölgeleri gruplar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F7–F9</a:t>
            </a:r>
            <a:r>
              <a:rPr sz="2000" b="0">
                <a:solidFill>
                  <a:srgbClr val="1F2D3A"/>
                </a:solidFill>
              </a:rPr>
              <a:t> Sefer kayıtları (sıralı dosya), istasyon kartları (doğrudan erişim + Brent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3356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yöntemi), kart numarasında B+ ağacı dizini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Diğer 199'unu nerede bulacaksınız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Ekin tamamı — sekiz grup, 200 konu kutusunun tümü — </a:t>
            </a:r>
            <a:r>
              <a:rPr sz="2000" b="1">
                <a:solidFill>
                  <a:srgbClr val="1F2D3A"/>
                </a:solidFill>
              </a:rPr>
              <a:t>proje rehberi sayfasında</a:t>
            </a:r>
            <a:r>
              <a:rPr sz="2000" b="0">
                <a:solidFill>
                  <a:srgbClr val="1F2D3A"/>
                </a:solidFill>
              </a:rPr>
              <a:t>, bu sunumun içeriğinin hemen ardından.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Göz atın, birini seçin, takım-konu tablosuna yazın.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Proje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Sorular?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Ders web sitesi:</a:t>
            </a:r>
            <a:r>
              <a:rPr sz="2000" b="0">
                <a:solidFill>
                  <a:srgbClr val="1F2D3A"/>
                </a:solidFill>
              </a:rPr>
              <a:t> ucoruh.github.io/ce205-data-structures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Sırada:</a:t>
            </a:r>
            <a:r>
              <a:rPr sz="2000" b="0">
                <a:solidFill>
                  <a:srgbClr val="1F2D3A"/>
                </a:solidFill>
              </a:rPr>
              <a:t> proje rehberi sayfasındaki tam konu listesine göz atın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Veri Yapıları — Proje Rehberi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