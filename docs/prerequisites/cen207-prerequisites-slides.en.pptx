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mirrors the Prerequisites page; the "Test yourself" tasks near the end are the same ones on that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not a "nice to have" list — week 1's C workshop assumes all of this is already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 self-check task feels shaky, the fix is to go back to the matching CEN107/CEN108 material, not to skip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things, each already taught in CEN107/CEN108, that this course reuses starting week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this is not already working, week 1's C workshop will be a struggle before it even 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the midterm and the final checkpoint are graded partly on how Git was actually used, not just the final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100% test coverage is a hard acceptance condition in the project guide — this is where that skill comes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template already wires up building, testing, documentation and coverage — you extend it, you do not build that scaffolding from scratch.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Recursion is not a "week 3 topic" — it is a tool this course reaches for repeatedly, all the way through file organization.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midterm project is C, the final project is Java — almost every data structure is built directly out of these constructs.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should be able to read AND write every one of these comfortably before the first class, not just recognize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final project ports every C data structure to Java using generics — this short list is exactly what that port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two are recapped, not assumed cold — everything else in this deck IS assumed.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laptop is required — come to the first class with every one of these already installed.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one of these is free and cross-platform; there is no licensing barrier to arriving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Eight tasks. Try each on your own computer before looking at the answer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about what p and x actually share before revealing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idea the entire course builds on: a pointer and the variable it points to are the same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notations describe the exact same memory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equivalence is why arrays and pointers look interchangeable in C function signatures.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where arr actually lives, and what happens to that memory the instant the function returns.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"Dangling pointer" is exactly the bug named on the Week 1 recap slide of the stacks-and-queues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exact shape every linked-list function in weeks 2–3 will 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recursive function in this course needs exactly this shape: a base case, then a call on a strictly smaller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this to fprintf, which would have produced text, not raw bytes.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File organization (weeks 13–14) is built entirely on this same fwrite/fread pattern, just with records instead of 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about what List&lt;Integer&gt; restricts and what the for-each loop does with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final project's F1 requirement ports every C structure to Java using exactly this kind of generic.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about what "finally" guarantees regardless of whether an exception was thrown.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exact try/catch/finally shape reappears in the final project's file-handling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exact two templates named in the project guide for the midterm and final checkpoints.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best predictor of a smooth week 1 — a green run on both templates, done in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two pages/decks are the natural next stop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Prerequisites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CEN207 Data Structures — what to bring on day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Asst. Prof. Dr. Uğur CORUH · Fall 2026-2027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Why this matters from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From the first week you </a:t>
            </a:r>
            <a:r>
              <a:rPr sz="2000" b="1">
                <a:solidFill>
                  <a:srgbClr val="1F2D3A"/>
                </a:solidFill>
              </a:rPr>
              <a:t>write, build and test programs on your own computer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First in </a:t>
            </a:r>
            <a:r>
              <a:rPr sz="2000" b="1">
                <a:solidFill>
                  <a:srgbClr val="1F2D3A"/>
                </a:solidFill>
              </a:rPr>
              <a:t>C</a:t>
            </a:r>
            <a:r>
              <a:rPr sz="2000" b="0">
                <a:solidFill>
                  <a:srgbClr val="1F2D3A"/>
                </a:solidFill>
              </a:rPr>
              <a:t> for the midterm project, later in </a:t>
            </a:r>
            <a:r>
              <a:rPr sz="2000" b="1">
                <a:solidFill>
                  <a:srgbClr val="1F2D3A"/>
                </a:solidFill>
              </a:rPr>
              <a:t>Java</a:t>
            </a:r>
            <a:r>
              <a:rPr sz="2000" b="0">
                <a:solidFill>
                  <a:srgbClr val="1F2D3A"/>
                </a:solidFill>
              </a:rPr>
              <a:t> for the final project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You keep your work under </a:t>
            </a:r>
            <a:r>
              <a:rPr sz="2000" b="1">
                <a:solidFill>
                  <a:srgbClr val="1F2D3A"/>
                </a:solidFill>
              </a:rPr>
              <a:t>Git and GitHub</a:t>
            </a:r>
            <a:r>
              <a:rPr sz="2000" b="0">
                <a:solidFill>
                  <a:srgbClr val="1F2D3A"/>
                </a:solidFill>
              </a:rPr>
              <a:t> throughout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You therefore need to arrive with the knowledge and tools in this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Formal prerequisites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CEN107 Algorithms and Programming 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CEN108 Algorithms and Programming 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development environment, Git, unit testing and template usage taught in CEN107's first weeks are </a:t>
            </a:r>
            <a:r>
              <a:rPr sz="2000" b="1">
                <a:solidFill>
                  <a:srgbClr val="1F2D3A"/>
                </a:solidFill>
              </a:rPr>
              <a:t>assumed</a:t>
            </a:r>
            <a:r>
              <a:rPr sz="2000" b="0">
                <a:solidFill>
                  <a:srgbClr val="1F2D3A"/>
                </a:solidFill>
              </a:rPr>
              <a:t> in this course.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874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Before the first class:</a:t>
            </a:r>
            <a:r>
              <a:rPr sz="2000" b="0">
                <a:solidFill>
                  <a:srgbClr val="1F2D3A"/>
                </a:solidFill>
              </a:rPr>
              <a:t> work through the self-check tasks near the end of this deck, on your own computer.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What we bring from CEN107/CEN108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Development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Compiler (GCC/Clang/MSVC), IDE, WSL on Windows, building with CMake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Taught in: </a:t>
            </a:r>
            <a:r>
              <a:rPr sz="2000" b="1">
                <a:solidFill>
                  <a:srgbClr val="1F2D3A"/>
                </a:solidFill>
              </a:rPr>
              <a:t>CEN107 Week 2 — Development environments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Used here in: week 1's C workshop; setting up the midterm (C)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Git and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Creating a repository, </a:t>
            </a:r>
            <a:r>
              <a:rPr sz="2000" b="0">
                <a:solidFill>
                  <a:srgbClr val="A1123F"/>
                </a:solidFill>
                <a:latin typeface="Consolas"/>
              </a:rPr>
              <a:t>clone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commit</a:t>
            </a:r>
            <a:r>
              <a:rPr sz="2000" b="0">
                <a:solidFill>
                  <a:srgbClr val="1F2D3A"/>
                </a:solidFill>
              </a:rPr>
              <a:t>, branches, </a:t>
            </a:r>
            <a:r>
              <a:rPr sz="2000" b="0">
                <a:solidFill>
                  <a:srgbClr val="A1123F"/>
                </a:solidFill>
                <a:latin typeface="Consolas"/>
              </a:rPr>
              <a:t>pull request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.gitignore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Taught in: </a:t>
            </a:r>
            <a:r>
              <a:rPr sz="2000" b="1">
                <a:solidFill>
                  <a:srgbClr val="1F2D3A"/>
                </a:solidFill>
              </a:rPr>
              <a:t>CEN107 Week 3 — Version management with Git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Used here in: the project guide's workflow (fork, plan, submission) for both checkpoints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Unit testing and coverage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Writing tests, running them, reading a coverage report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Taught in: </a:t>
            </a:r>
            <a:r>
              <a:rPr sz="2000" b="1">
                <a:solidFill>
                  <a:srgbClr val="1F2D3A"/>
                </a:solidFill>
              </a:rPr>
              <a:t>CEN107 Week 4 — Unit testing and libraries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Used here in: the midterm rubric (GoogleTest, gcov/lcov) and the final rubric (JUnit 5, JaCoCo)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Using project templates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Forking a template, building it, producing its tests and documentation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Taught in: </a:t>
            </a:r>
            <a:r>
              <a:rPr sz="2000" b="1">
                <a:solidFill>
                  <a:srgbClr val="1F2D3A"/>
                </a:solidFill>
              </a:rPr>
              <a:t>CEN107 weeks 2–4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Used here in: the project guide's </a:t>
            </a:r>
            <a:r>
              <a:rPr sz="2000" b="0">
                <a:solidFill>
                  <a:srgbClr val="A1123F"/>
                </a:solidFill>
                <a:latin typeface="Consolas"/>
              </a:rPr>
              <a:t>cpp-cmake-ctest-template</a:t>
            </a:r>
            <a:r>
              <a:rPr sz="2000" b="0">
                <a:solidFill>
                  <a:srgbClr val="1F2D3A"/>
                </a:solidFill>
              </a:rPr>
              <a:t> (midterm)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eclipse-java-maven-template</a:t>
            </a:r>
            <a:r>
              <a:rPr sz="2000" b="0">
                <a:solidFill>
                  <a:srgbClr val="1F2D3A"/>
                </a:solidFill>
              </a:rPr>
              <a:t> (final)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Basic algorithm analysis and recursion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Counting operations, writing a simple recursive function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Taught in: </a:t>
            </a:r>
            <a:r>
              <a:rPr sz="2000" b="1">
                <a:solidFill>
                  <a:srgbClr val="1F2D3A"/>
                </a:solidFill>
              </a:rPr>
              <a:t>CEN108, early weeks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Used here in: the Big-O recap in week 1; recursive solutions from week 3 onward (Towers of Hanoi, DFS, tree traversals, merge sort, quicksort)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C and Java programming fundamentals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 fundamentals (midterm project)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346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Pointers and pointer arithmetic (</a:t>
            </a:r>
            <a:r>
              <a:rPr sz="2000" b="0">
                <a:solidFill>
                  <a:srgbClr val="A1123F"/>
                </a:solidFill>
                <a:latin typeface="Consolas"/>
              </a:rPr>
              <a:t>int *p;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p + 1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p</a:t>
            </a:r>
            <a:r>
              <a:rPr sz="2000" b="0">
                <a:solidFill>
                  <a:srgbClr val="1F2D3A"/>
                </a:solidFill>
              </a:rPr>
              <a:t> vs. </a:t>
            </a:r>
            <a:r>
              <a:rPr sz="2000" b="0">
                <a:solidFill>
                  <a:srgbClr val="A1123F"/>
                </a:solidFill>
                <a:latin typeface="Consolas"/>
              </a:rPr>
              <a:t>*p</a:t>
            </a:r>
            <a:r>
              <a:rPr sz="2000" b="0">
                <a:solidFill>
                  <a:srgbClr val="1F2D3A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Arrays: declaration, indexing, passing to a function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struct</a:t>
            </a:r>
            <a:r>
              <a:rPr sz="2000" b="0">
                <a:solidFill>
                  <a:srgbClr val="1F2D3A"/>
                </a:solidFill>
              </a:rPr>
              <a:t> definitions; grouping fields (e.g. a linked-list node)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Dynamic memory: </a:t>
            </a:r>
            <a:r>
              <a:rPr sz="2000" b="0">
                <a:solidFill>
                  <a:srgbClr val="A1123F"/>
                </a:solidFill>
                <a:latin typeface="Consolas"/>
              </a:rPr>
              <a:t>malloc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, and why every </a:t>
            </a:r>
            <a:r>
              <a:rPr sz="2000" b="0">
                <a:solidFill>
                  <a:srgbClr val="A1123F"/>
                </a:solidFill>
                <a:latin typeface="Consolas"/>
              </a:rPr>
              <a:t>malloc</a:t>
            </a:r>
            <a:r>
              <a:rPr sz="2000" b="0">
                <a:solidFill>
                  <a:srgbClr val="1F2D3A"/>
                </a:solidFill>
              </a:rPr>
              <a:t> needs a matching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Recursion: a function that calls itself, with a base case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File I/O, including </a:t>
            </a:r>
            <a:r>
              <a:rPr sz="2000" b="1">
                <a:solidFill>
                  <a:srgbClr val="1F2D3A"/>
                </a:solidFill>
              </a:rPr>
              <a:t>binary files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fopen</a:t>
            </a:r>
            <a:r>
              <a:rPr sz="2000" b="0">
                <a:solidFill>
                  <a:srgbClr val="1F2D3A"/>
                </a:solidFill>
              </a:rPr>
              <a:t> 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"rb"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"wb"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fread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fwrite</a:t>
            </a:r>
            <a:r>
              <a:rPr sz="2000" b="0">
                <a:solidFill>
                  <a:srgbClr val="1F2D3A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Java fundamentals (final project)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Classes and objects: fields, constructors, methods, </a:t>
            </a:r>
            <a:r>
              <a:rPr sz="2000" b="0">
                <a:solidFill>
                  <a:srgbClr val="A1123F"/>
                </a:solidFill>
                <a:latin typeface="Consolas"/>
              </a:rPr>
              <a:t>this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Generics basics: using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List&lt;T&gt;</a:t>
            </a:r>
            <a:r>
              <a:rPr sz="2000" b="0">
                <a:solidFill>
                  <a:srgbClr val="1F2D3A"/>
                </a:solidFill>
              </a:rPr>
              <a:t>, declaring a simple generic class or method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Exceptions: </a:t>
            </a:r>
            <a:r>
              <a:rPr sz="2000" b="0">
                <a:solidFill>
                  <a:srgbClr val="A1123F"/>
                </a:solidFill>
                <a:latin typeface="Consolas"/>
              </a:rPr>
              <a:t>try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catch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finally</a:t>
            </a:r>
            <a:r>
              <a:rPr sz="2000" b="0">
                <a:solidFill>
                  <a:srgbClr val="1F2D3A"/>
                </a:solidFill>
              </a:rPr>
              <a:t>, checked vs. unchecked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3. Background briefly recalled in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It is fine not to remember these in full detail — week 1 gives a short recap before they are needed.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205736"/>
          <a:ext cx="10911534" cy="1655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9413"/>
                <a:gridCol w="5412121"/>
              </a:tblGrid>
              <a:tr h="551688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Background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Needed in which week?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551688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Big-O notation: counting operations, comparing growth rates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Week 1, then every week to compare data structures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51688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Memory layout: stack vs. heap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Week 1, then whenever pointers and dynamic memory are used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What must be installed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Required toolchain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300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C compiler: </a:t>
            </a:r>
            <a:r>
              <a:rPr sz="2000" b="1">
                <a:solidFill>
                  <a:srgbClr val="1F2D3A"/>
                </a:solidFill>
              </a:rPr>
              <a:t>Visual Studio 2022</a:t>
            </a:r>
            <a:r>
              <a:rPr sz="2000" b="0">
                <a:solidFill>
                  <a:srgbClr val="1F2D3A"/>
                </a:solidFill>
              </a:rPr>
              <a:t> (Desktop dev with C++) on Windows, or </a:t>
            </a:r>
            <a:r>
              <a:rPr sz="2000" b="1">
                <a:solidFill>
                  <a:srgbClr val="1F2D3A"/>
                </a:solidFill>
              </a:rPr>
              <a:t>GCC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1">
                <a:solidFill>
                  <a:srgbClr val="1F2D3A"/>
                </a:solidFill>
              </a:rPr>
              <a:t>Clang</a:t>
            </a:r>
            <a:r>
              <a:rPr sz="2000" b="0">
                <a:solidFill>
                  <a:srgbClr val="1F2D3A"/>
                </a:solidFill>
              </a:rPr>
              <a:t> on Linux/WSL/macOS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CMake</a:t>
            </a:r>
            <a:r>
              <a:rPr sz="2000" b="0">
                <a:solidFill>
                  <a:srgbClr val="1F2D3A"/>
                </a:solidFill>
              </a:rPr>
              <a:t> — the midterm template is built and tested with 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C coverage tool: </a:t>
            </a:r>
            <a:r>
              <a:rPr sz="2000" b="1">
                <a:solidFill>
                  <a:srgbClr val="1F2D3A"/>
                </a:solidFill>
              </a:rPr>
              <a:t>gcov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1">
                <a:solidFill>
                  <a:srgbClr val="1F2D3A"/>
                </a:solidFill>
              </a:rPr>
              <a:t>lcov</a:t>
            </a:r>
            <a:r>
              <a:rPr sz="2000" b="0">
                <a:solidFill>
                  <a:srgbClr val="1F2D3A"/>
                </a:solidFill>
              </a:rPr>
              <a:t> on Linux/WSL, or </a:t>
            </a:r>
            <a:r>
              <a:rPr sz="2000" b="1">
                <a:solidFill>
                  <a:srgbClr val="1F2D3A"/>
                </a:solidFill>
              </a:rPr>
              <a:t>OpenCppCoverage</a:t>
            </a:r>
            <a:r>
              <a:rPr sz="2000" b="0">
                <a:solidFill>
                  <a:srgbClr val="1F2D3A"/>
                </a:solidFill>
              </a:rPr>
              <a:t> with MSVC on Windows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Doxygen</a:t>
            </a:r>
            <a:r>
              <a:rPr sz="2000" b="0">
                <a:solidFill>
                  <a:srgbClr val="1F2D3A"/>
                </a:solidFill>
              </a:rPr>
              <a:t> — generates the project documentation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JDK 21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Maven</a:t>
            </a:r>
            <a:r>
              <a:rPr sz="2000" b="0">
                <a:solidFill>
                  <a:srgbClr val="1F2D3A"/>
                </a:solidFill>
              </a:rPr>
              <a:t> — Maven pulls in JUnit 5 and JaCoCo automatically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Git</a:t>
            </a:r>
            <a:r>
              <a:rPr sz="2000" b="0">
                <a:solidFill>
                  <a:srgbClr val="1F2D3A"/>
                </a:solidFill>
              </a:rPr>
              <a:t> and a </a:t>
            </a:r>
            <a:r>
              <a:rPr sz="2000" b="1">
                <a:solidFill>
                  <a:srgbClr val="1F2D3A"/>
                </a:solidFill>
              </a:rPr>
              <a:t>GitHub</a:t>
            </a:r>
            <a:r>
              <a:rPr sz="2000" b="0">
                <a:solidFill>
                  <a:srgbClr val="1F2D3A"/>
                </a:solidFill>
              </a:rPr>
              <a:t> account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4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Setup steps and the project templates themselves: the </a:t>
            </a:r>
            <a:r>
              <a:rPr sz="2000" b="1">
                <a:solidFill>
                  <a:srgbClr val="1F2D3A"/>
                </a:solidFill>
              </a:rPr>
              <a:t>project guide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Test yourself before the first class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Task 1 — Compile and predict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What does this program print?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x = 5;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*p = &amp;x;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*p = *p + 1;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printf("%d %d\n", x, *p);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Task 1 — Answer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6 6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p</a:t>
            </a:r>
            <a:r>
              <a:rPr sz="2000" b="0">
                <a:solidFill>
                  <a:srgbClr val="1F2D3A"/>
                </a:solidFill>
              </a:rPr>
              <a:t> holds the address of </a:t>
            </a:r>
            <a:r>
              <a:rPr sz="2000" b="0">
                <a:solidFill>
                  <a:srgbClr val="A1123F"/>
                </a:solidFill>
                <a:latin typeface="Consolas"/>
              </a:rPr>
              <a:t>x</a:t>
            </a:r>
            <a:r>
              <a:rPr sz="2000" b="0">
                <a:solidFill>
                  <a:srgbClr val="1F2D3A"/>
                </a:solidFill>
              </a:rPr>
              <a:t>, so </a:t>
            </a:r>
            <a:r>
              <a:rPr sz="2000" b="0">
                <a:solidFill>
                  <a:srgbClr val="A1123F"/>
                </a:solidFill>
                <a:latin typeface="Consolas"/>
              </a:rPr>
              <a:t>*p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x</a:t>
            </a:r>
            <a:r>
              <a:rPr sz="2000" b="0">
                <a:solidFill>
                  <a:srgbClr val="1F2D3A"/>
                </a:solidFill>
              </a:rPr>
              <a:t> name the same memory location; changing one changes the other.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Task 2 — Pointer arithmetic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Given </a:t>
            </a:r>
            <a:r>
              <a:rPr sz="2000" b="0">
                <a:solidFill>
                  <a:srgbClr val="A1123F"/>
                </a:solidFill>
                <a:latin typeface="Consolas"/>
              </a:rPr>
              <a:t>int arr[4] = {10, 20, 30, 40}; int *p = arr;</a:t>
            </a:r>
            <a:r>
              <a:rPr sz="2000" b="0">
                <a:solidFill>
                  <a:srgbClr val="1F2D3A"/>
                </a:solidFill>
              </a:rPr>
              <a:t>, what are the values of </a:t>
            </a:r>
            <a:r>
              <a:rPr sz="2000" b="0">
                <a:solidFill>
                  <a:srgbClr val="A1123F"/>
                </a:solidFill>
                <a:latin typeface="Consolas"/>
              </a:rPr>
              <a:t>*(p + 2)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p[2]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Task 2 —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Both are </a:t>
            </a:r>
            <a:r>
              <a:rPr sz="2000" b="0">
                <a:solidFill>
                  <a:srgbClr val="A1123F"/>
                </a:solidFill>
                <a:latin typeface="Consolas"/>
              </a:rPr>
              <a:t>30</a:t>
            </a:r>
            <a:r>
              <a:rPr sz="2000" b="0">
                <a:solidFill>
                  <a:srgbClr val="1F2D3A"/>
                </a:solidFill>
              </a:rPr>
              <a:t>. </a:t>
            </a:r>
            <a:r>
              <a:rPr sz="2000" b="0">
                <a:solidFill>
                  <a:srgbClr val="A1123F"/>
                </a:solidFill>
                <a:latin typeface="Consolas"/>
              </a:rPr>
              <a:t>p[2]</a:t>
            </a:r>
            <a:r>
              <a:rPr sz="2000" b="0">
                <a:solidFill>
                  <a:srgbClr val="1F2D3A"/>
                </a:solidFill>
              </a:rPr>
              <a:t> is defined to mean </a:t>
            </a:r>
            <a:r>
              <a:rPr sz="2000" b="0">
                <a:solidFill>
                  <a:srgbClr val="A1123F"/>
                </a:solidFill>
                <a:latin typeface="Consolas"/>
              </a:rPr>
              <a:t>*(p + 2)</a:t>
            </a:r>
            <a:r>
              <a:rPr sz="2000" b="0">
                <a:solidFill>
                  <a:srgbClr val="1F2D3A"/>
                </a:solidFill>
              </a:rPr>
              <a:t> — array indexing is pointer arithmetic written with different syntax.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Task 3 — Find the bug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*make_array(int 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arr[n];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 &lt; n; i++) arr[i] = i * i;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arr;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7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What is wrong, and how would you fix it?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Task 3 —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arr</a:t>
            </a:r>
            <a:r>
              <a:rPr sz="2000" b="0">
                <a:solidFill>
                  <a:srgbClr val="1F2D3A"/>
                </a:solidFill>
              </a:rPr>
              <a:t> is a local array on the </a:t>
            </a:r>
            <a:r>
              <a:rPr sz="2000" b="1">
                <a:solidFill>
                  <a:srgbClr val="1F2D3A"/>
                </a:solidFill>
              </a:rPr>
              <a:t>stack</a:t>
            </a:r>
            <a:r>
              <a:rPr sz="2000" b="0">
                <a:solidFill>
                  <a:srgbClr val="1F2D3A"/>
                </a:solidFill>
              </a:rPr>
              <a:t>; it is destroyed when the function returns, so the returned pointer is </a:t>
            </a:r>
            <a:r>
              <a:rPr sz="2000" b="1">
                <a:solidFill>
                  <a:srgbClr val="1F2D3A"/>
                </a:solidFill>
              </a:rPr>
              <a:t>dangling</a:t>
            </a:r>
            <a:r>
              <a:rPr sz="2000" b="0">
                <a:solidFill>
                  <a:srgbClr val="1F2D3A"/>
                </a:solidFill>
              </a:rPr>
              <a:t>. Fix: allocate on the </a:t>
            </a:r>
            <a:r>
              <a:rPr sz="2000" b="1">
                <a:solidFill>
                  <a:srgbClr val="1F2D3A"/>
                </a:solidFill>
              </a:rPr>
              <a:t>heap</a:t>
            </a:r>
            <a:r>
              <a:rPr sz="2000" b="0">
                <a:solidFill>
                  <a:srgbClr val="1F2D3A"/>
                </a:solidFill>
              </a:rPr>
              <a:t> instead —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05736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*arr = malloc(n * sizeof(int));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78759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— and let the caller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 it once done.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Task 4 — Struct and recursion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Define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struct Node { int value; struct Node *next; };</a:t>
            </a:r>
            <a:r>
              <a:rPr sz="2000" b="0">
                <a:solidFill>
                  <a:srgbClr val="1F2D3A"/>
                </a:solidFill>
              </a:rPr>
              <a:t> and write a recursive </a:t>
            </a:r>
            <a:r>
              <a:rPr sz="2000" b="0">
                <a:solidFill>
                  <a:srgbClr val="A1123F"/>
                </a:solidFill>
                <a:latin typeface="Consolas"/>
              </a:rPr>
              <a:t>int length(struct Node *head)</a:t>
            </a:r>
            <a:r>
              <a:rPr sz="2000" b="0">
                <a:solidFill>
                  <a:srgbClr val="1F2D3A"/>
                </a:solidFill>
              </a:rPr>
              <a:t> that counts the nodes.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What does </a:t>
            </a:r>
            <a:r>
              <a:rPr sz="2000" b="0">
                <a:solidFill>
                  <a:srgbClr val="A1123F"/>
                </a:solidFill>
                <a:latin typeface="Consolas"/>
              </a:rPr>
              <a:t>length(NULL)</a:t>
            </a:r>
            <a:r>
              <a:rPr sz="2000" b="0">
                <a:solidFill>
                  <a:srgbClr val="1F2D3A"/>
                </a:solidFill>
              </a:rPr>
              <a:t> return, and why does the recursion stop there?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Task 4 — Answer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length(struct Node *head)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(head == NULL) return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1 + length(head-&gt;next);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length(NULL)</a:t>
            </a:r>
            <a:r>
              <a:rPr sz="2000" b="0">
                <a:solidFill>
                  <a:srgbClr val="1F2D3A"/>
                </a:solidFill>
              </a:rPr>
              <a:t> returns </a:t>
            </a:r>
            <a:r>
              <a:rPr sz="2000" b="0">
                <a:solidFill>
                  <a:srgbClr val="A1123F"/>
                </a:solidFill>
                <a:latin typeface="Consolas"/>
              </a:rPr>
              <a:t>0</a:t>
            </a:r>
            <a:r>
              <a:rPr sz="2000" b="0">
                <a:solidFill>
                  <a:srgbClr val="1F2D3A"/>
                </a:solidFill>
              </a:rPr>
              <a:t> — the </a:t>
            </a:r>
            <a:r>
              <a:rPr sz="2000" b="1">
                <a:solidFill>
                  <a:srgbClr val="1F2D3A"/>
                </a:solidFill>
              </a:rPr>
              <a:t>base case</a:t>
            </a:r>
            <a:r>
              <a:rPr sz="2000" b="0">
                <a:solidFill>
                  <a:srgbClr val="1F2D3A"/>
                </a:solidFill>
              </a:rPr>
              <a:t>; without it the recursion never stops.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Task 5 — Binary file I/O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values[3] = {1, 2, 3};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FILE *f = fopen("data.bin", "wb");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fwrite(values, sizeof(int), 3, f);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fclose(f);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How many bytes does </a:t>
            </a:r>
            <a:r>
              <a:rPr sz="2000" b="0">
                <a:solidFill>
                  <a:srgbClr val="A1123F"/>
                </a:solidFill>
                <a:latin typeface="Consolas"/>
              </a:rPr>
              <a:t>data.bin</a:t>
            </a:r>
            <a:r>
              <a:rPr sz="2000" b="0">
                <a:solidFill>
                  <a:srgbClr val="1F2D3A"/>
                </a:solidFill>
              </a:rPr>
              <a:t> contain, and why?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Task 5 —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3 * sizeof(int)</a:t>
            </a:r>
            <a:r>
              <a:rPr sz="2000" b="0">
                <a:solidFill>
                  <a:srgbClr val="1F2D3A"/>
                </a:solidFill>
              </a:rPr>
              <a:t> bytes — </a:t>
            </a:r>
            <a:r>
              <a:rPr sz="2000" b="1">
                <a:solidFill>
                  <a:srgbClr val="1F2D3A"/>
                </a:solidFill>
              </a:rPr>
              <a:t>12 bytes</a:t>
            </a:r>
            <a:r>
              <a:rPr sz="2000" b="0">
                <a:solidFill>
                  <a:srgbClr val="1F2D3A"/>
                </a:solidFill>
              </a:rPr>
              <a:t> on almost every current desktop platform. </a:t>
            </a:r>
            <a:r>
              <a:rPr sz="2000" b="0">
                <a:solidFill>
                  <a:srgbClr val="A1123F"/>
                </a:solidFill>
                <a:latin typeface="Consolas"/>
              </a:rPr>
              <a:t>fwrite</a:t>
            </a:r>
            <a:r>
              <a:rPr sz="2000" b="0">
                <a:solidFill>
                  <a:srgbClr val="1F2D3A"/>
                </a:solidFill>
              </a:rPr>
              <a:t> copies the raw bytes of the array into the file; unlike </a:t>
            </a:r>
            <a:r>
              <a:rPr sz="2000" b="0">
                <a:solidFill>
                  <a:srgbClr val="A1123F"/>
                </a:solidFill>
                <a:latin typeface="Consolas"/>
              </a:rPr>
              <a:t>fprintf</a:t>
            </a:r>
            <a:r>
              <a:rPr sz="2000" b="0">
                <a:solidFill>
                  <a:srgbClr val="1F2D3A"/>
                </a:solidFill>
              </a:rPr>
              <a:t>, there is no text formatting involved.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Task 6 — Java generics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List&lt;Integer&gt; numbers = new ArrayList&lt;&gt;();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numbers.add(10);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numbers.add(20);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sum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n : numbers) { sum += n;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System.out.println(sum);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437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What does this print?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Task 6 — Answer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List&lt;Integer&gt;</a:t>
            </a:r>
            <a:r>
              <a:rPr sz="2000" b="0">
                <a:solidFill>
                  <a:srgbClr val="1F2D3A"/>
                </a:solidFill>
              </a:rPr>
              <a:t> is a generic collection restricted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Integer</a:t>
            </a:r>
            <a:r>
              <a:rPr sz="2000" b="0">
                <a:solidFill>
                  <a:srgbClr val="1F2D3A"/>
                </a:solidFill>
              </a:rPr>
              <a:t> elements; the for-each loop reads every element and accumulates it into </a:t>
            </a:r>
            <a:r>
              <a:rPr sz="2000" b="0">
                <a:solidFill>
                  <a:srgbClr val="A1123F"/>
                </a:solidFill>
                <a:latin typeface="Consolas"/>
              </a:rPr>
              <a:t>sum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Task 7 — Java exceptions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try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System.out.println("A");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throw new RuntimeException("boom");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 catch (RuntimeException e)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System.out.println("B");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 finally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System.out.println("C");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21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 what order do the three letters print?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Task 7 — Answer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exception is caught immediately by the matching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catch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B</a:t>
            </a:r>
            <a:r>
              <a:rPr sz="2000" b="0">
                <a:solidFill>
                  <a:srgbClr val="1F2D3A"/>
                </a:solidFill>
              </a:rPr>
              <a:t>); </a:t>
            </a:r>
            <a:r>
              <a:rPr sz="2000" b="0">
                <a:solidFill>
                  <a:srgbClr val="A1123F"/>
                </a:solidFill>
                <a:latin typeface="Consolas"/>
              </a:rPr>
              <a:t>finally</a:t>
            </a:r>
            <a:r>
              <a:rPr sz="2000" b="0">
                <a:solidFill>
                  <a:srgbClr val="1F2D3A"/>
                </a:solidFill>
              </a:rPr>
              <a:t> always runs afterward, whether or not an exception was thrown (</a:t>
            </a:r>
            <a:r>
              <a:rPr sz="2000" b="0">
                <a:solidFill>
                  <a:srgbClr val="A1123F"/>
                </a:solidFill>
                <a:latin typeface="Consolas"/>
              </a:rPr>
              <a:t>C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Task 8 — Build and test both toolchains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 toolchain: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gcc --version</a:t>
            </a:r>
            <a:r>
              <a:rPr sz="2000" b="0">
                <a:solidFill>
                  <a:srgbClr val="1F2D3A"/>
                </a:solidFill>
              </a:rPr>
              <a:t> · </a:t>
            </a:r>
            <a:r>
              <a:rPr sz="2000" b="0">
                <a:solidFill>
                  <a:srgbClr val="A1123F"/>
                </a:solidFill>
                <a:latin typeface="Consolas"/>
              </a:rPr>
              <a:t>cmake --version</a:t>
            </a:r>
            <a:r>
              <a:rPr sz="2000" b="0">
                <a:solidFill>
                  <a:srgbClr val="1F2D3A"/>
                </a:solidFill>
              </a:rPr>
              <a:t> · clone </a:t>
            </a:r>
            <a:r>
              <a:rPr sz="2000" b="0">
                <a:solidFill>
                  <a:srgbClr val="A1123F"/>
                </a:solidFill>
                <a:latin typeface="Consolas"/>
              </a:rPr>
              <a:t>cpp-cmake-ctest-template</a:t>
            </a:r>
            <a:r>
              <a:rPr sz="2000" b="0">
                <a:solidFill>
                  <a:srgbClr val="1F2D3A"/>
                </a:solidFill>
              </a:rPr>
              <a:t> · </a:t>
            </a:r>
            <a:r>
              <a:rPr sz="2000" b="0">
                <a:solidFill>
                  <a:srgbClr val="A1123F"/>
                </a:solidFill>
                <a:latin typeface="Consolas"/>
              </a:rPr>
              <a:t>cmake -S . -B build &amp;&amp; cmake --build build</a:t>
            </a:r>
            <a:r>
              <a:rPr sz="2000" b="0">
                <a:solidFill>
                  <a:srgbClr val="1F2D3A"/>
                </a:solidFill>
              </a:rPr>
              <a:t> · </a:t>
            </a:r>
            <a:r>
              <a:rPr sz="2000" b="0">
                <a:solidFill>
                  <a:srgbClr val="A1123F"/>
                </a:solidFill>
                <a:latin typeface="Consolas"/>
              </a:rPr>
              <a:t>ctest --test-dir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Java toolchain: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java -version</a:t>
            </a:r>
            <a:r>
              <a:rPr sz="2000" b="0">
                <a:solidFill>
                  <a:srgbClr val="1F2D3A"/>
                </a:solidFill>
              </a:rPr>
              <a:t> · </a:t>
            </a:r>
            <a:r>
              <a:rPr sz="2000" b="0">
                <a:solidFill>
                  <a:srgbClr val="A1123F"/>
                </a:solidFill>
                <a:latin typeface="Consolas"/>
              </a:rPr>
              <a:t>mvn -version</a:t>
            </a:r>
            <a:r>
              <a:rPr sz="2000" b="0">
                <a:solidFill>
                  <a:srgbClr val="1F2D3A"/>
                </a:solidFill>
              </a:rPr>
              <a:t> · clone </a:t>
            </a:r>
            <a:r>
              <a:rPr sz="2000" b="0">
                <a:solidFill>
                  <a:srgbClr val="A1123F"/>
                </a:solidFill>
                <a:latin typeface="Consolas"/>
              </a:rPr>
              <a:t>eclipse-java-maven-template</a:t>
            </a:r>
            <a:r>
              <a:rPr sz="2000" b="0">
                <a:solidFill>
                  <a:srgbClr val="1F2D3A"/>
                </a:solidFill>
              </a:rPr>
              <a:t> · </a:t>
            </a:r>
            <a:r>
              <a:rPr sz="2000" b="0">
                <a:solidFill>
                  <a:srgbClr val="A1123F"/>
                </a:solidFill>
                <a:latin typeface="Consolas"/>
              </a:rPr>
              <a:t>mvn test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Task 8 — What success looks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ctest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1">
                <a:solidFill>
                  <a:srgbClr val="1F2D3A"/>
                </a:solidFill>
              </a:rPr>
              <a:t>100% tests passed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Maven: </a:t>
            </a:r>
            <a:r>
              <a:rPr sz="2000" b="1">
                <a:solidFill>
                  <a:srgbClr val="1F2D3A"/>
                </a:solidFill>
              </a:rPr>
              <a:t>BUILD SUCCESS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Failures: 0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compiler errors along the way in either toolchain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If either one fails: go back to "What must be installed," fix the missing tool, and try again before the first class.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Ready for the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If all eight tasks made sense and both toolchains built and tested cleanly, you are ready.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820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Next:</a:t>
            </a:r>
            <a:r>
              <a:rPr sz="2000" b="0">
                <a:solidFill>
                  <a:srgbClr val="1F2D3A"/>
                </a:solidFill>
              </a:rPr>
              <a:t> the </a:t>
            </a:r>
            <a:r>
              <a:rPr sz="2000" b="1">
                <a:solidFill>
                  <a:srgbClr val="1F2D3A"/>
                </a:solidFill>
              </a:rPr>
              <a:t>syllabus</a:t>
            </a:r>
            <a:r>
              <a:rPr sz="2000" b="0">
                <a:solidFill>
                  <a:srgbClr val="1F2D3A"/>
                </a:solidFill>
              </a:rPr>
              <a:t> (weekly schedule) and the </a:t>
            </a:r>
            <a:r>
              <a:rPr sz="2000" b="1">
                <a:solidFill>
                  <a:srgbClr val="1F2D3A"/>
                </a:solidFill>
              </a:rPr>
              <a:t>project guide</a:t>
            </a:r>
            <a:r>
              <a:rPr sz="2000" b="0">
                <a:solidFill>
                  <a:srgbClr val="1F2D3A"/>
                </a:solidFill>
              </a:rPr>
              <a:t> (exact rubric for each checkpoint).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CEN207 Data Structures — Prerequisites</dc:title>
  <dc:subject/>
  <dc:creator>Asst. Prof. Dr.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