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Kullandığınız her düzenleyici, derleyici ve arama motoru bugünkü derste anlatılan fikirlere yaslanır — bir dizginin bellekte nasıl durduğu, ve bir dizgiyi başka bir dizginin içinde hızlıca bulmak.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On üç kısa animasyon tüm dersi taşıyor; her fikir tanıtıldığı yerde bir normal, bir uç/zor çalıştırma alıyor.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terim ilk geçtiği yerde tam tanımını alır; bu tablo yalnız nerede yeniden bulunacağını söylüyor.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Canlı çalıştırmak isterseniz şimdi bir terminal açın; bugünkü her slayttaki parça gösterildiği gibi derlenir ve çalışır.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C dizgisinin bellek düzeni hakkında yeni bir şey yok — yalnız "nerede bitiyor" kuralı yeni.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trie "Hafta 4'ün ağacı, ama dallanma çarpanı alfabe boyutu"dur. Rabin-Karp "Hafta 6'nın hash'i, artımlı hale getirilmiş"tir.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gerçekten yeni bir mekanizma — bugünün "yalnız daha fazla arama algoritması" gibi hissettirmemesi için baştan işaretlemeye değer.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haritadaki her kutu aşağıda kendi slaytlarını alıyor, çoğu kısa bir animasyon ve eksiksiz bir C/Java programıyla.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1, sonraki her bölümün varsaydığı tek kuralı kurar: bir C dizgisi bir char dizisi artı bir NUL sonlandırıcıdır, başka hiçbir şey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Cevap — tek bir ayrılmış bayt — elli yılı aşkın süredir C programlamayı (ve C hatalarını) şekillendirdi.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Pascal tarzı dizgilerle karşılaştırın, onlar gerçekten bir uzunluk baytı saklar — gerçek sonuçları olan bir tasarım kararı.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"Başkasının postası", tanımsız davranışı — sahip olmadığınız belleği bozmayı — anlatmanın dostane bir yolu.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"Hiçbir kestirme yol yoktur", bu bölümdeki her karmaşıklık sonucunu açıklayan tek gerçektir.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Tehlikeyi BAYRAKLAYARAK ve durdurarak gösteriyoruz — asla gerçekten bir sınır dışı yazma çalıştırarak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cap=16, "HELLOWORLD" rahat sığar — kopyalama döngüsünü, sonlandırıcıyı, sonra strlen'in ikinci yürüyüşünü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cap=8, 10 harflik bir kaynak — `if (i == cap) break;` korumasının kopyalamayı sınır dışına çıkmadan bir yazma önce durdurduğunu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Koruma satırı, tehlikeli bir saf strcpy döngüsünü güvenli, öğretilebilir bir döngüye çeviren TEK ekleme.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tek satırlık tuzak (döngü koşulunda strlen), C'deki en yaygın kazara-karesel hatalardan biridir.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"Her tek çağrıda"yı vurgulayın — bu, öğrencilerin sonraki derslerde en sık unuttuğu gerçektir.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`==`, C'de karakterleri değil işaretçileri karşılaştırır — farklı adreslerdeki aynı görünen iki dizgi eşit çıkmaz.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Cevabı açıklamadan önce birkaç el kalksın — gerçek kodda çok yaygın bir birer-eksik hatasıdır.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Bunu taşma animasyonuyla ilişkilendirin: tam olarak "cap=8, 10 harf"in gösterdiği eksiklik budur.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2, "son uzunluğu önceden bilmiyorsak ne olur?" sorusunu yanıtlıyor — Hafta 1'in dinamik dizisinin sayılar için yanıtladığı aynı soru.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tam olarak java.lang.StringBuilder'ın, C++'ın std::string'inin, ve Hafta 1'in dinamik dizisinin içeride yaptığı şeydir.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"+1 değil, katlama" seçimi, bu bölümün karmaşıklık argümanının tüm içeriğidir.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"Üstel olarak seyrekleşir", karmaşıklık slaytındaki amorti edilmiş analiz argümanının sezgisel versiyonu.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initCap=4, "HELLOWORLD" — arabelleğin dolduğunu, kapasiteye ulaştığını, ve eski karakterler görünür şekilde kopyalanarak büyüdüğünü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initCap=1, 10 harf için en çok büyümeyi zorlar — katlama kuralının iyi bir stres testi.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C'de, realloc bloğu TAŞIYABİLİR — buf'a eski her işaretçi, bu satır çalıştığı an geçersiz olur.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"Amorti edilmiş" demek: her tek işlem ucuz değil, ama uzun bir dizi üzerinde ORTALAMA ucuz demektir.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Sabit bir büyüme miktarı, "küçük girdilerde iyi görünür, ölçekte çöker" türünde klasik bir hatadır.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Öğrencilerden "kaç büyüme olur, ve her biri ne kadara mal olur" açısından düşünmelerini isteyin.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Azalarak her biri n'e kadar mal olan log(n) büyüme O(n)'e toplanır; her biri n'e kadar mal olan n/10 büyüme O(n^2)'ye toplanır.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3, hiç kullandığınız her otomatik tamamlama kutusunun ve yazım denetleyicisinin arkasındaki yapıyı, trie'yi tanıtıyor.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Hash'leme, benzer anahtarları bilerek dağıtır — bu yüzden bir "ile başlıyor" sorusunu hiç yanıtlayamaz.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Altmış beş yaşında ve hâlâ herhangi bir mülakatçının "otomatik tamamlama tasarla" için beklediği ilk fikir.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Bayrak önemli — bir çatal, aynı anda hem bir sözcüğün yolunda hem de daha kısa bir sözcüğün sonu olabilir.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ikili rol — sözcük-sonu VE çocuklu-olma — trie hatalarının en yaygın tek kaynağıdır.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10 sözcüklü bir trie ile 10 milyon sözcüklü bir trie, search("CAT")'i tam olarak aynı sayıda adımda yanıtlar.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CAT, CAR, CARD, DOG — paylaşılan kenarların yeniden kullanıldığını, "son" bayrağının sözcük sınırlarında belirdiğini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A, AB, ABC, ABCD — hiç dallanma yok, düz bir bağlı-liste-benzeri zincir. Bölüm 4'ün tam olarak sıkıştırdığı şey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C düğüm başına sabit 26-hücreli bir dizi kullanır; Java sürümü (notlarda) bunun yerine bir HashMap kullanır — gerçek bir ödünleşim.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Döngünün sonuna ulaşmak yalnız "bu bir önek" olduğunu kanıtlar — dönüş değeri isEnd'i de kontrol eder.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O bellek bedeli, tam olarak bölüm 4'ün sıkıştırılmış trie'sinin düzelttiği şeydir.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search("CAR") ve search("CARP"), "CARPET" tutan bir trie'de aynı üç kenarı izler — yalnız biri saklı bir sözcüktür.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Öğrencilere 30 saniye verin; birçoğu başta yol var olduğu için true diyecektir.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"sık yapılan hatalar" slaytının az önce uyardığı bulundu-önek ayrımının tam olarak kendisi.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4, düz bir trie'nin uzun, dallanmayan sözcüklerdeki bellek israfını düzeltiyor.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Prensipte hiç dallanması olmayan tek bir dizgi olabilecek bir şey için on üç düğüm.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PATRICIA trie'ler bugün ağ ağlarında hâlâ kullanılıyor — en-uzun-önek-eşleşmesi IP yönlendirmesi doğrudan bir uygulama.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Durum 3 — bölme — gerçekten yeni olan tek fikir; diğer iki durum tam olarak düz bir trie'nin mantığı.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Animasyonu oynatmadan önce tahtada çalışın — öğrencilerin önce elle görmesi gereken tek adım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dersten iki tamamen farklı sıkıştırma fikri — farkı açıkça adlandırmaya değer.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TEST, TEA, TEAM — TEST kenarının TE + ST'ye bölündüğünü, sonra TEAM'in A düğümünün ötesine uzandığını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ANT, ARM, ART, AXE — bir bölmenin içinde bir bölme, bu yapının doğru işlemesi gereken en zor durum.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Tam split_edge mantığı (eski etiketi kısaltmak, çocuğu yeniden anahtarlamak) notlarda — bu karar noktası.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Süre karmaşıklığı değişmez; yalnız bellekteki sabit çarpan iyileşir, bazen çarpıcı biçimde.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Yeniden anahtarlama hatası inceliklidir — çocuğun harita/dizi anahtarı, kısaltılmış etiketinin yeni ilk harfiyle eşleşmelidir.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Açıklamadan önce öğrencilerin akıl yürütmesine izin verin — "hiç paylaşılan önek yok" olası en basit durumdur.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Aynı iki sözcük için 5 + 6 = 11 düğüme ihtiyaç duyacak düz bir trie'yle karşılaştırın.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5 farklı bir soru yanıtlıyor: "X saklı bir sözcük mü?" değil, "P örüntüsü uzun bir T metninin herhangi bir yerinde geçiyor mu?"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bir metin düzenleyicinin "bul" özelliğinin, ya da bir genom tarayıcısının sürekli sorduğu bir sorudur.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"Her zaman uzunlukta farklı", daha uzun bir soneğin öneki olan daha kısa bir soneğin otomatik olarak önce sıralanmasının nedeni.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MISSISSIPPI — her soneğin, kendi satırı olarak, ekleme sıralamasıyla sıralı konumuna kaydığını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AAAAAAAAAA — her karşılaştırma daha kısa soneğin sonuna kadar çalışır; yalnız uzunluk kuralı her bağı çözer.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"Akıllı işaretçi kullanımı, O(n) ekstra bellek ve kopyalamadan kaçınır"ın güzel, somut bir örneği.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Kurma maliyeti BİR KEZ ödenir; aynı metne karşı sonraki her arama hızlıdır.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`sa[i]` bir başlangıç KONUMUDUR, soneğin bir kopyası değil — soneği yazdırmak `text + sa[i]`'ye ihtiyaç duyar.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bir bitiş işaretini karşılaştırma kuralı için gereksiz kılan kilit gerçektir.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Farklı uzunluklar, düz sözlük karşılaştırmasının zaten her olası bağı doğru çözdüğü anlamına gelir.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6, arama ailesini açıyor — aynı soruyu yanıtlayan beş farklı hileli algoritma.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"En basit olası" saf aramadır — henüz daha akıllı bir fikir öğretilmemiş olsaydı tam olarak başlayacağınız 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"Bir eşleşmeden sonra devam edin", en çok unutulan kural — yaygın bir hata bir isabetten sonra m konum atlar.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text="ABABAABABC", pattern="ABABC" — 5. kaydırmadaki gerçek eşleşmeden önce birkaç yanlış başlangıcı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text="AAAAAAAAAA", pattern="AAAB" — SON karakterde başarısız olmadan önce her kaydırma örüntünün neredeyse tamamını karşılaştırır.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Buradan Bölüm 11'e kadarki her algoritma, bir anlamda, bu çift döngünün en kötü durumundan kaçınmanın daha akıllı bir yoludur.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Saf aramanın en kötü durumunu dersin geri kalanının kötü adamı olarak çerçeveleyin — her sonraki algoritma "düzeltme"dir.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En kötü durum karmaşıklığı tek dikkat edilecek şey değildir — küçük girdiler saf aramanın küçük sabit çarpanını tercih eder.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60 saniye verin — birçoğu bağımsız olarak zor örnekte gösterilen "AAAA...B" örüntüsünü yeniden keşfedecek.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tam olarak iki slayt önce gösterilen zor senaryo animasyonu.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7, Bölüm 8'in kullandığı tabloyu kuruyor — bir KMP dersinin anlamlı olması için iki yarısına da ihtiyaç var.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Kilit içgörü: örüntü, arayacağı metinden bağımsız olarak, önceden BİR KEZ incelenebilir.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Dizgi algoritmalarında en çok alıntılanan makalelerden biri — çoğu derste saf aramadan sonra öğretilen ilk şey.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Tahtada "ABAB" -&gt; lps=2'yi çalışın; bir dakikadan az sürede elle yapılacak kadar kısa.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ABABCABABA — len'in bir eşleşmede büyüdüğünü, bir uyuşmazlıkta lps[len-1] üzerinden (asla doğrudan 0'a değil) geri düştüğünü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AABAACAABAA — bir uyuşmazlık birden fazla lps düzeyi üzerinden geri düşer, doğrudan 0'a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"else if (len != 0)" dalı — sıfırlamak yerine geri düşmek — öğrencilerin ilk yanlış yaptığı SATIR.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amorti edilmiş argüman (yalnız arttığı kadar azalan bir değer), dizgi algoritmalarında sürekli tekrar eder.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0'a sıfırlamak yine de BİR tablo üretir — yalnız YANLIŞ olanı, güvenli atlama mesafesini eksik bildiren bir tablo.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tablonun son girdisini örüntünün bütün olarak kendi örtüşmesine bağlar.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"AAAAAAAAAA"'nın lps[m-1] = m-1'i vardır, olası maksimum kendisiyle örtüşme.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8, lps tablosunun karşılığını verdiği yer — bölüm 7'nin kurulumunun ödül dizisi.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"Asla geri gitmez", KMP'ye O(n+m) sınırını veren tek garanti — birden fazla söyleyin.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geri düşüşte "i yerinde kalır" kilit satır — metin karakteri asla yeniden incelenmez.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klasik CLRS tarzı metin/örüntü çifti — i'nin ileri yürürken j'nin lps kullanarak atladığını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text="AAAAAAAAAAAAAAAB", pattern="AAAAB" — yoğun bir geri düşüş dizisi, ama i hâlâ yalnız ileri gider.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Üç dal, "fikir" slaytındaki her durum için bir tane — öğrencilerle 1:1 eşleştirin, sonra devam edin.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"Kötü girdi yok"u yinelemeye değer — KMP'yi kötüleştiren hiçbir yapılandırma ya da girdi yoktur.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Eşleşme sonrası geri düşüşü unutmak, çakışan oluşumları sessizce kaçırır — sessiz, fark edilmesi zor bir hata.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Cevap, doğrudan saf aramanın "metin karakterlerini yeniden inceliyor" kök nedenine bağlanmalı.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slayt tüm KMP yayının ödülü — yavaşça söyleyin, hatırlanmaya değer tek cümle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9, hash'lemeyi (Hafta 6) gerçekten yeni, artımlı bir biçimde geri getiriyor.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KMP'ninkinden tamamen farklı bir strateji — karşılaştırmayı eniyilemek yerine karşılaştırmadan kaçınmak.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"Aday, asla bir kesinlik değil" bu bölümdeki en önemli tek cümle.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"Doğrulanmalı"yı tekrar söyleyin. İki farklı alt-dizgi aynı değere hash'lenebilir; bu bir hata değil, matematik.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mod=101, hiç sahte isabet yok — kayan özet güncellemesinin, O(1), çoğu pencereyi tamamen atladığını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mod=7 (bilerek küçük) — doğrulamada BAŞARISIZ olan bir özet eşleşmesi: doğru şekilde reddedilen bir sahte isabet.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Gerçek bir öğretim anı — C'de `long`'un 64 bit anlamına geldiğini asla varsaymayın; genişliği platforma bağlıdır.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`strncmp`'i işaret edin — o çağrı isteğe bağlı değil; atlamak sessizce sahte isabetleri gerçek eşleşme olarak bildirir.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"Zor" örneği, bu en kötü durum davranışını bilerek görünür kılmak için mod=7 kullandı.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üçü tam olarak bu bölümün animasyonunun ve programının bilerek gösterdiği üç şeyle eşleşir.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Güvercin yuvası ilkesi tam matematiksel cevaptır, açıkça adlandırmaya değer.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Öğrencilerin de almış olabileceği bir ayrık matematik dersine güzel bir geri gönderim.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10, pratikte sıkça doğal dil metni için en hızlısı olan algoritmayı tanıtıyor.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ilk bakışta tersmiş gibi görünüyor — bu yüzden fikri açıklamadan önce durmaya değer.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İyi sonek kuralının var olduğunu ama kapsam dışı olduğunu belirtin — öğrenciler daha sonraki okuma için adını bilmeli.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"Asla 1'den az" gerçek bir uygulama tuzağı — tekrarlı karakterler saf atlama formülünü 0'a götürebilir.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text="ABAAABCDAB", pattern="ABC" — sağdan sola taramayı ve ortaya çıkan atlama boyutunu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text="ZZZZZZZZZZ", pattern="ABC" — Z örüntüde hiç geçmez, böylece her pencere tam örüntü uzunluğunca atlar.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Tablo yalnız örüntüden BİR KEZ kurulur — tam olarak KMP'nin lps tablosu gibi, her pencerede değişmeden yeniden kullanılır.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"Pratikte"yi vurgulayın — gerçek metinde ortalama durum, bu algoritmanın ününü yapan şeydir.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Yanlışlıkla soldan sağa karşılaştırmak yine de doğru eşleşmeler bulur — yalnız Boyer-Moore'un tüm amacını atar.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Cevap, oradaki karakterlere hiç bakmadan bir konum aralığının eşleşemeyeceğini KANITLAMAKla ilgili.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"kanıtla, kontrol etme" fikri, bu hafta saf aramadan daha hızlı her algoritmanın kavramsal kalbidir.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11, arama ailesini beşin en kavramsal olarak zarif olanıyla kapatıyor.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Bunu "zarif olan" diye çerçeveleyin — öğrenciler sıkça Z algoritmasını beşinin en tatmin edicisi buluyor.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[l, r) penceresi, KMP'nin lps tablosuyla tam olarak aynı rolü oynar — "zaten bildiğini hatırla".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pattern="AB", text="ABABABABAB" — [l,r) penceresinin büyüdüğünü ve sonraki konumlar için yeniden kullanıldığını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pattern="AAA", "AAAAAAAAAA"'ya karşı — pencere dizginin tam sonuna kadar büyümeye devam eder, neredeyse her adımda yeniden kullanım.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Üç satır, her fikir için bir tane: pencereyi yeniden kullan, mümkünse uzat, büyüdüyse yeni pencereyi hatırla.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Öğrencilere bunun dersin aynı "yalnız büyür" amorti edilmiş argümanını üçüncü kez kullanışı olduğunu hatırlatmaya değer.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Z değeri, metin kendisi tekrarlıysa meşru olarak m'yi aşabilir — doğru eşleşme testi ==, değil &gt;='dir.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Dürüst cevap "kaçınmaz" — Z[], benzer bir rol oynayan TABLONUN KENDİSİDİR.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lps[i] yalnız örüntü içindeki örtüşmeyi tanımlar; Z[i] tüm yapıştırılmış dizgiyle örtüşmeyi tanımlar.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Ders dinamik programlamaya geçmeden önce kısa bir dur-ve-karşılaştır bölümü.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KMP, GARANTİLİ bir en kötü duruma sahip tek algoritmadır — düşmanca girdi bir endişeyse güvenli varsayılan.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13, dinamik programlamayı sıfırdan tanıtıyor — bu dersteki hiçbir önceki hafta bunu kapsamadı.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üç gerçek dünya örneği, aksi takdirde soyut olan bir soruyu öğrencilerin zaten bildiği şeylere bağlıyor.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Saf özyinelemeli çağrı ağacını tahtaya çizin — tekrarlanan alt ağaçlar küçük girdilerde bile görsel olarak açıktır.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iki özellik de gereklidir — optimal alt yapı özyinelemeyi doğru yapar; çakışma ezberlemeyi değerli kılar.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Levenshtein'ın özgün makalesi, "dinamik programlama" adının tam bu bağlamda standart hale gelmesinden öncedir.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"Her bağımlılık zaten hesaplanmış", hiç özyinelemeye gerek olmamasının nedeni — tek bir geçiş yeterli.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KITTEN -&gt; SITTING, uzaklık 3 — tablonun dolduğunu, sonra geriye yürümenin bir düzenleme dizisi yeniden kurduğunu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CAT -&gt; CATERPILLAR — a, b'nin bir öneki, böylece her eşleşmeyen adım saf bir ekleme, asla değiştirme ya da silme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tüm algoritmanın çekirdeği — geri kalan her şey (taban durumları, geriye yürüme) bu yineleme etrafında defter tutma.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Alan eniyilemesinin var olduğunu belirtin ama sonradan geriye yürümeyi çalıştırma yeteneğinden fedakarlık ettiğini not edin.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Taban-durumu hatası sinsidir — "boş bir önekle karşılaştırma"yı, maliyeti olması gerekirken sessizce ücretsiz gösterir.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birkaç slayt önceki "fikir" slaytına doğrudan bağlanır — iyi bir anlama kontrolü.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Cevabın her iki yarısı da önemli — birçok öğrenci yalnız iki özellikten birini hatırlıyor.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14, bölüm 13'ün tam tablo şeklini tek bir değişmiş yinelemeyle yeniden kullanıyor — güzel bir "aynı şekil, farklı anlam" kapanışı.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tam olarak bir fark aracının değişmemiş olarak vurguladığı şey — git diff'e bağlantı burada karşılığını veriyor.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ayrım, LCS'yle ilgili en yaygın tek kavramsal hatadır — bu slayta gerçekten zaman ayırın.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Açıkça düzenleme uzaklığının min+1'iyle karşılaştırın — bu karşıtlık bu bölümün temel öğretim noktasıdır.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Normal örnek: ABCBDAB / BDCABA, uzunluk 4 — köşegenin eşleşmelerde büyüdüğünü, aksi halde max'ın ileriye taşındığını izleyin.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ABCDE'ye karşı FGHIJ — her hücre 0 kalır, tüm tablo yalnız "eşleşme yok, max taşı" dalıyla dolar.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Bunu düzenleme uzaklığının kod slaydıyla yan yana karşılaştırın — görsel benzerlik bilerek yapıldı ve öğreticidir.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açıkça şunu söyleme anı: "artık DP tablo şeklini biliyorsunuz, yalnız iki ayrık algoritmayı değil."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Gerçek karakterleri geri kazanmak için geriye yürüme gerekir — yalnız dp[n][m] yalnız "ne kadar uzun?"u yanıtlar.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Dersin kapanış kavramsal sorusu — bölüm 13 ve 14'ü açıkça birbirine bağlıyor.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bugünkü dersin tüm DP yarısının en temiz tek cümlelik özeti.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Beş yapı, beş arama algoritması, iki DP algoritması — on üç animasyon, bir 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Öğrencileri programları gerçekten çalıştırmaya teşvik edin — tüm ders boyunca gösterilen her çıktı gerçekti, uydurulmadı.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Dinamik programlama, bu haftanın çalışmalarınızın geri kalanında sürekli yeniden ortaya çıkacak tek fikridir.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Dergi adları, ciltler, ve yıllarla tam alıntılar basılı notların Kaynaklar bölümünde.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Sınıfa teşekkür edin, kodun ve notların nerede olduğunu hatırlatın, ve söz hakkını açın.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gif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gif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gif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gif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gif"/><Relationship Id="rId4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gif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gif"/><Relationship Id="rId4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gif"/><Relationship Id="rId4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gif"/><Relationship Id="rId4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gif"/><Relationship Id="rId4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gif"/><Relationship Id="rId4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gif"/><Relationship Id="rId4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gif"/><Relationship Id="rId4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gif"/><Relationship Id="rId4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gif"/><Relationship Id="rId4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gif"/><Relationship Id="rId4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gif"/><Relationship Id="rId4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gif"/><Relationship Id="rId4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gif"/><Relationship Id="rId4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gif"/><Relationship Id="rId4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gif"/><Relationship Id="rId4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gif"/><Relationship Id="rId4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8.gif"/><Relationship Id="rId4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9.gif"/><Relationship Id="rId4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0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0.gif"/><Relationship Id="rId4" Type="http://schemas.openxmlformats.org/officeDocument/2006/relationships/notesSlide" Target="../notesSlides/notesSlide154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1.gif"/><Relationship Id="rId4" Type="http://schemas.openxmlformats.org/officeDocument/2006/relationships/notesSlide" Target="../notesSlides/notesSlide155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8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9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0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3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4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Dizgiler: Yapılar ve Algoritmalar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CEN207 Veri Yapıları — Hafta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Dr. Öğr. Üyesi Uğur CORUH · 2026-2027 Güz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Bugünün planı (3 saat)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02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3359"/>
                <a:gridCol w="9908175"/>
              </a:tblGrid>
              <a:tr h="500634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Saat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Konu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500634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 dizgileri, arabellekler, trie'ler, sıkıştırılmış trie'ler, sonek dizileri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0634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Saf arama, KMP (başarısızlık işlevi + arama), Rabin-Karp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500634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Boyer-Moore, Z algoritması, dinamik programlama: düzenleme uzaklığı, LCS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43814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Öğrenme çıktıları:</a:t>
            </a:r>
            <a:r>
              <a:rPr sz="2000" b="0">
                <a:solidFill>
                  <a:srgbClr val="1F2D3A"/>
                </a:solidFill>
              </a:rPr>
              <a:t> ÖÇ.1 (veri yapılarını açıklama) · ÖÇ.2 (karmaşıklık analizi) · ÖÇ.6 (dinamik programlama) · ÖÇ.7 (doğru yapıyı seçme)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Bu haftanın kavramları — nerede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7647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8360"/>
                <a:gridCol w="1903174"/>
              </a:tblGrid>
              <a:tr h="441197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Kavram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Nerede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44119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 dizgileri, arabellekler, trie'ler, radix ağaçları, sonek dizileri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Bölüm 1–5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119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Saf, KMP, Rabin-Karp, Boyer-Moore, Z algoritması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Bölüm 6–11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4120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Dinamik programlama: düzenleme uzaklığı, LCS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Bölüm 13–14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örnekleri nasıl çalışır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fikrin eksiksiz bir </a:t>
            </a:r>
            <a:r>
              <a:rPr sz="2000" b="1">
                <a:solidFill>
                  <a:srgbClr val="1F2D3A"/>
                </a:solidFill>
              </a:rPr>
              <a:t>C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Java</a:t>
            </a:r>
            <a:r>
              <a:rPr sz="2000" b="0">
                <a:solidFill>
                  <a:srgbClr val="1F2D3A"/>
                </a:solidFill>
              </a:rPr>
              <a:t> programı var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C: </a:t>
            </a:r>
            <a:r>
              <a:rPr sz="2000" b="0">
                <a:solidFill>
                  <a:srgbClr val="A1123F"/>
                </a:solidFill>
                <a:latin typeface="Consolas"/>
              </a:rPr>
              <a:t>gcc -std=c11 -Wall -Wextra -o /tmp/x file.c &amp;&amp; /tmp/x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Java: </a:t>
            </a:r>
            <a:r>
              <a:rPr sz="2000" b="0">
                <a:solidFill>
                  <a:srgbClr val="A1123F"/>
                </a:solidFill>
                <a:latin typeface="Consolas"/>
              </a:rPr>
              <a:t>javac -d /tmp/j File.java &amp;&amp; java -cp /tmp/j File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Kaynaklar: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code/week-12/c/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code/week-12/java/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programın beklenen çıktısı hafta notlarında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Tekrar — diziler ve char dizisi (Hafta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Dizi:</a:t>
            </a:r>
            <a:r>
              <a:rPr sz="2000" b="0">
                <a:solidFill>
                  <a:srgbClr val="1F2D3A"/>
                </a:solidFill>
              </a:rPr>
              <a:t> bitişik bellek, indeksle O(1) erişim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C dizgisi yalnız bir </a:t>
            </a:r>
            <a:r>
              <a:rPr sz="2000" b="0">
                <a:solidFill>
                  <a:srgbClr val="A1123F"/>
                </a:solidFill>
                <a:latin typeface="Consolas"/>
              </a:rPr>
              <a:t>char</a:t>
            </a:r>
            <a:r>
              <a:rPr sz="2000" b="0">
                <a:solidFill>
                  <a:srgbClr val="1F2D3A"/>
                </a:solidFill>
              </a:rPr>
              <a:t> dizisidir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Hafta 1'in indeks aritmetiği (</a:t>
            </a:r>
            <a:r>
              <a:rPr sz="2000" b="0">
                <a:solidFill>
                  <a:srgbClr val="A1123F"/>
                </a:solidFill>
                <a:latin typeface="Consolas"/>
              </a:rPr>
              <a:t>base + i</a:t>
            </a:r>
            <a:r>
              <a:rPr sz="2000" b="0">
                <a:solidFill>
                  <a:srgbClr val="1F2D3A"/>
                </a:solidFill>
              </a:rPr>
              <a:t>) hâlâ geçerli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Bugün üstüne bir kural ekliyor: </a:t>
            </a:r>
            <a:r>
              <a:rPr sz="2000" b="0">
                <a:solidFill>
                  <a:srgbClr val="A1123F"/>
                </a:solidFill>
                <a:latin typeface="Consolas"/>
              </a:rPr>
              <a:t>'0'</a:t>
            </a:r>
            <a:r>
              <a:rPr sz="2000" b="0">
                <a:solidFill>
                  <a:srgbClr val="1F2D3A"/>
                </a:solidFill>
              </a:rPr>
              <a:t> sonu işaretler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Tekrar — ağaçlar ve hash'leme (Hafta 4 ve 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Ağaçlar:</a:t>
            </a:r>
            <a:r>
              <a:rPr sz="2000" b="0">
                <a:solidFill>
                  <a:srgbClr val="1F2D3A"/>
                </a:solidFill>
              </a:rPr>
              <a:t> çocukları olan özyinelemeli düğümler (Hafta 4)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trie düğümü, harf başına bir çocuğu olan bir ağaç düğümüdür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Hash'leme:</a:t>
            </a:r>
            <a:r>
              <a:rPr sz="2000" b="0">
                <a:solidFill>
                  <a:srgbClr val="1F2D3A"/>
                </a:solidFill>
              </a:rPr>
              <a:t> bir işlev bir konumu O(1)'de hesaplar (Hafta 6)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Rabin-Karp hash'lemeyi yeniden kullanır — ama onu </a:t>
            </a:r>
            <a:r>
              <a:rPr sz="2000" b="1">
                <a:solidFill>
                  <a:srgbClr val="1F2D3A"/>
                </a:solidFill>
              </a:rPr>
              <a:t>kaydırır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Yepyeni bir fikir: dinamik programlama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Hiçbir önceki hafta bir problemi </a:t>
            </a:r>
            <a:r>
              <a:rPr sz="2000" b="1">
                <a:solidFill>
                  <a:srgbClr val="1F2D3A"/>
                </a:solidFill>
              </a:rPr>
              <a:t>çakışan</a:t>
            </a:r>
            <a:r>
              <a:rPr sz="2000" b="0">
                <a:solidFill>
                  <a:srgbClr val="1F2D3A"/>
                </a:solidFill>
              </a:rPr>
              <a:t> alt problemlere bölmedi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alt problemi </a:t>
            </a:r>
            <a:r>
              <a:rPr sz="2000" b="1">
                <a:solidFill>
                  <a:srgbClr val="1F2D3A"/>
                </a:solidFill>
              </a:rPr>
              <a:t>yalnız bir kez</a:t>
            </a:r>
            <a:r>
              <a:rPr sz="2000" b="0">
                <a:solidFill>
                  <a:srgbClr val="1F2D3A"/>
                </a:solidFill>
              </a:rPr>
              <a:t> çözün, bir tabloda saklayın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Bölüm 13–14 bunu temel ilkelerden tanıtıyor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 klasik örnek: düzenleme uzaklığı ve LCS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Bu haftanın haritası — bir bakışta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8957"/>
                <a:gridCol w="3992025"/>
                <a:gridCol w="3060552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Yapılar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Arama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Dinamik programlama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 dizgileri, arabellekler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Saf, KMP, Rabin-Karp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Düzenleme uzaklığı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Trie'ler, radix ağaçları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Boyer-Moore, Z algoritması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LCS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Sonek dizileri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C Dizgileri: Bellek, </a:t>
            </a:r>
            <a:r>
              <a:rPr sz="4000" b="1">
                <a:solidFill>
                  <a:srgbClr val="FFFFFF"/>
                </a:solidFill>
                <a:latin typeface="Consolas"/>
              </a:rPr>
              <a:t>'0'</a:t>
            </a:r>
            <a:r>
              <a:rPr sz="4000" b="1">
                <a:solidFill>
                  <a:srgbClr val="FFFFFF"/>
                </a:solidFill>
              </a:rPr>
              <a:t>, ve </a:t>
            </a:r>
            <a:r>
              <a:rPr sz="4000" b="1">
                <a:solidFill>
                  <a:srgbClr val="FFFFFF"/>
                </a:solidFill>
                <a:latin typeface="Consolas"/>
              </a:rPr>
              <a:t>strlen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Şimdiye kadarki her yapı boyutunu bir yerde sakladı. Bir C dizgisi saklamaz. Öyleyse bir işlev nerede bittiğini nasıl bilir?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bir tarihçe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C, Bell Labs'ta, 1970'lerin başında tasarlandı (Dennis Ritchie)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Uzunluk alanı yok: yalnız bir </a:t>
            </a:r>
            <a:r>
              <a:rPr sz="2000" b="0">
                <a:solidFill>
                  <a:srgbClr val="A1123F"/>
                </a:solidFill>
                <a:latin typeface="Consolas"/>
              </a:rPr>
              <a:t>char</a:t>
            </a:r>
            <a:r>
              <a:rPr sz="2000" b="0">
                <a:solidFill>
                  <a:srgbClr val="1F2D3A"/>
                </a:solidFill>
              </a:rPr>
              <a:t> dizisi + bir kural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'0'</a:t>
            </a:r>
            <a:r>
              <a:rPr sz="2000" b="0">
                <a:solidFill>
                  <a:srgbClr val="1F2D3A"/>
                </a:solidFill>
              </a:rPr>
              <a:t> (NUL, değer 0) "dizgi burada bitiyor" der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tek seçim arabellek taşmasını olanaklı kılar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Sezgi — bir posta kutuları sırası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posta kutusu (bayt) bir harf tutar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Hiçbir işaret "bu son dolu kutu" demez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Bunun yerine: ilk </a:t>
            </a:r>
            <a:r>
              <a:rPr sz="2000" b="1">
                <a:solidFill>
                  <a:srgbClr val="1F2D3A"/>
                </a:solidFill>
              </a:rPr>
              <a:t>boş</a:t>
            </a:r>
            <a:r>
              <a:rPr sz="2000" b="0">
                <a:solidFill>
                  <a:srgbClr val="1F2D3A"/>
                </a:solidFill>
              </a:rPr>
              <a:t> kutu sonu işaretler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Onun ötesine yürümek, başkasının postasına girmektir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Fikir: dizi + kural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C dizgisi = bir </a:t>
            </a:r>
            <a:r>
              <a:rPr sz="2000" b="0">
                <a:solidFill>
                  <a:srgbClr val="A1123F"/>
                </a:solidFill>
                <a:latin typeface="Consolas"/>
              </a:rPr>
              <a:t>char</a:t>
            </a:r>
            <a:r>
              <a:rPr sz="2000" b="0">
                <a:solidFill>
                  <a:srgbClr val="1F2D3A"/>
                </a:solidFill>
              </a:rPr>
              <a:t> dizisi, başka hiçbir şey değil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'0'</a:t>
            </a:r>
            <a:r>
              <a:rPr sz="2000" b="0">
                <a:solidFill>
                  <a:srgbClr val="1F2D3A"/>
                </a:solidFill>
              </a:rPr>
              <a:t> (NUL) dizgi-sonu işaretidir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işlem onu bulmak için bayt bayt yürür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Hiçbir kestirme yol yoktur — uzunluk asla önbelleğe alınmaz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Arabellek taşması hatası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strcpy</a:t>
            </a:r>
            <a:r>
              <a:rPr sz="2000" b="0">
                <a:solidFill>
                  <a:srgbClr val="1F2D3A"/>
                </a:solidFill>
              </a:rPr>
              <a:t> tarzı kopyalama, </a:t>
            </a:r>
            <a:r>
              <a:rPr sz="2000" b="0">
                <a:solidFill>
                  <a:srgbClr val="A1123F"/>
                </a:solidFill>
                <a:latin typeface="Consolas"/>
              </a:rPr>
              <a:t>'0'</a:t>
            </a:r>
            <a:r>
              <a:rPr sz="2000" b="0">
                <a:solidFill>
                  <a:srgbClr val="1F2D3A"/>
                </a:solidFill>
              </a:rPr>
              <a:t>'ı da kopyalayana kadar yazar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Hedef kaynaktan küçükse: sorun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Son geçerli indisin ötesine yazmak </a:t>
            </a:r>
            <a:r>
              <a:rPr sz="2000" b="1">
                <a:solidFill>
                  <a:srgbClr val="1F2D3A"/>
                </a:solidFill>
              </a:rPr>
              <a:t>tanımsız davranıştır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Bugün: her yazmayı her zaman bir sınır kontrolüyle </a:t>
            </a:r>
            <a:r>
              <a:rPr sz="2000" b="1">
                <a:solidFill>
                  <a:srgbClr val="1F2D3A"/>
                </a:solidFill>
              </a:rPr>
              <a:t>koruruz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 dizgisi belleği, adım adım</a:t>
            </a:r>
          </a:p>
        </p:txBody>
      </p:sp>
      <p:pic>
        <p:nvPicPr>
          <p:cNvPr id="7" name="Picture 6" descr="c-string-memory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01307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taşma, bayraklanır, hiç çalıştırılmaz</a:t>
            </a:r>
          </a:p>
        </p:txBody>
      </p:sp>
      <p:pic>
        <p:nvPicPr>
          <p:cNvPr id="7" name="Picture 6" descr="c-string-memory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01307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korumalı kopyalama döngüsü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i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(src[i] != '\0')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(i == cap) break;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buf[i] = src[i];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overflow = (src[i] != '\0');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(!overflow) buf[i] = '\0';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strlen onu ikinci kez yürür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size_t len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(!overflow)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(buf[len] != '\0') len++;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Hiçbir uzunluk hiçbir yerde önbelleğe alınmaz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strlen</a:t>
            </a:r>
            <a:r>
              <a:rPr sz="2000" b="0">
                <a:solidFill>
                  <a:srgbClr val="1F2D3A"/>
                </a:solidFill>
              </a:rPr>
              <a:t>'i bir döngü koşulunda çağırmak: O(n), O(n^2) olur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L</a:t>
            </a:r>
            <a:r>
              <a:rPr sz="2000" b="0">
                <a:solidFill>
                  <a:srgbClr val="1F2D3A"/>
                </a:solidFill>
              </a:rPr>
              <a:t> uzunluğunda bir dizgi kopyalamak: </a:t>
            </a:r>
            <a:r>
              <a:rPr sz="2000" b="0">
                <a:solidFill>
                  <a:srgbClr val="A1123F"/>
                </a:solidFill>
                <a:latin typeface="Consolas"/>
              </a:rPr>
              <a:t>O(L)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strlen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O(L)</a:t>
            </a:r>
            <a:r>
              <a:rPr sz="2000" b="0">
                <a:solidFill>
                  <a:srgbClr val="1F2D3A"/>
                </a:solidFill>
              </a:rPr>
              <a:t> — </a:t>
            </a:r>
            <a:r>
              <a:rPr sz="2000" b="1">
                <a:solidFill>
                  <a:srgbClr val="1F2D3A"/>
                </a:solidFill>
              </a:rPr>
              <a:t>her tek çağrıda</a:t>
            </a:r>
            <a:r>
              <a:rPr sz="2000" b="0">
                <a:solidFill>
                  <a:srgbClr val="1F2D3A"/>
                </a:solidFill>
              </a:rPr>
              <a:t>, sıfırdan yeniden hesaplanır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Hiçbir önbellekleme, hiçbir kestirme, asla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Önbelleğe alınmış bir uzunluk, dizgi değiştiği an bozulurdu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 yapılan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arabelleği boyutlandırırken sonlandırıcı için </a:t>
            </a:r>
            <a:r>
              <a:rPr sz="2000" b="0">
                <a:solidFill>
                  <a:srgbClr val="A1123F"/>
                </a:solidFill>
                <a:latin typeface="Consolas"/>
              </a:rPr>
              <a:t>+1</a:t>
            </a:r>
            <a:r>
              <a:rPr sz="2000" b="0">
                <a:solidFill>
                  <a:srgbClr val="1F2D3A"/>
                </a:solidFill>
              </a:rPr>
              <a:t>'i unutmak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strlen</a:t>
            </a:r>
            <a:r>
              <a:rPr sz="2000" b="0">
                <a:solidFill>
                  <a:srgbClr val="1F2D3A"/>
                </a:solidFill>
              </a:rPr>
              <a:t>'i bir döngünün koşulunun içinde çağırmak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Dizgileri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strcmp</a:t>
            </a:r>
            <a:r>
              <a:rPr sz="2000" b="0">
                <a:solidFill>
                  <a:srgbClr val="1F2D3A"/>
                </a:solidFill>
              </a:rPr>
              <a:t> yerine </a:t>
            </a:r>
            <a:r>
              <a:rPr sz="2000" b="0">
                <a:solidFill>
                  <a:srgbClr val="A1123F"/>
                </a:solidFill>
                <a:latin typeface="Consolas"/>
              </a:rPr>
              <a:t>==</a:t>
            </a:r>
            <a:r>
              <a:rPr sz="2000" b="0">
                <a:solidFill>
                  <a:srgbClr val="1F2D3A"/>
                </a:solidFill>
              </a:rPr>
              <a:t> ile karşılaştırmak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10 karakterlik bir sözcük hangi boyutta bir arabellek gerektirir? </a:t>
            </a:r>
            <a:r>
              <a:rPr sz="2000" b="0">
                <a:solidFill>
                  <a:srgbClr val="A1123F"/>
                </a:solidFill>
                <a:latin typeface="Consolas"/>
              </a:rPr>
              <a:t>char buf[10]</a:t>
            </a:r>
            <a:r>
              <a:rPr sz="2000" b="0">
                <a:solidFill>
                  <a:srgbClr val="1F2D3A"/>
                </a:solidFill>
              </a:rPr>
              <a:t> neden bir bayt küçük?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Cevap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11 bayt.</a:t>
            </a:r>
            <a:r>
              <a:rPr sz="2000" b="0">
                <a:solidFill>
                  <a:srgbClr val="1F2D3A"/>
                </a:solidFill>
              </a:rPr>
              <a:t> On karakter artı </a:t>
            </a:r>
            <a:r>
              <a:rPr sz="2000" b="0">
                <a:solidFill>
                  <a:srgbClr val="A1123F"/>
                </a:solidFill>
                <a:latin typeface="Consolas"/>
              </a:rPr>
              <a:t>'0'</a:t>
            </a:r>
            <a:r>
              <a:rPr sz="2000" b="0">
                <a:solidFill>
                  <a:srgbClr val="1F2D3A"/>
                </a:solidFill>
              </a:rPr>
              <a:t> için bir bayt — sonlandırıcıyı unutmak bu bölümün klasik hatasıdır.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Büyüyen Bir Dizgi Arabelleği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Bölüm 1'in arabelleği, bir karakter bile yazılmadan önce seçilen sabit bir kapasiteye sahipti. Ya kendini büyütebilseydi?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Sezgi — bir çekmeceyi aşmak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çekmece sabit sayıda dosya tutar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Dolu çekmece: </a:t>
            </a:r>
            <a:r>
              <a:rPr sz="2000" b="1">
                <a:solidFill>
                  <a:srgbClr val="1F2D3A"/>
                </a:solidFill>
              </a:rPr>
              <a:t>daha büyük</a:t>
            </a:r>
            <a:r>
              <a:rPr sz="2000" b="0">
                <a:solidFill>
                  <a:srgbClr val="1F2D3A"/>
                </a:solidFill>
              </a:rPr>
              <a:t> bir tane al, her dosyayı taşı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seferinde "bir boy daha büyük" almak: sürekli taşıma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İki katı</a:t>
            </a:r>
            <a:r>
              <a:rPr sz="2000" b="0">
                <a:solidFill>
                  <a:srgbClr val="1F2D3A"/>
                </a:solidFill>
              </a:rPr>
              <a:t> boyut almak: taşıma seyrekleşir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Fikir: dolduğunda ikiye katla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len</a:t>
            </a:r>
            <a:r>
              <a:rPr sz="2000" b="0">
                <a:solidFill>
                  <a:srgbClr val="1F2D3A"/>
                </a:solidFill>
              </a:rPr>
              <a:t> (kullanılan), </a:t>
            </a:r>
            <a:r>
              <a:rPr sz="2000" b="0">
                <a:solidFill>
                  <a:srgbClr val="A1123F"/>
                </a:solidFill>
                <a:latin typeface="Consolas"/>
              </a:rPr>
              <a:t>cap</a:t>
            </a:r>
            <a:r>
              <a:rPr sz="2000" b="0">
                <a:solidFill>
                  <a:srgbClr val="1F2D3A"/>
                </a:solidFill>
              </a:rPr>
              <a:t> (ayrılan), ve depolamayı izleyin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len == cap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1">
                <a:solidFill>
                  <a:srgbClr val="1F2D3A"/>
                </a:solidFill>
              </a:rPr>
              <a:t>iki katı</a:t>
            </a:r>
            <a:r>
              <a:rPr sz="2000" b="0">
                <a:solidFill>
                  <a:srgbClr val="1F2D3A"/>
                </a:solidFill>
              </a:rPr>
              <a:t> boyutta bir blok ayırın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Var olan her karakteri kopyalayın, sonra yeniyi yazın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Katlama,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büyüdükçe büyümeyi </a:t>
            </a:r>
            <a:r>
              <a:rPr sz="2000" b="1">
                <a:solidFill>
                  <a:srgbClr val="1F2D3A"/>
                </a:solidFill>
              </a:rPr>
              <a:t>üstel olarak seyrekleştirir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Büyüyen arabellek, adım adım</a:t>
            </a:r>
          </a:p>
        </p:txBody>
      </p:sp>
      <p:pic>
        <p:nvPicPr>
          <p:cNvPr id="7" name="Picture 6" descr="string-builder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39745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en küçük olası başlangıç</a:t>
            </a:r>
          </a:p>
        </p:txBody>
      </p:sp>
      <p:pic>
        <p:nvPicPr>
          <p:cNvPr id="7" name="Picture 6" descr="string-builder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39745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büyüt, sonra yaz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append(char c)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(len == cap)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cap = cap * 2;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buf = realloc(buf, cap);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buf[len] = c;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len++;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ekleme: genelde </a:t>
            </a:r>
            <a:r>
              <a:rPr sz="2000" b="0">
                <a:solidFill>
                  <a:srgbClr val="A1123F"/>
                </a:solidFill>
                <a:latin typeface="Consolas"/>
              </a:rPr>
              <a:t>O(1)</a:t>
            </a:r>
            <a:r>
              <a:rPr sz="2000" b="0">
                <a:solidFill>
                  <a:srgbClr val="1F2D3A"/>
                </a:solidFill>
              </a:rPr>
              <a:t>, bir büyümede </a:t>
            </a:r>
            <a:r>
              <a:rPr sz="2000" b="0">
                <a:solidFill>
                  <a:srgbClr val="A1123F"/>
                </a:solidFill>
                <a:latin typeface="Consolas"/>
              </a:rPr>
              <a:t>O(len)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ekleme toplam: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O(n)</a:t>
            </a:r>
            <a:r>
              <a:rPr sz="2000" b="0">
                <a:solidFill>
                  <a:srgbClr val="1F2D3A"/>
                </a:solidFill>
              </a:rPr>
              <a:t> — ekleme başına </a:t>
            </a:r>
            <a:r>
              <a:rPr sz="2000" b="1">
                <a:solidFill>
                  <a:srgbClr val="1F2D3A"/>
                </a:solidFill>
              </a:rPr>
              <a:t>amorti edilmiş O(1)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Büyüme kopyalaması geometrik bir seri oluşturur,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ile sınırlı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Hafta 1'in dinamik dizisiyle aynı garanti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 yapılan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Katlama yerine sabit bir miktarla büyütmek: toplam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O(n^2)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realloc</a:t>
            </a:r>
            <a:r>
              <a:rPr sz="2000" b="0">
                <a:solidFill>
                  <a:srgbClr val="1F2D3A"/>
                </a:solidFill>
              </a:rPr>
              <a:t>'tan sonra işaretçiyi güncellemeyi unutmak (C)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C dizgisi de </a:t>
            </a:r>
            <a:r>
              <a:rPr sz="2000" b="0">
                <a:solidFill>
                  <a:srgbClr val="A1123F"/>
                </a:solidFill>
                <a:latin typeface="Consolas"/>
              </a:rPr>
              <a:t>+1</a:t>
            </a:r>
            <a:r>
              <a:rPr sz="2000" b="0">
                <a:solidFill>
                  <a:srgbClr val="1F2D3A"/>
                </a:solidFill>
              </a:rPr>
              <a:t> gerektirdiğinde </a:t>
            </a:r>
            <a:r>
              <a:rPr sz="2000" b="0">
                <a:solidFill>
                  <a:srgbClr val="A1123F"/>
                </a:solidFill>
                <a:latin typeface="Consolas"/>
              </a:rPr>
              <a:t>len</a:t>
            </a:r>
            <a:r>
              <a:rPr sz="2000" b="0">
                <a:solidFill>
                  <a:srgbClr val="1F2D3A"/>
                </a:solidFill>
              </a:rPr>
              <a:t> bayt ayırmak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Katlama neden amorti edilmiş O(1) verir, ama sabit 10'luk bir büyüme ortalama ekleme başına O(n) verir?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Cevap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Katlama: `n/k`, `log n` büyümeye küçülür.</a:t>
            </a:r>
            <a:r>
              <a:rPr sz="2000" b="0">
                <a:solidFill>
                  <a:srgbClr val="1F2D3A"/>
                </a:solidFill>
              </a:rPr>
              <a:t> Sabit </a:t>
            </a:r>
            <a:r>
              <a:rPr sz="2000" b="0">
                <a:solidFill>
                  <a:srgbClr val="A1123F"/>
                </a:solidFill>
                <a:latin typeface="Consolas"/>
              </a:rPr>
              <a:t>+10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n/10</a:t>
            </a:r>
            <a:r>
              <a:rPr sz="2000" b="0">
                <a:solidFill>
                  <a:srgbClr val="1F2D3A"/>
                </a:solidFill>
              </a:rPr>
              <a:t> büyüme, her biri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'e kadar kopyalar.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Trie'ler: Her Karakter İçin Bir Kenar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hash tablosu "X bir sözcük mü?"yü O(1)'de yanıtlar. "X ile hangi sözcükler başlıyor?"u hiç yanıtlayamaz. Peki ne yanıtlar?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bir tarihçe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Edward Fredkin, "Trie Memory," 1960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Ad "re</a:t>
            </a:r>
            <a:r>
              <a:rPr sz="2000" b="1">
                <a:solidFill>
                  <a:srgbClr val="1F2D3A"/>
                </a:solidFill>
              </a:rPr>
              <a:t>trie</a:t>
            </a:r>
            <a:r>
              <a:rPr sz="2000" b="0">
                <a:solidFill>
                  <a:srgbClr val="1F2D3A"/>
                </a:solidFill>
              </a:rPr>
              <a:t>val"'dan gelir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"Tree" ile karışmaması için genellikle "try" diye okunur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Bugün hâlâ otomatik tamamlamanın arkasındaki standart yapı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Sezgi — bir yol tabelası ağacı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Yoldaki her çatal tek bir harfle etiketlenmiş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sözcüğün harflerini, bir çatal bir çatal izleyin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Paylaşılan önekler aynı erken çatalları paylaşır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Küçük bir bayrak "tam bir sözcük burada bitiyor"u işaretler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Fikir: paylaşılan önekler düğümleri paylaşır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insert("CAT")</a:t>
            </a:r>
            <a:r>
              <a:rPr sz="2000" b="0">
                <a:solidFill>
                  <a:srgbClr val="1F2D3A"/>
                </a:solidFill>
              </a:rPr>
              <a:t>, sonra </a:t>
            </a:r>
            <a:r>
              <a:rPr sz="2000" b="0">
                <a:solidFill>
                  <a:srgbClr val="A1123F"/>
                </a:solidFill>
                <a:latin typeface="Consolas"/>
              </a:rPr>
              <a:t>insert("CAR")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C</a:t>
            </a:r>
            <a:r>
              <a:rPr sz="2000" b="0">
                <a:solidFill>
                  <a:srgbClr val="1F2D3A"/>
                </a:solidFill>
              </a:rPr>
              <a:t>→</a:t>
            </a:r>
            <a:r>
              <a:rPr sz="2000" b="0">
                <a:solidFill>
                  <a:srgbClr val="A1123F"/>
                </a:solidFill>
                <a:latin typeface="Consolas"/>
              </a:rPr>
              <a:t>A</a:t>
            </a:r>
            <a:r>
              <a:rPr sz="2000" b="0">
                <a:solidFill>
                  <a:srgbClr val="1F2D3A"/>
                </a:solidFill>
              </a:rPr>
              <a:t>'yı paylaşır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insert("CARD")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C</a:t>
            </a:r>
            <a:r>
              <a:rPr sz="2000" b="0">
                <a:solidFill>
                  <a:srgbClr val="1F2D3A"/>
                </a:solidFill>
              </a:rPr>
              <a:t>→</a:t>
            </a:r>
            <a:r>
              <a:rPr sz="2000" b="0">
                <a:solidFill>
                  <a:srgbClr val="A1123F"/>
                </a:solidFill>
                <a:latin typeface="Consolas"/>
              </a:rPr>
              <a:t>A</a:t>
            </a:r>
            <a:r>
              <a:rPr sz="2000" b="0">
                <a:solidFill>
                  <a:srgbClr val="1F2D3A"/>
                </a:solidFill>
              </a:rPr>
              <a:t>→</a:t>
            </a:r>
            <a:r>
              <a:rPr sz="2000" b="0">
                <a:solidFill>
                  <a:srgbClr val="A1123F"/>
                </a:solidFill>
                <a:latin typeface="Consolas"/>
              </a:rPr>
              <a:t>R</a:t>
            </a:r>
            <a:r>
              <a:rPr sz="2000" b="0">
                <a:solidFill>
                  <a:srgbClr val="1F2D3A"/>
                </a:solidFill>
              </a:rPr>
              <a:t>'ı </a:t>
            </a:r>
            <a:r>
              <a:rPr sz="2000" b="0">
                <a:solidFill>
                  <a:srgbClr val="A1123F"/>
                </a:solidFill>
                <a:latin typeface="Consolas"/>
              </a:rPr>
              <a:t>"CAR"</a:t>
            </a:r>
            <a:r>
              <a:rPr sz="2000" b="0">
                <a:solidFill>
                  <a:srgbClr val="1F2D3A"/>
                </a:solidFill>
              </a:rPr>
              <a:t>ile paylaşır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insert("DOG")</a:t>
            </a:r>
            <a:r>
              <a:rPr sz="2000" b="0">
                <a:solidFill>
                  <a:srgbClr val="1F2D3A"/>
                </a:solidFill>
              </a:rPr>
              <a:t>: hiçbir şey paylaşmaz, kökten yeni dal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düğüm </a:t>
            </a:r>
            <a:r>
              <a:rPr sz="2000" b="1">
                <a:solidFill>
                  <a:srgbClr val="1F2D3A"/>
                </a:solidFill>
              </a:rPr>
              <a:t>hem</a:t>
            </a:r>
            <a:r>
              <a:rPr sz="2000" b="0">
                <a:solidFill>
                  <a:srgbClr val="1F2D3A"/>
                </a:solidFill>
              </a:rPr>
              <a:t> "CAR'ın sonu" </a:t>
            </a:r>
            <a:r>
              <a:rPr sz="2000" b="1">
                <a:solidFill>
                  <a:srgbClr val="1F2D3A"/>
                </a:solidFill>
              </a:rPr>
              <a:t>hem de</a:t>
            </a:r>
            <a:r>
              <a:rPr sz="2000" b="0">
                <a:solidFill>
                  <a:srgbClr val="1F2D3A"/>
                </a:solidFill>
              </a:rPr>
              <a:t> "CARD'a giden yol" olabilir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Trie işlemleri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8911085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3460"/>
                <a:gridCol w="5637625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İşlem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Maliyet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insert(word)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O(L)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, L = sözcük uzunluğu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search(word)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O(L)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önek kontrolü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O(L)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9626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Başka kaç sözcük saklandığından bağımsız!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Trie ekleme ve arama, adım adım</a:t>
            </a:r>
          </a:p>
        </p:txBody>
      </p:sp>
      <p:pic>
        <p:nvPicPr>
          <p:cNvPr id="7" name="Picture 6" descr="trie-insert-search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8215" y="1325880"/>
            <a:ext cx="5695265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dallanmasız bir zincir</a:t>
            </a:r>
          </a:p>
        </p:txBody>
      </p:sp>
      <p:pic>
        <p:nvPicPr>
          <p:cNvPr id="7" name="Picture 6" descr="trie-insert-search--chain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1108" y="1325880"/>
            <a:ext cx="4689479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ekleme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insert(TrieNode *root, const char *word)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TrieNode *cur = root;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word[i]; 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c = word[i] - 'A';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(cur-&gt;child[c] == NULL)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cur-&gt;child[c] = new_node();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cur = cur-&gt;child[c];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cur-&gt;isEnd =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arama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search(TrieNode *root, const char *word)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TrieNode *cur = root;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word[i]; 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c = word[i] - 'A';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(cur-&gt;child[c] == NULL)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cur = cur-&gt;child[c];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cur-&gt;isEnd;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işlem: </a:t>
            </a:r>
            <a:r>
              <a:rPr sz="2000" b="0">
                <a:solidFill>
                  <a:srgbClr val="A1123F"/>
                </a:solidFill>
                <a:latin typeface="Consolas"/>
              </a:rPr>
              <a:t>O(L)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L</a:t>
            </a:r>
            <a:r>
              <a:rPr sz="2000" b="0">
                <a:solidFill>
                  <a:srgbClr val="1F2D3A"/>
                </a:solidFill>
              </a:rPr>
              <a:t> = sözcüğün uzunluğu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Trie'nin toplam sözcük sayısı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'den bağımsız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Sıralı bir diziyi ya da dengeli bir ağacı geçer: </a:t>
            </a:r>
            <a:r>
              <a:rPr sz="2000" b="0">
                <a:solidFill>
                  <a:srgbClr val="A1123F"/>
                </a:solidFill>
                <a:latin typeface="Consolas"/>
              </a:rPr>
              <a:t>O(L log 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Bedel: bellek — çoğu boş çocuk dizisi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 yapılan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"Bulundu"yu "bir önektir" ile karıştırmak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düğümün hem </a:t>
            </a:r>
            <a:r>
              <a:rPr sz="2000" b="0">
                <a:solidFill>
                  <a:srgbClr val="A1123F"/>
                </a:solidFill>
                <a:latin typeface="Consolas"/>
              </a:rPr>
              <a:t>isEnd</a:t>
            </a:r>
            <a:r>
              <a:rPr sz="2000" b="0">
                <a:solidFill>
                  <a:srgbClr val="1F2D3A"/>
                </a:solidFill>
              </a:rPr>
              <a:t> HEM de çocuklu olabileceğini unutmak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Trie'yi C'de hiç serbest bırakmamak (bir düğüm bir düğüm sızıntı)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trie "DOG" tutuyor. </a:t>
            </a:r>
            <a:r>
              <a:rPr sz="2000" b="0">
                <a:solidFill>
                  <a:srgbClr val="A1123F"/>
                </a:solidFill>
                <a:latin typeface="Consolas"/>
              </a:rPr>
              <a:t>search("DO")</a:t>
            </a:r>
            <a:r>
              <a:rPr sz="2000" b="0">
                <a:solidFill>
                  <a:srgbClr val="1F2D3A"/>
                </a:solidFill>
              </a:rPr>
              <a:t> çağırıyorsunuz. True mü false mü döndürür — ve neden?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Cevap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False.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D</a:t>
            </a:r>
            <a:r>
              <a:rPr sz="2000" b="0">
                <a:solidFill>
                  <a:srgbClr val="1F2D3A"/>
                </a:solidFill>
              </a:rPr>
              <a:t>→</a:t>
            </a:r>
            <a:r>
              <a:rPr sz="2000" b="0">
                <a:solidFill>
                  <a:srgbClr val="A1123F"/>
                </a:solidFill>
                <a:latin typeface="Consolas"/>
              </a:rPr>
              <a:t>O</a:t>
            </a:r>
            <a:r>
              <a:rPr sz="2000" b="0">
                <a:solidFill>
                  <a:srgbClr val="1F2D3A"/>
                </a:solidFill>
              </a:rPr>
              <a:t> yolu var, böylece </a:t>
            </a:r>
            <a:r>
              <a:rPr sz="2000" b="0">
                <a:solidFill>
                  <a:srgbClr val="A1123F"/>
                </a:solidFill>
                <a:latin typeface="Consolas"/>
              </a:rPr>
              <a:t>"DO"</a:t>
            </a:r>
            <a:r>
              <a:rPr sz="2000" b="0">
                <a:solidFill>
                  <a:srgbClr val="1F2D3A"/>
                </a:solidFill>
              </a:rPr>
              <a:t> geçerli bir </a:t>
            </a:r>
            <a:r>
              <a:rPr sz="2000" b="1">
                <a:solidFill>
                  <a:srgbClr val="1F2D3A"/>
                </a:solidFill>
              </a:rPr>
              <a:t>önektir</a:t>
            </a:r>
            <a:r>
              <a:rPr sz="2000" b="0">
                <a:solidFill>
                  <a:srgbClr val="1F2D3A"/>
                </a:solidFill>
              </a:rPr>
              <a:t> — ama </a:t>
            </a:r>
            <a:r>
              <a:rPr sz="2000" b="0">
                <a:solidFill>
                  <a:srgbClr val="A1123F"/>
                </a:solidFill>
                <a:latin typeface="Consolas"/>
              </a:rPr>
              <a:t>O</a:t>
            </a:r>
            <a:r>
              <a:rPr sz="2000" b="0">
                <a:solidFill>
                  <a:srgbClr val="1F2D3A"/>
                </a:solidFill>
              </a:rPr>
              <a:t> düğümü </a:t>
            </a:r>
            <a:r>
              <a:rPr sz="2000" b="0">
                <a:solidFill>
                  <a:srgbClr val="A1123F"/>
                </a:solidFill>
                <a:latin typeface="Consolas"/>
              </a:rPr>
              <a:t>isEnd</a:t>
            </a:r>
            <a:r>
              <a:rPr sz="2000" b="0">
                <a:solidFill>
                  <a:srgbClr val="1F2D3A"/>
                </a:solidFill>
              </a:rPr>
              <a:t> olarak işaretli değil.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Sıkıştırılmış Trie'ler (Radix Ağaçları)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"INTERNATIONAL"i (13 harf) düz bir trie'ye eklemek, her biri tek çocuklu 13 yeni düğüm yapar. Daha iyisi olur mu?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bir tarihçe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Donald R. Morrison, "PATRICIA," 1968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Ad: pratik bir erişim algoritması için bir kısaltma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Genel kullanımda </a:t>
            </a:r>
            <a:r>
              <a:rPr sz="2000" b="1">
                <a:solidFill>
                  <a:srgbClr val="1F2D3A"/>
                </a:solidFill>
              </a:rPr>
              <a:t>radix ağacı</a:t>
            </a:r>
            <a:r>
              <a:rPr sz="2000" b="0">
                <a:solidFill>
                  <a:srgbClr val="1F2D3A"/>
                </a:solidFill>
              </a:rPr>
              <a:t> da denir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Aynı fikir gerçek dünya IP yönlendirme tablolarının altında yatar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Fikir: uzat, oluştur, ya da böl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Sözcük bir kenar etiketiyle tam eşleşir: </a:t>
            </a:r>
            <a:r>
              <a:rPr sz="2000" b="1">
                <a:solidFill>
                  <a:srgbClr val="1F2D3A"/>
                </a:solidFill>
              </a:rPr>
              <a:t>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Sıradaki harfle başlayan hiçbir kenar yok: </a:t>
            </a:r>
            <a:r>
              <a:rPr sz="2000" b="1">
                <a:solidFill>
                  <a:srgbClr val="1F2D3A"/>
                </a:solidFill>
              </a:rPr>
              <a:t>yeni yaprak kenar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Sözcük bir kenar etiketinin yalnız bir kısmını paylaşır: </a:t>
            </a:r>
            <a:r>
              <a:rPr sz="2000" b="1">
                <a:solidFill>
                  <a:srgbClr val="1F2D3A"/>
                </a:solidFill>
              </a:rPr>
              <a:t>böl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bölme, uyuşmazlıkta yeni bir dallanma düğümü oluşturur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Bir kenarı bölmek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 </a:t>
            </a:r>
            <a:r>
              <a:rPr sz="2000" b="0">
                <a:solidFill>
                  <a:srgbClr val="A1123F"/>
                </a:solidFill>
                <a:latin typeface="Consolas"/>
              </a:rPr>
              <a:t>"TEST"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"TEST"</a:t>
            </a:r>
            <a:r>
              <a:rPr sz="2000" b="0">
                <a:solidFill>
                  <a:srgbClr val="1F2D3A"/>
                </a:solidFill>
              </a:rPr>
              <a:t> etiketli tek bir yaprak kenar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"TEA"</a:t>
            </a:r>
            <a:r>
              <a:rPr sz="2000" b="0">
                <a:solidFill>
                  <a:srgbClr val="1F2D3A"/>
                </a:solidFill>
              </a:rPr>
              <a:t>yı ekleyin: ayrılmadan önce yalnız </a:t>
            </a:r>
            <a:r>
              <a:rPr sz="2000" b="0">
                <a:solidFill>
                  <a:srgbClr val="A1123F"/>
                </a:solidFill>
                <a:latin typeface="Consolas"/>
              </a:rPr>
              <a:t>"TE"</a:t>
            </a:r>
            <a:r>
              <a:rPr sz="2000" b="0">
                <a:solidFill>
                  <a:srgbClr val="1F2D3A"/>
                </a:solidFill>
              </a:rPr>
              <a:t>yi paylaşır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"TEST"</a:t>
            </a:r>
            <a:r>
              <a:rPr sz="2000" b="0">
                <a:solidFill>
                  <a:srgbClr val="1F2D3A"/>
                </a:solidFill>
              </a:rPr>
              <a:t> kenarı </a:t>
            </a:r>
            <a:r>
              <a:rPr sz="2000" b="0">
                <a:solidFill>
                  <a:srgbClr val="A1123F"/>
                </a:solidFill>
                <a:latin typeface="Consolas"/>
              </a:rPr>
              <a:t>"TE"</a:t>
            </a:r>
            <a:r>
              <a:rPr sz="2000" b="0">
                <a:solidFill>
                  <a:srgbClr val="1F2D3A"/>
                </a:solidFill>
              </a:rPr>
              <a:t>de bölünür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Şimdi iki çocuk: </a:t>
            </a:r>
            <a:r>
              <a:rPr sz="2000" b="0">
                <a:solidFill>
                  <a:srgbClr val="A1123F"/>
                </a:solidFill>
                <a:latin typeface="Consolas"/>
              </a:rPr>
              <a:t>"ST"</a:t>
            </a:r>
            <a:r>
              <a:rPr sz="2000" b="0">
                <a:solidFill>
                  <a:srgbClr val="1F2D3A"/>
                </a:solidFill>
              </a:rPr>
              <a:t> (eski) ve </a:t>
            </a:r>
            <a:r>
              <a:rPr sz="2000" b="0">
                <a:solidFill>
                  <a:srgbClr val="A1123F"/>
                </a:solidFill>
                <a:latin typeface="Consolas"/>
              </a:rPr>
              <a:t>"A"</a:t>
            </a:r>
            <a:r>
              <a:rPr sz="2000" b="0">
                <a:solidFill>
                  <a:srgbClr val="1F2D3A"/>
                </a:solidFill>
              </a:rPr>
              <a:t> (yeni)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Bağlantı — Hafta 4'ün Huffman kodlaması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Huffman: çarpık </a:t>
            </a:r>
            <a:r>
              <a:rPr sz="2000" b="1">
                <a:solidFill>
                  <a:srgbClr val="1F2D3A"/>
                </a:solidFill>
              </a:rPr>
              <a:t>sıklıkları</a:t>
            </a:r>
            <a:r>
              <a:rPr sz="2000" b="0">
                <a:solidFill>
                  <a:srgbClr val="1F2D3A"/>
                </a:solidFill>
              </a:rPr>
              <a:t> sömürerek sıkıştırır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Sıkıştırılmış trie: </a:t>
            </a:r>
            <a:r>
              <a:rPr sz="2000" b="1">
                <a:solidFill>
                  <a:srgbClr val="1F2D3A"/>
                </a:solidFill>
              </a:rPr>
              <a:t>yapısal</a:t>
            </a:r>
            <a:r>
              <a:rPr sz="2000" b="0">
                <a:solidFill>
                  <a:srgbClr val="1F2D3A"/>
                </a:solidFill>
              </a:rPr>
              <a:t> israfı kaldırarak sıkıştırır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Huffman şekli simgelerin NE SIKLIKLA geçtiğine bağlıdır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Trie şekli yalnız saklanan gerçek karakterlere bağlıdır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Sıkıştırılmış trie, adım adım</a:t>
            </a:r>
          </a:p>
        </p:txBody>
      </p:sp>
      <p:pic>
        <p:nvPicPr>
          <p:cNvPr id="7" name="Picture 6" descr="compressed-tri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9085" y="1325880"/>
            <a:ext cx="465352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iç içe bölünmeler</a:t>
            </a:r>
          </a:p>
        </p:txBody>
      </p:sp>
      <p:pic>
        <p:nvPicPr>
          <p:cNvPr id="7" name="Picture 6" descr="compressed-tri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9085" y="1325880"/>
            <a:ext cx="465352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ekleme (uzat, oluştur, ya da böl)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j = common_prefix_len(word + i, child-&gt;label);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(j == strlen(child-&gt;label))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= child; i += j;   /* in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 else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RNode *mid = split_edge(node, child, j);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/* kalan sonek için yeni yaprak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insert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search</a:t>
            </a:r>
            <a:r>
              <a:rPr sz="2000" b="0">
                <a:solidFill>
                  <a:srgbClr val="1F2D3A"/>
                </a:solidFill>
              </a:rPr>
              <a:t>: hâlâ </a:t>
            </a:r>
            <a:r>
              <a:rPr sz="2000" b="0">
                <a:solidFill>
                  <a:srgbClr val="A1123F"/>
                </a:solidFill>
                <a:latin typeface="Consolas"/>
              </a:rPr>
              <a:t>O(L)</a:t>
            </a:r>
            <a:r>
              <a:rPr sz="2000" b="0">
                <a:solidFill>
                  <a:srgbClr val="1F2D3A"/>
                </a:solidFill>
              </a:rPr>
              <a:t>, tam olarak düz bir trie gibi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Tasarruflar </a:t>
            </a:r>
            <a:r>
              <a:rPr sz="2000" b="1">
                <a:solidFill>
                  <a:srgbClr val="1F2D3A"/>
                </a:solidFill>
              </a:rPr>
              <a:t>süre</a:t>
            </a:r>
            <a:r>
              <a:rPr sz="2000" b="0">
                <a:solidFill>
                  <a:srgbClr val="1F2D3A"/>
                </a:solidFill>
              </a:rPr>
              <a:t>de değil </a:t>
            </a:r>
            <a:r>
              <a:rPr sz="2000" b="1">
                <a:solidFill>
                  <a:srgbClr val="1F2D3A"/>
                </a:solidFill>
              </a:rPr>
              <a:t>alan</a:t>
            </a:r>
            <a:r>
              <a:rPr sz="2000" b="0">
                <a:solidFill>
                  <a:srgbClr val="1F2D3A"/>
                </a:solidFill>
              </a:rPr>
              <a:t>da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Düğüm sayısı dallanma noktaları + sözcük sonlarıyla sınırlı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Toplam karakter sayısıyla değil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 yapılan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Yanlış uzunlukta bölmek (ortak önek uzunluğu olmalı)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Bölünen çocuğu yeni ilk harfi altında yeniden anahtarlamayı unutmak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"Yol var"ı "sözcük bulundu" saymak (bölüm 3'teki aynı tuzak)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Sıkıştırılmış bir trie yalnız "APPLE" ve "BANANA" tutuyor. Kaç kök-olmayan düğümü var, ve neden bu kadar az?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Cevap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İki.</a:t>
            </a:r>
            <a:r>
              <a:rPr sz="2000" b="0">
                <a:solidFill>
                  <a:srgbClr val="1F2D3A"/>
                </a:solidFill>
              </a:rPr>
              <a:t> Hiç paylaşılan önek yok, böylece her sözcük kökten doğrudan tek bir yaprak kenar olur.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Sonek Dizileri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trie "X saklı bir sözcük mü?"yü yanıtlar. Peki ya "P, uzun bir T metninin herhangi bir yerinde geçiyor mu?"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Fikir: her sonek, sıralı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T</a:t>
            </a:r>
            <a:r>
              <a:rPr sz="2000" b="0">
                <a:solidFill>
                  <a:srgbClr val="1F2D3A"/>
                </a:solidFill>
              </a:rPr>
              <a:t>'nin </a:t>
            </a:r>
            <a:r>
              <a:rPr sz="2000" b="1">
                <a:solidFill>
                  <a:srgbClr val="1F2D3A"/>
                </a:solidFill>
              </a:rPr>
              <a:t>her</a:t>
            </a:r>
            <a:r>
              <a:rPr sz="2000" b="0">
                <a:solidFill>
                  <a:srgbClr val="1F2D3A"/>
                </a:solidFill>
              </a:rPr>
              <a:t> soneğini, konum konum listeleyin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soneği sözlük sırasına göre sıralayın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örüntü araması bir </a:t>
            </a:r>
            <a:r>
              <a:rPr sz="2000" b="1">
                <a:solidFill>
                  <a:srgbClr val="1F2D3A"/>
                </a:solidFill>
              </a:rPr>
              <a:t>ikili aramaya</a:t>
            </a:r>
            <a:r>
              <a:rPr sz="2000" b="0">
                <a:solidFill>
                  <a:srgbClr val="1F2D3A"/>
                </a:solidFill>
              </a:rPr>
              <a:t> döner: </a:t>
            </a:r>
            <a:r>
              <a:rPr sz="2000" b="0">
                <a:solidFill>
                  <a:srgbClr val="A1123F"/>
                </a:solidFill>
                <a:latin typeface="Consolas"/>
              </a:rPr>
              <a:t>O(m log 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Hiç bitiş işareti gerekmez — iki sonek her zaman uzunlukta farklı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Sonek dizisi, adım adım</a:t>
            </a:r>
          </a:p>
        </p:txBody>
      </p:sp>
      <p:pic>
        <p:nvPicPr>
          <p:cNvPr id="7" name="Picture 6" descr="suffix-array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7346" y="1325880"/>
            <a:ext cx="575700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her karakter aynı</a:t>
            </a:r>
          </a:p>
        </p:txBody>
      </p:sp>
      <p:pic>
        <p:nvPicPr>
          <p:cNvPr id="7" name="Picture 6" descr="suffix-array--all-sam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1280" y="1325880"/>
            <a:ext cx="5909135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sonekler üzerinde ekleme sıralaması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compare_suffix(const char *text, int a, int b)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strcmp(text + a, text + b);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sonek aynı arabelleğe bir </a:t>
            </a:r>
            <a:r>
              <a:rPr sz="2000" b="1">
                <a:solidFill>
                  <a:srgbClr val="1F2D3A"/>
                </a:solidFill>
              </a:rPr>
              <a:t>işaretçidir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Sıralama sırasında hiçbir karakter kopyalanmaz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Buradaki ekleme sıralaması: en kötü durumda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O(n^2)</a:t>
            </a:r>
            <a:r>
              <a:rPr sz="2000" b="0">
                <a:solidFill>
                  <a:srgbClr val="1F2D3A"/>
                </a:solidFill>
              </a:rPr>
              <a:t> karşılaştırma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karşılaştırma: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O(n)</a:t>
            </a:r>
            <a:r>
              <a:rPr sz="2000" b="0">
                <a:solidFill>
                  <a:srgbClr val="1F2D3A"/>
                </a:solidFill>
              </a:rPr>
              <a:t> karaktere kadar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Gerçek kütüphaneler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 log n)</a:t>
            </a:r>
            <a:r>
              <a:rPr sz="2000" b="0">
                <a:solidFill>
                  <a:srgbClr val="1F2D3A"/>
                </a:solidFill>
              </a:rPr>
              <a:t> ya da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O(n)</a:t>
            </a:r>
            <a:r>
              <a:rPr sz="2000" b="0">
                <a:solidFill>
                  <a:srgbClr val="1F2D3A"/>
                </a:solidFill>
              </a:rPr>
              <a:t>'de kurar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kez kurulduktan sonra: örüntü araması </a:t>
            </a:r>
            <a:r>
              <a:rPr sz="2000" b="0">
                <a:solidFill>
                  <a:srgbClr val="A1123F"/>
                </a:solidFill>
                <a:latin typeface="Consolas"/>
              </a:rPr>
              <a:t>O(m log n)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 yapılan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"Ne olur ne olmaz" diye gereksiz bir bitiş işareti eklemek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Alt-dizgileri kopyalayarak sonekleri karşılaştırmak (belleği israf eder)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Dizinin indislerini soneklerin karakterleriyle karıştırmak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Aynı metnin iki soneği neden asla bayt bayt özdeş olamaz?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Cevap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Her zaman farklı uzunluklara sahiptirler.</a:t>
            </a:r>
            <a:r>
              <a:rPr sz="2000" b="0">
                <a:solidFill>
                  <a:srgbClr val="1F2D3A"/>
                </a:solidFill>
              </a:rPr>
              <a:t> Sonlu bir dizgide farklı konumlardan başlarlar, böylece uzunluklar farklıdır.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6. Dizgi Eşleştirme Problemi, ve Saf Arama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metin ve bir örüntü verildiğinde, örüntü nerede geçer? Bunu yanıtlamanın en basit olası yolu nedir?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Fikir: her kaydırmayı dene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Örüntüyü metin üzerinde bir seferde bir konum kaydırın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kaydırmada: soldan sağa karşılaştırın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İlk uyuşmazlıkta durun, ya da tam bir eşleşme kaydedin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Bir eşleşmeden sonra devam edin</a:t>
            </a:r>
            <a:r>
              <a:rPr sz="2000" b="0">
                <a:solidFill>
                  <a:srgbClr val="1F2D3A"/>
                </a:solidFill>
              </a:rPr>
              <a:t> — oluşumlar çakışabilir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Saf arama, adım adım</a:t>
            </a:r>
          </a:p>
        </p:txBody>
      </p:sp>
      <p:pic>
        <p:nvPicPr>
          <p:cNvPr id="7" name="Picture 6" descr="naive-search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054627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en kötü durum</a:t>
            </a:r>
          </a:p>
        </p:txBody>
      </p:sp>
      <p:pic>
        <p:nvPicPr>
          <p:cNvPr id="7" name="Picture 6" descr="naive-search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054627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çift döngü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s = 0; s &lt;= n - m; s++)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j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(j &lt; m &amp;&amp; text[s+j] == pattern[j])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j++;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(j == m) occ[c++] = s;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iyi durum: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O(n)</a:t>
            </a:r>
            <a:r>
              <a:rPr sz="2000" b="0">
                <a:solidFill>
                  <a:srgbClr val="1F2D3A"/>
                </a:solidFill>
              </a:rPr>
              <a:t> — uyuşmazlıklar hemen olur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kötü durum: *</a:t>
            </a:r>
            <a:r>
              <a:rPr sz="2000" b="0" i="1">
                <a:solidFill>
                  <a:srgbClr val="1F2D3A"/>
                </a:solidFill>
              </a:rPr>
              <a:t>`O(n</a:t>
            </a:r>
            <a:r>
              <a:rPr sz="2000" b="0">
                <a:solidFill>
                  <a:srgbClr val="1F2D3A"/>
                </a:solidFill>
              </a:rPr>
              <a:t>m)`**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"AAAA...AB"</a:t>
            </a:r>
            <a:r>
              <a:rPr sz="2000" b="0">
                <a:solidFill>
                  <a:srgbClr val="1F2D3A"/>
                </a:solidFill>
              </a:rPr>
              <a:t> vs </a:t>
            </a:r>
            <a:r>
              <a:rPr sz="2000" b="0">
                <a:solidFill>
                  <a:srgbClr val="A1123F"/>
                </a:solidFill>
                <a:latin typeface="Consolas"/>
              </a:rPr>
              <a:t>"AAAB"</a:t>
            </a:r>
            <a:r>
              <a:rPr sz="2000" b="0">
                <a:solidFill>
                  <a:srgbClr val="1F2D3A"/>
                </a:solidFill>
              </a:rPr>
              <a:t>: neredeyse her kaydırma, neredeyse tam karşılaştırma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en kötü durum tam olarak Bölüm 7–11'in düzelttiği şey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 yapılan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Eşleşmelerin çakışabileceğini unutmak (bir isabetten sonra m atlamak)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s</a:t>
            </a:r>
            <a:r>
              <a:rPr sz="2000" b="0">
                <a:solidFill>
                  <a:srgbClr val="1F2D3A"/>
                </a:solidFill>
              </a:rPr>
              <a:t>'yi </a:t>
            </a:r>
            <a:r>
              <a:rPr sz="2000" b="0">
                <a:solidFill>
                  <a:srgbClr val="A1123F"/>
                </a:solidFill>
                <a:latin typeface="Consolas"/>
              </a:rPr>
              <a:t>n - m</a:t>
            </a:r>
            <a:r>
              <a:rPr sz="2000" b="0">
                <a:solidFill>
                  <a:srgbClr val="1F2D3A"/>
                </a:solidFill>
              </a:rPr>
              <a:t> yerine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'e kadar döndürmek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Saf aramanın her zaman "kötü" olduğunu varsaymak — sık kısa girdi için kazanır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karşılaştırmayı örüntünün SON karakterine ulaşmaya zorlayan, 2 harflik bir metin ve örüntü oluşturun.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Cevap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`text="AAAAAAAAAA"`, `pattern="AAAB"`.</a:t>
            </a:r>
            <a:r>
              <a:rPr sz="2000" b="0">
                <a:solidFill>
                  <a:srgbClr val="1F2D3A"/>
                </a:solidFill>
              </a:rPr>
              <a:t> İlk 3 harf her zaman eşleşir; yalnız son, </a:t>
            </a:r>
            <a:r>
              <a:rPr sz="2000" b="0">
                <a:solidFill>
                  <a:srgbClr val="A1123F"/>
                </a:solidFill>
                <a:latin typeface="Consolas"/>
              </a:rPr>
              <a:t>'B'</a:t>
            </a:r>
            <a:r>
              <a:rPr sz="2000" b="0">
                <a:solidFill>
                  <a:srgbClr val="1F2D3A"/>
                </a:solidFill>
              </a:rPr>
              <a:t>, hiç başarısız olur.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7. Knuth-Morris-Pratt: Başarısızlık İşlevi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Saf arama, bir uyuşmazlıktan sonra öğrendiği her şeyi atar. Ya örüntünün kendi yapısı bize daha fazlasını söyleseydi?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bir tarihçe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Knuth, Morris, ve Pratt, 1977 (SIAM J. Computing)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Morris &amp; Pratt tarafından, ~1970, bağımsız olarak geliştirildi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Tablo: </a:t>
            </a:r>
            <a:r>
              <a:rPr sz="2000" b="0">
                <a:solidFill>
                  <a:srgbClr val="A1123F"/>
                </a:solidFill>
                <a:latin typeface="Consolas"/>
              </a:rPr>
              <a:t>lps[]</a:t>
            </a:r>
            <a:r>
              <a:rPr sz="2000" b="0">
                <a:solidFill>
                  <a:srgbClr val="1F2D3A"/>
                </a:solidFill>
              </a:rPr>
              <a:t> — "en uzun uygun önek, aynı zamanda sonek de olan"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Örüntünün </a:t>
            </a:r>
            <a:r>
              <a:rPr sz="2000" b="1">
                <a:solidFill>
                  <a:srgbClr val="1F2D3A"/>
                </a:solidFill>
              </a:rPr>
              <a:t>kendisiyle</a:t>
            </a:r>
            <a:r>
              <a:rPr sz="2000" b="0">
                <a:solidFill>
                  <a:srgbClr val="1F2D3A"/>
                </a:solidFill>
              </a:rPr>
              <a:t> karşılaştırılarak kurulur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Fikir: lps[i]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</a:t>
            </a:r>
            <a:r>
              <a:rPr sz="2000" b="0">
                <a:solidFill>
                  <a:srgbClr val="A1123F"/>
                </a:solidFill>
                <a:latin typeface="Consolas"/>
              </a:rPr>
              <a:t>pattern[0..i]</a:t>
            </a:r>
            <a:r>
              <a:rPr sz="2000" b="0">
                <a:solidFill>
                  <a:srgbClr val="1F2D3A"/>
                </a:solidFill>
              </a:rPr>
              <a:t> öneki için...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...aynı zamanda sonek de olan en uzun uygun önek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"ABAB"</a:t>
            </a:r>
            <a:r>
              <a:rPr sz="2000" b="0">
                <a:solidFill>
                  <a:srgbClr val="1F2D3A"/>
                </a:solidFill>
              </a:rPr>
              <a:t>: en uzun böyle eşleşme </a:t>
            </a:r>
            <a:r>
              <a:rPr sz="2000" b="0">
                <a:solidFill>
                  <a:srgbClr val="A1123F"/>
                </a:solidFill>
                <a:latin typeface="Consolas"/>
              </a:rPr>
              <a:t>"AB"</a:t>
            </a:r>
            <a:r>
              <a:rPr sz="2000" b="0">
                <a:solidFill>
                  <a:srgbClr val="1F2D3A"/>
                </a:solidFill>
              </a:rPr>
              <a:t>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lps[3] = 2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Gelecekteki bir aramaya söyler: "bu kadarı yeniden kullanılabilir"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KMP başarısızlık işlevi, adım adım</a:t>
            </a:r>
          </a:p>
        </p:txBody>
      </p:sp>
      <p:pic>
        <p:nvPicPr>
          <p:cNvPr id="7" name="Picture 6" descr="kmp-failure-function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905833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geri düşüş bir zinciri izler</a:t>
            </a:r>
          </a:p>
        </p:txBody>
      </p:sp>
      <p:pic>
        <p:nvPicPr>
          <p:cNvPr id="7" name="Picture 6" descr="kmp-failure-function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905833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lps[]'i kurmak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len = 0, i =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(i &lt; m)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(pattern[i] == pattern[len])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lps[i++] = ++len;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 else if (len != 0)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len = lps[len - 1];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 else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lps[i++]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Tüm tabloyu kurmak için </a:t>
            </a:r>
            <a:r>
              <a:rPr sz="2000" b="0">
                <a:solidFill>
                  <a:srgbClr val="A1123F"/>
                </a:solidFill>
                <a:latin typeface="Consolas"/>
              </a:rPr>
              <a:t>O(m)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len</a:t>
            </a:r>
            <a:r>
              <a:rPr sz="2000" b="0">
                <a:solidFill>
                  <a:srgbClr val="1F2D3A"/>
                </a:solidFill>
              </a:rPr>
              <a:t>, arttığı kadar en fazla azalabilir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Toplam iş </a:t>
            </a:r>
            <a:r>
              <a:rPr sz="2000" b="0">
                <a:solidFill>
                  <a:srgbClr val="A1123F"/>
                </a:solidFill>
                <a:latin typeface="Consolas"/>
              </a:rPr>
              <a:t>O(m)</a:t>
            </a:r>
            <a:r>
              <a:rPr sz="2000" b="0">
                <a:solidFill>
                  <a:srgbClr val="1F2D3A"/>
                </a:solidFill>
              </a:rPr>
              <a:t> ile sınırlı, asla </a:t>
            </a:r>
            <a:r>
              <a:rPr sz="2000" b="0">
                <a:solidFill>
                  <a:srgbClr val="A1123F"/>
                </a:solidFill>
                <a:latin typeface="Consolas"/>
              </a:rPr>
              <a:t>O(m^2)</a:t>
            </a:r>
            <a:r>
              <a:rPr sz="2000" b="0">
                <a:solidFill>
                  <a:srgbClr val="1F2D3A"/>
                </a:solidFill>
              </a:rPr>
              <a:t> değil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Aynı amorti edilmiş argüman Bölüm 8 ve 11'de yeniden kullanılıyor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 yapılan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uyuşmazlıkta </a:t>
            </a:r>
            <a:r>
              <a:rPr sz="2000" b="0">
                <a:solidFill>
                  <a:srgbClr val="A1123F"/>
                </a:solidFill>
                <a:latin typeface="Consolas"/>
              </a:rPr>
              <a:t>len</a:t>
            </a:r>
            <a:r>
              <a:rPr sz="2000" b="0">
                <a:solidFill>
                  <a:srgbClr val="1F2D3A"/>
                </a:solidFill>
              </a:rPr>
              <a:t>'i 0'a sıfırlamak (#1 KMP hatası)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Birer kayma: </a:t>
            </a:r>
            <a:r>
              <a:rPr sz="2000" b="0">
                <a:solidFill>
                  <a:srgbClr val="A1123F"/>
                </a:solidFill>
                <a:latin typeface="Consolas"/>
              </a:rPr>
              <a:t>pattern[len+1]</a:t>
            </a:r>
            <a:r>
              <a:rPr sz="2000" b="0">
                <a:solidFill>
                  <a:srgbClr val="1F2D3A"/>
                </a:solidFill>
              </a:rPr>
              <a:t> değil </a:t>
            </a:r>
            <a:r>
              <a:rPr sz="2000" b="0">
                <a:solidFill>
                  <a:srgbClr val="A1123F"/>
                </a:solidFill>
                <a:latin typeface="Consolas"/>
              </a:rPr>
              <a:t>pattern[len]</a:t>
            </a:r>
            <a:r>
              <a:rPr sz="2000" b="0">
                <a:solidFill>
                  <a:srgbClr val="1F2D3A"/>
                </a:solidFill>
              </a:rPr>
              <a:t>'i karşılaştırmak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lps[0] = 0</a:t>
            </a:r>
            <a:r>
              <a:rPr sz="2000" b="0">
                <a:solidFill>
                  <a:srgbClr val="1F2D3A"/>
                </a:solidFill>
              </a:rPr>
              <a:t>'ın hesaplanmayan sabit bir taban durumu olduğunu unutmak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lps[m-1]</a:t>
            </a:r>
            <a:r>
              <a:rPr sz="2000" b="0">
                <a:solidFill>
                  <a:srgbClr val="1F2D3A"/>
                </a:solidFill>
              </a:rPr>
              <a:t> — en son girdi — tüm örüntü hakkında size ne söyler?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Cevap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Örüntünün en uzun "sınırı"</a:t>
            </a:r>
            <a:r>
              <a:rPr sz="2000" b="0">
                <a:solidFill>
                  <a:srgbClr val="1F2D3A"/>
                </a:solidFill>
              </a:rPr>
              <a:t> — uygun öneki ki aynı zamanda bütün olarak kendi soneği de olsun.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8. Knuth-Morris-Pratt: Arama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lps[]</a:t>
            </a:r>
            <a:r>
              <a:rPr sz="2000" b="0">
                <a:solidFill>
                  <a:srgbClr val="1F2D3A"/>
                </a:solidFill>
              </a:rPr>
              <a:t> elimizdeyken, metni </a:t>
            </a:r>
            <a:r>
              <a:rPr sz="2000" b="1">
                <a:solidFill>
                  <a:srgbClr val="1F2D3A"/>
                </a:solidFill>
              </a:rPr>
              <a:t>asla geri gitmeyen</a:t>
            </a:r>
            <a:r>
              <a:rPr sz="2000" b="0">
                <a:solidFill>
                  <a:srgbClr val="1F2D3A"/>
                </a:solidFill>
              </a:rPr>
              <a:t> bir işaretçiyle arayabilir miyiz?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Fikir: i asla geri sarmaz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 işaretçi: </a:t>
            </a:r>
            <a:r>
              <a:rPr sz="2000" b="0">
                <a:solidFill>
                  <a:srgbClr val="A1123F"/>
                </a:solidFill>
                <a:latin typeface="Consolas"/>
              </a:rPr>
              <a:t>i</a:t>
            </a:r>
            <a:r>
              <a:rPr sz="2000" b="0">
                <a:solidFill>
                  <a:srgbClr val="1F2D3A"/>
                </a:solidFill>
              </a:rPr>
              <a:t> (metin), </a:t>
            </a:r>
            <a:r>
              <a:rPr sz="2000" b="0">
                <a:solidFill>
                  <a:srgbClr val="A1123F"/>
                </a:solidFill>
                <a:latin typeface="Consolas"/>
              </a:rPr>
              <a:t>j</a:t>
            </a:r>
            <a:r>
              <a:rPr sz="2000" b="0">
                <a:solidFill>
                  <a:srgbClr val="1F2D3A"/>
                </a:solidFill>
              </a:rPr>
              <a:t> (örüntü)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Eşleşme: ikisi de ilerler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Uyuşmazlık, </a:t>
            </a:r>
            <a:r>
              <a:rPr sz="2000" b="0">
                <a:solidFill>
                  <a:srgbClr val="A1123F"/>
                </a:solidFill>
                <a:latin typeface="Consolas"/>
              </a:rPr>
              <a:t>j &gt; 0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j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lps[j-1]</a:t>
            </a:r>
            <a:r>
              <a:rPr sz="2000" b="0">
                <a:solidFill>
                  <a:srgbClr val="1F2D3A"/>
                </a:solidFill>
              </a:rPr>
              <a:t>'e geri düşer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i</a:t>
            </a:r>
            <a:r>
              <a:rPr sz="2000" b="0">
                <a:solidFill>
                  <a:srgbClr val="1F2D3A"/>
                </a:solidFill>
              </a:rPr>
              <a:t> yerinde kalır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Uyuşmazlık, </a:t>
            </a:r>
            <a:r>
              <a:rPr sz="2000" b="0">
                <a:solidFill>
                  <a:srgbClr val="A1123F"/>
                </a:solidFill>
                <a:latin typeface="Consolas"/>
              </a:rPr>
              <a:t>j == 0</a:t>
            </a:r>
            <a:r>
              <a:rPr sz="2000" b="0">
                <a:solidFill>
                  <a:srgbClr val="1F2D3A"/>
                </a:solidFill>
              </a:rPr>
              <a:t>: yalnız </a:t>
            </a:r>
            <a:r>
              <a:rPr sz="2000" b="0">
                <a:solidFill>
                  <a:srgbClr val="A1123F"/>
                </a:solidFill>
                <a:latin typeface="Consolas"/>
              </a:rPr>
              <a:t>i</a:t>
            </a:r>
            <a:r>
              <a:rPr sz="2000" b="0">
                <a:solidFill>
                  <a:srgbClr val="1F2D3A"/>
                </a:solidFill>
              </a:rPr>
              <a:t> ilerler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KMP araması, adım adım</a:t>
            </a:r>
          </a:p>
        </p:txBody>
      </p:sp>
      <p:pic>
        <p:nvPicPr>
          <p:cNvPr id="7" name="Picture 6" descr="kmp-search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938674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çok sayıda lps geri düşüşü</a:t>
            </a:r>
          </a:p>
        </p:txBody>
      </p:sp>
      <p:pic>
        <p:nvPicPr>
          <p:cNvPr id="7" name="Picture 6" descr="kmp-search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938674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ana döngü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(i &lt; 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(text[i] == pattern[j])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i++; j++;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(j == m) { occ[c++] = i-m; j = lps[j-1];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 else if (j &gt; 0)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j = lps[j - 1];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 else { i++;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 + m)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lps</a:t>
            </a:r>
            <a:r>
              <a:rPr sz="2000" b="0">
                <a:solidFill>
                  <a:srgbClr val="1F2D3A"/>
                </a:solidFill>
              </a:rPr>
              <a:t>'i kurmak için </a:t>
            </a:r>
            <a:r>
              <a:rPr sz="2000" b="0">
                <a:solidFill>
                  <a:srgbClr val="A1123F"/>
                </a:solidFill>
                <a:latin typeface="Consolas"/>
              </a:rPr>
              <a:t>O(m)</a:t>
            </a:r>
            <a:r>
              <a:rPr sz="2000" b="0">
                <a:solidFill>
                  <a:srgbClr val="1F2D3A"/>
                </a:solidFill>
              </a:rPr>
              <a:t>, arama için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</a:t>
            </a:r>
            <a:r>
              <a:rPr sz="2000" b="0">
                <a:solidFill>
                  <a:srgbClr val="1F2D3A"/>
                </a:solidFill>
              </a:rPr>
              <a:t>, toplamda, hiçbir zaman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'den fazla ilerlemez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Herhangi bir</a:t>
            </a:r>
            <a:r>
              <a:rPr sz="2000" b="0">
                <a:solidFill>
                  <a:srgbClr val="1F2D3A"/>
                </a:solidFill>
              </a:rPr>
              <a:t> metin ya da örüntü için geçerli — kötü girdi yok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Saf aramanın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O(n*m)</a:t>
            </a:r>
            <a:r>
              <a:rPr sz="2000" b="0">
                <a:solidFill>
                  <a:srgbClr val="1F2D3A"/>
                </a:solidFill>
              </a:rPr>
              <a:t> en kötü durumuyla karşılaştırın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 yapılan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geri düşüşte </a:t>
            </a:r>
            <a:r>
              <a:rPr sz="2000" b="0">
                <a:solidFill>
                  <a:srgbClr val="A1123F"/>
                </a:solidFill>
                <a:latin typeface="Consolas"/>
              </a:rPr>
              <a:t>i</a:t>
            </a:r>
            <a:r>
              <a:rPr sz="2000" b="0">
                <a:solidFill>
                  <a:srgbClr val="1F2D3A"/>
                </a:solidFill>
              </a:rPr>
              <a:t>'yi ilerletmek (tüm garantiyi bozar)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eşleşmeyi kaydettikten sonra tekrar geri düşmeyi unutmak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Farklı bir örüntü için kurulmuş bayat bir </a:t>
            </a:r>
            <a:r>
              <a:rPr sz="2000" b="0">
                <a:solidFill>
                  <a:srgbClr val="A1123F"/>
                </a:solidFill>
                <a:latin typeface="Consolas"/>
              </a:rPr>
              <a:t>lps[]</a:t>
            </a:r>
            <a:r>
              <a:rPr sz="2000" b="0">
                <a:solidFill>
                  <a:srgbClr val="1F2D3A"/>
                </a:solidFill>
              </a:rPr>
              <a:t> tablosunu yeniden kullanmak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O(n+m), KMP için neden mümkün ama saf arama için değil, tek bir cümlede?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Cevap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Hiçbir metin karakteri asla yeniden incelenmez</a:t>
            </a:r>
            <a:r>
              <a:rPr sz="2000" b="0">
                <a:solidFill>
                  <a:srgbClr val="1F2D3A"/>
                </a:solidFill>
              </a:rPr>
              <a:t> — saf aramanın O(n*m)'si tam olarak onları yeniden incelemekten gelir.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9. Rabin-Karp: Kayan Özet ve Sahte İsabetler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Ya karakterleri hiç karşılaştırmak yerine, her pencerenin ucuz bir ÖZETİNİ karşılaştırsaydık?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bir tarihçe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Rabin ve Karp, 1987 (IBM J. Research &amp; Development)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Hafta 6'nın hash'lemesini yeniden kullanır — ama </a:t>
            </a:r>
            <a:r>
              <a:rPr sz="2000" b="1">
                <a:solidFill>
                  <a:srgbClr val="1F2D3A"/>
                </a:solidFill>
              </a:rPr>
              <a:t>kaydırır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özet eşleşmesi yalnız bir </a:t>
            </a:r>
            <a:r>
              <a:rPr sz="2000" b="1">
                <a:solidFill>
                  <a:srgbClr val="1F2D3A"/>
                </a:solidFill>
              </a:rPr>
              <a:t>adaydır</a:t>
            </a:r>
            <a:r>
              <a:rPr sz="2000" b="0">
                <a:solidFill>
                  <a:srgbClr val="1F2D3A"/>
                </a:solidFill>
              </a:rPr>
              <a:t>, asla bir kesinlik değil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eşleşme bildirmeden önce her zaman doğrulanmalı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Fikir: yeniden hesaplama, kaydır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karakteri sabit bir tabanda bir basamak sayın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Pencereyi kaydırmak: çıkanı çıkar, gireni ekle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</a:t>
            </a:r>
            <a:r>
              <a:rPr sz="2000" b="0">
                <a:solidFill>
                  <a:srgbClr val="A1123F"/>
                </a:solidFill>
                <a:latin typeface="Consolas"/>
              </a:rPr>
              <a:t>O(1)</a:t>
            </a:r>
            <a:r>
              <a:rPr sz="2000" b="0">
                <a:solidFill>
                  <a:srgbClr val="1F2D3A"/>
                </a:solidFill>
              </a:rPr>
              <a:t> güncelleme — ortadaki karakterler asla yeniden okunmaz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özet </a:t>
            </a:r>
            <a:r>
              <a:rPr sz="2000" b="1">
                <a:solidFill>
                  <a:srgbClr val="1F2D3A"/>
                </a:solidFill>
              </a:rPr>
              <a:t>eşleşmesi</a:t>
            </a:r>
            <a:r>
              <a:rPr sz="2000" b="0">
                <a:solidFill>
                  <a:srgbClr val="1F2D3A"/>
                </a:solidFill>
              </a:rPr>
              <a:t> hâlâ karakter karakter </a:t>
            </a:r>
            <a:r>
              <a:rPr sz="2000" b="1">
                <a:solidFill>
                  <a:srgbClr val="1F2D3A"/>
                </a:solidFill>
              </a:rPr>
              <a:t>doğrulanmalıdır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Rabin-Karp, adım adım</a:t>
            </a:r>
          </a:p>
        </p:txBody>
      </p:sp>
      <p:pic>
        <p:nvPicPr>
          <p:cNvPr id="7" name="Picture 6" descr="rabin-karp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199063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sahte isabetler</a:t>
            </a:r>
          </a:p>
        </p:txBody>
      </p:sp>
      <p:pic>
        <p:nvPicPr>
          <p:cNvPr id="7" name="Picture 6" descr="rabin-karp--hard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161865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Bu notu hazırlarken yakalanan gerçek bir hata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İlk C taslağı hash için </a:t>
            </a:r>
            <a:r>
              <a:rPr sz="2000" b="0">
                <a:solidFill>
                  <a:srgbClr val="A1123F"/>
                </a:solidFill>
                <a:latin typeface="Consolas"/>
              </a:rPr>
              <a:t>long</a:t>
            </a:r>
            <a:r>
              <a:rPr sz="2000" b="0">
                <a:solidFill>
                  <a:srgbClr val="1F2D3A"/>
                </a:solidFill>
              </a:rPr>
              <a:t> kullandı, </a:t>
            </a:r>
            <a:r>
              <a:rPr sz="2000" b="0">
                <a:solidFill>
                  <a:srgbClr val="A1123F"/>
                </a:solidFill>
                <a:latin typeface="Consolas"/>
              </a:rPr>
              <a:t>long long</a:t>
            </a:r>
            <a:r>
              <a:rPr sz="2000" b="0">
                <a:solidFill>
                  <a:srgbClr val="1F2D3A"/>
                </a:solidFill>
              </a:rPr>
              <a:t> değil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dersin araç zincirinde, </a:t>
            </a:r>
            <a:r>
              <a:rPr sz="2000" b="0">
                <a:solidFill>
                  <a:srgbClr val="A1123F"/>
                </a:solidFill>
                <a:latin typeface="Consolas"/>
              </a:rPr>
              <a:t>long</a:t>
            </a:r>
            <a:r>
              <a:rPr sz="2000" b="0">
                <a:solidFill>
                  <a:srgbClr val="1F2D3A"/>
                </a:solidFill>
              </a:rPr>
              <a:t> yalnız </a:t>
            </a:r>
            <a:r>
              <a:rPr sz="2000" b="1">
                <a:solidFill>
                  <a:srgbClr val="1F2D3A"/>
                </a:solidFill>
              </a:rPr>
              <a:t>32 bit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mod = 1e9+7</a:t>
            </a:r>
            <a:r>
              <a:rPr sz="2000" b="0">
                <a:solidFill>
                  <a:srgbClr val="1F2D3A"/>
                </a:solidFill>
              </a:rPr>
              <a:t> onu taşırdı — sessiz yanlış cevap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 ve Java çıktısını karşılaştırmak bunu hemen yakaladı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kaydıran güncelleme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(s &gt; 0)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tHash = ((tHash - text[s-1]*hPow % mod + mod)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* base + text[s+m-1]) % mod;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(tHash == pHash &amp;&amp; strncmp(...) == 0)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occ[c++] = s;   /* HER ZAMAN DOĞRULA */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Ortalama durum: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 + m)</a:t>
            </a:r>
            <a:r>
              <a:rPr sz="2000" b="0">
                <a:solidFill>
                  <a:srgbClr val="1F2D3A"/>
                </a:solidFill>
              </a:rPr>
              <a:t> — pencere başına </a:t>
            </a:r>
            <a:r>
              <a:rPr sz="2000" b="0">
                <a:solidFill>
                  <a:srgbClr val="A1123F"/>
                </a:solidFill>
                <a:latin typeface="Consolas"/>
              </a:rPr>
              <a:t>O(1)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 özeti gerçekten eşleşen pencereler için ekstra </a:t>
            </a:r>
            <a:r>
              <a:rPr sz="2000" b="0">
                <a:solidFill>
                  <a:srgbClr val="A1123F"/>
                </a:solidFill>
                <a:latin typeface="Consolas"/>
              </a:rPr>
              <a:t>O(m)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kötü durum: modül küçük/kötü seçilmişse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O(n*m)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Büyük bir asal modül bu en kötü durumu yok denecek kadar azaltır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 yapılan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Doğrulamayı atlamak (yalnız hız değil, bir doğruluk hatası)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"Basitlik için" çok küçük bir modül kullanmak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Aritmetik için çok dar bir tür kullanmak (yukarıdaki </a:t>
            </a:r>
            <a:r>
              <a:rPr sz="2000" b="0">
                <a:solidFill>
                  <a:srgbClr val="A1123F"/>
                </a:solidFill>
                <a:latin typeface="Consolas"/>
              </a:rPr>
              <a:t>long</a:t>
            </a:r>
            <a:r>
              <a:rPr sz="2000" b="0">
                <a:solidFill>
                  <a:srgbClr val="1F2D3A"/>
                </a:solidFill>
              </a:rPr>
              <a:t> hatası)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Rabin-Karp özet eşleşmesi neden hâlâ karakter karakter doğrulanmalıdır?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Cevap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Güvercin yuvası ilkesi</a:t>
            </a:r>
            <a:r>
              <a:rPr sz="2000" b="0">
                <a:solidFill>
                  <a:srgbClr val="1F2D3A"/>
                </a:solidFill>
              </a:rPr>
              <a:t> — olası alt-dizgi hash değerinden daha çoksa, bazıları çakışmak ZORUNDA. Hata değil; matematik.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10. Boyer-Moore: Kötü Karakter Kuralı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Şimdiye kadarki her algoritma soldan sağa karşılaştırır. Ya SAĞDAN SOLA karşılaştırmak daha fazla atlamamızı sağlasaydı?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bir tarihçe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Boyer ve Moore, 1977 (Communications of the ACM)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ders yalnız </a:t>
            </a:r>
            <a:r>
              <a:rPr sz="2000" b="1">
                <a:solidFill>
                  <a:srgbClr val="1F2D3A"/>
                </a:solidFill>
              </a:rPr>
              <a:t>kötü karakter</a:t>
            </a:r>
            <a:r>
              <a:rPr sz="2000" b="0">
                <a:solidFill>
                  <a:srgbClr val="1F2D3A"/>
                </a:solidFill>
              </a:rPr>
              <a:t> kuralını kapsar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Tam algoritma ikinci bir "iyi sonek" kuralı ekler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Bugün pratikte sıkça en hızlı dizgi araması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Fikir: geriye tara, gördüğünü kullanarak atla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pattern[m-1]</a:t>
            </a:r>
            <a:r>
              <a:rPr sz="2000" b="0">
                <a:solidFill>
                  <a:srgbClr val="1F2D3A"/>
                </a:solidFill>
              </a:rPr>
              <a:t>'i önce, sonra </a:t>
            </a:r>
            <a:r>
              <a:rPr sz="2000" b="0">
                <a:solidFill>
                  <a:srgbClr val="A1123F"/>
                </a:solidFill>
                <a:latin typeface="Consolas"/>
              </a:rPr>
              <a:t>m-2</a:t>
            </a:r>
            <a:r>
              <a:rPr sz="2000" b="0">
                <a:solidFill>
                  <a:srgbClr val="1F2D3A"/>
                </a:solidFill>
              </a:rPr>
              <a:t>, ... sağdan sola karşılaştırın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Uyuşmazlık: o karakterin örüntüdeki SON oluşumuna bakın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Karakter örüntüde yoksa: TÜM örüntü uzunluğunca atlayın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Atlama asla 1'den az değil (asla geri, asla yerinde)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Boyer-Moore, adım adım</a:t>
            </a:r>
          </a:p>
        </p:txBody>
      </p:sp>
      <p:pic>
        <p:nvPicPr>
          <p:cNvPr id="7" name="Picture 6" descr="boyer-moore-bad-character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732240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olası en büyük atlama</a:t>
            </a:r>
          </a:p>
        </p:txBody>
      </p:sp>
      <p:pic>
        <p:nvPicPr>
          <p:cNvPr id="7" name="Picture 6" descr="boyer-moore-bad-character--max-jump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129024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kötü karakter tablosu ve atlama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c = 0; c &lt; 256; c++) last[c] = -1;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j = 0; j &lt; m; j++) last[pattern[j]] = j;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...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shift = j - last[text[s + j]];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 += shift &gt; 1 ? shift : 1;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iyi durum: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O(n/m)</a:t>
            </a:r>
            <a:r>
              <a:rPr sz="2000" b="0">
                <a:solidFill>
                  <a:srgbClr val="1F2D3A"/>
                </a:solidFill>
              </a:rPr>
              <a:t> — büyük atlamalar, zengin alfabe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kötü durum: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O(n*m)</a:t>
            </a:r>
            <a:r>
              <a:rPr sz="2000" b="0">
                <a:solidFill>
                  <a:srgbClr val="1F2D3A"/>
                </a:solidFill>
              </a:rPr>
              <a:t> — düşük çeşitlilikli metin (yalnız kötü karakter kuralı)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Pratikte doğal dil metninde sıkça en hızlısı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İyi sonek kuralı (kapsanmadı) en kötü durumu düzeltir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 yapılan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shift &gt;= 1</a:t>
            </a:r>
            <a:r>
              <a:rPr sz="2000" b="0">
                <a:solidFill>
                  <a:srgbClr val="1F2D3A"/>
                </a:solidFill>
              </a:rPr>
              <a:t> korumasını unutmak (onsuz sonsuza dek döngüye girebilir)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Kötü karakter tablosunu METİNDEN kurmak, örüntüden değil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Alışkanlıkla soldan sağa karşılaştırmak — tüm avantajı kaybeder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Boyer-Moore, saf aramanın incelemek zorunda olduğu metin karakterlerini neden atlayabilir?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Cevap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Tek bir karşılaştırma birkaç kaydırmanın imkansız olduğunu kanıtlar</a:t>
            </a:r>
            <a:r>
              <a:rPr sz="2000" b="0">
                <a:solidFill>
                  <a:srgbClr val="1F2D3A"/>
                </a:solidFill>
              </a:rPr>
              <a:t> — orada eşleşme olamaz, hiç kontrol edilmez.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11. Z Algoritması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Şimdiye kadarki her algoritma kendi özel tablosunu kurdu. TEK bir kendisiyle-karşılaştırma tüm aramayı yanıtlayabilir mi?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Fikir: Z[i] ve birleşik bir dizgi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Z[i]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S[i..]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S</a:t>
            </a:r>
            <a:r>
              <a:rPr sz="2000" b="0">
                <a:solidFill>
                  <a:srgbClr val="1F2D3A"/>
                </a:solidFill>
              </a:rPr>
              <a:t>'nin kendi başlangıcıyla ne kadar eşleşir?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S = pattern + '#' + text</a:t>
            </a:r>
            <a:r>
              <a:rPr sz="2000" b="0">
                <a:solidFill>
                  <a:srgbClr val="1F2D3A"/>
                </a:solidFill>
              </a:rPr>
              <a:t> olsun (başka yerde kullanılmayan bir ayraç)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Metin kısmında </a:t>
            </a:r>
            <a:r>
              <a:rPr sz="2000" b="0">
                <a:solidFill>
                  <a:srgbClr val="A1123F"/>
                </a:solidFill>
                <a:latin typeface="Consolas"/>
              </a:rPr>
              <a:t>Z[i] &gt;= |pattern|</a:t>
            </a:r>
            <a:r>
              <a:rPr sz="2000" b="0">
                <a:solidFill>
                  <a:srgbClr val="1F2D3A"/>
                </a:solidFill>
              </a:rPr>
              <a:t>: bir oluşum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</a:t>
            </a:r>
            <a:r>
              <a:rPr sz="2000" b="0">
                <a:solidFill>
                  <a:srgbClr val="A1123F"/>
                </a:solidFill>
                <a:latin typeface="Consolas"/>
              </a:rPr>
              <a:t>[l, r)</a:t>
            </a:r>
            <a:r>
              <a:rPr sz="2000" b="0">
                <a:solidFill>
                  <a:srgbClr val="1F2D3A"/>
                </a:solidFill>
              </a:rPr>
              <a:t> penceresi bilinen değerleri yeniden kullanır — toplam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 + m)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Z algoritması, adım adım</a:t>
            </a:r>
          </a:p>
        </p:txBody>
      </p:sp>
      <p:pic>
        <p:nvPicPr>
          <p:cNvPr id="7" name="Picture 6" descr="z-algorithm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042227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pencere sürekli yeniden kullanılır</a:t>
            </a:r>
          </a:p>
        </p:txBody>
      </p:sp>
      <p:pic>
        <p:nvPicPr>
          <p:cNvPr id="7" name="Picture 6" descr="z-algorithm--hard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918233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Z dizisi kurma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(i &lt; r)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z[i] = min(r - i, z[i - l]);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(i + z[i] &lt; n &amp;&amp; s[z[i]] == s[i + z[i]])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z[i]++;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(i + z[i] &gt; r) { l = i; r = i + z[i]; }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Tüm birleşik-dizgi Z dizisi için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 + m)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KMP'nin lps'siyle aynı amorti edilmiş argüman: pencere yalnız büyür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konumun bir oluşum işaretleyip işaretlemediğini kontrol etmek için </a:t>
            </a:r>
            <a:r>
              <a:rPr sz="2000" b="0">
                <a:solidFill>
                  <a:srgbClr val="A1123F"/>
                </a:solidFill>
                <a:latin typeface="Consolas"/>
              </a:rPr>
              <a:t>O(1)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Beş arama algoritmasının en basit olanı, kavramsal olarak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 yapılan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Ayracı unutmak, ya da metinde geçen bir ayraç seçmek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Z[i] == m</a:t>
            </a:r>
            <a:r>
              <a:rPr sz="2000" b="0">
                <a:solidFill>
                  <a:srgbClr val="1F2D3A"/>
                </a:solidFill>
              </a:rPr>
              <a:t> yerine </a:t>
            </a:r>
            <a:r>
              <a:rPr sz="2000" b="0">
                <a:solidFill>
                  <a:srgbClr val="A1123F"/>
                </a:solidFill>
                <a:latin typeface="Consolas"/>
              </a:rPr>
              <a:t>Z[i] &gt;= m</a:t>
            </a:r>
            <a:r>
              <a:rPr sz="2000" b="0">
                <a:solidFill>
                  <a:srgbClr val="1F2D3A"/>
                </a:solidFill>
              </a:rPr>
              <a:t> kullanmak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Z[0]</a:t>
            </a:r>
            <a:r>
              <a:rPr sz="2000" b="0">
                <a:solidFill>
                  <a:srgbClr val="1F2D3A"/>
                </a:solidFill>
              </a:rPr>
              <a:t>'ı anlamlı saymak (geleneksel olarak kullanılmaz)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Z algoritması, KMP'nin lps'si gibi AYRI bir tablo kurmaktan nasıl kaçınır, tek bir cümlede?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Cevap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Kaçınmaz</a:t>
            </a:r>
            <a:r>
              <a:rPr sz="2000" b="0">
                <a:solidFill>
                  <a:srgbClr val="1F2D3A"/>
                </a:solidFill>
              </a:rPr>
              <a:t>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Z[]</a:t>
            </a:r>
            <a:r>
              <a:rPr sz="2000" b="0">
                <a:solidFill>
                  <a:srgbClr val="1F2D3A"/>
                </a:solidFill>
              </a:rPr>
              <a:t> TABLONUN KENDİSİDİR, yalnız TÜM birleşik dizgiyle örtüşmeyi tanımlar.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12. Beş Arama Algoritmasını Karşılaştırmak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Karşılaştırma tablosu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459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7910"/>
                <a:gridCol w="2107910"/>
                <a:gridCol w="1859920"/>
                <a:gridCol w="4835793"/>
              </a:tblGrid>
              <a:tr h="40995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Algoritma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En kötü durum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Tipik durum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Ekstra fikir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40995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Saf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O(n·m)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Taban çizgisi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995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KMP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O(n+m)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O(n+m)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lps[], i geri sarmaz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0995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Rabin-Karp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O(n·m)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O(n+m) ort.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Kayan özet, doğrula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995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Boyer-Moore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O(n·m)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O(n/m)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Sağdan sola, büyük atlama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0995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Z algoritması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O(n+m)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O(n+m)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Tek kendisiyle-karşılaştırma dizisi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13. Yeni Bir Strateji: Dinamik Programlama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İki dizgi ne kadar "farklı"? Yazım denetleyicileri, </a:t>
            </a:r>
            <a:r>
              <a:rPr sz="2000" b="0">
                <a:solidFill>
                  <a:srgbClr val="A1123F"/>
                </a:solidFill>
                <a:latin typeface="Consolas"/>
              </a:rPr>
              <a:t>git diff</a:t>
            </a:r>
            <a:r>
              <a:rPr sz="2000" b="0">
                <a:solidFill>
                  <a:srgbClr val="1F2D3A"/>
                </a:solidFill>
              </a:rPr>
              <a:t>, ve DNA araçları hepsi bu sorunun bir versiyonunu soruyor.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Saf kuvvet neden çok yavaş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Özyinelemeli tanım: eşleştir, değiştir, sil, ya da ekle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Doğru — ama neredeyse her adımda 3 çağrıya dallanır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AYNI alt problem üstel olarak sık yeniden hesaplanır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Çakışan alt problemler: israf edilen iş düzeltilebilir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Fikir: her alt problemi bir kez çözün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Optimal alt yapı:</a:t>
            </a:r>
            <a:r>
              <a:rPr sz="2000" b="0">
                <a:solidFill>
                  <a:srgbClr val="1F2D3A"/>
                </a:solidFill>
              </a:rPr>
              <a:t> en iyi cevap, en iyi alt cevaplardan kurulur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Çakışan alt problemler:</a:t>
            </a:r>
            <a:r>
              <a:rPr sz="2000" b="0">
                <a:solidFill>
                  <a:srgbClr val="1F2D3A"/>
                </a:solidFill>
              </a:rPr>
              <a:t> aynısı birçok kez tekrar eder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alt problemi TAM OLARAK BİR KEZ çözün, bir tabloda saklayın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dinamik programlamadır — bu hafta gerçekten yeni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Düzenleme uzaklığı: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a</a:t>
            </a:r>
            <a:r>
              <a:rPr sz="2000" b="0">
                <a:solidFill>
                  <a:srgbClr val="1F2D3A"/>
                </a:solidFill>
              </a:rPr>
              <a:t>'yı </a:t>
            </a:r>
            <a:r>
              <a:rPr sz="2000" b="0">
                <a:solidFill>
                  <a:srgbClr val="A1123F"/>
                </a:solidFill>
                <a:latin typeface="Consolas"/>
              </a:rPr>
              <a:t>b</a:t>
            </a:r>
            <a:r>
              <a:rPr sz="2000" b="0">
                <a:solidFill>
                  <a:srgbClr val="1F2D3A"/>
                </a:solidFill>
              </a:rPr>
              <a:t>'ye dönüştürmenin en az tek-karakterlik düzenlemesi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Ekleme, silme, ya da değiştirme — her biri 1'e mal olur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Ayrıca </a:t>
            </a:r>
            <a:r>
              <a:rPr sz="2000" b="1">
                <a:solidFill>
                  <a:srgbClr val="1F2D3A"/>
                </a:solidFill>
              </a:rPr>
              <a:t>Levenshtein uzaklığı</a:t>
            </a:r>
            <a:r>
              <a:rPr sz="2000" b="0">
                <a:solidFill>
                  <a:srgbClr val="1F2D3A"/>
                </a:solidFill>
              </a:rPr>
              <a:t> da denir (1965)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dp[i][j]</a:t>
            </a:r>
            <a:r>
              <a:rPr sz="2000" b="0">
                <a:solidFill>
                  <a:srgbClr val="1F2D3A"/>
                </a:solidFill>
              </a:rPr>
              <a:t> = </a:t>
            </a:r>
            <a:r>
              <a:rPr sz="2000" b="0">
                <a:solidFill>
                  <a:srgbClr val="A1123F"/>
                </a:solidFill>
                <a:latin typeface="Consolas"/>
              </a:rPr>
              <a:t>a</a:t>
            </a:r>
            <a:r>
              <a:rPr sz="2000" b="0">
                <a:solidFill>
                  <a:srgbClr val="1F2D3A"/>
                </a:solidFill>
              </a:rPr>
              <a:t>'nın ilk </a:t>
            </a:r>
            <a:r>
              <a:rPr sz="2000" b="0">
                <a:solidFill>
                  <a:srgbClr val="A1123F"/>
                </a:solidFill>
                <a:latin typeface="Consolas"/>
              </a:rPr>
              <a:t>i</a:t>
            </a:r>
            <a:r>
              <a:rPr sz="2000" b="0">
                <a:solidFill>
                  <a:srgbClr val="1F2D3A"/>
                </a:solidFill>
              </a:rPr>
              <a:t>'si ile </a:t>
            </a:r>
            <a:r>
              <a:rPr sz="2000" b="0">
                <a:solidFill>
                  <a:srgbClr val="A1123F"/>
                </a:solidFill>
                <a:latin typeface="Consolas"/>
              </a:rPr>
              <a:t>b</a:t>
            </a:r>
            <a:r>
              <a:rPr sz="2000" b="0">
                <a:solidFill>
                  <a:srgbClr val="1F2D3A"/>
                </a:solidFill>
              </a:rPr>
              <a:t>'nin ilk </a:t>
            </a:r>
            <a:r>
              <a:rPr sz="2000" b="0">
                <a:solidFill>
                  <a:srgbClr val="A1123F"/>
                </a:solidFill>
                <a:latin typeface="Consolas"/>
              </a:rPr>
              <a:t>j</a:t>
            </a:r>
            <a:r>
              <a:rPr sz="2000" b="0">
                <a:solidFill>
                  <a:srgbClr val="1F2D3A"/>
                </a:solidFill>
              </a:rPr>
              <a:t>'si arasındaki uzaklık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Yineleme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Taban durumu: </a:t>
            </a:r>
            <a:r>
              <a:rPr sz="2000" b="0">
                <a:solidFill>
                  <a:srgbClr val="A1123F"/>
                </a:solidFill>
                <a:latin typeface="Consolas"/>
              </a:rPr>
              <a:t>dp[i][0] = i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dp[0][j] = j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Karakterler eşleşir: </a:t>
            </a:r>
            <a:r>
              <a:rPr sz="2000" b="0">
                <a:solidFill>
                  <a:srgbClr val="A1123F"/>
                </a:solidFill>
                <a:latin typeface="Consolas"/>
              </a:rPr>
              <a:t>dp[i][j] = dp[i-1][j-1]</a:t>
            </a:r>
            <a:r>
              <a:rPr sz="2000" b="0">
                <a:solidFill>
                  <a:srgbClr val="1F2D3A"/>
                </a:solidFill>
              </a:rPr>
              <a:t> (ücretsiz)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Aksi halde: </a:t>
            </a:r>
            <a:r>
              <a:rPr sz="2000" b="0">
                <a:solidFill>
                  <a:srgbClr val="A1123F"/>
                </a:solidFill>
                <a:latin typeface="Consolas"/>
              </a:rPr>
              <a:t>1 + min(köşegen, üst, sol)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Satır satır doldurun — her bağımlılık zaten hesaplanmış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Düzenleme uzaklığı, adım adım</a:t>
            </a:r>
          </a:p>
        </p:txBody>
      </p:sp>
      <p:pic>
        <p:nvPicPr>
          <p:cNvPr id="7" name="Picture 6" descr="edit-distanc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0899" y="1325880"/>
            <a:ext cx="842989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saf ekleme</a:t>
            </a:r>
          </a:p>
        </p:txBody>
      </p:sp>
      <p:pic>
        <p:nvPicPr>
          <p:cNvPr id="7" name="Picture 6" descr="edit-distance--insertion-only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104225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tabloyu doldurmak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(a[i-1] == b[j-1])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dp[i][j] = dp[i-1][j-1];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else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best = min(dp[i-1][j-1],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min(dp[i-1][j], dp[i][j-1]));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dp[i][j] = 1 + best;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O(n*m)</a:t>
            </a:r>
            <a:r>
              <a:rPr sz="2000" b="0">
                <a:solidFill>
                  <a:srgbClr val="1F2D3A"/>
                </a:solidFill>
              </a:rPr>
              <a:t> süre — her hücre bir kez, </a:t>
            </a:r>
            <a:r>
              <a:rPr sz="2000" b="0">
                <a:solidFill>
                  <a:srgbClr val="A1123F"/>
                </a:solidFill>
                <a:latin typeface="Consolas"/>
              </a:rPr>
              <a:t>O(1)</a:t>
            </a:r>
            <a:r>
              <a:rPr sz="2000" b="0">
                <a:solidFill>
                  <a:srgbClr val="1F2D3A"/>
                </a:solidFill>
              </a:rPr>
              <a:t>'de hesaplanır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Tam tablo için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O(n*m)</a:t>
            </a:r>
            <a:r>
              <a:rPr sz="2000" b="0">
                <a:solidFill>
                  <a:srgbClr val="1F2D3A"/>
                </a:solidFill>
              </a:rPr>
              <a:t> alan (geriye yürüme için gerekli)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Saf özyinelemenin üstel süresine göre çarpıcı gelişme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Yalnız-satır eniyilemesi alanı </a:t>
            </a:r>
            <a:r>
              <a:rPr sz="2000" b="0">
                <a:solidFill>
                  <a:srgbClr val="A1123F"/>
                </a:solidFill>
                <a:latin typeface="Consolas"/>
              </a:rPr>
              <a:t>O(m)</a:t>
            </a:r>
            <a:r>
              <a:rPr sz="2000" b="0">
                <a:solidFill>
                  <a:srgbClr val="1F2D3A"/>
                </a:solidFill>
              </a:rPr>
              <a:t>'ye indirir (yalnız uzunluk)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 yapılan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Birer kayma: </a:t>
            </a:r>
            <a:r>
              <a:rPr sz="2000" b="0">
                <a:solidFill>
                  <a:srgbClr val="A1123F"/>
                </a:solidFill>
                <a:latin typeface="Consolas"/>
              </a:rPr>
              <a:t>dp[i][j]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a[i]</a:t>
            </a:r>
            <a:r>
              <a:rPr sz="2000" b="0">
                <a:solidFill>
                  <a:srgbClr val="1F2D3A"/>
                </a:solidFill>
              </a:rPr>
              <a:t>'yı değil </a:t>
            </a:r>
            <a:r>
              <a:rPr sz="2000" b="0">
                <a:solidFill>
                  <a:srgbClr val="A1123F"/>
                </a:solidFill>
                <a:latin typeface="Consolas"/>
              </a:rPr>
              <a:t>a[i-1]</a:t>
            </a:r>
            <a:r>
              <a:rPr sz="2000" b="0">
                <a:solidFill>
                  <a:srgbClr val="1F2D3A"/>
                </a:solidFill>
              </a:rPr>
              <a:t>'i karşılaştırır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Taban durumlarının </a:t>
            </a:r>
            <a:r>
              <a:rPr sz="2000" b="0">
                <a:solidFill>
                  <a:srgbClr val="A1123F"/>
                </a:solidFill>
                <a:latin typeface="Consolas"/>
              </a:rPr>
              <a:t>i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0">
                <a:solidFill>
                  <a:srgbClr val="A1123F"/>
                </a:solidFill>
                <a:latin typeface="Consolas"/>
              </a:rPr>
              <a:t>j</a:t>
            </a:r>
            <a:r>
              <a:rPr sz="2000" b="0">
                <a:solidFill>
                  <a:srgbClr val="1F2D3A"/>
                </a:solidFill>
              </a:rPr>
              <a:t> olduğunu, sıfır olmadığını unutmak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Tabloyu tutarsız ya da yanlış bir sırada doldurmak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Dinamik programlama neden HEM optimal alt yapıya HEM çakışan alt problemlere ihtiyaç duyar?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Cevap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Alt yapı DOĞRU yapar. Çakışma ezberlemeyi DEĞERLİ yapar</a:t>
            </a:r>
            <a:r>
              <a:rPr sz="2000" b="0">
                <a:solidFill>
                  <a:srgbClr val="1F2D3A"/>
                </a:solidFill>
              </a:rPr>
              <a:t> — çakışma olmadan, hiçbir şey yeniden hesaplanmaz.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14. En Uzun Ortak Alt Dizi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Başlangıç sorusu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"Ne kadar farklı" değil — "sırayla, bitişik olmasa bile, NE AYNI kaldı"?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Alt dizi ile alt dizgi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Alt dizgi: </a:t>
            </a:r>
            <a:r>
              <a:rPr sz="2000" b="1">
                <a:solidFill>
                  <a:srgbClr val="1F2D3A"/>
                </a:solidFill>
              </a:rPr>
              <a:t>bitişik</a:t>
            </a:r>
            <a:r>
              <a:rPr sz="2000" b="0">
                <a:solidFill>
                  <a:srgbClr val="1F2D3A"/>
                </a:solidFill>
              </a:rPr>
              <a:t>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"ACE"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"ABCDE"</a:t>
            </a:r>
            <a:r>
              <a:rPr sz="2000" b="0">
                <a:solidFill>
                  <a:srgbClr val="1F2D3A"/>
                </a:solidFill>
              </a:rPr>
              <a:t>'nin bir alt dizgisi DEĞİL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Alt dizi: sıra korunur, boşluklara izin verilir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"ACE"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"ABCDE"</a:t>
            </a:r>
            <a:r>
              <a:rPr sz="2000" b="0">
                <a:solidFill>
                  <a:srgbClr val="1F2D3A"/>
                </a:solidFill>
              </a:rPr>
              <a:t>'nin bir alt dizisi</a:t>
            </a:r>
            <a:r>
              <a:rPr sz="2000" b="1">
                <a:solidFill>
                  <a:srgbClr val="1F2D3A"/>
                </a:solidFill>
              </a:rPr>
              <a:t>DİR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LCS: HER İKİ dizgide de ortak en uzun dizi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Yineleme — neredeyse aynı tablo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Taban durumu: </a:t>
            </a:r>
            <a:r>
              <a:rPr sz="2000" b="0">
                <a:solidFill>
                  <a:srgbClr val="A1123F"/>
                </a:solidFill>
                <a:latin typeface="Consolas"/>
              </a:rPr>
              <a:t>dp[i][0] = dp[0][j] = 0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Karakterler eşleşir: </a:t>
            </a:r>
            <a:r>
              <a:rPr sz="2000" b="0">
                <a:solidFill>
                  <a:srgbClr val="A1123F"/>
                </a:solidFill>
                <a:latin typeface="Consolas"/>
              </a:rPr>
              <a:t>dp[i][j] = dp[i-1][j-1] + 1</a:t>
            </a:r>
            <a:r>
              <a:rPr sz="2000" b="0">
                <a:solidFill>
                  <a:srgbClr val="1F2D3A"/>
                </a:solidFill>
              </a:rPr>
              <a:t> (uzat)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Aksi halde: </a:t>
            </a:r>
            <a:r>
              <a:rPr sz="2000" b="0">
                <a:solidFill>
                  <a:srgbClr val="A1123F"/>
                </a:solidFill>
                <a:latin typeface="Consolas"/>
              </a:rPr>
              <a:t>dp[i][j] = max(dp[i-1][j], dp[i][j-1])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Uyuşmazlık için ceza yok — yalnız eşleşmeler bir şey ekler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LCS, adım adım</a:t>
            </a:r>
          </a:p>
        </p:txBody>
      </p:sp>
      <p:pic>
        <p:nvPicPr>
          <p:cNvPr id="7" name="Picture 6" descr="longest-common-subsequenc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6884" y="1325880"/>
            <a:ext cx="641792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hiç paylaşılan harf yok</a:t>
            </a:r>
          </a:p>
        </p:txBody>
      </p:sp>
      <p:pic>
        <p:nvPicPr>
          <p:cNvPr id="7" name="Picture 6" descr="longest-common-subsequence--no-common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9731" y="1325880"/>
            <a:ext cx="605223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yineleme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(a[i-1] == b[j-1])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dp[i][j] = dp[i-1][j-1] + 1;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else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dp[i][j] = max(dp[i-1][j], dp[i][j-1]);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O(n*m)</a:t>
            </a:r>
            <a:r>
              <a:rPr sz="2000" b="0">
                <a:solidFill>
                  <a:srgbClr val="1F2D3A"/>
                </a:solidFill>
              </a:rPr>
              <a:t> süre ve alan — düzenleme uzaklığıyla özdeş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Aynı tablo şekli, aynı şekilde doldurulmuş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 her hücredeki yineleme farklı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Daha sonraki algoritma tasarımında yeniden tanıyacağınız bir şablon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 yapılan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Alt diziyi alt dizgiyle karıştırmak (iki slayt önceye bakın)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Yanlışlıkla düzenleme uzaklığının min+1 yinelemesini yeniden kullanmak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 gerçek alt dizi isteniyorken uzunluğu bildirmek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LCS neden max kullanır, düzenleme uzaklığı min+1 kullanırken, ikisi de aynı tablo şeklini doldursa bile?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Cevap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Düzenleme uzaklığı bir MALİYET sayar</a:t>
            </a:r>
            <a:r>
              <a:rPr sz="2000" b="0">
                <a:solidFill>
                  <a:srgbClr val="1F2D3A"/>
                </a:solidFill>
              </a:rPr>
              <a:t> (en ucuzu al). </a:t>
            </a:r>
            <a:r>
              <a:rPr sz="2000" b="1">
                <a:solidFill>
                  <a:srgbClr val="1F2D3A"/>
                </a:solidFill>
              </a:rPr>
              <a:t>LCS bir UZUNLUK sayar</a:t>
            </a:r>
            <a:r>
              <a:rPr sz="2000" b="0">
                <a:solidFill>
                  <a:srgbClr val="1F2D3A"/>
                </a:solidFill>
              </a:rPr>
              <a:t> (zaten en iyisini al).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Özet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Yapılar:</a:t>
            </a:r>
            <a:r>
              <a:rPr sz="2000" b="0">
                <a:solidFill>
                  <a:srgbClr val="1F2D3A"/>
                </a:solidFill>
              </a:rPr>
              <a:t> char dizisi + </a:t>
            </a:r>
            <a:r>
              <a:rPr sz="2000" b="0">
                <a:solidFill>
                  <a:srgbClr val="A1123F"/>
                </a:solidFill>
                <a:latin typeface="Consolas"/>
              </a:rPr>
              <a:t>'0'</a:t>
            </a:r>
            <a:r>
              <a:rPr sz="2000" b="0">
                <a:solidFill>
                  <a:srgbClr val="1F2D3A"/>
                </a:solidFill>
              </a:rPr>
              <a:t>, büyüyen arabellekler, trie'ler,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sıkıştırılmış trie'ler, sonek dizileri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Arama:</a:t>
            </a:r>
            <a:r>
              <a:rPr sz="2000" b="0">
                <a:solidFill>
                  <a:srgbClr val="1F2D3A"/>
                </a:solidFill>
              </a:rPr>
              <a:t> saf, KMP, Rabin-Karp, Boyer-Moore, Z algoritması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Bu hafta yeni:</a:t>
            </a:r>
            <a:r>
              <a:rPr sz="2000" b="0">
                <a:solidFill>
                  <a:srgbClr val="1F2D3A"/>
                </a:solidFill>
              </a:rPr>
              <a:t> dinamik programlama — düzenleme uzaklığı, LCS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Aynı DP tablo şekli, iki farklı yineleme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Alıştırmalar ve kendini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Hafta notlarında 10 alıştırma — tabloları ve kodu elle izleyin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Tam çözümlü 10 kendini sınama sorusu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Seçicideki her "uç" örneği deneyin, yalnız "normal"i değil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programı kendiniz çalıştırın — çıktıların hepsi gerçek, yakalanmış çıktı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İleriye bakış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Hafta 13–14: proje haftaları 15–16'dan önce daha yeni malzeme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DP tablo şekli (</a:t>
            </a:r>
            <a:r>
              <a:rPr sz="2000" b="0">
                <a:solidFill>
                  <a:srgbClr val="A1123F"/>
                </a:solidFill>
                <a:latin typeface="Consolas"/>
              </a:rPr>
              <a:t>dp[i][j]</a:t>
            </a:r>
            <a:r>
              <a:rPr sz="2000" b="0">
                <a:solidFill>
                  <a:srgbClr val="1F2D3A"/>
                </a:solidFill>
              </a:rPr>
              <a:t>, bir kez doldurulur, geriye yürümeyle okunur)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...yalnız dizgiler için değil, algoritma tasarımı boyunca tekrar tekrar karşınıza çıkar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haftanın tablo şeklini bir şablon olarak aklınızda tutun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Kaynaklar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Cormen, Leiserson, Rivest, Stein — </a:t>
            </a:r>
            <a:r>
              <a:rPr sz="2000" b="0" i="1">
                <a:solidFill>
                  <a:srgbClr val="1F2D3A"/>
                </a:solidFill>
              </a:rPr>
              <a:t>Introduction to Algorithms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Knuth, Morris, Pratt (1977) · Boyer, Moore (1977) · Karp, Rabin (1987)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Fredkin (1960) · Morrison (1968) · Levenshtein (1965)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Sedgewick &amp; Wayne — </a:t>
            </a:r>
            <a:r>
              <a:rPr sz="2000" b="0" i="1">
                <a:solidFill>
                  <a:srgbClr val="1F2D3A"/>
                </a:solidFill>
              </a:rPr>
              <a:t>Algorithms</a:t>
            </a:r>
            <a:r>
              <a:rPr sz="2000" b="0">
                <a:solidFill>
                  <a:srgbClr val="1F2D3A"/>
                </a:solidFill>
              </a:rPr>
              <a:t>, 4. baskı (Dizgiler bölümü)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Tam liste ayrıntılarıyla hafta notlarında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Sorular?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CEN207 Veri Yapıları — Hafta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Gelecek hafta: Hafta 15–16'nın proje gösterimlerinden önce yeni malzemeyle devam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CEN207 Hafta 12 — Dizgiler: Yapılar ve Algoritmalar</dc:title>
  <dc:subject/>
  <dc:creator>Dr. Öğr. Üyesi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