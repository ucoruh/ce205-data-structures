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sunum, izlence sayfasını bölüm bölüm izler; öğrenciler istedikleri an belge olarak da okuyabilir.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Öğrencilerin ilk sorduğu beş bilgi burada; sunumun geri kalanı bunları açıyor.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[CEN207] etiketi zorunlu — e-postaların hızlı sınıflandırılıp yanıtlanmasını sağlıyor.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 koşul araç zincirinin ayrıntıları Ön Gereksinimler sayfasında ve sunumunda.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 paragraf, burada kendi fikirlerine ayrıştırılmış olarak.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 çizgi: "veri belleğe ya da depolamaya nasıl şekillenip eşlenir" — her hafta bunu bir yapı için yanıtlıyor.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Dönem projesinin var olma nedeni bu — bir hash tablosunu okumak ile kurmak farklı beceriler.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Yedi çıktı; her haftanın içeriği ve her rubrik kriteri bunlardan birine ya da birkaçına bağlanıyor.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ÖÇ.7 sentez çıktısıdır — asıl dönem projesinde uygulanır.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tablo akreditasyon izlenebilirliği içindir; öğrenciler çoğunlukla bir önceki slayttaki ÖÇ tablosuna ihtiyaç duyar.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altı hafta, iki sınav haftası, içinde iki kontrol noktası olan bir proje.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 hafta gösterim haftası, 8. hafta quiz haftası olmasının nedeni bu; 15/16 için de aynı.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haftanın tam konu ayrıntısı kendi sayfasında ve sunumunda — bu, haritanın kendisi değil, haritanın özeti.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Quiz-1, 1–6. haftaları kapsar; Quiz-2, 9–14. haftaları — iki proje haftası (7, 15) quiz konusu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 sınav konusu değildir; daha ileri gitmek isteyen öğrenciler içindir.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Ders notları kendi başına yeterlidir — aşağıdaki kitaplar ikinci bir anlatım isteyenler için.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Değerlendirmenin hiçbir parçası kitap satın almayı gerektirmez.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Cormen ve arkadaşları ile Sedgewick &amp; Wayne, dönem boyunca en çok başvurulan ikisi.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 şablonları bu araç zinciri için zaten hazır — öğrenciler sıfırdan kurmuyor.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proje, iki kontrol noktası, iki quiz — değerlendirme yapısının tamamı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 rehberi sunumu ve sayfası bu izlenceden çok daha ayrıntılıdır — bu yalnızca ağırlık dağılımı.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RAP1/RAP2 proje kontrol noktaları; QUIZ1/QUIZ2 yazılı quizler — aynı kodlar proje rehberinde de kullanılıyor.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kontrolü ve final quizi birlikte vize tarafından daha ağır basıyor — ders Java/ikinci yarıya doğru eğimli.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Yaklaşık 14 hafta üzerinde 125 saat, haftada ~9 saat demek — proje hazırlama saatlerini erken planlayın, son hafta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Altı kısa bölüm — öğretim yöntemi, geç teslim, iletişim, dürüstlük, beklentiler, güncellemeler.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haftanın notunun sonundaki kendini sınama soruları, o haftanın oturup oturmadığını anlamanın en hızlı yolu.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"Beklenmedik durum" demek, son tarihten önce öğretim üyesiyle iletişime geçmek demektir, sonra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 kanal, her gün kontrol edilir — lojistik için sınıf, kişisel konular için e-posta.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Sonraki iki slaytta yer almayan bir durum varsa kural basit: önce öğretim üyesine sorun.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Ortak nokta: anlama yardımı serbest, hazır cevabı almak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Üçü de yardımın YÖNÜYLE ilgili — tamamlanmış bir çözümü almak ya da vermek, onu tartışmak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 satırı kuralı, iletişim bilgileri slaytındakiyle aynı — tutarlı biçimde uygulanır.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Değişiklik istisnadır, kural değil — ama gerektiğinde dersin uyum sağlamasına izin veren madde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 Gereksinimler ve Proje Rehberi, her öğrencinin sonra okuması gereken iki sayfa.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CEN207 Veri Yapıları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Ders İzlencesi — 2026-2027 Güz Yarıyılı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Derse bir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CEN207 Veri Yapıları</a:t>
            </a:r>
            <a:r>
              <a:rPr sz="2000" b="0">
                <a:solidFill>
                  <a:srgbClr val="1F2D3A"/>
                </a:solidFill>
              </a:rPr>
              <a:t> (eski kodu CE205)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Zorunlu ders, 3. yarıyıl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Kuramsal 3 saat/hafta · Kredi 3 · AKTS 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Eğitim dili: </a:t>
            </a:r>
            <a:r>
              <a:rPr sz="2000" b="1">
                <a:solidFill>
                  <a:srgbClr val="1F2D3A"/>
                </a:solidFill>
              </a:rPr>
              <a:t>İngilizce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 koşul: </a:t>
            </a:r>
            <a:r>
              <a:rPr sz="2000" b="1">
                <a:solidFill>
                  <a:srgbClr val="1F2D3A"/>
                </a:solidFill>
              </a:rPr>
              <a:t>CEN108 Algoritmalar ve Programlama II</a:t>
            </a:r>
            <a:r>
              <a:rPr sz="2000" b="0">
                <a:solidFill>
                  <a:srgbClr val="1F2D3A"/>
                </a:solidFill>
              </a:rPr>
              <a:t> (eski kodu CE100)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Ders bilgileri — iletişim ve düzen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39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216"/>
                <a:gridCol w="7444318"/>
              </a:tblGrid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Öğretim üyesi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Dr. Öğr. Üyesi Uğur CORUH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İletişim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ugur.coruh@erdogan.edu.tr — konu satırı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[CEN207]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ile başlamalıdır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Ofis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F-301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Görüşme saatleri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E-posta ile randevu; ofiste ya da üniversite hesabıyla çevrim içi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951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Ders günü, saati, dersliği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Cuma 13:00–16:00 · İİBF ve Hukuk Fakültesi Binası, D-402 (ED-K4-2)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Ders bilgileri — ders ayrıntıları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152"/>
                <a:gridCol w="6983382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Ders web sitesi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https://ucoruh.github.io/ce205-data-structures/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Ders sınıfı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dönem yeni sınıf açılır; sınıf kodu 1. haftada duyurulur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Tür / yarıyıl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Zorunlu · 3. yarıyıl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Haftalık saat / kredi / AKTS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Kuramsal 3 saat · Kredi 3 · AKTS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CEN108 Algoritmalar ve Programlama II (eski kodu CE100)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Ders İzlencesi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A. Dersin Tanımı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ders ne hakkında?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Veri yapıları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dosya organizasyonu</a:t>
            </a:r>
            <a:r>
              <a:rPr sz="2000" b="0">
                <a:solidFill>
                  <a:srgbClr val="1F2D3A"/>
                </a:solidFill>
              </a:rPr>
              <a:t> temelleri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Verinin programlarda nasıl eşlendiği: hem çalışma zamanı belleği </a:t>
            </a:r>
            <a:r>
              <a:rPr sz="2000" b="1">
                <a:solidFill>
                  <a:srgbClr val="1F2D3A"/>
                </a:solidFill>
              </a:rPr>
              <a:t>hem</a:t>
            </a:r>
            <a:r>
              <a:rPr sz="2000" b="0">
                <a:solidFill>
                  <a:srgbClr val="1F2D3A"/>
                </a:solidFill>
              </a:rPr>
              <a:t> uzun süreli dosya depolaması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veri nesnelerinin gerçekleştirimleri, programlama biçimleri ve çalışma zamanı gösterimleri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Ayrıca </a:t>
            </a:r>
            <a:r>
              <a:rPr sz="2000" b="1">
                <a:solidFill>
                  <a:srgbClr val="1F2D3A"/>
                </a:solidFill>
              </a:rPr>
              <a:t>sıralama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arama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çizge algoritmaları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Ders nasıl işleniyor?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 odaklı: sınıfta programlama uygulaması </a:t>
            </a:r>
            <a:r>
              <a:rPr sz="2000" b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 dönem projesi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Yalnızca kuram değil — her yapıyı kendiniz kuruyorsunuz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dijital veri yapılarının gerçek dünya problemlerini nasıl çözdüğünü göstermek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Ders İzlencesi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B. Öğrenme Çıktıları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Öğrenme çıktıları (ÖÇ.1–ÖÇ.7)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79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3512"/>
                <a:gridCol w="10088022"/>
              </a:tblGrid>
              <a:tr h="47457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Öğrenme çıktısı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Doğrusal ve doğrusal olmayan veri yapılarının tanımı, temsili ve temel operasyonlarını açıklar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Zaman/uzay karmaşıklığını (Büyük O) analiz eder; veri yapılarının performansını karşılaştırır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sıralama ve arama algoritmalarını uygular, performanslarını analiz edip karşılaştırır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Dengeli/dengesiz ağaç yapılarını ve hash tablolarını uygular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Graf veri yapısını ve temel graf algoritmalarını uygular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Sıralı, doğrudan ve indeksli dosya organizasyonunu açıklar; uygulamalarını değerlendirir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7457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 probleme en uygun veri yapılarını/algoritmaları seçer ve etkin bir çözüm geliştirir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ÖÇ'lerin program çıktılarına katkısı (0–5)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4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1454871"/>
                <a:gridCol w="1454871"/>
                <a:gridCol w="1454871"/>
                <a:gridCol w="1454871"/>
                <a:gridCol w="1454871"/>
                <a:gridCol w="2000448"/>
              </a:tblGrid>
              <a:tr h="34084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PÇ.1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PÇ.2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PÇ.3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PÇ.4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PÇ.5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PÇ.6–12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62348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PÇ.1</a:t>
            </a:r>
            <a:r>
              <a:rPr sz="1800" b="0">
                <a:solidFill>
                  <a:srgbClr val="1F2D3A"/>
                </a:solidFill>
              </a:rPr>
              <a:t> Temel bilgi · </a:t>
            </a:r>
            <a:r>
              <a:rPr sz="1800" b="1">
                <a:solidFill>
                  <a:srgbClr val="1F2D3A"/>
                </a:solidFill>
              </a:rPr>
              <a:t>PÇ.2</a:t>
            </a:r>
            <a:r>
              <a:rPr sz="1800" b="0">
                <a:solidFill>
                  <a:srgbClr val="1F2D3A"/>
                </a:solidFill>
              </a:rPr>
              <a:t> Problem çözme · </a:t>
            </a:r>
            <a:r>
              <a:rPr sz="1800" b="1">
                <a:solidFill>
                  <a:srgbClr val="1F2D3A"/>
                </a:solidFill>
              </a:rPr>
              <a:t>PÇ.3</a:t>
            </a:r>
            <a:r>
              <a:rPr sz="1800" b="0">
                <a:solidFill>
                  <a:srgbClr val="1F2D3A"/>
                </a:solidFill>
              </a:rPr>
              <a:t> Tasarım · </a:t>
            </a:r>
            <a:r>
              <a:rPr sz="1800" b="1">
                <a:solidFill>
                  <a:srgbClr val="1F2D3A"/>
                </a:solidFill>
              </a:rPr>
              <a:t>PÇ.4</a:t>
            </a:r>
            <a:r>
              <a:rPr sz="1800" b="0">
                <a:solidFill>
                  <a:srgbClr val="1F2D3A"/>
                </a:solidFill>
              </a:rPr>
              <a:t> Modern teknik ve araçlar · </a:t>
            </a:r>
            <a:r>
              <a:rPr sz="1800" b="1">
                <a:solidFill>
                  <a:srgbClr val="1F2D3A"/>
                </a:solidFill>
              </a:rPr>
              <a:t>PÇ.5</a:t>
            </a:r>
            <a:r>
              <a:rPr sz="1800" b="0">
                <a:solidFill>
                  <a:srgbClr val="1F2D3A"/>
                </a:solidFill>
              </a:rPr>
              <a:t> Araştırma ve deney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Ders İzlencesi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C. Haftalık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Her değerlendirme için tek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Proje gösterimleri</a:t>
            </a:r>
            <a:r>
              <a:rPr sz="2000" b="0">
                <a:solidFill>
                  <a:srgbClr val="1F2D3A"/>
                </a:solidFill>
              </a:rPr>
              <a:t>, vize ve final sınav haftalarının </a:t>
            </a:r>
            <a:r>
              <a:rPr sz="2000" b="1">
                <a:solidFill>
                  <a:srgbClr val="1F2D3A"/>
                </a:solidFill>
              </a:rPr>
              <a:t>hemen öncesindeki</a:t>
            </a:r>
            <a:r>
              <a:rPr sz="2000" b="0">
                <a:solidFill>
                  <a:srgbClr val="1F2D3A"/>
                </a:solidFill>
              </a:rPr>
              <a:t> haftada yapılır.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Quizler</a:t>
            </a:r>
            <a:r>
              <a:rPr sz="2000" b="0">
                <a:solidFill>
                  <a:srgbClr val="1F2D3A"/>
                </a:solidFill>
              </a:rPr>
              <a:t>, vize ve final sınav haftalarının </a:t>
            </a:r>
            <a:r>
              <a:rPr sz="2000" b="1">
                <a:solidFill>
                  <a:srgbClr val="1F2D3A"/>
                </a:solidFill>
              </a:rPr>
              <a:t>içinde</a:t>
            </a:r>
            <a:r>
              <a:rPr sz="2000" b="0">
                <a:solidFill>
                  <a:srgbClr val="1F2D3A"/>
                </a:solidFill>
              </a:rPr>
              <a:t> yapılır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böylece her öğrenci katılabilir.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Haftalık program (1–8)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502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435"/>
                <a:gridCol w="3515939"/>
                <a:gridCol w="4607092"/>
                <a:gridCol w="2061067"/>
              </a:tblGrid>
              <a:tr h="38912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Hf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912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18.09.2026 (telafi 23.09)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Giriş, Büyük O, İşaretçiler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1, 2, 7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912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25.09.2026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Listeler, Diziler, Matrisler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912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02.10.2026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Yığınlar ve Kuyruklar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912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09.10.2026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Ağaçlar, Öbekler, Huffman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1, 4, 7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912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16.10.2026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Çizgeler ve Dolaşmalar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1, 5, 7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912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23.10.2026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Arama ve Hash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3, 4, 7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912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30.10.2026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Ara Proje Gösterimleri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1–5,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913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31.10–08.11.2026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Ara Sınav Haftası: Quiz-1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1, 2, 4, 5, 7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Haftalık program (9–16)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6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101"/>
                <a:gridCol w="2612621"/>
                <a:gridCol w="5225242"/>
                <a:gridCol w="2151570"/>
              </a:tblGrid>
              <a:tr h="36271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Hf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13.11.2026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Çizge Algoritmaları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3, 5, 7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20.11.2026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Sıralama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2, 3, 7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27.11.2026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Gelişmiş Ağaçlar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04.12.2026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Dizeler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1, 3, 4, 7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11.12.2026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 Organizasyonu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18.12.2026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 Organizasyonu II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3, 4, 6, 7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25.12.2026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Final Proje Gösterimleri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04–17.01.2027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Final Sınav Dönemi: Quiz-2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2–7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Zenginleştirme konuları (isteğe bağlı okuma)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Önceki yıllardan korunan, ders notlarında </a:t>
            </a:r>
            <a:r>
              <a:rPr sz="2000" b="1">
                <a:solidFill>
                  <a:srgbClr val="1F2D3A"/>
                </a:solidFill>
              </a:rPr>
              <a:t>isteğe bağlı</a:t>
            </a:r>
            <a:r>
              <a:rPr sz="2000" b="0">
                <a:solidFill>
                  <a:srgbClr val="1F2D3A"/>
                </a:solidFill>
              </a:rPr>
              <a:t> okuma olarak işlenen konular: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alfa-beta budama · Hasse diyagramları · Petri ağları · iki parçalı çizgeler · Bayes ağları · van Emde Boas ağaçları · SimHash · trie hashing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Ders İzlencesi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D. Kaynaklar, Yazılım ve Donanım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Ana kaynak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Ders web sitesindeki ders notları kendi başına yeterlidir</a:t>
            </a:r>
            <a:r>
              <a:rPr sz="2000" b="0">
                <a:solidFill>
                  <a:srgbClr val="1F2D3A"/>
                </a:solidFill>
              </a:rPr>
              <a:t> ve bu dersin ana kaynağıdır.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Sonraki slayttaki kitaplar yalnızca </a:t>
            </a:r>
            <a:r>
              <a:rPr sz="2000" b="1">
                <a:solidFill>
                  <a:srgbClr val="1F2D3A"/>
                </a:solidFill>
              </a:rPr>
              <a:t>ileri okuma</a:t>
            </a:r>
            <a:r>
              <a:rPr sz="2000" b="0">
                <a:solidFill>
                  <a:srgbClr val="1F2D3A"/>
                </a:solidFill>
              </a:rPr>
              <a:t> içindir.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Önerilen kitaplar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788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Deitel &amp; Deitel. </a:t>
            </a:r>
            <a:r>
              <a:rPr sz="1800" b="0" i="1">
                <a:solidFill>
                  <a:srgbClr val="1F2D3A"/>
                </a:solidFill>
              </a:rPr>
              <a:t>C How to Program</a:t>
            </a:r>
            <a:r>
              <a:rPr sz="1800" b="0">
                <a:solidFill>
                  <a:srgbClr val="1F2D3A"/>
                </a:solidFill>
              </a:rPr>
              <a:t>, 7. baskı. Prentice Hall, 2013.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Y. Daniel Liang. </a:t>
            </a:r>
            <a:r>
              <a:rPr sz="1800" b="0" i="1">
                <a:solidFill>
                  <a:srgbClr val="1F2D3A"/>
                </a:solidFill>
              </a:rPr>
              <a:t>Introduction to Java Programming, Comprehensive Version</a:t>
            </a:r>
            <a:r>
              <a:rPr sz="1800" b="0">
                <a:solidFill>
                  <a:srgbClr val="1F2D3A"/>
                </a:solidFill>
              </a:rPr>
              <a:t>, 10. baskı.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T. H. Cormen, C. E. Leiserson, R. L. Rivest, C. Stein. </a:t>
            </a:r>
            <a:r>
              <a:rPr sz="1800" b="0" i="1">
                <a:solidFill>
                  <a:srgbClr val="1F2D3A"/>
                </a:solidFill>
              </a:rPr>
              <a:t>Introduction to Algorithms</a:t>
            </a:r>
            <a:r>
              <a:rPr sz="1800" b="0">
                <a:solidFill>
                  <a:srgbClr val="1F2D3A"/>
                </a:solidFill>
              </a:rPr>
              <a:t>, 3. baskı. MIT Press.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J. R. Hanly, E. B. Koffman. </a:t>
            </a:r>
            <a:r>
              <a:rPr sz="1800" b="0" i="1">
                <a:solidFill>
                  <a:srgbClr val="1F2D3A"/>
                </a:solidFill>
              </a:rPr>
              <a:t>Problem Solving and Program Design in C</a:t>
            </a:r>
            <a:r>
              <a:rPr sz="1800" b="0">
                <a:solidFill>
                  <a:srgbClr val="1F2D3A"/>
                </a:solidFill>
              </a:rPr>
              <a:t>, 6. baskı.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A. L. Tharp. </a:t>
            </a:r>
            <a:r>
              <a:rPr sz="1800" b="0" i="1">
                <a:solidFill>
                  <a:srgbClr val="1F2D3A"/>
                </a:solidFill>
              </a:rPr>
              <a:t>File Organization and Processing</a:t>
            </a:r>
            <a:r>
              <a:rPr sz="1800" b="0">
                <a:solidFill>
                  <a:srgbClr val="1F2D3A"/>
                </a:solidFill>
              </a:rPr>
              <a:t>. Wiley, 1988.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P. Brass. </a:t>
            </a:r>
            <a:r>
              <a:rPr sz="1800" b="0" i="1">
                <a:solidFill>
                  <a:srgbClr val="1F2D3A"/>
                </a:solidFill>
              </a:rPr>
              <a:t>Advanced Data Structures</a:t>
            </a:r>
            <a:r>
              <a:rPr sz="1800" b="0">
                <a:solidFill>
                  <a:srgbClr val="1F2D3A"/>
                </a:solidFill>
              </a:rPr>
              <a:t>. Cambridge University Press, 2008.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R. Sedgewick, K. Wayne. </a:t>
            </a:r>
            <a:r>
              <a:rPr sz="1800" b="0" i="1">
                <a:solidFill>
                  <a:srgbClr val="1F2D3A"/>
                </a:solidFill>
              </a:rPr>
              <a:t>Algorithms</a:t>
            </a:r>
            <a:r>
              <a:rPr sz="1800" b="0">
                <a:solidFill>
                  <a:srgbClr val="1F2D3A"/>
                </a:solidFill>
              </a:rPr>
              <a:t>, 4. baskı. Addison-Wesley, 2011.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Dizüstü bilgisayar ve araç zinciri — gerekli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Derste, ödevlerde ve projede </a:t>
            </a:r>
            <a:r>
              <a:rPr sz="2000" b="1">
                <a:solidFill>
                  <a:srgbClr val="1F2D3A"/>
                </a:solidFill>
              </a:rPr>
              <a:t>kendi geliştirme ortamınızı</a:t>
            </a:r>
            <a:r>
              <a:rPr sz="2000" b="0">
                <a:solidFill>
                  <a:srgbClr val="1F2D3A"/>
                </a:solidFill>
              </a:rPr>
              <a:t> kullanacaksınız: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C/C++ derleyicisi: </a:t>
            </a:r>
            <a:r>
              <a:rPr sz="2000" b="1">
                <a:solidFill>
                  <a:srgbClr val="1F2D3A"/>
                </a:solidFill>
              </a:rPr>
              <a:t>GCC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Clang</a:t>
            </a:r>
            <a:r>
              <a:rPr sz="2000" b="0">
                <a:solidFill>
                  <a:srgbClr val="1F2D3A"/>
                </a:solidFill>
              </a:rPr>
              <a:t> ya da </a:t>
            </a:r>
            <a:r>
              <a:rPr sz="2000" b="1">
                <a:solidFill>
                  <a:srgbClr val="1F2D3A"/>
                </a:solidFill>
              </a:rPr>
              <a:t>MSVC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CMake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GoogleTest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Doxygen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JDK 21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1">
                <a:solidFill>
                  <a:srgbClr val="1F2D3A"/>
                </a:solidFill>
              </a:rPr>
              <a:t>Maven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JUnit 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</a:t>
            </a:r>
            <a:r>
              <a:rPr sz="2000" b="0">
                <a:solidFill>
                  <a:srgbClr val="1F2D3A"/>
                </a:solidFill>
              </a:rPr>
              <a:t> ve bir </a:t>
            </a:r>
            <a:r>
              <a:rPr sz="2000" b="1">
                <a:solidFill>
                  <a:srgbClr val="1F2D3A"/>
                </a:solidFill>
              </a:rPr>
              <a:t>GitHub</a:t>
            </a:r>
            <a:r>
              <a:rPr sz="2000" b="0">
                <a:solidFill>
                  <a:srgbClr val="1F2D3A"/>
                </a:solidFill>
              </a:rPr>
              <a:t> hesabı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Kurulum adımları: 1. hafta ve ders notları. Tam kontrol listesi: ders web sitesindeki </a:t>
            </a:r>
            <a:r>
              <a:rPr sz="2000" b="1">
                <a:solidFill>
                  <a:srgbClr val="1F2D3A"/>
                </a:solidFill>
              </a:rPr>
              <a:t>Ön Gereksinimler</a:t>
            </a:r>
            <a:r>
              <a:rPr sz="2000" b="0">
                <a:solidFill>
                  <a:srgbClr val="1F2D3A"/>
                </a:solidFill>
              </a:rPr>
              <a:t> sayfası.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Ders İzlencesi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E. Değerlendirme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 dönem projesi, iki kontrol noktası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 bir dönem projesi</a:t>
            </a:r>
            <a:r>
              <a:rPr sz="2000" b="0">
                <a:solidFill>
                  <a:srgbClr val="1F2D3A"/>
                </a:solidFill>
              </a:rPr>
              <a:t>, her biri kendi rubriğiyle değerlendirilen </a:t>
            </a:r>
            <a:r>
              <a:rPr sz="2000" b="1">
                <a:solidFill>
                  <a:srgbClr val="1F2D3A"/>
                </a:solidFill>
              </a:rPr>
              <a:t>iki kontrol noktasında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Vize kontrolü:</a:t>
            </a:r>
            <a:r>
              <a:rPr sz="2000" b="0">
                <a:solidFill>
                  <a:srgbClr val="1F2D3A"/>
                </a:solidFill>
              </a:rPr>
              <a:t> C gerçekleştirimi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Final kontrolü:</a:t>
            </a:r>
            <a:r>
              <a:rPr sz="2000" b="0">
                <a:solidFill>
                  <a:srgbClr val="1F2D3A"/>
                </a:solidFill>
              </a:rPr>
              <a:t> Java gerçekleştirimi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Ayrıca ara sınav haftasında </a:t>
            </a:r>
            <a:r>
              <a:rPr sz="2000" b="1">
                <a:solidFill>
                  <a:srgbClr val="1F2D3A"/>
                </a:solidFill>
              </a:rPr>
              <a:t>bir quiz</a:t>
            </a:r>
            <a:r>
              <a:rPr sz="2000" b="0">
                <a:solidFill>
                  <a:srgbClr val="1F2D3A"/>
                </a:solidFill>
              </a:rPr>
              <a:t>, final döneminde </a:t>
            </a:r>
            <a:r>
              <a:rPr sz="2000" b="1">
                <a:solidFill>
                  <a:srgbClr val="1F2D3A"/>
                </a:solidFill>
              </a:rPr>
              <a:t>bir quiz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Konular, takım kuralları, teslimler ve ayrıntılı rubrikler: </a:t>
            </a:r>
            <a:r>
              <a:rPr sz="2000" b="1">
                <a:solidFill>
                  <a:srgbClr val="1F2D3A"/>
                </a:solidFill>
              </a:rPr>
              <a:t>proje rehberi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Değerlendirme bileşenleri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3540"/>
                <a:gridCol w="972315"/>
                <a:gridCol w="1836595"/>
                <a:gridCol w="3349085"/>
              </a:tblGrid>
              <a:tr h="47000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Değerlendirme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Ağırlık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Zaman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 kontrolü 1 — C, rapor, gösterim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RAP1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Vizenin %60'ı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7. hafta (30.10.2026)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Quiz-1 (1–6. haftalar)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Vizenin %40'ı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8. hafta (31.10–08.11.2026)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 kontrolü 2 — Java, rapor, gösterim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RAP2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Finalin %70'i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15. hafta (25.12.2026)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Quiz-2 (9–14. haftalar)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Finalin %30'u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16. hafta (04–17.01.2027)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Final notu nasıl hesaplanır?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Not_{Vize} = 0{,}6 cdot RAP1 + 0{,}4 cdot QUIZ1 $$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Not_{Final} = 0{,}7 cdot RAP2 + 0{,}3 cdot QUIZ2 $$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Başarı Notu = 0{,}4 cdot Not_{Vize} + 0{,}6 cdot Not_{Final} $$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İş yükü (AKTS 5 = 125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47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0299"/>
                <a:gridCol w="1179625"/>
                <a:gridCol w="1179625"/>
                <a:gridCol w="1621984"/>
              </a:tblGrid>
              <a:tr h="38648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Etkinlik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Sayı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Toplam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Derse katılım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Bireysel çalışma (haftalık notlar/örnekler)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Quiz (ara sınav haftası, final dönemi)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Quiz için bireysel çalışma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 hazırlama (C ve Java)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Rapor hazırlama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 sunma (gösterim, sorular)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Toplam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125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Ders İzlencesi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F–K. Kurallar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F. Öğretim Yöntemleri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Dersler </a:t>
            </a:r>
            <a:r>
              <a:rPr sz="2000" b="1">
                <a:solidFill>
                  <a:srgbClr val="1F2D3A"/>
                </a:solidFill>
              </a:rPr>
              <a:t>yüz yüze</a:t>
            </a:r>
            <a:r>
              <a:rPr sz="2000" b="0">
                <a:solidFill>
                  <a:srgbClr val="1F2D3A"/>
                </a:solidFill>
              </a:rPr>
              <a:t>: anlatım, soru–cevap, uygulamalı programlama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içerik haftası: ders notu, sunum, çözümlü örnekler, kendini sınama soruları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Duyurular, kaynaklar ve teslimler: </a:t>
            </a:r>
            <a:r>
              <a:rPr sz="2000" b="1">
                <a:solidFill>
                  <a:srgbClr val="1F2D3A"/>
                </a:solidFill>
              </a:rPr>
              <a:t>ders sınıfı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Yoklama alınır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G. Geç Teslim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Ödevler </a:t>
            </a:r>
            <a:r>
              <a:rPr sz="2000" b="1">
                <a:solidFill>
                  <a:srgbClr val="1F2D3A"/>
                </a:solidFill>
              </a:rPr>
              <a:t>duyurulan son tarihe kadar</a:t>
            </a:r>
            <a:r>
              <a:rPr sz="2000" b="0">
                <a:solidFill>
                  <a:srgbClr val="1F2D3A"/>
                </a:solidFill>
              </a:rPr>
              <a:t> teslim edilmelidir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Süresi geçmiş ödevler kabul edilmez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Beklenmedik durumlar </a:t>
            </a:r>
            <a:r>
              <a:rPr sz="2000" b="1">
                <a:solidFill>
                  <a:srgbClr val="1F2D3A"/>
                </a:solidFill>
              </a:rPr>
              <a:t>öğrenci tarafından</a:t>
            </a:r>
            <a:r>
              <a:rPr sz="2000" b="0">
                <a:solidFill>
                  <a:srgbClr val="1F2D3A"/>
                </a:solidFill>
              </a:rPr>
              <a:t> öğretim üyesine bildirilmelidir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H. Ders Platformu ve İletişim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Tüm duyurular, kaynaklar ve teslimler: </a:t>
            </a:r>
            <a:r>
              <a:rPr sz="2000" b="1">
                <a:solidFill>
                  <a:srgbClr val="1F2D3A"/>
                </a:solidFill>
              </a:rPr>
              <a:t>ders sınıfı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dönem </a:t>
            </a:r>
            <a:r>
              <a:rPr sz="2000" b="1">
                <a:solidFill>
                  <a:srgbClr val="1F2D3A"/>
                </a:solidFill>
              </a:rPr>
              <a:t>yeni bir sınıf</a:t>
            </a:r>
            <a:r>
              <a:rPr sz="2000" b="0">
                <a:solidFill>
                  <a:srgbClr val="1F2D3A"/>
                </a:solidFill>
              </a:rPr>
              <a:t> açılır; kod 1. haftada duyurulur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notları, sunumlar, indirilebilir belgeler: </a:t>
            </a:r>
            <a:r>
              <a:rPr sz="2000" b="1">
                <a:solidFill>
                  <a:srgbClr val="1F2D3A"/>
                </a:solidFill>
              </a:rPr>
              <a:t>ders web sitesi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Sınıfı ve </a:t>
            </a:r>
            <a:r>
              <a:rPr sz="2000" b="1">
                <a:solidFill>
                  <a:srgbClr val="1F2D3A"/>
                </a:solidFill>
              </a:rPr>
              <a:t>üniversite e-postanızı her gün</a:t>
            </a:r>
            <a:r>
              <a:rPr sz="2000" b="0">
                <a:solidFill>
                  <a:srgbClr val="1F2D3A"/>
                </a:solidFill>
              </a:rPr>
              <a:t> kontrol edin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I. Akademik Dürüstlük, İntihal ve Kopya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Akademik dürüstlük RTEÜ'nün en önemli ilkelerinden biridir.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Bunu ihlal eden herkes </a:t>
            </a:r>
            <a:r>
              <a:rPr sz="2000" b="1">
                <a:solidFill>
                  <a:srgbClr val="1F2D3A"/>
                </a:solidFill>
              </a:rPr>
              <a:t>ağır şekilde cezalandırılır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"Birlikte çalışmak" doğaldır ve teşvik edilir — soru, bunun ne zaman "akademik sahtekârlığa" dönüştüğüdür. Sonraki iki slayt bu sınırı çiziyor.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I.a Neler kabul edilebilir?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Ödevi daha iyi anlamak için sınıf arkadaşlarıyla konuşmak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İnternette bulunan fikir/alıntı/kod parçalarını </a:t>
            </a:r>
            <a:r>
              <a:rPr sz="2000" b="1">
                <a:solidFill>
                  <a:srgbClr val="1F2D3A"/>
                </a:solidFill>
              </a:rPr>
              <a:t>kaynak göstererek</a:t>
            </a:r>
            <a:r>
              <a:rPr sz="2000" b="0">
                <a:solidFill>
                  <a:srgbClr val="1F2D3A"/>
                </a:solidFill>
              </a:rPr>
              <a:t> kullanmak (çözümün tamamı olmamak koşuluyla)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Ödevin </a:t>
            </a:r>
            <a:r>
              <a:rPr sz="2000" b="1">
                <a:solidFill>
                  <a:srgbClr val="1F2D3A"/>
                </a:solidFill>
              </a:rPr>
              <a:t>İngilizce dili</a:t>
            </a:r>
            <a:r>
              <a:rPr sz="2000" b="0">
                <a:solidFill>
                  <a:srgbClr val="1F2D3A"/>
                </a:solidFill>
              </a:rPr>
              <a:t> için yardım istemek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Çözümleri diyagram veya özetle tartışmak, </a:t>
            </a:r>
            <a:r>
              <a:rPr sz="2000" b="1">
                <a:solidFill>
                  <a:srgbClr val="1F2D3A"/>
                </a:solidFill>
              </a:rPr>
              <a:t>gerçek metin ya da kod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Ödevi sizin yerinize yapmaması koşuluyla bir özel öğretmenle çalışmak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I.b Neler kabul edilemez?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Kendi çözümünüzü teslim etmeden önce bir sınıf arkadaşının çözümünü görmek istemek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Dışarıdan bulup kullandığınız metin ya da kodun kaynağını belirtmemek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Zorlanan bir sınıf arkadaşına kendi çözümünüzü vermek ya da göstermek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J. Beklentiler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Derslere </a:t>
            </a:r>
            <a:r>
              <a:rPr sz="2000" b="1">
                <a:solidFill>
                  <a:srgbClr val="1F2D3A"/>
                </a:solidFill>
              </a:rPr>
              <a:t>zamanında</a:t>
            </a:r>
            <a:r>
              <a:rPr sz="2000" b="0">
                <a:solidFill>
                  <a:srgbClr val="1F2D3A"/>
                </a:solidFill>
              </a:rPr>
              <a:t> katılın; haftalık gereksinimleri (okumalar, proje adımları) tamamlayın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kanal: </a:t>
            </a:r>
            <a:r>
              <a:rPr sz="2000" b="1">
                <a:solidFill>
                  <a:srgbClr val="1F2D3A"/>
                </a:solidFill>
              </a:rPr>
              <a:t>üniversite e-posta adresinizden</a:t>
            </a:r>
            <a:r>
              <a:rPr sz="2000" b="0">
                <a:solidFill>
                  <a:srgbClr val="1F2D3A"/>
                </a:solidFill>
              </a:rPr>
              <a:t> e-posta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Konu satırına ders kodu</a:t>
            </a:r>
            <a:r>
              <a:rPr sz="2000" b="0">
                <a:solidFill>
                  <a:srgbClr val="1F2D3A"/>
                </a:solidFill>
              </a:rPr>
              <a:t>, mesaja </a:t>
            </a:r>
            <a:r>
              <a:rPr sz="2000" b="1">
                <a:solidFill>
                  <a:srgbClr val="1F2D3A"/>
                </a:solidFill>
              </a:rPr>
              <a:t>adınızı</a:t>
            </a:r>
            <a:r>
              <a:rPr sz="2000" b="0">
                <a:solidFill>
                  <a:srgbClr val="1F2D3A"/>
                </a:solidFill>
              </a:rPr>
              <a:t> yazın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Öğretim üyesi de e-posta ile ulaşır — </a:t>
            </a:r>
            <a:r>
              <a:rPr sz="2000" b="1">
                <a:solidFill>
                  <a:srgbClr val="1F2D3A"/>
                </a:solidFill>
              </a:rPr>
              <a:t>her gün</a:t>
            </a:r>
            <a:r>
              <a:rPr sz="2000" b="0">
                <a:solidFill>
                  <a:srgbClr val="1F2D3A"/>
                </a:solidFill>
              </a:rPr>
              <a:t> kontrol edin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K. Ders İçeriği ve İzlence Güncellemeleri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Gerekli görülürse ders içeriği ya da ders takvimi </a:t>
            </a:r>
            <a:r>
              <a:rPr sz="2000" b="1">
                <a:solidFill>
                  <a:srgbClr val="1F2D3A"/>
                </a:solidFill>
              </a:rPr>
              <a:t>değişebilir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belge kapsamındaki her değişiklik </a:t>
            </a:r>
            <a:r>
              <a:rPr sz="2000" b="1">
                <a:solidFill>
                  <a:srgbClr val="1F2D3A"/>
                </a:solidFill>
              </a:rPr>
              <a:t>öğretim üyesi tarafından duyurulur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Sorular?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Ders web sitesi:</a:t>
            </a:r>
            <a:r>
              <a:rPr sz="2000" b="0">
                <a:solidFill>
                  <a:srgbClr val="1F2D3A"/>
                </a:solidFill>
              </a:rPr>
              <a:t> ucoruh.github.io/ce205-data-structures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İletişim:</a:t>
            </a:r>
            <a:r>
              <a:rPr sz="2000" b="0">
                <a:solidFill>
                  <a:srgbClr val="1F2D3A"/>
                </a:solidFill>
              </a:rPr>
              <a:t> ugur.coruh@erdogan.edu.tr — konu </a:t>
            </a:r>
            <a:r>
              <a:rPr sz="2000" b="1">
                <a:solidFill>
                  <a:srgbClr val="1F2D3A"/>
                </a:solidFill>
              </a:rPr>
              <a:t>[CEN207]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Veri Yapıları — Ders İzlencesi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