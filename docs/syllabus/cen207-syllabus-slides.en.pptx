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mirrors the syllabus page section by section, so the class can also read it as a document at any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five facts are the ones students ask about first; everything else in this deck expands on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[CEN207] subject tag is not optional — it is how e-mail gets triaged and answered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Details on the prerequisite toolchain are on the separate Prerequisites page and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paragraph, restated here as the ideas it is built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throughline is "how is data shaped and mapped to memory or storage" — every week answers that for one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why the term project exists — reading about a hash table and building one are different skills.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 outcomes; every week's content and every rubric criterion maps back to one or more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LO.7 is the synthesis outcome — the term project is where it is actually exercised.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exists for accreditation traceability; students mainly need the LO table on the previous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Sixteen weeks, two exam weeks, one project with two checkpoints inside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why week 7 is a demo week and week 8 is a quiz week, and likewise weeks 15/16.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topic detail for each week is on that week's own page and deck — this is the map, not the territory.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Quiz-1 covers weeks 1–6, Quiz-2 covers weeks 9–14 — the two project weeks (7, 15) are not quiz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not examined; they are there for students who want to go further.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course notes are self-contained — the textbooks below are for students who want a second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Nothing in the assessment requires a textbook purchase.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Cormen et al. and Sedgewick &amp; Wayne are the two most reused across the semester.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templates are already set up for this exact toolchain — students do not configure it from scratch.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project, two checkpoints, two quizzes — that is the entire assessment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project guide deck and page go into far more depth than this syllabus does — this is just the weight breakdown.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RAP1/RAP2 are the project checkpoints; QUIZ1/QUIZ2 are the written quizzes — same codes used in the project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checkpoint and final quiz together carry more weight than the midterm side — the course leans toward the Java/second half.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125 hours over roughly 14 weeks is close to 9 hours a week — plan the project preparation hours early, not the week before.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short sections — instructional method, late work, communication, integrity, expectations, 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self-check questions at the end of each week's notes are the fastest way to know if that week landed.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"Unexpected situations" means contact the instructor before the deadline, not 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channels, checked daily — the class for logistics, e-mail for anything personal.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 situation is not covered by the next two slides, the rule is simple: ask the instructor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common thread: understanding help is fine, receiving the answer itself is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three are about the DIRECTION help flows — receiving or handing over a finished solution, not discussing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subject-line rule is the same one from the contact information slide — it is enforced consistently.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Changes are the exception, not the rule — but this is the clause that allows the course to adapt if it needs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Prerequisites and the project guide are the two pages every student should read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Syllabus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CEN207 Data Structures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Syllabus — Fall Semester, 2026-2027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Asst. Prof. Dr. Uğur CORUH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Syllabus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Course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CEN207 Data Structures</a:t>
            </a:r>
            <a:r>
              <a:rPr sz="2000" b="0">
                <a:solidFill>
                  <a:srgbClr val="1F2D3A"/>
                </a:solidFill>
              </a:rPr>
              <a:t> (formerly CE205)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Compulsory course, 3rd semester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Theory 3 h/week · Credit 3 · ECTS 5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Language of instruction: </a:t>
            </a:r>
            <a:r>
              <a:rPr sz="2000" b="1">
                <a:solidFill>
                  <a:srgbClr val="1F2D3A"/>
                </a:solidFill>
              </a:rPr>
              <a:t>English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Prerequisite: </a:t>
            </a:r>
            <a:r>
              <a:rPr sz="2000" b="1">
                <a:solidFill>
                  <a:srgbClr val="1F2D3A"/>
                </a:solidFill>
              </a:rPr>
              <a:t>CEN108 Algorithms and Programming II</a:t>
            </a:r>
            <a:r>
              <a:rPr sz="2000" b="0">
                <a:solidFill>
                  <a:srgbClr val="1F2D3A"/>
                </a:solidFill>
              </a:rPr>
              <a:t> (former code CE100)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Syllabus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2E7D32"/>
                </a:solidFill>
              </a:rPr>
              <a:t>Course information — contact &amp; logistics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397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0157"/>
                <a:gridCol w="7891377"/>
              </a:tblGrid>
              <a:tr h="47951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Instructor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Asst. Prof. Dr. Uğur CORUH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47951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Contact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ugur.coruh@erdogan.edu.tr — subject line must start with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[CEN207]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951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Office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F-301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7951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Office hours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By appointment by e-mail; in the office or online with the university account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9512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Lecture day, time, room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Friday 13:00–16:00 · İİBF &amp; Faculty of Law Building, D-402 (ED-K4-2)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Syllabus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2E7D32"/>
                </a:solidFill>
              </a:rPr>
              <a:t>Course information — course details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969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8876"/>
                <a:gridCol w="7372658"/>
              </a:tblGrid>
              <a:tr h="393923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Course website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https://ucoruh.github.io/ce205-data-structures/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Course class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new class is opened every term; the class code is announced in week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Type / semester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Compulsory · 3rd semester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Weekly hours / credit / ECTS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Theory 3 h · Credit 3 · ECTS 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925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Prerequisite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CEN108 Algorithms and Programming II (former code CE100)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Syllabus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A. Course Description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Syllabus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What this course is about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55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Fundamentals of </a:t>
            </a:r>
            <a:r>
              <a:rPr sz="2000" b="1">
                <a:solidFill>
                  <a:srgbClr val="1F2D3A"/>
                </a:solidFill>
              </a:rPr>
              <a:t>data structures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file organization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How data is mapped in programs: application run-time memory </a:t>
            </a:r>
            <a:r>
              <a:rPr sz="2000" b="1">
                <a:solidFill>
                  <a:srgbClr val="1F2D3A"/>
                </a:solidFill>
              </a:rPr>
              <a:t>and</a:t>
            </a:r>
            <a:r>
              <a:rPr sz="2000" b="0">
                <a:solidFill>
                  <a:srgbClr val="1F2D3A"/>
                </a:solidFill>
              </a:rPr>
              <a:t> long-term file storage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Implementations, programming styles and run-time representations of these data objects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Also covers </a:t>
            </a:r>
            <a:r>
              <a:rPr sz="2000" b="1">
                <a:solidFill>
                  <a:srgbClr val="1F2D3A"/>
                </a:solidFill>
              </a:rPr>
              <a:t>sorting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searching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graph algorithms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Syllabus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How the course is taught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Practice-oriented: programming practice in class </a:t>
            </a:r>
            <a:r>
              <a:rPr sz="2000" b="1">
                <a:solidFill>
                  <a:srgbClr val="1F2D3A"/>
                </a:solidFill>
              </a:rPr>
              <a:t>and</a:t>
            </a:r>
            <a:r>
              <a:rPr sz="2000" b="0">
                <a:solidFill>
                  <a:srgbClr val="1F2D3A"/>
                </a:solidFill>
              </a:rPr>
              <a:t> a term project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Not theory alone — you build every structure yourself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Goal: show how digital data structures solve real-world problems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Syllabus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B. Course Learning Outcomes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Syllabus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2E7D32"/>
                </a:solidFill>
              </a:rPr>
              <a:t>Learning outcomes (LO.1–LO.7)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40105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3566"/>
                <a:gridCol w="10117968"/>
              </a:tblGrid>
              <a:tr h="50131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Code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Learning outcome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5013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Explain definitions, representations and basic operations of linear and non-linear data structures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13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Analyze time/space complexity (Big-O); compare data structure performance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5013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Implement fundamental sorting and searching algorithms; analyze and compare them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13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LO.4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Implement balanced/unbalanced tree structures and hash tables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5013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Implement the graph data structure and fundamental graph algorithms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13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LO.6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Explain sequential, direct and indexed file organization; evaluate applications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50132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Select the data structures/algorithms best suited to a problem and build an efficient solution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Syllabus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2E7D32"/>
                </a:solidFill>
              </a:rPr>
              <a:t>Contribution of LOs to program outcomes (0–5)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729674" cy="2726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4871"/>
                <a:gridCol w="1454871"/>
                <a:gridCol w="1454871"/>
                <a:gridCol w="1454871"/>
                <a:gridCol w="1454871"/>
                <a:gridCol w="1454871"/>
                <a:gridCol w="2000448"/>
              </a:tblGrid>
              <a:tr h="340842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PO.1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PO.2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PO.3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PO.4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PO.5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PO.6–12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LO.4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LO.6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4084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162348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PO.1</a:t>
            </a:r>
            <a:r>
              <a:rPr sz="1800" b="0">
                <a:solidFill>
                  <a:srgbClr val="1F2D3A"/>
                </a:solidFill>
              </a:rPr>
              <a:t> Basic knowledge · </a:t>
            </a:r>
            <a:r>
              <a:rPr sz="1800" b="1">
                <a:solidFill>
                  <a:srgbClr val="1F2D3A"/>
                </a:solidFill>
              </a:rPr>
              <a:t>PO.2</a:t>
            </a:r>
            <a:r>
              <a:rPr sz="1800" b="0">
                <a:solidFill>
                  <a:srgbClr val="1F2D3A"/>
                </a:solidFill>
              </a:rPr>
              <a:t> Problem solving · </a:t>
            </a:r>
            <a:r>
              <a:rPr sz="1800" b="1">
                <a:solidFill>
                  <a:srgbClr val="1F2D3A"/>
                </a:solidFill>
              </a:rPr>
              <a:t>PO.3</a:t>
            </a:r>
            <a:r>
              <a:rPr sz="1800" b="0">
                <a:solidFill>
                  <a:srgbClr val="1F2D3A"/>
                </a:solidFill>
              </a:rPr>
              <a:t> Design · </a:t>
            </a:r>
            <a:r>
              <a:rPr sz="1800" b="1">
                <a:solidFill>
                  <a:srgbClr val="1F2D3A"/>
                </a:solidFill>
              </a:rPr>
              <a:t>PO.4</a:t>
            </a:r>
            <a:r>
              <a:rPr sz="1800" b="0">
                <a:solidFill>
                  <a:srgbClr val="1F2D3A"/>
                </a:solidFill>
              </a:rPr>
              <a:t> Modern tools/techniques · </a:t>
            </a:r>
            <a:r>
              <a:rPr sz="1800" b="1">
                <a:solidFill>
                  <a:srgbClr val="1F2D3A"/>
                </a:solidFill>
              </a:rPr>
              <a:t>PO.5</a:t>
            </a:r>
            <a:r>
              <a:rPr sz="1800" b="0">
                <a:solidFill>
                  <a:srgbClr val="1F2D3A"/>
                </a:solidFill>
              </a:rPr>
              <a:t> Research and experimentation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Syllabus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C. Weekly Schedule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Syllabus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one rule for every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Project demonstrations</a:t>
            </a:r>
            <a:r>
              <a:rPr sz="2000" b="0">
                <a:solidFill>
                  <a:srgbClr val="1F2D3A"/>
                </a:solidFill>
              </a:rPr>
              <a:t> take place in the week just </a:t>
            </a:r>
            <a:r>
              <a:rPr sz="2000" b="1">
                <a:solidFill>
                  <a:srgbClr val="1F2D3A"/>
                </a:solidFill>
              </a:rPr>
              <a:t>before</a:t>
            </a:r>
            <a:r>
              <a:rPr sz="2000" b="0">
                <a:solidFill>
                  <a:srgbClr val="1F2D3A"/>
                </a:solidFill>
              </a:rPr>
              <a:t> the midterm and final exam weeks.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Quizzes</a:t>
            </a:r>
            <a:r>
              <a:rPr sz="2000" b="0">
                <a:solidFill>
                  <a:srgbClr val="1F2D3A"/>
                </a:solidFill>
              </a:rPr>
              <a:t> take place </a:t>
            </a:r>
            <a:r>
              <a:rPr sz="2000" b="1">
                <a:solidFill>
                  <a:srgbClr val="1F2D3A"/>
                </a:solidFill>
              </a:rPr>
              <a:t>inside</a:t>
            </a:r>
            <a:r>
              <a:rPr sz="2000" b="0">
                <a:solidFill>
                  <a:srgbClr val="1F2D3A"/>
                </a:solidFill>
              </a:rPr>
              <a:t> the midterm and final exam weeks 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so that every student can attend.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Syllabus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Weekly schedule (1–8)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441"/>
                <a:gridCol w="3597209"/>
                <a:gridCol w="4556465"/>
                <a:gridCol w="2038418"/>
              </a:tblGrid>
              <a:tr h="441960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Wk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Topic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LO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18.09.2026 (make-up 23.09)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Introduction, Big-O, Pointers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1, 2, 7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25.09.2026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Linked Lists, Arrays, Matrices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1, 7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02.10.2026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Stacks and Queues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1, 7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09.10.2026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Trees, Heaps, Huffman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1, 4, 7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16.10.2026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Graphs and Traversals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1, 5, 7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23.10.2026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Search and Hashing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3, 4, 7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30.10.2026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Midterm Project Demonstrations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1–5, 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31.10–08.11.2026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Midterm Exam Week: Quiz-1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1, 2, 4, 5, 7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Syllabus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Weekly schedule (9–16)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32644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6838"/>
                <a:gridCol w="2541042"/>
                <a:gridCol w="5381030"/>
                <a:gridCol w="2092623"/>
              </a:tblGrid>
              <a:tr h="36271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Wk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Topic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LO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6271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13.11.2026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Graph Algorithms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3, 5, 7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271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20.11.2026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Sorting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2, 3, 7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6271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27.11.2026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Advanced Trees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4, 7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271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04.12.2026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Strings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1, 3, 4, 7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6271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11.12.2026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File Organisation 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6, 7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271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14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18.12.2026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File Organisation II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3, 4, 6, 7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6271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25.12.2026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Final Project Demonstrations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1–7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2719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16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04–17.01.2027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Final Exam Period: Quiz-2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2–7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Syllabus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Enrichment topics (optional reading)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Kept from previous years, covered in the course notes as </a:t>
            </a:r>
            <a:r>
              <a:rPr sz="2000" b="1">
                <a:solidFill>
                  <a:srgbClr val="1F2D3A"/>
                </a:solidFill>
              </a:rPr>
              <a:t>optional</a:t>
            </a:r>
            <a:r>
              <a:rPr sz="2000" b="0">
                <a:solidFill>
                  <a:srgbClr val="1F2D3A"/>
                </a:solidFill>
              </a:rPr>
              <a:t> reading: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alpha-beta pruning · Hasse diagrams · Petri nets · bipartite graphs · Bayesian networks · van Emde Boas trees · SimHash · trie hashing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Syllabus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D. Textbooks, Software and Equipment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Syllabus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main resource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The course notes on the course website are self-contained</a:t>
            </a:r>
            <a:r>
              <a:rPr sz="2000" b="0">
                <a:solidFill>
                  <a:srgbClr val="1F2D3A"/>
                </a:solidFill>
              </a:rPr>
              <a:t> and are the main resource for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books on the next slide are recommended for </a:t>
            </a:r>
            <a:r>
              <a:rPr sz="2000" b="1">
                <a:solidFill>
                  <a:srgbClr val="1F2D3A"/>
                </a:solidFill>
              </a:rPr>
              <a:t>further reading</a:t>
            </a:r>
            <a:r>
              <a:rPr sz="2000" b="0">
                <a:solidFill>
                  <a:srgbClr val="1F2D3A"/>
                </a:solidFill>
              </a:rPr>
              <a:t> only.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Syllabus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2E7D32"/>
                </a:solidFill>
              </a:rPr>
              <a:t>Recommended textbooks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788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2E7D32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Deitel &amp; Deitel. </a:t>
            </a:r>
            <a:r>
              <a:rPr sz="1800" b="0" i="1">
                <a:solidFill>
                  <a:srgbClr val="1F2D3A"/>
                </a:solidFill>
              </a:rPr>
              <a:t>C How to Program</a:t>
            </a:r>
            <a:r>
              <a:rPr sz="1800" b="0">
                <a:solidFill>
                  <a:srgbClr val="1F2D3A"/>
                </a:solidFill>
              </a:rPr>
              <a:t>, 7th ed. Prentice Hall, 2013.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2E7D32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Y. Daniel Liang. </a:t>
            </a:r>
            <a:r>
              <a:rPr sz="1800" b="0" i="1">
                <a:solidFill>
                  <a:srgbClr val="1F2D3A"/>
                </a:solidFill>
              </a:rPr>
              <a:t>Introduction to Java Programming, Comprehensive Version</a:t>
            </a:r>
            <a:r>
              <a:rPr sz="1800" b="0">
                <a:solidFill>
                  <a:srgbClr val="1F2D3A"/>
                </a:solidFill>
              </a:rPr>
              <a:t>, 10th ed.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2E7D32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T. H. Cormen, C. E. Leiserson, R. L. Rivest, C. Stein. </a:t>
            </a:r>
            <a:r>
              <a:rPr sz="1800" b="0" i="1">
                <a:solidFill>
                  <a:srgbClr val="1F2D3A"/>
                </a:solidFill>
              </a:rPr>
              <a:t>Introduction to Algorithms</a:t>
            </a:r>
            <a:r>
              <a:rPr sz="1800" b="0">
                <a:solidFill>
                  <a:srgbClr val="1F2D3A"/>
                </a:solidFill>
              </a:rPr>
              <a:t>, 3rd ed. MIT Press.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2E7D32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J. R. Hanly, E. B. Koffman. </a:t>
            </a:r>
            <a:r>
              <a:rPr sz="1800" b="0" i="1">
                <a:solidFill>
                  <a:srgbClr val="1F2D3A"/>
                </a:solidFill>
              </a:rPr>
              <a:t>Problem Solving and Program Design in C</a:t>
            </a:r>
            <a:r>
              <a:rPr sz="1800" b="0">
                <a:solidFill>
                  <a:srgbClr val="1F2D3A"/>
                </a:solidFill>
              </a:rPr>
              <a:t>, 6th ed.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2E7D32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A. L. Tharp. </a:t>
            </a:r>
            <a:r>
              <a:rPr sz="1800" b="0" i="1">
                <a:solidFill>
                  <a:srgbClr val="1F2D3A"/>
                </a:solidFill>
              </a:rPr>
              <a:t>File Organization and Processing</a:t>
            </a:r>
            <a:r>
              <a:rPr sz="1800" b="0">
                <a:solidFill>
                  <a:srgbClr val="1F2D3A"/>
                </a:solidFill>
              </a:rPr>
              <a:t>. Wiley, 1988.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2E7D32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P. Brass. </a:t>
            </a:r>
            <a:r>
              <a:rPr sz="1800" b="0" i="1">
                <a:solidFill>
                  <a:srgbClr val="1F2D3A"/>
                </a:solidFill>
              </a:rPr>
              <a:t>Advanced Data Structures</a:t>
            </a:r>
            <a:r>
              <a:rPr sz="1800" b="0">
                <a:solidFill>
                  <a:srgbClr val="1F2D3A"/>
                </a:solidFill>
              </a:rPr>
              <a:t>. Cambridge University Press, 2008.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2E7D32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R. Sedgewick, K. Wayne. </a:t>
            </a:r>
            <a:r>
              <a:rPr sz="1800" b="0" i="1">
                <a:solidFill>
                  <a:srgbClr val="1F2D3A"/>
                </a:solidFill>
              </a:rPr>
              <a:t>Algorithms</a:t>
            </a:r>
            <a:r>
              <a:rPr sz="1800" b="0">
                <a:solidFill>
                  <a:srgbClr val="1F2D3A"/>
                </a:solidFill>
              </a:rPr>
              <a:t>, 4th ed. Addison-Wesley, 2011.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Syllabus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Laptop and toolchain —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You use your </a:t>
            </a:r>
            <a:r>
              <a:rPr sz="2000" b="1">
                <a:solidFill>
                  <a:srgbClr val="1F2D3A"/>
                </a:solidFill>
              </a:rPr>
              <a:t>own development environment</a:t>
            </a:r>
            <a:r>
              <a:rPr sz="2000" b="0">
                <a:solidFill>
                  <a:srgbClr val="1F2D3A"/>
                </a:solidFill>
              </a:rPr>
              <a:t> in class, assignments and the project: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C/C++ compiler: </a:t>
            </a:r>
            <a:r>
              <a:rPr sz="2000" b="1">
                <a:solidFill>
                  <a:srgbClr val="1F2D3A"/>
                </a:solidFill>
              </a:rPr>
              <a:t>GCC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Clang</a:t>
            </a:r>
            <a:r>
              <a:rPr sz="2000" b="0">
                <a:solidFill>
                  <a:srgbClr val="1F2D3A"/>
                </a:solidFill>
              </a:rPr>
              <a:t> or </a:t>
            </a:r>
            <a:r>
              <a:rPr sz="2000" b="1">
                <a:solidFill>
                  <a:srgbClr val="1F2D3A"/>
                </a:solidFill>
              </a:rPr>
              <a:t>MSVC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CMake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GoogleTest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Doxygen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JDK 21</a:t>
            </a:r>
            <a:r>
              <a:rPr sz="2000" b="0">
                <a:solidFill>
                  <a:srgbClr val="1F2D3A"/>
                </a:solidFill>
              </a:rPr>
              <a:t> with </a:t>
            </a:r>
            <a:r>
              <a:rPr sz="2000" b="1">
                <a:solidFill>
                  <a:srgbClr val="1F2D3A"/>
                </a:solidFill>
              </a:rPr>
              <a:t>Maven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JUnit 5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Git</a:t>
            </a:r>
            <a:r>
              <a:rPr sz="2000" b="0">
                <a:solidFill>
                  <a:srgbClr val="1F2D3A"/>
                </a:solidFill>
              </a:rPr>
              <a:t> with a </a:t>
            </a:r>
            <a:r>
              <a:rPr sz="2000" b="1">
                <a:solidFill>
                  <a:srgbClr val="1F2D3A"/>
                </a:solidFill>
              </a:rPr>
              <a:t>GitHub</a:t>
            </a:r>
            <a:r>
              <a:rPr sz="2000" b="0">
                <a:solidFill>
                  <a:srgbClr val="1F2D3A"/>
                </a:solidFill>
              </a:rPr>
              <a:t> account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8038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Installation steps: week 1 and the course notes. Exact checklist: the course website's </a:t>
            </a:r>
            <a:r>
              <a:rPr sz="2000" b="1">
                <a:solidFill>
                  <a:srgbClr val="1F2D3A"/>
                </a:solidFill>
              </a:rPr>
              <a:t>Prerequisites</a:t>
            </a:r>
            <a:r>
              <a:rPr sz="2000" b="0">
                <a:solidFill>
                  <a:srgbClr val="1F2D3A"/>
                </a:solidFill>
              </a:rPr>
              <a:t> page.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Syllabus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E. Assessment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Syllabus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One term project, two checkpoints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One term project</a:t>
            </a:r>
            <a:r>
              <a:rPr sz="2000" b="0">
                <a:solidFill>
                  <a:srgbClr val="1F2D3A"/>
                </a:solidFill>
              </a:rPr>
              <a:t>, evaluated at </a:t>
            </a:r>
            <a:r>
              <a:rPr sz="2000" b="1">
                <a:solidFill>
                  <a:srgbClr val="1F2D3A"/>
                </a:solidFill>
              </a:rPr>
              <a:t>two checkpoints</a:t>
            </a:r>
            <a:r>
              <a:rPr sz="2000" b="0">
                <a:solidFill>
                  <a:srgbClr val="1F2D3A"/>
                </a:solidFill>
              </a:rPr>
              <a:t>, each with its own rubric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Midterm checkpoint:</a:t>
            </a:r>
            <a:r>
              <a:rPr sz="2000" b="0">
                <a:solidFill>
                  <a:srgbClr val="1F2D3A"/>
                </a:solidFill>
              </a:rPr>
              <a:t> C implementation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Final checkpoint:</a:t>
            </a:r>
            <a:r>
              <a:rPr sz="2000" b="0">
                <a:solidFill>
                  <a:srgbClr val="1F2D3A"/>
                </a:solidFill>
              </a:rPr>
              <a:t> Java implementation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Plus </a:t>
            </a:r>
            <a:r>
              <a:rPr sz="2000" b="1">
                <a:solidFill>
                  <a:srgbClr val="1F2D3A"/>
                </a:solidFill>
              </a:rPr>
              <a:t>one quiz</a:t>
            </a:r>
            <a:r>
              <a:rPr sz="2000" b="0">
                <a:solidFill>
                  <a:srgbClr val="1F2D3A"/>
                </a:solidFill>
              </a:rPr>
              <a:t> in the midterm exam week, </a:t>
            </a:r>
            <a:r>
              <a:rPr sz="2000" b="1">
                <a:solidFill>
                  <a:srgbClr val="1F2D3A"/>
                </a:solidFill>
              </a:rPr>
              <a:t>one quiz</a:t>
            </a:r>
            <a:r>
              <a:rPr sz="2000" b="0">
                <a:solidFill>
                  <a:srgbClr val="1F2D3A"/>
                </a:solidFill>
              </a:rPr>
              <a:t> in the final exam period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Topics, team rules, deliverables and detailed rubrics: the </a:t>
            </a:r>
            <a:r>
              <a:rPr sz="2000" b="1">
                <a:solidFill>
                  <a:srgbClr val="1F2D3A"/>
                </a:solidFill>
              </a:rPr>
              <a:t>project guide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Syllabus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Assessment components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5" cy="2350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1575"/>
                <a:gridCol w="972315"/>
                <a:gridCol w="1944630"/>
                <a:gridCol w="3133015"/>
              </a:tblGrid>
              <a:tr h="47000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Assessment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Code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Weight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When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47000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Project checkpoint 1 — C, report, demo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RAP1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60% of midterm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Week 7 (30.10.2026)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000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Quiz-1 (weeks 1–6)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QUIZ1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40% of midterm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Week 8 (31.10–08.11.2026)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7000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Project checkpoint 2 — Java, report, demo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RAP2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70% of final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Week 15 (25.12.2026)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0004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Quiz-2 (weeks 9–14)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QUIZ2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30% of final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Week 16 (04–17.01.2027)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Syllabus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How the final grade is computed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$$ Grade_{Midterm} = 0.6 cdot RAP1 + 0.4 cdot QUIZ1 $$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$$ Grade_{Final} = 0.7 cdot RAP2 + 0.3 cdot QUIZ2 $$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$$ Passing Grade = 0.4 cdot Grade_{Midterm} + 0.6 cdot Grade_{Final} $$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Syllabus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2E7D32"/>
                </a:solidFill>
              </a:rPr>
              <a:t>Workload (ECTS 5 = 125 hours)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2" cy="39063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6815"/>
                <a:gridCol w="1345257"/>
                <a:gridCol w="1345257"/>
                <a:gridCol w="1644203"/>
              </a:tblGrid>
              <a:tr h="434035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Activity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Hours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4340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Class attendance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0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Individual study (weekly notes/examples)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14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14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340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Quiz (midterm week, final period)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0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Individual study for quizzes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340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Project preparation (C and Java)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0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Report preparation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340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Project presentation (demo, questions)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036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Total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125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Syllabus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F–K. Policies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Syllabus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F. Instructional strategies and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Lectures are </a:t>
            </a:r>
            <a:r>
              <a:rPr sz="2000" b="1">
                <a:solidFill>
                  <a:srgbClr val="1F2D3A"/>
                </a:solidFill>
              </a:rPr>
              <a:t>face-to-face</a:t>
            </a:r>
            <a:r>
              <a:rPr sz="2000" b="0">
                <a:solidFill>
                  <a:srgbClr val="1F2D3A"/>
                </a:solidFill>
              </a:rPr>
              <a:t>: explanation, question–answer, hands-on programming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Each content week: course notes, slides, worked examples, self-check questions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Announcements, resources and submissions: the course class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Attendance is taken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Syllabus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G. Late homework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Assignments must be submitted by the </a:t>
            </a:r>
            <a:r>
              <a:rPr sz="2000" b="1">
                <a:solidFill>
                  <a:srgbClr val="1F2D3A"/>
                </a:solidFill>
              </a:rPr>
              <a:t>announced deadline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Overdue assignments will not be accepted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Unexpected situations must be reported to the instructor </a:t>
            </a:r>
            <a:r>
              <a:rPr sz="2000" b="1">
                <a:solidFill>
                  <a:srgbClr val="1F2D3A"/>
                </a:solidFill>
              </a:rPr>
              <a:t>by the student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Syllabus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H. Course platform and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All announcements, resources and submissions: the </a:t>
            </a:r>
            <a:r>
              <a:rPr sz="2000" b="1">
                <a:solidFill>
                  <a:srgbClr val="1F2D3A"/>
                </a:solidFill>
              </a:rPr>
              <a:t>course class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1">
                <a:solidFill>
                  <a:srgbClr val="1F2D3A"/>
                </a:solidFill>
              </a:rPr>
              <a:t>new class</a:t>
            </a:r>
            <a:r>
              <a:rPr sz="2000" b="0">
                <a:solidFill>
                  <a:srgbClr val="1F2D3A"/>
                </a:solidFill>
              </a:rPr>
              <a:t> opens every term; the code is announced in week 1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Course notes, slides and downloadable documents: the </a:t>
            </a:r>
            <a:r>
              <a:rPr sz="2000" b="1">
                <a:solidFill>
                  <a:srgbClr val="1F2D3A"/>
                </a:solidFill>
              </a:rPr>
              <a:t>course website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Check the class and your </a:t>
            </a:r>
            <a:r>
              <a:rPr sz="2000" b="1">
                <a:solidFill>
                  <a:srgbClr val="1F2D3A"/>
                </a:solidFill>
              </a:rPr>
              <a:t>university e-mail every day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Syllabus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I. Academic integrity, plagiarism &amp; cheating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Academic integrity is one of RTEÜ's most important principles.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Anyone who breaches it is </a:t>
            </a:r>
            <a:r>
              <a:rPr sz="2000" b="1">
                <a:solidFill>
                  <a:srgbClr val="1F2D3A"/>
                </a:solidFill>
              </a:rPr>
              <a:t>severely punished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"Studying together" is natural and encouraged — the question is where it crosses into "academic dishonesty." The next two slides draw that line.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Syllabus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I.a What is acceptable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301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Discussing the assignment with classmates to understand it better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Using ideas/quotes/snippets found online </a:t>
            </a:r>
            <a:r>
              <a:rPr sz="2000" b="1">
                <a:solidFill>
                  <a:srgbClr val="1F2D3A"/>
                </a:solidFill>
              </a:rPr>
              <a:t>with citation</a:t>
            </a:r>
            <a:r>
              <a:rPr sz="2000" b="0">
                <a:solidFill>
                  <a:srgbClr val="1F2D3A"/>
                </a:solidFill>
              </a:rPr>
              <a:t>, not as the whole solution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Asking for help with the </a:t>
            </a:r>
            <a:r>
              <a:rPr sz="2000" b="1">
                <a:solidFill>
                  <a:srgbClr val="1F2D3A"/>
                </a:solidFill>
              </a:rPr>
              <a:t>English</a:t>
            </a:r>
            <a:r>
              <a:rPr sz="2000" b="0">
                <a:solidFill>
                  <a:srgbClr val="1F2D3A"/>
                </a:solidFill>
              </a:rPr>
              <a:t> of your assignment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Discussing solutions with diagrams or summaries, </a:t>
            </a:r>
            <a:r>
              <a:rPr sz="2000" b="1">
                <a:solidFill>
                  <a:srgbClr val="1F2D3A"/>
                </a:solidFill>
              </a:rPr>
              <a:t>not actual text or code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Working with a tutor, provided the tutor does not do the assignment for you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Syllabus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I.b What is not acceptable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Asking to see a classmate's solution before submitting your own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Failing to cite the origin of outside text or code used in your work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Giving or showing your own solution to a struggling classmate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Syllabus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J. Expectations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Attend classes </a:t>
            </a:r>
            <a:r>
              <a:rPr sz="2000" b="1">
                <a:solidFill>
                  <a:srgbClr val="1F2D3A"/>
                </a:solidFill>
              </a:rPr>
              <a:t>on time</a:t>
            </a:r>
            <a:r>
              <a:rPr sz="2000" b="0">
                <a:solidFill>
                  <a:srgbClr val="1F2D3A"/>
                </a:solidFill>
              </a:rPr>
              <a:t>; complete weekly requirements (readings, project milestones)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Main channel: </a:t>
            </a:r>
            <a:r>
              <a:rPr sz="2000" b="1">
                <a:solidFill>
                  <a:srgbClr val="1F2D3A"/>
                </a:solidFill>
              </a:rPr>
              <a:t>e-mail</a:t>
            </a:r>
            <a:r>
              <a:rPr sz="2000" b="0">
                <a:solidFill>
                  <a:srgbClr val="1F2D3A"/>
                </a:solidFill>
              </a:rPr>
              <a:t>, from your </a:t>
            </a:r>
            <a:r>
              <a:rPr sz="2000" b="1">
                <a:solidFill>
                  <a:srgbClr val="1F2D3A"/>
                </a:solidFill>
              </a:rPr>
              <a:t>university address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Include the course code</a:t>
            </a:r>
            <a:r>
              <a:rPr sz="2000" b="0">
                <a:solidFill>
                  <a:srgbClr val="1F2D3A"/>
                </a:solidFill>
              </a:rPr>
              <a:t> in the subject line and </a:t>
            </a:r>
            <a:r>
              <a:rPr sz="2000" b="1">
                <a:solidFill>
                  <a:srgbClr val="1F2D3A"/>
                </a:solidFill>
              </a:rPr>
              <a:t>your name</a:t>
            </a:r>
            <a:r>
              <a:rPr sz="2000" b="0">
                <a:solidFill>
                  <a:srgbClr val="1F2D3A"/>
                </a:solidFill>
              </a:rPr>
              <a:t> in the message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instructor also reaches you by e-mail — check it </a:t>
            </a:r>
            <a:r>
              <a:rPr sz="2000" b="1">
                <a:solidFill>
                  <a:srgbClr val="1F2D3A"/>
                </a:solidFill>
              </a:rPr>
              <a:t>every day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Syllabus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K. Lecture content and syllabus updates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If deemed necessary, the lecture content or course schedule </a:t>
            </a:r>
            <a:r>
              <a:rPr sz="2000" b="1">
                <a:solidFill>
                  <a:srgbClr val="1F2D3A"/>
                </a:solidFill>
              </a:rPr>
              <a:t>may change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Any change within the scope of this document will be </a:t>
            </a:r>
            <a:r>
              <a:rPr sz="2000" b="1">
                <a:solidFill>
                  <a:srgbClr val="1F2D3A"/>
                </a:solidFill>
              </a:rPr>
              <a:t>announced by the instructor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Syllabus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Course website:</a:t>
            </a:r>
            <a:r>
              <a:rPr sz="2000" b="0">
                <a:solidFill>
                  <a:srgbClr val="1F2D3A"/>
                </a:solidFill>
              </a:rPr>
              <a:t> ucoruh.github.io/ce205-data-structures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Contact:</a:t>
            </a:r>
            <a:r>
              <a:rPr sz="2000" b="0">
                <a:solidFill>
                  <a:srgbClr val="1F2D3A"/>
                </a:solidFill>
              </a:rPr>
              <a:t> ugur.coruh@erdogan.edu.tr — subject </a:t>
            </a:r>
            <a:r>
              <a:rPr sz="2000" b="1">
                <a:solidFill>
                  <a:srgbClr val="1F2D3A"/>
                </a:solidFill>
              </a:rPr>
              <a:t>[CEN207]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CEN207 Data Structures — Syllabus</dc:title>
  <dc:subject/>
  <dc:creator>Asst. Prof. Dr.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