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add an ORDERING rule to trees for the first time, then spend the rest of the week keeping that ordered tree from becoming a linked list in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animations carry the whole lecture, one appears the moment its idea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new about "what a tree is" is needed today — only a new rule about how keys are arranged inside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complexity claim this week is "O(height)" — so today is really about controlling that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what could go wrong with just "left smaller, right larger" and nothing else? The answer is coming in section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"Expected output" block today prints an INORDER listing — watch it stay sorted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terms recur across almost every section today — point back here if anyone loses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builds the BST from scratch: insert, search, delete, then the case where it all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pause land. The answer, the binary search tree, is one single ordering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Insertion and search are the "easy" half; deletion is the half that took a dedicated paper to get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phone book picture only works because the book is sorted — the BST's rule is what keeps that "sorted" property, everywhere,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is the tree's CURRENT height — section 1.4 is entirely about what happens when h is not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like a search, except the walk ends by CREATING a node instead of failing.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keys in a mixed order. Watch the new leaf attach exactly where the comparisons 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walk down is identical to search; only what happens at the NULL is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comparison decides left or right; that is the whole "linking in"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inorder listing is always sorted, at every single step — that is the ordering rule made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"One comparison per level" is the whole complexity argument — no hidden loops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bug is silent — the program runs, just never actually grows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 — give the audience 20 seconds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observation is the seed of the whole "why balance matters"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"at most h+1" — but what IS h, really? Patience — section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"Only the left subtree can have it" is a guarantee, not a guess — that is what the BST rule buys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probe counter — every step down costs exactly one comparison, never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shape as insert's walk, minus the "create a node" step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"Not found" costs a real number of probes too — it is not free, it just stops at a NULL instead of a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keep saying "everything hinges on h" until section 1.4 makes it unavoidable to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search that "fails" is doing its job correctly — the key genuinely was not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chain from the insert mini-answer — same cause, same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cannot just remove it — something has to take its place while keeping order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Successor = smallest key in the right subtree — walk left from the right child as far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normal example deliberately hits all three cases across its four deletes — watch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found is a genuine no-op — the tree is returned completely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this block, cur points at the SUCCESSOR — which now has at most one child, reducing to case 1 or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inorder list stays sorted after every single delete — that is the invariant being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O(h) walks back-to-back is still O(h), not O(h squared) — they never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AddressSanitizer (our --sanitize pass) catches exactly this leak — we found and fixed similar bugs while building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two-children case always safely reduces to one of the simpler two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been avoiding this question on purpose — time to face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"Binary search tree" alone promises nothing about height — only VALUE ordering, not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Normal: 10 ascending keys, height 9. Compare against the ideal height of 3 for 10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10 keys, different order: height 3, not 9. Identical key set, wildly different shape — order is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versus 3 — nearly triple the height, same 10 keys, only the arrival order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"BST" alone guarantees AT MOST O(n) and AT BEST O(log n) — nothing in between is promised.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hinge of the whole lecture — everything from here on exists because of this one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four different strategies that never need to know the input was sorted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self-balancing BST ever published — a strict rule, enforced everywhere,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programs insert and delete over time — we cannot always pre-sort or pre-shuffle.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 = height(left) - height(right). Kept in {-1, 0, +1} everywhere,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LR and RL are "double rotations" — two single rotations applied back to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through LL, RR, LR, RL in the picker — each is a separate preset, built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case: an insertion that never violates the balance factor at all. Not every insert rotates.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proven, not just observed — it is why AVL insert stays O(log n) with tiny constant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extra lines, added to the same insert you already know from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bf on every node — it never leaves {-1, 0, +1}, even mid-insertion the fix is immediate.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compares the CHILD's balance factor, not the just-inserted key — this form works for delete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worst-case input that broke a plain BST — AVL handles it without breaking a sweat.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guarantee section 1.4 was missing — worst case, not just average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family of bugs is what makes AVL delete trickier to write correctly than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insert, delete's fix does NOT always restore the pre-operation height — so the check must continue upward.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 scenario is built so at least one delete cascades — watch for more than one rotation firing.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tree never leaves the AVL invariant, even mid-sequence, even while shrinking toward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"More rotations" does not mean "worse complexity class" — it is still logarithmic, just not as tight a constant as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exactly this "delete to empty" edge case as a unit test — it is worth doing for your own trees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recurrence as the rabbits problem — just applied to tree shapes instead of population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looser, color-based balance — fewer rotations in practice, the standard library's usual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"Looser" here means: tolerate more imbalance before a fix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era as the 2-3 tree (section 5) — Bayer's work connects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new key is inserted RED — this can only break rule 3, never rule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"Uncle" = the parent's sibling — a very common point of confusion, so say it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normal example is built so all three cases fire across its 10 inserts — watch the colors and the case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does not rotate at all — pure recoloring, then the violation may reappear two levels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 = key 3, Black. 69R = key 69, Red. bh = black-height of the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C++ std::map, Java TreeMap, and the Linux scheduler all use red-black, not AVL.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the final recolor is a subtle bug — it only shows up on specific insertion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insertion always starts red — it is the "safer" color to break a rule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strict balance at all — the tree adapts to how you actually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if the tree adapted to USAGE PATTERNS instead of enforcing a fixed rule everywhere?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different philosophy from every other tree today — adapt, don't enforce.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zig-zig rotates grandparent-parent BEFORE parent-node — that order is what gives the amortized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normal example is curated so zig, zig-zig, AND zig-zag all occur — watch for the case name in each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rotate_up(n) rotates n over its OWN parent — the case decides how many times, and in what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matter how deep the key started, one access puts it at the very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"Amortized" = averaged over a long sequence, not guaranteed for any one operation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"Naive splay" still produces a correct BST — it just does not have the performance proof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precise sense in which a splay tree has "no strict balance".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even momentarily crooked — because it grows upward, at the root, not at the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completely different philosophy from rotations — prevent, don't repair.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Bayer as red-black's ancestor paper — two related ideas from the same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cascade reaches the root and splits there, height grows by one — EVERYWHERE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level-order listing's bracket groups — every leaf-level group stays at the same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rotation anywhere in this whole function — only splitting and promoting.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a node WOULD hold 3 keys, it splits immediately — you never actually see a 3-key node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"Zero rotations" is the single biggest structural difference from AVL, red-black, and 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found exactly this array-sizing bug while building this week's program — a genuine memory-corruption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why height growth is always global, never local — there is nowhere else for it to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genuinely different question: not "is x here", but "what about a whole RANGE".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very common real question: totals over a window, a date range, a price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"Partial overlap" only ever happens at O(log n) nodes total — that is the whole complexity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which nodes turn green (fully inside, used directly) versus which get pruned (dim, no overlap).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cases, three lines of logic — outside, fully inside,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single-point query is just a range of length one — the same function handles it with no special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"At most two per level" — one at each boundary of [l, r] — is the key fact, worth repeating.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worth pausing on — it is a genuinely different kind of tree from everything else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4n sizing comes from n not necessarily being a power of two — the tree is not perfectly "complete".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"at most two per level" fact from the complexity slide — now as a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range-sum idea, with no explicit tree at all — one array, one bitwise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"Fenwick tree" and "binary indexed tree (BIT)" are the same structure, two common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 newer than every other structure today — a genuinely modern, minimal-overhead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 &amp; -i" relies on two's-complement negation — the same trick works identically in C and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brace under the highlighted cell — it shows exactly which range that cell is responsible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update(1) touches 5 cells on n=16; query(16) touches only 1 — the exact opposite extremes.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 total for both operations — this is the entire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updates, one query — the running sum reflects both deltas correctly, O(log n)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 code, less memory, same asymptotic guarantee — the appeal is purely practical,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 min/max is not INVERTIBLE the way sum is — that rules it out structurally, not just by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"One step per 1-bit" for query is a clean, memorable rule worth writing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structures, one question each solves best — let's put them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"Tightest" vs "looser" is about the CONSTANT factor, not the big-O class — both are logarithmic.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2-3, segment, and Fenwick trees solve genuinely different problems from the balanced-BST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"Most balanced" is not the only axis that matters — the workload decides the right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today's structures is the RIGHT answer for some specific workload — none is universally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structure — if you remember only this slide, you have the whole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ten exercises build directly on this week's actual programs — trace them with the real code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answering from memory before checking the notes — that is the whole point of a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2-3 tree you met today is literally the m=3 special case of Week 14's B-tree.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— and point back to whichever animation preset best answers whatever comes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Advanced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784"/>
                <a:gridCol w="9715750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BST: insert, search, delete, why balance matters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 (4 rotations, insert, delete) · red-black · splay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tree · segment tree · Fenwick tree · choosing a technique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493"/>
                <a:gridCol w="286204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BST insert/search/delete, degenerate case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AVL, red-black, splay, 2-3 tree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tree, Fenwick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6–7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Choosing a technique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code/week-11/c/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code/week-11/java/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Bridge from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4 gave you </a:t>
            </a:r>
            <a:r>
              <a:rPr sz="2000" b="1">
                <a:solidFill>
                  <a:srgbClr val="1F2D3A"/>
                </a:solidFill>
              </a:rPr>
              <a:t>tree vocabulary</a:t>
            </a:r>
            <a:r>
              <a:rPr sz="2000" b="0">
                <a:solidFill>
                  <a:srgbClr val="1F2D3A"/>
                </a:solidFill>
              </a:rPr>
              <a:t>: root, leaf, depth, height, subtree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4 gave you </a:t>
            </a:r>
            <a:r>
              <a:rPr sz="2000" b="1">
                <a:solidFill>
                  <a:srgbClr val="1F2D3A"/>
                </a:solidFill>
              </a:rPr>
              <a:t>traversals</a:t>
            </a:r>
            <a:r>
              <a:rPr sz="2000" b="0">
                <a:solidFill>
                  <a:srgbClr val="1F2D3A"/>
                </a:solidFill>
              </a:rPr>
              <a:t>: inorder, preorder, postorder, level-order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4's heap was never </a:t>
            </a:r>
            <a:r>
              <a:rPr sz="2000" b="1">
                <a:solidFill>
                  <a:srgbClr val="1F2D3A"/>
                </a:solidFill>
              </a:rPr>
              <a:t>ordered</a:t>
            </a:r>
            <a:r>
              <a:rPr sz="2000" b="0">
                <a:solidFill>
                  <a:srgbClr val="1F2D3A"/>
                </a:solidFill>
              </a:rPr>
              <a:t> left-vs-right, only parent-vs-child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Today's trees add an ordering rule for the first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4: height and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Depth</a:t>
            </a:r>
            <a:r>
              <a:rPr sz="2000" b="0">
                <a:solidFill>
                  <a:srgbClr val="1F2D3A"/>
                </a:solidFill>
              </a:rPr>
              <a:t> of a node = edges from the root to it (root = 0)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Height</a:t>
            </a:r>
            <a:r>
              <a:rPr sz="2000" b="0">
                <a:solidFill>
                  <a:srgbClr val="1F2D3A"/>
                </a:solidFill>
              </a:rPr>
              <a:t> of a tree = greatest depth of any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Empty tree: height -1 by convention; one node: height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height is the single number that decides every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the one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binary search tree</a:t>
            </a:r>
            <a:r>
              <a:rPr sz="2000" b="0">
                <a:solidFill>
                  <a:srgbClr val="1F2D3A"/>
                </a:solidFill>
              </a:rPr>
              <a:t>: left subtree smaller, right subtree larger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rule alone gives fast search — IF the tree stays shallow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Four different strategies keep it shallow: AVL, red-black, splay, 2-3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more trees answer </a:t>
            </a:r>
            <a:r>
              <a:rPr sz="2000" b="1">
                <a:solidFill>
                  <a:srgbClr val="1F2D3A"/>
                </a:solidFill>
              </a:rPr>
              <a:t>range</a:t>
            </a:r>
            <a:r>
              <a:rPr sz="2000" b="0">
                <a:solidFill>
                  <a:srgbClr val="1F2D3A"/>
                </a:solidFill>
              </a:rPr>
              <a:t> questions instead of single-key 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497"/>
                <a:gridCol w="598803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Balanced BSTs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Range-query trees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 — strict balance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tree — build once, query 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Red-black — looser, color-based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Fenwick tree — one array,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 &amp; -i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Splay — no balance, adapts to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tree — grows only at the root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4: traversals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Inorder</a:t>
            </a:r>
            <a:r>
              <a:rPr sz="2000" b="0">
                <a:solidFill>
                  <a:srgbClr val="1F2D3A"/>
                </a:solidFill>
              </a:rPr>
              <a:t>: left, visit, right — sorted order on a BST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Preorder</a:t>
            </a:r>
            <a:r>
              <a:rPr sz="2000" b="0">
                <a:solidFill>
                  <a:srgbClr val="1F2D3A"/>
                </a:solidFill>
              </a:rPr>
              <a:t>: visit, left, right — copies a tree's shape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Postorder</a:t>
            </a:r>
            <a:r>
              <a:rPr sz="2000" b="0">
                <a:solidFill>
                  <a:srgbClr val="1F2D3A"/>
                </a:solidFill>
              </a:rPr>
              <a:t>: left, right, visit — safe for deleting a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Level-order</a:t>
            </a:r>
            <a:r>
              <a:rPr sz="2000" b="0">
                <a:solidFill>
                  <a:srgbClr val="1F2D3A"/>
                </a:solidFill>
              </a:rPr>
              <a:t>: an explicit queue, breadth-first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Vocabulary check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609"/>
                <a:gridCol w="700292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Balance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height(left) − height(right)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local pointer rearrangement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Amortized 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averaged over a long operation sequence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Invertible operation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undoable via subtraction (sum, not min)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The Binary Search Tree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1: sorted array, binary search — fast, but inserting costs O(n). Week 2: linked list — insert O(1), but search needs O(n).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there a structure that does BOTH better than O(n)?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BST ideas appear independently </a:t>
            </a:r>
            <a:r>
              <a:rPr sz="2000" b="1">
                <a:solidFill>
                  <a:srgbClr val="1F2D3A"/>
                </a:solidFill>
              </a:rPr>
              <a:t>1959–1962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P. F. Windley, A. D. Booth &amp; A. J. T. Colin, T. N. Hibbard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Hibbard, 1962</a:t>
            </a:r>
            <a:r>
              <a:rPr sz="2000" b="0">
                <a:solidFill>
                  <a:srgbClr val="1F2D3A"/>
                </a:solidFill>
              </a:rPr>
              <a:t> — usually credited for working out deletion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Deletion is exactly what section 1.4 covers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phone book, but a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Open to the middle page: is your name before or after 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halving — that is binary search on an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BST bakes that same halving into the </a:t>
            </a:r>
            <a:r>
              <a:rPr sz="2000" b="1">
                <a:solidFill>
                  <a:srgbClr val="1F2D3A"/>
                </a:solidFill>
              </a:rPr>
              <a:t>shape</a:t>
            </a:r>
            <a:r>
              <a:rPr sz="2000" b="0">
                <a:solidFill>
                  <a:srgbClr val="1F2D3A"/>
                </a:solidFill>
              </a:rPr>
              <a:t> of the structure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 at every node: left smaller, right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BST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872"/>
                <a:gridCol w="5455767"/>
                <a:gridCol w="246389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insert(key)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Adds key; duplicate ignored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search(key)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Reports present or not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delete(key)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Removes key if present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min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Smallest / largest key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 memory — insert's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down from the root, comparing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key</a:t>
            </a:r>
            <a:r>
              <a:rPr sz="2000" b="0">
                <a:solidFill>
                  <a:srgbClr val="1F2D3A"/>
                </a:solidFill>
              </a:rPr>
              <a:t> at every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Smaller → go left; larger → go right; equal → duplicate, stop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Reach a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child → that is the new node's spot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Link it in; nothing else in the tree moves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 tree: insert</a:t>
            </a:r>
          </a:p>
        </p:txBody>
      </p:sp>
      <p:pic>
        <p:nvPicPr>
          <p:cNvPr id="7" name="Picture 6" descr="bst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30" y="1325880"/>
            <a:ext cx="948363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bst_insert()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*bst_insert(Node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root, *parent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== cur-&gt;key)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&lt; cur-&gt;key)  cur = cur-&gt;left;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                cur =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n-&gt;key = key; n-&gt;left = NULL; n-&gt;right = NULL;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bst_insert(), linking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(parent == NULL)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(key &lt; parent-&gt;key) parent-&gt;left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                   parent-&gt;right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insert(50): inorder = 50  height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insert(30): inorder = 30 50  height =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insert(70): inorder = 30 50 70  height =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insert(20): inorder = 20 30 50 70  height =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insert is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comparison per level visited, at most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revisits a node once passed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 small (balanced) → fast; h large (chain) → slow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 1.4 shows exactly how large h can get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 = bst_insert(root, key);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Without reassigning, the caller's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</a:t>
            </a:r>
            <a:r>
              <a:rPr sz="2000" b="0">
                <a:solidFill>
                  <a:srgbClr val="1F2D3A"/>
                </a:solidFill>
              </a:rPr>
              <a:t> never updates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C/Java pass pointers/references </a:t>
            </a:r>
            <a:r>
              <a:rPr sz="2000" b="1">
                <a:solidFill>
                  <a:srgbClr val="1F2D3A"/>
                </a:solidFill>
              </a:rPr>
              <a:t>by value</a:t>
            </a:r>
            <a:r>
              <a:rPr sz="2000" b="0">
                <a:solidFill>
                  <a:srgbClr val="1F2D3A"/>
                </a:solidFill>
              </a:rPr>
              <a:t> 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function must </a:t>
            </a:r>
            <a:r>
              <a:rPr sz="2000" b="1">
                <a:solidFill>
                  <a:srgbClr val="1F2D3A"/>
                </a:solidFill>
              </a:rPr>
              <a:t>return</a:t>
            </a:r>
            <a:r>
              <a:rPr sz="2000" b="0">
                <a:solidFill>
                  <a:srgbClr val="1F2D3A"/>
                </a:solidFill>
              </a:rPr>
              <a:t> the (possibly new) root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animation's "ascending order" edge case, every new key becomes a RIGHT child. Why never a left one?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later key is larger than everything already inserted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every comparison during the walk says "go right"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tree leans entirely to the right — a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exactly section 1.4's topic, next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 —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 already walks down comparing keys.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 is almost the same walk — how many nodes, worst case?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Equal → found; smaller → only the left subtree can have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ordering rule GUARANTEES the right subtree cannot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Larger → mirror image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reached before a match → not present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 tree: search</a:t>
            </a:r>
          </a:p>
        </p:txBody>
      </p:sp>
      <p:pic>
        <p:nvPicPr>
          <p:cNvPr id="7" name="Picture 6" descr="bst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01" y="1325880"/>
            <a:ext cx="681969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bst_search()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bst_search(Node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probes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probes++;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== cur-&gt;key)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&lt; cur-&gt;key) cur = cur-&gt;left;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               cur =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search(65): found, 4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search(20): found, 3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search(55): not found, 3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search(100): not found, 4 probes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search is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one-comparison-per-level argument as insert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O(1): the root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as deep as the tree gets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Again: everything hinges on 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"not found" as an error condition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a normal, expected outcome, not a crash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while (cur != NULL)</a:t>
            </a:r>
            <a:r>
              <a:rPr sz="2000" b="0">
                <a:solidFill>
                  <a:srgbClr val="1F2D3A"/>
                </a:solidFill>
              </a:rPr>
              <a:t> guard handles it cleanly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Continuing to compare after a match (off-by-one) also wastes work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search(10) on a 10-node ascending-insert chain costs 10 probes. search(1) costs only 1. Why such a big gap?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tree is a pure chain: 1 at the root, 10 at the deepest leaf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Root's own key: one comparison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Deepest leaf: one comparison per level down to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height + 1 comparisons, worst case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 — delete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Deleting a </a:t>
            </a:r>
            <a:r>
              <a:rPr sz="2000" b="1">
                <a:solidFill>
                  <a:srgbClr val="1F2D3A"/>
                </a:solidFill>
              </a:rPr>
              <a:t>leaf</a:t>
            </a:r>
            <a:r>
              <a:rPr sz="2000" b="0">
                <a:solidFill>
                  <a:srgbClr val="1F2D3A"/>
                </a:solidFill>
              </a:rPr>
              <a:t> is easy: detach it. Deleting a node with </a:t>
            </a:r>
            <a:r>
              <a:rPr sz="2000" b="1">
                <a:solidFill>
                  <a:srgbClr val="1F2D3A"/>
                </a:solidFill>
              </a:rPr>
              <a:t>two children</a:t>
            </a:r>
            <a:r>
              <a:rPr sz="2000" b="0">
                <a:solidFill>
                  <a:srgbClr val="1F2D3A"/>
                </a:solidFill>
              </a:rPr>
              <a:t> is not. Why not?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three cases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848674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Detach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child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Parent links directly to the child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Two children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Copy in the in-order successor's key, then delete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 tree: delete</a:t>
            </a:r>
          </a:p>
        </p:txBody>
      </p:sp>
      <p:pic>
        <p:nvPicPr>
          <p:cNvPr id="7" name="Picture 6" descr="bst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473" y="1325880"/>
            <a:ext cx="744074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bst_delete(), finding the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*bst_delete(Node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root, *parent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 &amp;&amp; key != cur-&gt;key)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(key &lt; cur-&gt;key) ? cur-&gt;left :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 == NULL) return root;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bst_delete(), two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(cur-&gt;left != NULL &amp;&amp; cur-&gt;right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*succ = cur-&gt;right, *succParent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(succ-&gt;left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succParent = succ; succ = succ-&gt;left;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cur-&gt;key = succ-&gt;key;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succParent; cur = succ;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delete(35): inorder = 20 30 40 50 60 65 70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delete(70): inorder = 20 30 40 50 60 65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delete(50): inorder = 20 30 40 60 65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delete(20): inorder = 30 40 60 65 80 90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delete is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Finding the node: O(h)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Finding a successor: at most another O(h)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revisits nodes already on the search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worst case as insert and search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Copying the successor's key but forgetting to delete ITS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now exists twice in the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Successor vs. predecessor: either works, but stay consistent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free()</a:t>
            </a:r>
            <a:r>
              <a:rPr sz="2000" b="0">
                <a:solidFill>
                  <a:srgbClr val="1F2D3A"/>
                </a:solidFill>
              </a:rPr>
              <a:t> in C — a real memory leak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a BST delete's successor guaranteed to have AT MOST one child?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Successor = leftmost node of the right subtree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Leftmost means: no left child, by definition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May or may not have a right child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both — so it is always case 1 or case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 — degenerate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section so far states cost as O(h). What IS h, concretely, for n keys in an arbitrary order?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order, not just the key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technique compares VALUES, never looks at tree SHAPE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Sorted input: every new key is bigger than everything so far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new key attaches one level deeper than the last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tree </a:t>
            </a:r>
            <a:r>
              <a:rPr sz="2000" b="1">
                <a:solidFill>
                  <a:srgbClr val="1F2D3A"/>
                </a:solidFill>
              </a:rPr>
              <a:t>degenerates</a:t>
            </a:r>
            <a:r>
              <a:rPr sz="2000" b="0">
                <a:solidFill>
                  <a:srgbClr val="1F2D3A"/>
                </a:solidFill>
              </a:rPr>
              <a:t> into a chain: height n − 1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balancing matters</a:t>
            </a:r>
          </a:p>
        </p:txBody>
      </p:sp>
      <p:pic>
        <p:nvPicPr>
          <p:cNvPr id="7" name="Picture 6" descr="bst-degenera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99" y="1325880"/>
            <a:ext cx="31872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same keys, shuffled</a:t>
            </a:r>
          </a:p>
        </p:txBody>
      </p:sp>
      <p:pic>
        <p:nvPicPr>
          <p:cNvPr id="7" name="Picture 6" descr="bst-degenerate--edge-shuffled-same-key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487" y="1325880"/>
            <a:ext cx="65667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insert(10): height = 9  (ideal for 10 nodes = 3)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final: n = 10, height = 9, ideal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vs. the shuffled edge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final: n = 10, height = 3, ideal =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this matters for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height: n − 1 (sorted or reverse-sorted input)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operation from sections 1.1–1.4 becomes 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Average case (random order): O(log n) — but "random" is not guaranteed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Sorted input is common in practice: imports, replayed logs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"it's a BST" means O(log n) automatically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Benchmarking only with random test data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Random data HIDES this exact failure mode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a SELF-BALANCING BST guarantees O(log n) worst case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must build a BST from data you KNOW is already sorted. Cheapest fix, without switching tree types?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Shuffle the keys into random order before inserting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Or: recursively pick the middle element as root, recurse both halves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Builds a perfectly balanced tree directly, O(n), no rotations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2–5 solve the GENERAL problem automatically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AVL Trees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need a BST that stays shallow no matter what order operations arrive in. Does one exist?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1962</a:t>
            </a:r>
            <a:r>
              <a:rPr sz="2000" b="0">
                <a:solidFill>
                  <a:srgbClr val="1F2D3A"/>
                </a:solidFill>
              </a:rPr>
              <a:t> — Georgy Adelson-Velsky &amp; Evgenii Landis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"AVL" = their initials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self-balancing binary search tree ever published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Idea: track a </a:t>
            </a:r>
            <a:r>
              <a:rPr sz="2000" b="1">
                <a:solidFill>
                  <a:srgbClr val="1F2D3A"/>
                </a:solidFill>
              </a:rPr>
              <a:t>balance factor</a:t>
            </a:r>
            <a:r>
              <a:rPr sz="2000" b="0">
                <a:solidFill>
                  <a:srgbClr val="1F2D3A"/>
                </a:solidFill>
              </a:rPr>
              <a:t> at every node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four rotation cases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59"/>
                <a:gridCol w="5016797"/>
                <a:gridCol w="489137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Shape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left-heavy, left child left-heavy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right rotation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right-heavy, right child right-heavy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left rotation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left-heavy, left child right-heavy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left child left, then right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right-heavy, right child left-heavy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right child right, then left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AVL: the four rebalancing cases</a:t>
            </a:r>
          </a:p>
        </p:txBody>
      </p:sp>
      <p:pic>
        <p:nvPicPr>
          <p:cNvPr id="7" name="Picture 6" descr="avl-rotation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634" y="1325880"/>
            <a:ext cx="61664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 rotation needed</a:t>
            </a:r>
          </a:p>
        </p:txBody>
      </p:sp>
      <p:pic>
        <p:nvPicPr>
          <p:cNvPr id="7" name="Picture 6" descr="avl-rotations--no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917" y="1325880"/>
            <a:ext cx="74018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After ONE insertion, how many rotations can an AVL tree need, at most?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most ONE single rotation, or ONE double rotation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 restores the subtree's PRE-insertion height exactly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no ancestor further up can have become unbalanced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never needs to propagate a fix upward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insert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Plain recursive BST insert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the way back UP the call stack: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update_height</a:t>
            </a:r>
            <a:r>
              <a:rPr sz="2000" b="0">
                <a:solidFill>
                  <a:srgbClr val="1F2D3A"/>
                </a:solidFill>
              </a:rPr>
              <a:t>, then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 happens at EVERY level as recursion unwinds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(and only) unbalanced node found is fixed immediately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tree: insert</a:t>
            </a:r>
          </a:p>
        </p:txBody>
      </p:sp>
      <p:pic>
        <p:nvPicPr>
          <p:cNvPr id="7" name="Picture 6" descr="avl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27" y="1325880"/>
            <a:ext cx="749324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rebalance()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*rebalance(Node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bf = height(n-&gt;left) - height(n-&gt;right);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(bf &gt; 1  &amp;&amp; height(n-&gt;left-&gt;left)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&gt;= height(n-&gt;left-&gt;right))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rotate_right(n);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(bf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n-&gt;left = rotate_left(n-&gt;left);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rotate_right(n);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 — ascending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insert(10): height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Section 1.4's plain BST reached </a:t>
            </a:r>
            <a:r>
              <a:rPr sz="2000" b="1">
                <a:solidFill>
                  <a:srgbClr val="1F2D3A"/>
                </a:solidFill>
              </a:rPr>
              <a:t>height 9</a:t>
            </a:r>
            <a:r>
              <a:rPr sz="2000" b="0">
                <a:solidFill>
                  <a:srgbClr val="1F2D3A"/>
                </a:solidFill>
              </a:rPr>
              <a:t> for the SAME 10 ascending keys.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AVL is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Height never exceeds 1.44 · log2(n + 2)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operation is O(log n) — WORST case, not just average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at most one (double) rotation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delete: up to O(log n) rotations, but each is O(1)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update_height</a:t>
            </a:r>
            <a:r>
              <a:rPr sz="2000" b="0">
                <a:solidFill>
                  <a:srgbClr val="1F2D3A"/>
                </a:solidFill>
              </a:rPr>
              <a:t> before checking balance factor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  <a:r>
              <a:rPr sz="2000" b="0">
                <a:solidFill>
                  <a:srgbClr val="1F2D3A"/>
                </a:solidFill>
              </a:rPr>
              <a:t> then reads a STALE height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Deciding LL vs LR by the just-inserted key (breaks for delete)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balance-factor-based decision works for both insert AND delete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delete — rebalancing can cascade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Reuses section 1.4's exact splice logic (leaf/one/two children)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Difference: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  <a:r>
              <a:rPr sz="2000" b="0">
                <a:solidFill>
                  <a:srgbClr val="1F2D3A"/>
                </a:solidFill>
              </a:rPr>
              <a:t> runs at EVERY ancestor, not just the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delete can shrink a subtree's height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shrink can keep propagating all the way to the root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tree: delete</a:t>
            </a:r>
          </a:p>
        </p:txBody>
      </p:sp>
      <p:pic>
        <p:nvPicPr>
          <p:cNvPr id="7" name="Picture 6" descr="avl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delete(90): height = 3, inorder = 10 20 25 30 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delete(45): height = 3, inorder = 10 20 25 30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Height stays 3 across all six deletes — always rebalanced.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AVL delete is still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Up to O(log n) rotations — one per ancestor level,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individual rotation is still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 rotations × O(1) each = O(log n) total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asymptotic bound as insert, just a bigger constant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delete, like insert, needs only one rotation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"hard" scenario is deliberately built to disprove this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free()</a:t>
            </a:r>
            <a:r>
              <a:rPr sz="2000" b="0">
                <a:solidFill>
                  <a:srgbClr val="1F2D3A"/>
                </a:solidFill>
              </a:rPr>
              <a:t> the spliced node in C (a leak)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testing "delete every key down to empty" explicitly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AVL tree of height h has AT LEAST how many nodes?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N(h) = 1 + N(h−1) + N(h−2) — the Fibonacci recurrence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N(h) grows EXPONENTIALLY in 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h grows only LOGARITHMICALLY in 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is the whole proof, in one line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Red-Black Trees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AVL's strict balance factor can require rebalancing on almost every insertion. Is there a looser rule?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Rudolf Bayer: "symmetric binary B-trees"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1978</a:t>
            </a:r>
            <a:r>
              <a:rPr sz="2000" b="0">
                <a:solidFill>
                  <a:srgbClr val="1F2D3A"/>
                </a:solidFill>
              </a:rPr>
              <a:t> — Guibas &amp; Sedgewick: the "red-black" name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insertion algorithm dates from 1978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Four simple, LOCAL rules instead of exact height comparison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four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node is </a:t>
            </a:r>
            <a:r>
              <a:rPr sz="2000" b="1">
                <a:solidFill>
                  <a:srgbClr val="1F2D3A"/>
                </a:solidFill>
              </a:rPr>
              <a:t>red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black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root is always </a:t>
            </a:r>
            <a:r>
              <a:rPr sz="2000" b="1">
                <a:solidFill>
                  <a:srgbClr val="1F2D3A"/>
                </a:solidFill>
              </a:rPr>
              <a:t>black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red node never has a red child ("no two reds in a row")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root-to-NULL path has the same </a:t>
            </a:r>
            <a:r>
              <a:rPr sz="2000" b="1">
                <a:solidFill>
                  <a:srgbClr val="1F2D3A"/>
                </a:solidFill>
              </a:rPr>
              <a:t>black-height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three fixup cases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66"/>
                <a:gridCol w="3101173"/>
                <a:gridCol w="6891495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Uncle is 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recolor parent+uncle black, grandparent red, continue 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Uncle black, "triangle"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parent, reduces to case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Uncle black, "line"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grandparent + recolor, 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Red-black tree: insert</a:t>
            </a:r>
          </a:p>
        </p:txBody>
      </p:sp>
      <p:pic>
        <p:nvPicPr>
          <p:cNvPr id="7" name="Picture 6" descr="red-black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96" y="1325880"/>
            <a:ext cx="74669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fixup(), case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(z-&gt;parent &amp;&amp; z-&gt;parent-&gt;color == RED)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 = z-&gt;parent, *g = p-&gt;parent;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*u = (p == g-&gt;left) ? g-&gt;right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: g-&gt;left;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(u &amp;&amp; u-&gt;color == RED)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p-&gt;color = BLACK; u-&gt;color = BLACK;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g-&gt;color = RED; z = g;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insert(3): root = 3, bh = 1, inorder = 3B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insert(69): root = 3, bh = 1, inorder = 3B 69R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insert(31): root = 31, bh = 1, inorder = 3R 31B 69R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red-black is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Height never exceeds 2 · log2(n + 1)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Proof: no path can be more than twice the shortest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(red nodes can never be adjacent)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Slightly looser than AVL's bound, fewer rotations in practice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rule 2 after the fixup loop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Case 1 can walk the violation all the way to the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unconditional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root-&gt;color = BLACK;</a:t>
            </a:r>
            <a:r>
              <a:rPr sz="2000" b="0">
                <a:solidFill>
                  <a:srgbClr val="1F2D3A"/>
                </a:solidFill>
              </a:rPr>
              <a:t> at the end is NOT optional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"uncle" with the new node's own sibling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 inserting a RED leaf never break rule 4 (equal black-height), only rule 3?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red leaf contributes 0 to any path's black-node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root-to-leaf black-height stays exactly what it was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rule 3 ("no two reds") can break, and only if the parent is 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is exactly the situation fixup is designed to repair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Splay Trees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AVL and red-black pay bookkeeping cost on EVERY node, for EVERY operation — even rarely-touched keys. A different way?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1985</a:t>
            </a:r>
            <a:r>
              <a:rPr sz="2000" b="0">
                <a:solidFill>
                  <a:srgbClr val="1F2D3A"/>
                </a:solidFill>
              </a:rPr>
              <a:t> — Daniel Sleator &amp; Robert Tarjan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"Self-adjusting binary search trees"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balance information stored at all — zero extra memory per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Instead: every access reshapes the tree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move to the root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76"/>
                <a:gridCol w="6235162"/>
                <a:gridCol w="3357395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Move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parent is the root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single rotation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zig-zig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node &amp; parent both left (or both right) children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parent, then node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zig-zag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node &amp; parent on opposite sides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rotate node twice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Splay tree: access</a:t>
            </a:r>
          </a:p>
        </p:txBody>
      </p:sp>
      <p:pic>
        <p:nvPicPr>
          <p:cNvPr id="7" name="Picture 6" descr="splay-t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999" y="1325880"/>
            <a:ext cx="442569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splay()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splay(Node *x)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(x-&gt;parent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*p = x-&gt;parent, *g = p-&gt;parent;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(g == NULL) {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if ((x == p-&gt;left) == (p == g-&gt;left))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{ rotate_up(p);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{ rotate_up(x);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access(50): root = 50, inorder = 50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access(20): root = 20, inorder = 10 20 30 40 45 50 60 70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just-accessed key is ALWAYS the new root.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splay is O(log n) amortized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single access is guaranteed O(log n) — can be 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ANY sequence of m accesses costs O(m log n) total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 amortized per access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Adapts automatically to a "hot" working set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Implementing zig-zig as two SEPARATE single rotations ("naive splay")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Valid tree operation, but loses the amortized guarantee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access on a MISSING key still splays something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Here: the newly inserted node itself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After many accesses to ONE key, how deep is every OTHER key, roughly?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one key sits at the root every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OTHER key's depth is barely affected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Splay only reshuffles nodes ALONG the accessed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"global" balance guarantee — only a local, per-access one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2-3 Trees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tree so far fixes imbalance AFTER it happens. What if imbalance were structurally IMPOSSIBLE?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Rudolf Bayer &amp; Edward McCreight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stepping stone to the B-tree (Week 14, disk-backed files)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Node holds 1 key (2-node) or 2 keys (3-node)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leaf sits at EXACTLY the same depth, always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overflow and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key inserted into the correct leaf, sorted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Leaf already had 2 keys → now has 3, temporarily: </a:t>
            </a:r>
            <a:r>
              <a:rPr sz="2000" b="1">
                <a:solidFill>
                  <a:srgbClr val="1F2D3A"/>
                </a:solidFill>
              </a:rPr>
              <a:t>overflow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 into two 2-nodes; MIDDLE key promoted to the parent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Parent can overflow the same way — cascades upward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2-3 tree: insert</a:t>
            </a:r>
          </a:p>
        </p:txBody>
      </p:sp>
      <p:pic>
        <p:nvPicPr>
          <p:cNvPr id="7" name="Picture 6" descr="two-three-tree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92" y="1325880"/>
            <a:ext cx="584411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overflow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(node-&gt;nkeys == 3)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split_node(node, &amp;left, &amp;right, &amp;promoted);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(depth ==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root split: height + 1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new_root(promoted, left, 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*parent = path[--depth];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replace_with_split(parent, node,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promoted, left, 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= 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insert(20): height = 0, level-order = [10,20]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insert(30): height = 1, level-order = [20] [10] [30]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2-3 tree insert is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leaf at the same depth h → h =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down: O(h); splits cascade up: at most O(h), each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Zero rotations, ever — unlike every other tree today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 ancestor of Week 14's B-tree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child[]</a:t>
            </a:r>
            <a:r>
              <a:rPr sz="2000" b="0">
                <a:solidFill>
                  <a:srgbClr val="1F2D3A"/>
                </a:solidFill>
              </a:rPr>
              <a:t> for only 3 slots (the steady-state max)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Mid-overflow, a node briefly needs 4 children — real buffer overflow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Splitting a node without freeing the old shell afterward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Promoting the wrong key (must be the MIDDLE one)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a 2-3 tree's height grow ONLY at the root, never partway down?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split only responds to ITS OWN node's overflow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promoted key goes to ITS OWN parent, never a sibling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cascade only ever travels straight up one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only place it can run out of "parent" is the root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Segment Trees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"What is the SUM of every value between index l and r?" A loop answers in O(n). Many such queries — can we do better?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precompute every range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Built once over a fixed-size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Node i responsible for range [lo, hi]; children 2i, 2i+1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Leaf holds one value; internal node holds sum of its two children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Query walks down: outside → 0, inside → precomputed sum, partial → recurse both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Segment tree: build and query</a:t>
            </a:r>
          </a:p>
        </p:txBody>
      </p:sp>
      <p:pic>
        <p:nvPicPr>
          <p:cNvPr id="7" name="Picture 6" descr="segment-t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06" y="1325880"/>
            <a:ext cx="531748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query()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query(int i, int lo, int hi, int l, int 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 &lt; lo || hi &lt; l)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 &lt;= lo &amp;&amp; hi &lt;= r) return tree[i];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(lo + hi)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query(2*i,   lo,      mid, l, 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+ query(2*i+1, mid + 1, hi,  l, 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query(0,9) = 55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query(2,5)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query(7,7) = 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segment tree query is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build(): O(n) total — visits every node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level: at most TWO "partially overlapping" nodes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other node at that level: answered or pruned immediately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 work proportional to height: O(log n)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structural difference from sections 1–5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Segment tree SHAPE depends only on n, never on data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BST-family tree's shape depends on VALUE comparisons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segment tree can never degenerate the way section 1.4's BST did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insertion-order problem exists here at all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Sizing the array as 2n instead of 4n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"fully inside" with "fully outside" (swapped conditions)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Rebuilding the WHOLE tree (O(n)) for one single-point update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dedicated O(log n) point-update function is the natural fix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query's cost O(log n), not O(log n) TIMES the number of nodes at each level?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most TWO nodes per level are "partially overlapping"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other node: fully inside (done) or fully outside (pruned)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 work proportional to height, not width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n), not O(log n) · O(n)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Fenwick Trees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segment tree needs up to 4n explicit nodes. Could a PLAIN ARRAY answer prefix sums just as fast?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1994</a:t>
            </a:r>
            <a:r>
              <a:rPr sz="2000" b="0">
                <a:solidFill>
                  <a:srgbClr val="1F2D3A"/>
                </a:solidFill>
              </a:rPr>
              <a:t> — Peter Fenwick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 new data structure for cumulative frequency tables"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tree pointers, no recursion required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array, one arithmetic trick: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 — i &amp; -i isolates the lowest set 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bit[i]</a:t>
            </a:r>
            <a:r>
              <a:rPr sz="2000" b="0">
                <a:solidFill>
                  <a:srgbClr val="1F2D3A"/>
                </a:solidFill>
              </a:rPr>
              <a:t> holds the sum of a range of size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 ending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update(i, delta)</a:t>
            </a:r>
            <a:r>
              <a:rPr sz="2000" b="0">
                <a:solidFill>
                  <a:srgbClr val="1F2D3A"/>
                </a:solidFill>
              </a:rPr>
              <a:t>: walk UP, </a:t>
            </a:r>
            <a:r>
              <a:rPr sz="2000" b="0">
                <a:solidFill>
                  <a:srgbClr val="A1123F"/>
                </a:solidFill>
                <a:latin typeface="Consolas"/>
              </a:rPr>
              <a:t>i += i &amp; -i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query(i)</a:t>
            </a:r>
            <a:r>
              <a:rPr sz="2000" b="0">
                <a:solidFill>
                  <a:srgbClr val="1F2D3A"/>
                </a:solidFill>
              </a:rPr>
              <a:t>: prefix sum 1..i, walk DOWN, </a:t>
            </a:r>
            <a:r>
              <a:rPr sz="2000" b="0">
                <a:solidFill>
                  <a:srgbClr val="A1123F"/>
                </a:solidFill>
                <a:latin typeface="Consolas"/>
              </a:rPr>
              <a:t>i -= i &amp; -i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walks: O(log n) steps, no tree structure needed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Fenwick tree: update and query</a:t>
            </a:r>
          </a:p>
        </p:txBody>
      </p:sp>
      <p:pic>
        <p:nvPicPr>
          <p:cNvPr id="7" name="Picture 6" descr="fenwick-tre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 &amp; -i chain length, in isolation</a:t>
            </a:r>
          </a:p>
        </p:txBody>
      </p:sp>
      <p:pic>
        <p:nvPicPr>
          <p:cNvPr id="7" name="Picture 6" descr="fenwick-tree--edge-chain-leng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3384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update() and query()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update(int i, int delta)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(i &lt;= n) { bit[i] += delta; i += i &amp; (-i);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query(int 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(i &gt; 0) { sum += bit[i]; i -= i &amp; (-i);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sum;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update(3, 5)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update(7, 2)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query(10) = 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Fenwick is O(log n), O(n)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 at least doubles (update) or halves (query) distance to the boundary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most floor(log2(n)) + 1 iterations, either direction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Space: one plain int array — dramatically less than a segment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Preferred in practice when the array's size will not change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0-indexing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 needs index 0 to be all-zero bits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Fenwick trees are ALWAYS 1-indexed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a home-made "negation" instead of the language's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-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Reaching for Fenwick on range-MIN/MAX queries (does not work)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n=16, why does update(1) take exactly 5 steps (i = 1, 2, 4, 8, 16)?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 += i &amp; -i</a:t>
            </a:r>
            <a:r>
              <a:rPr sz="2000" b="0">
                <a:solidFill>
                  <a:srgbClr val="1F2D3A"/>
                </a:solidFill>
              </a:rPr>
              <a:t>: 1→2→4→8→16, then the loop stops (i would exceed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Five cells touched, each responsible for a range including index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query(15) instead takes 4 steps: one per 1-bit in 15's binary (1111)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Update and query walk opposite directions, different bit patterns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Choosing a Technique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balanced BSTs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4000896"/>
                <a:gridCol w="436461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Worst-case height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Rebalance cost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Plain BST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n), tightest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&lt;=1 rotation/insert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Red-black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n), looser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fewer rotations avg.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Splay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 amortized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full splay/access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— structural &amp; range trees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428"/>
                <a:gridCol w="3812464"/>
                <a:gridCol w="499564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Rebalance cost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node splits, no rotations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bridge to Week 14's B-tree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tree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 after build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many range sum/min/max queries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Fenwick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range sum + frequent point updates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Choosing — by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Lookup-heavy</a:t>
            </a:r>
            <a:r>
              <a:rPr sz="2000" b="0">
                <a:solidFill>
                  <a:srgbClr val="1F2D3A"/>
                </a:solidFill>
              </a:rPr>
              <a:t> → AVL (tightest bound)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Mixed insert/delete/search</a:t>
            </a:r>
            <a:r>
              <a:rPr sz="2000" b="0">
                <a:solidFill>
                  <a:srgbClr val="1F2D3A"/>
                </a:solidFill>
              </a:rPr>
              <a:t> → red-black (fewer rotations)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Skewed "hot key" access</a:t>
            </a:r>
            <a:r>
              <a:rPr sz="2000" b="0">
                <a:solidFill>
                  <a:srgbClr val="1F2D3A"/>
                </a:solidFill>
              </a:rPr>
              <a:t> → splay (adapts, low memory)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Range questions</a:t>
            </a:r>
            <a:r>
              <a:rPr sz="2000" b="0">
                <a:solidFill>
                  <a:srgbClr val="1F2D3A"/>
                </a:solidFill>
              </a:rPr>
              <a:t> → segment tree or Fenwick tree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colleague says "always use red-black, it's the most balanced and library-tested". What would you ask first?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the workload lookup-heavy, or a mixed insert/delete/search?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Is access skewed toward a small hot-key set?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Are the questions about RANGES, not single keys?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 this feed into a disk-backed structure later (Week 14)?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BST: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</a:t>
            </a:r>
            <a:r>
              <a:rPr sz="2000" b="0">
                <a:solidFill>
                  <a:srgbClr val="1F2D3A"/>
                </a:solidFill>
              </a:rPr>
              <a:t> all O(h) — but h depends on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Sorted input degenerates a BST to a chain: O(n), no better than a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AVL, red-black, splay, 2-3 tree: four different fixes, four trade-offs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Segment tree, Fenwick tree: O(log n) answers to RANGE questions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Exercises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Prove a BST of height h has at most 2^(h+1) − 1 nodes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Trace red-black's fixup cases by hand on the "hard" scenario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Sketch what changes to turn a segment tree into range-MIN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Full list of 10 exercises: this week's notes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quiz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Why does AVL insert need at most one rotation, but delete can cascade?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Why can a Fenwick tree not support range-minimum queries?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Why is a segment tree's shape independent of the data?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Full 10-question quiz with answers: this week's notes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Looking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12</a:t>
            </a:r>
            <a:r>
              <a:rPr sz="2000" b="0">
                <a:solidFill>
                  <a:srgbClr val="1F2D3A"/>
                </a:solidFill>
              </a:rPr>
              <a:t> — strings: matching algorithms, and the </a:t>
            </a:r>
            <a:r>
              <a:rPr sz="2000" b="1">
                <a:solidFill>
                  <a:srgbClr val="1F2D3A"/>
                </a:solidFill>
              </a:rPr>
              <a:t>trie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trie stores strings by shared PREFIX, not numeric comparison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13</a:t>
            </a:r>
            <a:r>
              <a:rPr sz="2000" b="0">
                <a:solidFill>
                  <a:srgbClr val="1F2D3A"/>
                </a:solidFill>
              </a:rPr>
              <a:t> — direct and sequential file organization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14</a:t>
            </a:r>
            <a:r>
              <a:rPr sz="2000" b="0">
                <a:solidFill>
                  <a:srgbClr val="1F2D3A"/>
                </a:solidFill>
              </a:rPr>
              <a:t> — the </a:t>
            </a:r>
            <a:r>
              <a:rPr sz="2000" b="1">
                <a:solidFill>
                  <a:srgbClr val="1F2D3A"/>
                </a:solidFill>
              </a:rPr>
              <a:t>B-tree</a:t>
            </a:r>
            <a:r>
              <a:rPr sz="2000" b="0">
                <a:solidFill>
                  <a:srgbClr val="1F2D3A"/>
                </a:solidFill>
              </a:rPr>
              <a:t>: this week's 2-3 tree, generalized for disk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11 — Advanced Trees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