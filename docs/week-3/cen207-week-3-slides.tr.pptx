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 bilgisayar biliminin en eski, en çok kullanılan iki doğrusal yapısıyla tanışıyoruz. Yığın = yalnız bir uca dokun. Kuyruk = bir uçtan ekle, diğerinden çıkar. Bu tek kural farkı, gerisinin tamamını açıklıyor.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On altı kısa animasyon dersin tamamını taşıyor; her biri, fikri tanıttığımız yerde, bir kez görünüyor.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terim ilk geçtiği yerde tam olarak tanımlanır; bu tablo yalnızca onu nerede tekrar bulacağınızı söylüyor.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Canlı denemek isteyenler şimdi bir terminal açsın; bugünkü her kod parçası tam olarak gösterildiği gibi derlenip çalışır.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Bellek hakkında yeni hiçbir şey gerekmiyor bugün — yalnızca hangi uca dokunabileceğinize dair yeni kurallar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 malloc ve free'i yeniden kullanacağız; unutulan bir free'nin tam olarak nerede ısırdığını göstereceğiz.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Bugünün tek yeni parçası, zincirin hangi ucuna/uçlarına dokunabileceğinizi kısıtlamak.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Sınıfa sorun: bir kuyrukta en önce gelenler hangi uçta oturur? Önde — ve bütün fikir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Haritadaki her kutu aşağıda kendi slaytlarını alıyor; çoğunun yanında kısa bir animasyon ve eksiksiz bir C/Java programı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1, yığını sıfırdan kurar: önce dizi sürümü, sonra bağlı sürüm, ikisi de aynı küçük arayüzle.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Sorun: bu "geçmiş" özelliğini yalnızca bir dizi ya da bağlı listeyle nasıl kurarsınız? Cevap geliyor.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Şu anda bilgisayarınızın yaptığı her fonksiyon çağrısı, tam olarak bu erken makineler gibi, hâlâ bir yığın kullanıyor.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LIFO = Son Giren, İlk Çıkar. Bugünkü her işlem için bu yemekhane resmini aklınızda tutun.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üç kısa ad her dilde ve her ders kitabında standarttır; şimdi öğrenin, hiç değişmezler.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ADT, bir yapının neyi yaptığını tanımlar, nasıl yaptığını değil — bu tablo, dizi ya da bağlı liste olmasından bağımsız geçerli.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Bellekte başka hiçbir şey yer değiştirmez — yalnızca tek bir tamsayı olan top değişir.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10 push (12, 7, 25, 3, 18, 9, 30, 14, 5, 21), sonra 4 pop — top ve dizinin bir adımda bir güncellendiğini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Önce denetle, doluysa reddet, sonra iki yazma — top kayar, değer yerine oturur. Her zaman iki adım.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push ile aynı biçim, aynası: boşu denetle, en üst hücreyi oku, top'u aşağı kaydır.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 son itilen (21) ilk geri gelir, sonra 5, 14, 30 — son giren, ilk çıkar.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sabit-zaman garantisi yığının bütün amacı — ortaya erişmek başka bir yapı gerektirir.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C'de dizi sınırları dışına yazmak dostane bir hata vermez — yakındaki belleği sessizce bozar.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10 hücreli bir yığına 11 push (son push taşar), sonra 13 pop (boşalınca alttan taşar) — iki denetimin de ateşlenişini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Geçerli indisler 0..CAP-1 arasıdır, yığın top CAP-1'e ulaştığı an dolar, bir adım sonra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Cevabı açıklamadan önce sınıfın yanıtlamasına izin verin — indis 0 gerçek, geçerli bir hücredir.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-1 geçerli bir indis olmadığı için yalnızca "hiç eleman yok" anlamına gelebilir.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Tam olarak Hafta 2'deki aynı düğüm-ve-işaretçi fikri, yalnız bir uca dokunmakla sınırlandırılmış.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malloc'un bir düğüm oluşturduğunu, sonra üç işaretçi güncellemesinin top'u taşıdığını izleyin — hiçbir yerde kapasite sınırı 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Yeni düğüm eski en üstü gösterir, sonra top yeni düğüme taşınır — her zaman üç atama.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tmp, top zaten ilerledikten sonra değerini okuyup serbest bırakabilmek için eski en üstü tam gereken süre kadar tutar.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Sınırsız kapasitenin bedeli, eleman başına biraz fazla bellek ve daha kötü önbellek yerelliği.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free(tmp); return tmp-&gt;data; zaten geri verilmiş belleği okur — bazen "çalışır", bazen çöker.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iki yönde de push ve pop O(1); fark hız sınıfı değil, kapasite ve bellek yerelliği.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push top'a 1 ekler, her pop 1 çıkarır — aritmetiği birlikte yapın.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az önce okuduğumuz push/pop kodunun bir adımda bir yaptığı tam olarak bu hesap.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Aynı küçük yığın arayüzü üzerine kurulu üç klasik algoritma: parantez denetimi, postfix değerlendirme, infix'i postfix'e çevirme.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Sınıfa A + B * C'yi elle hesaplattırın — herkes fark etmeden önceliği uygular.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RPN hesap makineleri bugün hâlâ satılıyor; sıradaki slaytlardaki algoritma, içlerinde çalışanın ta kendisi.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Postfix ve prefix, değerlendirme sırasında ne parantez ne öncelik tablosu ister — bu iş zaten bir kez yapıldı.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"En son açılan" ifadesi herkesin aklına hemen bir yığın getirmeli — bu cümle algoritmanın ta kendisi.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Üç ayrı başarısızlık yolu; doğru bir denetleyici yalnız ilkini değil, üçünü de yakalamalı.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Uyumsuzluğu izleyin: tepede `(` varken bir `]` gelir — eşleşme yok, hemen reddet.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Küçük bir yardımcı: bu kapanan, bu açanla eşleşiyor mu?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İnsanların en çok unuttuğu tam olarak son satır: dizgi, yığında hâlâ eşleşmemiş açanlarla bitebilir.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Tek geçiş, tek yığın, tamam — bugün göreceğimiz hemen her yığın algoritması bu biçimde.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Sık bir hata: yalnız 1. durumu denetleyip son `return top == -1;`'i unutmak.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Tek bir eşleşmemiş açan parantez — sonunda yığının neye benzediğini adım adım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önceki slayttaki tam olarak 3. başarısızlık durumu.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Animasyon çalışmadan önce sınıfa sonucu tahmin ettirin.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sayı itilir; her işleç iki değeri çeker, kendini uygular, sonucu geri 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Küçük bir dağıtıcı — şaşırtıcı bir şey yok, yalnızca dört aritmetik işleç.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 önce çıkar (sağ işlenen), a ikinci (sol işlenen) — sıra, eksi ve bölmede önemli.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Hesap makineleri ve derleyiciler ifadeleri gerçek zamanlı, tam olarak böyle, dev girdilerde değerlendirir.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öğrencilerin bu algoritmada yazdığı en sık hata.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algoritmanın sonunda gerçekte ne ürettiğini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ayrım — değerleri çökertmek ile sembolleri yeniden sıralamak — yavaşça tekrarlanmaya değer.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Prefix, her açıdan postfix'in ayna görüntüsüdür — tarama yönü, ve ilk çıkan işlenen.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11 belirteç, hatasız. "Zor" örnek aslında hata verir — daha fazla belirteç otomatik olarak geçerli bir ifade demek değildir.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Çekme sırasını tersine çevirmek, değişmeli olmayan her işleci (eksi, bölme) sessizce bozar.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çoğu öğrencinin yazdığı ilk "derleyici biçimli" klasik algoritma.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işlenen doğrudan çıktıya gider; her işleç önce bekleyen daha güçlü işleçleri boşaltır, sonra itilir.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Küçük bir öncelik tablosu — çarpma/bölme, artı/eksiden daha sıkı bağlanır.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Son while döngüsü "boşaltma" adımı: yığında kalan her şeyin de çıktıya ulaşması gerekir.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 gördüğümüz her yığın algoritmasıyla aynı biçim, aynı sınır.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A-B-C, (A-B)-C olmalı; bu da eşit öncelikli işleçlerin de önce çekilmesini gerektirir.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Sınıfa otuz saniye verin, sonra açıklayıp algoritmanın kendi izine karşılaştırın.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Sınıf emin görünmüyorsa bu izi satır satır birlikte geçin.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Yepyeni bir algoritma yerine zaten tanıdık üç adım — bütün marifet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Infix-postfix ile aynı normal örnek, A+B*C-D+E*F, böylece iki çıktı yan yana karşılaştırılabilir.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A+B+C+... gibi aynı öncelikli bir zincir için postfix ve prefix çıktılarını karşılaştırarak kuralı görün.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Özyinelemeyi anlaşılır kılan bağlantı: özyinelemeli olsun olmasın, her fonksiyon çağrısı gerçek bir yığın çerçevesi 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Doğrudan yanıtlanabilecek kadar basit bir duruma ulaşana kadar, aynı problemin daha küçük bir sürümü üzerinde kendini çağıran bir fonksiyon.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Birazdan tam olarak bitecek bellek yapısıyla, çağrı yığınıyla, tanışacağız.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Mümkün olan en küçük özyinelemeli fonksiyon — temel durumlarla ilgili her şey burada ilk kez görünüyor.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10'dan geri sayım. Uç durumlar n=0 ve n=-4, ikisi de temel duruma anında ulaşır.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"n=-4'ten geri sayım"ı düzeltilmeden önce sonsuz döngüye çeviren tam olarak bu hata.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fonksiyon çağırdığınızda bir yığın kullanıyordunuz — bugüne kadar yalnızca göremiyordunuz.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fact(10), 10 çerçeve derinliğinde — her biri bir sonrakini bekler, sonra çerçeveler ters sırada çözülür.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 satır: özyinelemeyi durduran bir temel durum, ve kesinlikle daha küçük bir problem üzerinde özyinelemeli çağrı.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Çıktı küçük, ama arkasındaki çağrı yığını makinesi bu bölümün asıl konusu.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Özyineleme çoğunlukla bir döngüden daha anlaşılır okunur, ama asla bellek maliyetinden bağımsız değildir.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Seçicideki "zor" örneğin 12'de durmasının nedeni tam olarak bu — taşmaya bir çağrı kala.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çökmenin, Bölüm 1'den zaten bildiğiniz bir adı var: yığın taşması — yalnızca kendi dizinize değil çağrı yığınına uygulanmış.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0'a ulaşması beklenen tek bir n'den 2'şer azaltmak, bu hatanın klasik bir versiyonudur.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Birlikte sayın: fact(3), fact(2), fact(1), fact(0).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çerçevelerin hiçbiri henüz dönmedi — hâlâ yığında olmalarının nedeni tam olarak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-1, -2, -3, -4... yolunda hiçbir zaman 1'e eşit olmaz.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Yanlış bir temel durum koşulu, eksik bir temel durum kadar tehlikelidir.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Özyinelemesi yazması kolay olduğu hâlde temelden üstel olan bir problemin standart ilk örneği.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Efsane: keşişler 64 altın diski taşıyor, işleri bitince dünya sona eriyor. Birazdan göreceğimiz gibi, kötü bir süre tahmini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1. ve 3. adımlar aynı problemdir, yalnızca daha küçük, çubuklar yeniden etiketlenmiş — kusursuz bir özyineleme.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4 disk, 15 hamle. Kodda açık bir yığına gerek yok — çağrı yığınının kendisi "from, to, via"yı hatırlıyor.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Dört satır, ve özyineleme yapısı ruhen fact() ile tıpatıp aynı — daha küçük problem, hareket et, daha küçük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Dört disk için on beş hamle — bu sayının nedenini birazdan tam olarak göreceğiz.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Hiçbir uygulama hilesi üstel büyümeyi düzeltmez — yalnızca daha küçük bir n düzeltir.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Keşişlerin dünyanın sonuna dair kehaneti, bir bakıma, makul bir süre tahminiydi.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 "from, to, via"yı tutan çağrı yığını, DFS'in "nereye geri dönülecek"i tutacağı aynı çağrı yığını.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 slayt önceki formülü uygulayın.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Diskleri bir artırmak, hamle sayısını kabaca ikiye katlayıp bir eksiltiyor.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Daha küçük alt-problem için "hedef" ve "yedek"in ne olduğunu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dönüş, öğrencilerin elle izlemekte en çok zorlandığı kısım — animasyon bunu görünür kılıyor.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Yığının ayna görüntüsü: aynı iki işlem, karşıt uçlar, farklı ad — LIFO yerine FIFO.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Sorun: süpermarket sırasından kim önce çıkar — en yeni gelen mi, en uzun bekleyen 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Yığın: bir uç. Kuyruk: iki uç, her işlem için biri — kavramsal sıçramanın tamamı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 ADT'yi, her biri kendi ödünleşimiyle, üç farklı şekilde kuracağız.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Elemanlar dequeue edildikçe öndeki kullanılmayan boşlukta bir şeyler ters gidiyor — animasyon bunu gösteriyor.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8 hücreyi doldur, 3'ünü çıkar, yine de iki enqueue daha başarısız olur — front, dequeue'nun boşalttığı hücreleri hiç yeniden kullanmaz.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Basit ve O(1), ama rear hiç geri gelmiyor, dequeue önde kaç hücre boşaltırsa boşaltsın.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Hücre 0, 1, 2 boş, ama kuyruk yine de dolu olduğunu iddia ediyor — bu kayma sorunu.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dequeue'dan sonra elemanları kaydırmak bunu düzeltirdi, ama O(1) dequeue'ları O(n)'e çevirir — kabul edilemez.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enqueue'nun gerçekte neyi denetlediğine tekrar bakın.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dairesel kuyruğu mükemmel biçimde kuruyor.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Boşa giden yer, yalnızca diziyi düz bir çizgi olarak düşündüğümüz için boşa gidiyordu.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10 hücrelik halka, orta karışıklık, bir başa dönüş — rear'ın dequeue'nun boşalttığı hücreleri yeniden kullanışını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Saf sürümden tek fark: rear modulo ile başa dönüyor, count gerçek doluluğu takip ediyor.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enqueue ile aynı ayna biçim — front da artık modulo ile başa dönüyor.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count, akıllı indis hilelerine güvenmek yerine belirsizliği doğrudan çözer.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gerçek bir sınırlı tamponda gerçekten kullanacağınız kuyruk uygulaması.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Yalnız rear başa dönüp front dönmezse, halka ilk başa dönüşten sonra sessizce bozulur.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Hem "az önce boşaldı" hem "az önce doldu" durumları front == (rear + 1) % CAP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count'un isteğe bağlı bir kayıt değil, belirsizliği çözen tek şey olmasının nedeni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Bağlı yığınla aynı taşma-kaldırma ödünleşimi, ama bu sefer her uca bir işaretçi gerekiyor.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Tek düğümle, front ve rear aynı düğümü gösterir — en baştaki bu özel durumu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Boş kuyruk durumu her iki işaretçiyi de yeni düğüme ayarlar; aksi hâlde yalnız rear hareket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Kuyruk az önce boşaldıysa, rear da NULL'a çekilmeli, yoksa sonraki enqueue çöp üzerinden yazar.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Tek bir düğüm hem öndür hem arka; her iki işaretçi de ona işaret etmelidir.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yapının nereden eklediğini, nereden çıkardığını karşılaştırın.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rear olmadan, enqueue son düğümü bulmak için tüm listeyi gezerdi — O(n), O(1)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deque, yalnızca hangi işlemleri çağırdığınıza bağlı olarak, aynı anda bir yığın ve bir kuyruk gibi davranır.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Burada çift bağlı liste üzerine kurulu; her uç kendi işaretçi güncelleme çiftini alıyor.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push_front'un push_back'in tam karşıt ucuna eklediğini izleyin — sıradan bir kuyruğun hiç yapamayacağı bir şey.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push_front, back/next yerine front/prev'e dokunan, bu fonksiyonun ayna görüntüsüdür.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pop_front, back/prev yerine front/next'e dokunarak bunu tam olarak yansıtır.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C'de standart bir deque yok, bu yüzden bir tane kuruyoruz; Java'da java.util.ArrayDeque zaten bunu veriyor.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çağrıyı tek tek izleyin.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Öne eklemeler soldan geriye doğru, arkaya eklemeler sağda ileriye doğru kurulur.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 yeni bir kod gerektirmiyor — yalnızca zaten kurduğumuz kuyruklardan birkaçı, artı küçük bir seçim kuralı.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Zamanlayıcı önce üst kuyrukları sunar, yalnızca üsttekiler boşken alta 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Normal örnek: 12 süreç, üç sınıfa dengeli dağılmış. admit(), süreci kendi seviyesine ekler; pick_next() her zaman önce seviye 0'ı dener.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Gerçek zamanlayıcılar, bir alt seviyenin sonsuza kadar aç kalmaması için yaşlandırma ya da zaman dilimleme ekler.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bir seviyenin gerçekte ne olduğuna bakın.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Gelecek hafta, bir öbek üzerine kurulu yakın akrabası öncelik kuyruğuyla tanışacaksınız.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Üçü de tam olarak aynı LIFO kuralına uyar — yalnızca depolama ve kapasite sınırı farklı.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Dairesel kuyruk gerçekte kullanacağınız olan; saf dizi kuyruğu bir öğretim basamağı.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İkisi de sıradan kuyruğu genelleştirir — biri hangi uca dokunduğunuzu gevşeterek, diğeri öncelik ekleyerek.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Dört çok farklı görünen problem, hepsi tam olarak aynı küçük yığın arayüzüyle çözüldü.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Bugünden yalnız bir cümle hatırlanacaksa, hatırlanmaya değer olan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Bunlar, yazılı notların sonunda listelenen, çözüm taslaklı aynı altı alıştırma.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 hafta notlarının sonundaki kendini sınama testini, her soru bir slaytta olacak şekilde yansıtıyor.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Sorun, bekleyin, sonra ilerleyin.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1'deki tabak yığını resmi bütün fikrin ta kendisi.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Sorun, bekleyin, sonra ilerleyin.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5'teki bekleme sırası resmi bütün fikrin ta kendisi.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Geçerli indis aralığını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top == CAP'i beklemek zaten dizinin sonunun bir hücre ötesinde olurdu.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"Önce sağ işlenen" kuralını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`8 2 -`'nin neden 2 - 8 değil 8 - 2 anlamına geldiği tam olarak 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Bu, kayma sorununun bir soru olarak yeniden ifadesi.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Kuyruk, dizinin sonuna çarpana kadar sağa doğru "kayar".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front == (rear + 1) % CAP belirsizliğini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Bir başa dönüşten sonra, front == (rear + 1) % CAP artık soruyu tek başına çözemez.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3'ün ilk kod slaytını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özyinelemeli fonksiyonun ulaşılabilir en az bir temel duruma ihtiyacı vardır.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1'deki LIFO kuralıyla karşılaştırın.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Tıpkı herhangi bir yığında en son itilen elemanın çekilecek bir sonraki eleman olması gibi.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Bölüm 4'teki yinelemeyi hatırlayın.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n = 64 için, saniyede bir hamleyle bu yaklaşık 585 milyar yıl.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Her yapının hangi uçlara dokunmasına izin verildiğini düşünün.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Sıradan bir yığın yalnız tepesine dokunur; sıradan bir kuyruk yalnız bir uçtan ekler, diğerinden çıkarır.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Sol alt ağacı çöz, düğümü ziyaret et, sağ alt ağacı çöz — tam olarak Hanoi'nin özyineleme biçimi, yeni bir veri biçimi üzerinde.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Bunlar, hafta notlarının sonunda listelenen aynı kaynaklar.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Konuşma notu: Tarihsel kaynaklar (Lucas, Łukasiewicz), bugünkü "kısa tarihçe" slaytlarının dayandığı kaynaklar.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gif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gif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gif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gif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gif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gif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gif"/><Relationship Id="rId4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gif"/><Relationship Id="rId4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gif"/><Relationship Id="rId4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gif"/><Relationship Id="rId4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gif"/><Relationship Id="rId4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gif"/><Relationship Id="rId4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gif"/><Relationship Id="rId4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gif"/><Relationship Id="rId4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gif"/><Relationship Id="rId4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Yığınlar ve Kuyruklar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CEN207 Veri Yapıları — Hafta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2026-2027 Güz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9348"/>
                <a:gridCol w="10072186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Yığın ADT · dizi yığını · taşma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bağlı yığın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Yığın uygulamaları: parantez, postfix, prefix, infix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4–8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özyineleme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9–10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Hanoi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kuyruk türevleri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Anim 12–16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kendini sınama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ÖÇ.1 (temel veri yapılarını açıklama) · ÖÇ.7 (doğru yapıyı seçme)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 haftanın kavramları — nerede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47369"/>
                <a:gridCol w="2364165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Yığın ADT'si, LIFO, push/pop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İfade algoritmaları (postfix, infix)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Özyineleme, çağrı yığını, Hanoi Kulesi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Kuyruk ADT'si, FIFO, dairesel kuyruk, deque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Bölüm 5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örnekleri nasıl çalışıyor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fikrin eksiksiz bir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Java</a:t>
            </a:r>
            <a:r>
              <a:rPr sz="2000" b="0">
                <a:solidFill>
                  <a:srgbClr val="1F2D3A"/>
                </a:solidFill>
              </a:rPr>
              <a:t> programı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C: </a:t>
            </a:r>
            <a:r>
              <a:rPr sz="2000" b="0">
                <a:solidFill>
                  <a:srgbClr val="A1123F"/>
                </a:solidFill>
                <a:latin typeface="Consolas"/>
              </a:rPr>
              <a:t>gcc -std=c11 -Wall -Wextra -o /tmp/x file.c &amp;&amp; /tmp/x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javac -d /tmp/j File.java &amp;&amp; java -cp /tmp/j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code/week-03/c/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code/week-03/java/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programın beklenen çıktısı hafta notlarında var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Hafta 1–2'den köprü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Hafta 1–2 size iki araç verdi: </a:t>
            </a:r>
            <a:r>
              <a:rPr sz="2000" b="1">
                <a:solidFill>
                  <a:srgbClr val="1F2D3A"/>
                </a:solidFill>
              </a:rPr>
              <a:t>işaretçiler/bellek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bağlı liste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ikisini de, sürekli, yeni biçimlerde kullanıyor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yeni fikri: bir yapıya </a:t>
            </a:r>
            <a:r>
              <a:rPr sz="2000" b="0" i="1">
                <a:solidFill>
                  <a:srgbClr val="1F2D3A"/>
                </a:solidFill>
              </a:rPr>
              <a:t>nereden</a:t>
            </a:r>
            <a:r>
              <a:rPr sz="2000" b="0">
                <a:solidFill>
                  <a:srgbClr val="1F2D3A"/>
                </a:solidFill>
              </a:rPr>
              <a:t> dokunabileceğinizi kısıtlamak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Tekrar — Hafta 1: işaretçiler ve bellek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*p</a:t>
            </a:r>
            <a:r>
              <a:rPr sz="2000" b="0">
                <a:solidFill>
                  <a:srgbClr val="1F2D3A"/>
                </a:solidFill>
              </a:rPr>
              <a:t> bir sayı değil, bir </a:t>
            </a:r>
            <a:r>
              <a:rPr sz="2000" b="1">
                <a:solidFill>
                  <a:srgbClr val="1F2D3A"/>
                </a:solidFill>
              </a:rPr>
              <a:t>adres</a:t>
            </a:r>
            <a:r>
              <a:rPr sz="2000" b="0">
                <a:solidFill>
                  <a:srgbClr val="1F2D3A"/>
                </a:solidFill>
              </a:rPr>
              <a:t> tutar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işletim sisteminden kutu ister;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geri verir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'i unutmak → </a:t>
            </a:r>
            <a:r>
              <a:rPr sz="2000" b="1">
                <a:solidFill>
                  <a:srgbClr val="1F2D3A"/>
                </a:solidFill>
              </a:rPr>
              <a:t>bellek sızıntısı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'den sonra kullanmak → </a:t>
            </a:r>
            <a:r>
              <a:rPr sz="2000" b="1">
                <a:solidFill>
                  <a:srgbClr val="1F2D3A"/>
                </a:solidFill>
              </a:rPr>
              <a:t>sarkan işaretçi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Tekrar — Hafta 2: bağlı listeler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Bağlı liste, </a:t>
            </a:r>
            <a:r>
              <a:rPr sz="2000" b="1">
                <a:solidFill>
                  <a:srgbClr val="1F2D3A"/>
                </a:solidFill>
              </a:rPr>
              <a:t>düğümlerden</a:t>
            </a:r>
            <a:r>
              <a:rPr sz="2000" b="0">
                <a:solidFill>
                  <a:srgbClr val="1F2D3A"/>
                </a:solidFill>
              </a:rPr>
              <a:t> oluşan bir zincirdir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düğüm: bir değer + sonraki düğümü gösteren işaretçi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Ekleme/çıkarma birkaç işaretçiyi yeniden bağlar — kaydırma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Bugünün bağlı yığını/kuyruğu tam olarak bu fikri kullanır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Haftanın haritası — tek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 ve kuyruk ikisi de </a:t>
            </a:r>
            <a:r>
              <a:rPr sz="2000" b="1">
                <a:solidFill>
                  <a:srgbClr val="1F2D3A"/>
                </a:solidFill>
              </a:rPr>
              <a:t>doğrusal</a:t>
            </a:r>
            <a:r>
              <a:rPr sz="2000" b="0">
                <a:solidFill>
                  <a:srgbClr val="1F2D3A"/>
                </a:solidFill>
              </a:rPr>
              <a:t> yapılardır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yığın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ucuna dokunmanıza izin verir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kuyruk</a:t>
            </a:r>
            <a:r>
              <a:rPr sz="2000" b="0">
                <a:solidFill>
                  <a:srgbClr val="1F2D3A"/>
                </a:solidFill>
              </a:rPr>
              <a:t> sizi bir uçtan eklemeye, diğerinden çıkarmaya zorlar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tek kural farkı, her yapının ne için iyi olduğunu belirler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Haftanın haritası — tek bakışta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8573"/>
                <a:gridCol w="59029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Yığın konuları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Kuyruk konuları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 yığını, bağlı yığın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 kuyruğu, dairesel kuyruk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Parantez, postfix, infix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Bağlı liste ile kuyruk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Özyineleme, çağrı yığını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Deque, çok seviyeli kuyruk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Hanoi Kulesi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Yığın: Son Giren, İlk Çıkar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Başlangıç sorusu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 arda üç web sayfası ziyaret edin, sonra </a:t>
            </a:r>
            <a:r>
              <a:rPr sz="2000" b="1">
                <a:solidFill>
                  <a:srgbClr val="1F2D3A"/>
                </a:solidFill>
              </a:rPr>
              <a:t>Geri</a:t>
            </a:r>
            <a:r>
              <a:rPr sz="2000" b="0">
                <a:solidFill>
                  <a:srgbClr val="1F2D3A"/>
                </a:solidFill>
              </a:rPr>
              <a:t>'ye üç kez tıklayın.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Sırasıyla sayfa 2'ye, sonra sayfa 1'e inersiniz, sonra hiçbir yere. Ziyaret edilen </a:t>
            </a:r>
            <a:r>
              <a:rPr sz="2000" b="0" i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sayfa, tekrar ziyaret edilen </a:t>
            </a:r>
            <a:r>
              <a:rPr sz="2000" b="0" i="1">
                <a:solidFill>
                  <a:srgbClr val="1F2D3A"/>
                </a:solidFill>
              </a:rPr>
              <a:t>ilk</a:t>
            </a:r>
            <a:r>
              <a:rPr sz="2000" b="0">
                <a:solidFill>
                  <a:srgbClr val="1F2D3A"/>
                </a:solidFill>
              </a:rPr>
              <a:t> sayfadır.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1950'lerin sonu: "yığın", "push", "pop" zaten CS literatüründe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1957</a:t>
            </a:r>
            <a:r>
              <a:rPr sz="2000" b="0">
                <a:solidFill>
                  <a:srgbClr val="1F2D3A"/>
                </a:solidFill>
              </a:rPr>
              <a:t> — Bauer ve Samelson (Münih) donanımsal bir yığın patentler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1946</a:t>
            </a:r>
            <a:r>
              <a:rPr sz="2000" b="0">
                <a:solidFill>
                  <a:srgbClr val="1F2D3A"/>
                </a:solidFill>
              </a:rPr>
              <a:t> — Turing, ACE bilgisayarında benzer bir fikir kullanmıştı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Bilgisayar biliminin en eski fikirlerinden biri — hâlâ her programda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Sezgi — bir tabak yığını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tabağı yalnız </a:t>
            </a:r>
            <a:r>
              <a:rPr sz="2000" b="1">
                <a:solidFill>
                  <a:srgbClr val="1F2D3A"/>
                </a:solidFill>
              </a:rPr>
              <a:t>en üstten</a:t>
            </a:r>
            <a:r>
              <a:rPr sz="2000" b="0">
                <a:solidFill>
                  <a:srgbClr val="1F2D3A"/>
                </a:solidFill>
              </a:rPr>
              <a:t> alın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tabağı yalnız </a:t>
            </a:r>
            <a:r>
              <a:rPr sz="2000" b="1">
                <a:solidFill>
                  <a:srgbClr val="1F2D3A"/>
                </a:solidFill>
              </a:rPr>
              <a:t>en üste</a:t>
            </a:r>
            <a:r>
              <a:rPr sz="2000" b="0">
                <a:solidFill>
                  <a:srgbClr val="1F2D3A"/>
                </a:solidFill>
              </a:rPr>
              <a:t> koyun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Üstündekileri kaldırmadan ortadan bir tabak çekemezsiniz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son konan tabak, çıkarılan ilk tabaktır — </a:t>
            </a:r>
            <a:r>
              <a:rPr sz="2000" b="1">
                <a:solidFill>
                  <a:srgbClr val="1F2D3A"/>
                </a:solidFill>
              </a:rPr>
              <a:t>LIFO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Üç işlem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push</a:t>
            </a:r>
            <a:r>
              <a:rPr sz="2000" b="0">
                <a:solidFill>
                  <a:srgbClr val="1F2D3A"/>
                </a:solidFill>
              </a:rPr>
              <a:t> — en üste yeni bir eleman koy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pop</a:t>
            </a:r>
            <a:r>
              <a:rPr sz="2000" b="0">
                <a:solidFill>
                  <a:srgbClr val="1F2D3A"/>
                </a:solidFill>
              </a:rPr>
              <a:t> — en üstteki elemanı çıkar ve döndür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peek</a:t>
            </a:r>
            <a:r>
              <a:rPr sz="2000" b="0">
                <a:solidFill>
                  <a:srgbClr val="1F2D3A"/>
                </a:solidFill>
              </a:rPr>
              <a:t> (ya da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) — çıkarmadan en üste bak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Üçü de yalnız </a:t>
            </a:r>
            <a:r>
              <a:rPr sz="2000" b="1">
                <a:solidFill>
                  <a:srgbClr val="1F2D3A"/>
                </a:solidFill>
              </a:rPr>
              <a:t>bir uca</a:t>
            </a:r>
            <a:r>
              <a:rPr sz="2000" b="0">
                <a:solidFill>
                  <a:srgbClr val="1F2D3A"/>
                </a:solidFill>
              </a:rPr>
              <a:t> dokunur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Yığın ADT'si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3491691"/>
                <a:gridCol w="3055229"/>
                <a:gridCol w="218230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İşlem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yapar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 koşul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Karmaşıklık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push(x)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x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'i en üste ekle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dolu değil (dizi)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pop()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üstü çıkar/döndür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boş değil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peek()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üstü döndür, tut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boş değil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isEmpty()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sıfır eleman mı?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Dizi ile yığın —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 boyutlu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data[CAP]</a:t>
            </a:r>
            <a:r>
              <a:rPr sz="2000" b="0">
                <a:solidFill>
                  <a:srgbClr val="1F2D3A"/>
                </a:solidFill>
              </a:rPr>
              <a:t> dizisi ayır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tamsayı tut,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: en üstteki hücrenin indisi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yığın: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== -1</a:t>
            </a:r>
            <a:r>
              <a:rPr sz="2000" b="0">
                <a:solidFill>
                  <a:srgbClr val="1F2D3A"/>
                </a:solidFill>
              </a:rPr>
              <a:t> — "henüz üst yok"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top++</a:t>
            </a:r>
            <a:r>
              <a:rPr sz="2000" b="0">
                <a:solidFill>
                  <a:srgbClr val="1F2D3A"/>
                </a:solidFill>
              </a:rPr>
              <a:t>, yaz;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</a:t>
            </a:r>
            <a:r>
              <a:rPr sz="2000" b="0">
                <a:solidFill>
                  <a:srgbClr val="1F2D3A"/>
                </a:solidFill>
              </a:rPr>
              <a:t>: oku,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top--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Array stack: push and pop</a:t>
            </a:r>
          </a:p>
        </p:txBody>
      </p:sp>
      <p:pic>
        <p:nvPicPr>
          <p:cNvPr id="7" name="Picture 6" descr="array-stack-push-pop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190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push()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push(int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(top == CAP - 1)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top = top + 1;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data[top] =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pop()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pop(int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(top == -1)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 = data[top];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top = top - 1;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Beklenen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push(12) -&gt; true   [top = 0]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push(21) -&gt; true   [top = 9]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pop()    -&gt; 21     [top = 8]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pop()    -&gt; 5      [top = 7]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pop()    -&gt; 14     [top = 6]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pop()    -&gt; 30     [top = 5]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Neden her işlem O(1)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pop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sabit sayıda adım</a:t>
            </a:r>
            <a:r>
              <a:rPr sz="2000" b="0">
                <a:solidFill>
                  <a:srgbClr val="1F2D3A"/>
                </a:solidFill>
              </a:rPr>
              <a:t> atar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koşul denetimi,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'un bir hareketi, bir dizi erişimi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Yığında 1 eleman ya da bir milyon olsun fark etmez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döngü diğer elemanlara dokunmaz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Taşma ve alttan taşma —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dizinin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 bir boyutu var. Dolu bir yığına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</a:t>
            </a:r>
            <a:r>
              <a:rPr sz="2000" b="0">
                <a:solidFill>
                  <a:srgbClr val="1F2D3A"/>
                </a:solidFill>
              </a:rPr>
              <a:t>, boş bir yığından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</a:t>
            </a:r>
            <a:r>
              <a:rPr sz="2000" b="0">
                <a:solidFill>
                  <a:srgbClr val="1F2D3A"/>
                </a:solidFill>
              </a:rPr>
              <a:t> yapılırsa ne olur?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bir yığın </a:t>
            </a:r>
            <a:r>
              <a:rPr sz="2000" b="1">
                <a:solidFill>
                  <a:srgbClr val="1F2D3A"/>
                </a:solidFill>
              </a:rPr>
              <a:t>önce denetlemeli ve reddetmelidir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Stack overflow and underflow</a:t>
            </a:r>
          </a:p>
        </p:txBody>
      </p:sp>
      <p:pic>
        <p:nvPicPr>
          <p:cNvPr id="7" name="Picture 6" descr="stack-overflow-underflow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07942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 (dizi yığını)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== CAP</a:t>
            </a:r>
            <a:r>
              <a:rPr sz="2000" b="0">
                <a:solidFill>
                  <a:srgbClr val="1F2D3A"/>
                </a:solidFill>
              </a:rPr>
              <a:t> denetlemek,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== CAP - 1</a:t>
            </a:r>
            <a:r>
              <a:rPr sz="2000" b="0">
                <a:solidFill>
                  <a:srgbClr val="1F2D3A"/>
                </a:solidFill>
              </a:rPr>
              <a:t> yerine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0">
                <a:solidFill>
                  <a:srgbClr val="A1123F"/>
                </a:solidFill>
                <a:latin typeface="Consolas"/>
              </a:rPr>
              <a:t>isEmpty</a:t>
            </a:r>
            <a:r>
              <a:rPr sz="2000" b="0">
                <a:solidFill>
                  <a:srgbClr val="1F2D3A"/>
                </a:solidFill>
              </a:rPr>
              <a:t> denetlemeden pop yapmak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</a:t>
            </a:r>
            <a:r>
              <a:rPr sz="2000" b="0">
                <a:solidFill>
                  <a:srgbClr val="1F2D3A"/>
                </a:solidFill>
              </a:rPr>
              <a:t>'un </a:t>
            </a:r>
            <a:r>
              <a:rPr sz="2000" b="0">
                <a:solidFill>
                  <a:srgbClr val="A1123F"/>
                </a:solidFill>
                <a:latin typeface="Consolas"/>
              </a:rPr>
              <a:t>bool</a:t>
            </a:r>
            <a:r>
              <a:rPr sz="2000" b="0">
                <a:solidFill>
                  <a:srgbClr val="1F2D3A"/>
                </a:solidFill>
              </a:rPr>
              <a:t> dönüş değerini yok saymak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top = -1</a:t>
            </a:r>
            <a:r>
              <a:rPr sz="2000" b="0">
                <a:solidFill>
                  <a:srgbClr val="1F2D3A"/>
                </a:solidFill>
              </a:rPr>
              <a:t>, "boş" için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 0</a:t>
            </a:r>
            <a:r>
              <a:rPr sz="2000" b="0">
                <a:solidFill>
                  <a:srgbClr val="1F2D3A"/>
                </a:solidFill>
              </a:rPr>
              <a:t>'dan daha iyi bir seçim?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İndis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geçerli bir hücredir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 0</a:t>
            </a:r>
            <a:r>
              <a:rPr sz="2000" b="0">
                <a:solidFill>
                  <a:srgbClr val="1F2D3A"/>
                </a:solidFill>
              </a:rPr>
              <a:t> "boş" anlamına gelseydi, boş bir yığınla indis 0'da tek elemanı olan bir yığını ayırt edemezdiniz.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Hiç taşmayan bir yığın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 ile yığının sert bir tavanı var: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CAP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Bağlı liste ile yığın</a:t>
            </a:r>
            <a:r>
              <a:rPr sz="2000" b="0">
                <a:solidFill>
                  <a:srgbClr val="1F2D3A"/>
                </a:solidFill>
              </a:rPr>
              <a:t>: her eleman kendi düğümü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 artık bir indis değil, bir </a:t>
            </a:r>
            <a:r>
              <a:rPr sz="2000" b="1">
                <a:solidFill>
                  <a:srgbClr val="1F2D3A"/>
                </a:solidFill>
              </a:rPr>
              <a:t>işaretçi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</a:t>
            </a:r>
            <a:r>
              <a:rPr sz="2000" b="0">
                <a:solidFill>
                  <a:srgbClr val="1F2D3A"/>
                </a:solidFill>
              </a:rPr>
              <a:t> ayırır;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</a:t>
            </a:r>
            <a:r>
              <a:rPr sz="2000" b="0">
                <a:solidFill>
                  <a:srgbClr val="1F2D3A"/>
                </a:solidFill>
              </a:rPr>
              <a:t> serbest bırakır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Linked-list stack: push and pop</a:t>
            </a:r>
          </a:p>
        </p:txBody>
      </p:sp>
      <p:pic>
        <p:nvPicPr>
          <p:cNvPr id="7" name="Picture 6" descr="linked-stack-push-pop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9353" y="1325880"/>
            <a:ext cx="883298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struct Node + push()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54203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Node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data;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struct Node *next;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Node;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Node *top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push(int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*n = malloc(sizeof(Node));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n-&gt;data =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n-&gt;next = top;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top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pop()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pop(int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(top == NULL)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Node *tmp = top;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 = tmp-&gt;data;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top = top-&gt;next;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free(tmp);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push neden hâlâ O(1)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Tek, sabit boyutlu düğüm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 sabit zamanlı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 düğüm zaten var olduğuna bağlı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 olan elemanlar üzerinde döngü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Bedel: düğüm başına bir işaretçi (</a:t>
            </a:r>
            <a:r>
              <a:rPr sz="2000" b="0">
                <a:solidFill>
                  <a:srgbClr val="A1123F"/>
                </a:solidFill>
                <a:latin typeface="Consolas"/>
              </a:rPr>
              <a:t>next</a:t>
            </a:r>
            <a:r>
              <a:rPr sz="2000" b="0">
                <a:solidFill>
                  <a:srgbClr val="1F2D3A"/>
                </a:solidFill>
              </a:rPr>
              <a:t>), dizide sıfır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 (bağlı yığın)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pop</a:t>
            </a:r>
            <a:r>
              <a:rPr sz="2000" b="0">
                <a:solidFill>
                  <a:srgbClr val="1F2D3A"/>
                </a:solidFill>
              </a:rPr>
              <a:t>'ta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free(tmp)</a:t>
            </a:r>
            <a:r>
              <a:rPr sz="2000" b="0">
                <a:solidFill>
                  <a:srgbClr val="1F2D3A"/>
                </a:solidFill>
              </a:rPr>
              <a:t>'i unutmak — yavaş bellek sızıntısı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edilmiş bir işaretçiyi kullanmak — tanımsız davranış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Java: eski bir referansı tutmak çöp toplamayı engeller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Dizi vs. bağlı liste yığını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9040"/>
                <a:gridCol w="3162763"/>
                <a:gridCol w="4269731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Dizi yığını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Bağlı yığın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Kapasite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Sabit, taşabilir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Bellekle 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Ekstra bellek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Düğüm başına 1 işaretçi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Önbellek davranışı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Bitişik, hızlı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Dağınık, daha yavaş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CAP = 8</a:t>
            </a:r>
            <a:r>
              <a:rPr sz="2000" b="0">
                <a:solidFill>
                  <a:srgbClr val="1F2D3A"/>
                </a:solidFill>
              </a:rPr>
              <a:t>. 5 push ve 2 pop'tan 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 nedir?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-1 + 5 - 2 = 2</a:t>
            </a:r>
            <a:r>
              <a:rPr sz="2000" b="0">
                <a:solidFill>
                  <a:srgbClr val="1F2D3A"/>
                </a:solidFill>
              </a:rPr>
              <a:t>. Üç eleman kalır (indis 0, 1, 2),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== 2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Yığın Uygulamaları: İfadeler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Infix bilgisayar için neden can sıkıcı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 + B * C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*</a:t>
            </a:r>
            <a:r>
              <a:rPr sz="2000" b="0">
                <a:solidFill>
                  <a:srgbClr val="1F2D3A"/>
                </a:solidFill>
              </a:rPr>
              <a:t> mi önce hesaplanır? </a:t>
            </a:r>
            <a:r>
              <a:rPr sz="2000" b="1">
                <a:solidFill>
                  <a:srgbClr val="1F2D3A"/>
                </a:solidFill>
              </a:rPr>
              <a:t>Öncelik</a:t>
            </a:r>
            <a:r>
              <a:rPr sz="2000" b="0">
                <a:solidFill>
                  <a:srgbClr val="1F2D3A"/>
                </a:solidFill>
              </a:rPr>
              <a:t> gerekir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başka yazım, işleci öyle taşır ki değerlendirme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sırasında hiçbir öncelik kuralı gerekmez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Kısa bir tarihçe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1920'ler — Polonyalı mantıkçı </a:t>
            </a:r>
            <a:r>
              <a:rPr sz="2000" b="1">
                <a:solidFill>
                  <a:srgbClr val="1F2D3A"/>
                </a:solidFill>
              </a:rPr>
              <a:t>Jan Łukasiewicz</a:t>
            </a:r>
            <a:r>
              <a:rPr sz="2000" b="0">
                <a:solidFill>
                  <a:srgbClr val="1F2D3A"/>
                </a:solidFill>
              </a:rPr>
              <a:t>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prefix ("Polish") ve postfix ("Reverse Polish") yazımı tanıtır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HP hesap makineleri</a:t>
            </a:r>
            <a:r>
              <a:rPr sz="2000" b="0">
                <a:solidFill>
                  <a:srgbClr val="1F2D3A"/>
                </a:solidFill>
              </a:rPr>
              <a:t> sayesinde ünlenir: parantez tuşu gerekmez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Küçük bir yığın makinesiyle değerlendirilir — birazdan kuracağınız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Üç yazım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3857"/>
                <a:gridCol w="4927790"/>
                <a:gridCol w="263988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Yazım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İşlecin yeri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  <a:latin typeface="Consolas"/>
                        </a:rPr>
                        <a:t>A + B * C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Infix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İşlenenler arasında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 + B * 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Postfix (RPN)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iki işlenenden sonra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A B C * +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Prefix (Polish)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iki işlenenden önce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+ A * B 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Parantez dengesi —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{([])(]}</a:t>
            </a:r>
            <a:r>
              <a:rPr sz="2000" b="0">
                <a:solidFill>
                  <a:srgbClr val="1F2D3A"/>
                </a:solidFill>
              </a:rPr>
              <a:t> geçerli biçimde iç içe mi?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kapanan, hâlâ açık olan </a:t>
            </a:r>
            <a:r>
              <a:rPr sz="2000" b="1">
                <a:solidFill>
                  <a:srgbClr val="1F2D3A"/>
                </a:solidFill>
              </a:rPr>
              <a:t>en son açılan</a:t>
            </a:r>
            <a:r>
              <a:rPr sz="2000" b="0">
                <a:solidFill>
                  <a:srgbClr val="1F2D3A"/>
                </a:solidFill>
              </a:rPr>
              <a:t> parantezle eşleşmelidir.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Dizgiyi bir kez tara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</a:t>
            </a:r>
            <a:r>
              <a:rPr sz="2000" b="1">
                <a:solidFill>
                  <a:srgbClr val="1F2D3A"/>
                </a:solidFill>
              </a:rPr>
              <a:t>açan</a:t>
            </a:r>
            <a:r>
              <a:rPr sz="2000" b="0">
                <a:solidFill>
                  <a:srgbClr val="1F2D3A"/>
                </a:solidFill>
              </a:rPr>
              <a:t>: it (push)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</a:t>
            </a:r>
            <a:r>
              <a:rPr sz="2000" b="1">
                <a:solidFill>
                  <a:srgbClr val="1F2D3A"/>
                </a:solidFill>
              </a:rPr>
              <a:t>kapanan</a:t>
            </a:r>
            <a:r>
              <a:rPr sz="2000" b="0">
                <a:solidFill>
                  <a:srgbClr val="1F2D3A"/>
                </a:solidFill>
              </a:rPr>
              <a:t>: çek (pop), eşleşmeli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Kapanan geldiğinde yığın boşsa → dengesiz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Sonunda yığın boş değilse → dengesiz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Checking brackets with a stack</a:t>
            </a:r>
          </a:p>
        </p:txBody>
      </p:sp>
      <p:pic>
        <p:nvPicPr>
          <p:cNvPr id="7" name="Picture 6" descr="bracket-matching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228219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matches()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bool matches(char open, char close)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(open == '(' &amp;&amp; close == ')') ||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(open == '[' &amp;&amp; close == ']') ||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(open == '{' &amp;&amp; close == '}');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balanced()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91998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balanced(const char *s)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st[100]; int top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s[i] != '\0';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char c = 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(c == '(' || c == '[' || c == '{')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st[++top] = c;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 else if (c == ')' || c == ']' || c == '}')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(top == -1)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char o = st[top--];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if (!matches(o, c))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top ==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karaktere </a:t>
            </a:r>
            <a:r>
              <a:rPr sz="2000" b="1">
                <a:solidFill>
                  <a:srgbClr val="1F2D3A"/>
                </a:solidFill>
              </a:rPr>
              <a:t>tam olarak bir kez</a:t>
            </a:r>
            <a:r>
              <a:rPr sz="2000" b="0">
                <a:solidFill>
                  <a:srgbClr val="1F2D3A"/>
                </a:solidFill>
              </a:rPr>
              <a:t> bakılır, her yığın işlemi O(1)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balanced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kötü durum bellek: O(n) — tamamı açan bir dizgi.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Tuzak — dengesiz olmanın üç yolu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Kapanan gelir, tepe eşleşmez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(]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Kapanan gelir, yığın zaten boş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Dizgi biter, yığın boş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(()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((A+B)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balanced</a:t>
            </a:r>
            <a:r>
              <a:rPr sz="2000" b="0">
                <a:solidFill>
                  <a:srgbClr val="1F2D3A"/>
                </a:solidFill>
              </a:rPr>
              <a:t> tarafından kabul edilir mi? Neden?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Hayır. Her </a:t>
            </a:r>
            <a:r>
              <a:rPr sz="2000" b="0">
                <a:solidFill>
                  <a:srgbClr val="A1123F"/>
                </a:solidFill>
                <a:latin typeface="Consolas"/>
              </a:rPr>
              <a:t>(</a:t>
            </a:r>
            <a:r>
              <a:rPr sz="2000" b="0">
                <a:solidFill>
                  <a:srgbClr val="1F2D3A"/>
                </a:solidFill>
              </a:rPr>
              <a:t> itilir, dizgi yığında hâlâ biri varken biter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top == -1</a:t>
            </a:r>
            <a:r>
              <a:rPr sz="2000" b="0">
                <a:solidFill>
                  <a:srgbClr val="1F2D3A"/>
                </a:solidFill>
              </a:rPr>
              <a:t> yanlıştır, bu yüzden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balanced</a:t>
            </a:r>
            <a:r>
              <a:rPr sz="2000" b="0">
                <a:solidFill>
                  <a:srgbClr val="1F2D3A"/>
                </a:solidFill>
              </a:rPr>
              <a:t> doğru biçimde </a:t>
            </a:r>
            <a:r>
              <a:rPr sz="2000" b="0">
                <a:solidFill>
                  <a:srgbClr val="A1123F"/>
                </a:solidFill>
                <a:latin typeface="Consolas"/>
              </a:rPr>
              <a:t>false</a:t>
            </a:r>
            <a:r>
              <a:rPr sz="2000" b="0">
                <a:solidFill>
                  <a:srgbClr val="1F2D3A"/>
                </a:solidFill>
              </a:rPr>
              <a:t> döndürür.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Postfix değerlendirme —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5 3 + 8 2 - * 6 + 12 -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(5+3)*(8-2)=48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48+6=54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54-12=42</a:t>
            </a:r>
            <a:r>
              <a:rPr sz="2000" b="0">
                <a:solidFill>
                  <a:srgbClr val="1F2D3A"/>
                </a:solidFill>
              </a:rPr>
              <a:t> olarak değerlendirilmeli.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 öncelik kuralı gerekmiyor — yalnız bir tarama.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Evaluating a postfix expression</a:t>
            </a:r>
          </a:p>
        </p:txBody>
      </p:sp>
      <p:pic>
        <p:nvPicPr>
          <p:cNvPr id="7" name="Picture 6" descr="postfix-evaluation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06637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apply()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apply(char op, int a, int b)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switch (op)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case '+': return a + b;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case '-': return a - b;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case '*': return a * b;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case '/': return a / b;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default: 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eval_postfix()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91998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eval_postfix(char *tok[], int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int st[100]; int top = -1;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char *t = tok[i];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(isdigit(t[0]))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st[++top] = atoi(t);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int b = st[top--];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int a = st[top--];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st[++top] = apply(t[0], a, b);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st[top];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Belirteç sayısında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: her belirteç en çok bir kez itilir, en çok bir kez çekilir.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Tuzak — işlenen sırası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8 2 -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8 - 2</a:t>
            </a:r>
            <a:r>
              <a:rPr sz="2000" b="0">
                <a:solidFill>
                  <a:srgbClr val="1F2D3A"/>
                </a:solidFill>
              </a:rPr>
              <a:t> demektir. İlk çekilen (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) </a:t>
            </a:r>
            <a:r>
              <a:rPr sz="2000" b="1">
                <a:solidFill>
                  <a:srgbClr val="1F2D3A"/>
                </a:solidFill>
              </a:rPr>
              <a:t>sağ</a:t>
            </a:r>
            <a:r>
              <a:rPr sz="2000" b="0">
                <a:solidFill>
                  <a:srgbClr val="1F2D3A"/>
                </a:solidFill>
              </a:rPr>
              <a:t> işlenendir; ikinci çekilen (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) </a:t>
            </a:r>
            <a:r>
              <a:rPr sz="2000" b="1">
                <a:solidFill>
                  <a:srgbClr val="1F2D3A"/>
                </a:solidFill>
              </a:rPr>
              <a:t>sol</a:t>
            </a:r>
            <a:r>
              <a:rPr sz="2000" b="0">
                <a:solidFill>
                  <a:srgbClr val="1F2D3A"/>
                </a:solidFill>
              </a:rPr>
              <a:t>. Yer değiştirirseniz </a:t>
            </a:r>
            <a:r>
              <a:rPr sz="2000" b="0">
                <a:solidFill>
                  <a:srgbClr val="A1123F"/>
                </a:solidFill>
                <a:latin typeface="Consolas"/>
              </a:rPr>
              <a:t>2 - 8</a:t>
            </a:r>
            <a:r>
              <a:rPr sz="2000" b="0">
                <a:solidFill>
                  <a:srgbClr val="1F2D3A"/>
                </a:solidFill>
              </a:rPr>
              <a:t> hesaplarsınız.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eval_postfix</a:t>
            </a:r>
            <a:r>
              <a:rPr sz="2000" b="0">
                <a:solidFill>
                  <a:srgbClr val="1F2D3A"/>
                </a:solidFill>
              </a:rPr>
              <a:t> neden yalnız </a:t>
            </a:r>
            <a:r>
              <a:rPr sz="2000" b="1">
                <a:solidFill>
                  <a:srgbClr val="1F2D3A"/>
                </a:solidFill>
              </a:rPr>
              <a:t>tek</a:t>
            </a:r>
            <a:r>
              <a:rPr sz="2000" b="0">
                <a:solidFill>
                  <a:srgbClr val="1F2D3A"/>
                </a:solidFill>
              </a:rPr>
              <a:t> yığına ihtiyaç duyarken, sıradaki </a:t>
            </a:r>
            <a:r>
              <a:rPr sz="2000" b="0">
                <a:solidFill>
                  <a:srgbClr val="A1123F"/>
                </a:solidFill>
                <a:latin typeface="Consolas"/>
              </a:rPr>
              <a:t>to_postfix</a:t>
            </a:r>
            <a:r>
              <a:rPr sz="2000" b="0">
                <a:solidFill>
                  <a:srgbClr val="1F2D3A"/>
                </a:solidFill>
              </a:rPr>
              <a:t> ayrıca bir çıktı alanına da ihtiyaç duyar?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Değerlendirme iki işleneni ve bir işleci hemen tek bir sayıya </a:t>
            </a:r>
            <a:r>
              <a:rPr sz="2000" b="1">
                <a:solidFill>
                  <a:srgbClr val="1F2D3A"/>
                </a:solidFill>
              </a:rPr>
              <a:t>çökertir</a:t>
            </a:r>
            <a:r>
              <a:rPr sz="2000" b="0">
                <a:solidFill>
                  <a:srgbClr val="1F2D3A"/>
                </a:solidFill>
              </a:rPr>
              <a:t> — hatırlanacak fazladan bir şey yok. Dönüştürme yalnız sembolleri </a:t>
            </a:r>
            <a:r>
              <a:rPr sz="2000" b="1">
                <a:solidFill>
                  <a:srgbClr val="1F2D3A"/>
                </a:solidFill>
              </a:rPr>
              <a:t>yeniden sıralar</a:t>
            </a:r>
            <a:r>
              <a:rPr sz="2000" b="0">
                <a:solidFill>
                  <a:srgbClr val="1F2D3A"/>
                </a:solidFill>
              </a:rPr>
              <a:t>, bu yüzden onları biriktirecek bir yere ihtiyaç duyar.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 prefix ifadeyi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İşleç, işlenenlerinden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gelir: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+ A B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Postfix'le aynı fikir, ama </a:t>
            </a:r>
            <a:r>
              <a:rPr sz="2000" b="1">
                <a:solidFill>
                  <a:srgbClr val="1F2D3A"/>
                </a:solidFill>
              </a:rPr>
              <a:t>sağdan sola</a:t>
            </a:r>
            <a:r>
              <a:rPr sz="2000" b="0">
                <a:solidFill>
                  <a:srgbClr val="1F2D3A"/>
                </a:solidFill>
              </a:rPr>
              <a:t> taranır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çekilen değer artık </a:t>
            </a:r>
            <a:r>
              <a:rPr sz="2000" b="1">
                <a:solidFill>
                  <a:srgbClr val="1F2D3A"/>
                </a:solidFill>
              </a:rPr>
              <a:t>sol</a:t>
            </a:r>
            <a:r>
              <a:rPr sz="2000" b="0">
                <a:solidFill>
                  <a:srgbClr val="1F2D3A"/>
                </a:solidFill>
              </a:rPr>
              <a:t> işlenendir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 prefix ifadeyi değerlendirme</a:t>
            </a:r>
          </a:p>
        </p:txBody>
      </p:sp>
      <p:pic>
        <p:nvPicPr>
          <p:cNvPr id="7" name="Picture 6" descr="prefix-evaluation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6863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Prefix vs. postfix — ayna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Sağdan sola</a:t>
            </a:r>
            <a:r>
              <a:rPr sz="2000" b="0">
                <a:solidFill>
                  <a:srgbClr val="1F2D3A"/>
                </a:solidFill>
              </a:rPr>
              <a:t> tara, soldan sağa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</a:t>
            </a:r>
            <a:r>
              <a:rPr sz="2000" b="1">
                <a:solidFill>
                  <a:srgbClr val="1F2D3A"/>
                </a:solidFill>
              </a:rPr>
              <a:t>sol</a:t>
            </a:r>
            <a:r>
              <a:rPr sz="2000" b="0">
                <a:solidFill>
                  <a:srgbClr val="1F2D3A"/>
                </a:solidFill>
              </a:rPr>
              <a:t> işleneni çek, sonra sağı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</a:t>
            </a:r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 karmaşıklık, aynı hata denetimleri (sıfıra bölme, çok az/çok işlenen)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Infix'ten postfix'e —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İnsanlar infix yazar; değerlendiricimiz postfix ister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Tren makası algoritması</a:t>
            </a:r>
            <a:r>
              <a:rPr sz="2000" b="0">
                <a:solidFill>
                  <a:srgbClr val="1F2D3A"/>
                </a:solidFill>
              </a:rPr>
              <a:t> (shunting-yard, Dijkstra)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yük vagonlarını yeniden sıralayan istasyonlardan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İşleç</a:t>
            </a:r>
            <a:r>
              <a:rPr sz="2000" b="0">
                <a:solidFill>
                  <a:srgbClr val="1F2D3A"/>
                </a:solidFill>
              </a:rPr>
              <a:t> tutan ikinci bir yığın, önceliği bir kerede çözer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Converting infix to postfix</a:t>
            </a:r>
          </a:p>
        </p:txBody>
      </p:sp>
      <p:pic>
        <p:nvPicPr>
          <p:cNvPr id="7" name="Picture 6" descr="infix-to-postfix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993" y="1325880"/>
            <a:ext cx="939970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prec()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prec(char op)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(op == '+' || op == '-')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(op == '*' || op == '/') return 2;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to_postfix()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91998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to_postfix(const char *in, char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ops[100]; int top = -1, k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(int i = 0; in[i];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char c = in[i];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(isalnum(c)) { out[k++] = c;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while (top &gt;= 0 &amp;&amp; prec(ops[top]) &gt;= prec(c))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out[k++] = ops[top--];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ops[++top] = c;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while (top &gt;= 0) out[k++] = ops[top--];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out[k] = '\0';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O(n)</a:t>
            </a:r>
            <a:r>
              <a:rPr sz="2000" b="0">
                <a:solidFill>
                  <a:srgbClr val="1F2D3A"/>
                </a:solidFill>
              </a:rPr>
              <a:t>: her karakter işleç yığınına en çok bir kez itilir, en çok bir kez çekilir.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Tuzak — buradaki üç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</a:t>
            </a:r>
            <a:r>
              <a:rPr sz="2000" b="0">
                <a:solidFill>
                  <a:srgbClr val="1F2D3A"/>
                </a:solidFill>
              </a:rPr>
              <a:t> kullanmamak sola birleşmeyi bozar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 boşaltmayı unutmak bekleyen işleçleri kaybettirir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Parantez desteği yok (doğal bir uzatma olarak bırakıldı)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A*B+C</a:t>
            </a:r>
            <a:r>
              <a:rPr sz="2000" b="0">
                <a:solidFill>
                  <a:srgbClr val="1F2D3A"/>
                </a:solidFill>
              </a:rPr>
              <a:t>'yi elle postfix'e çevirin.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AB*C+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→çıktı. </a:t>
            </a:r>
            <a:r>
              <a:rPr sz="2000" b="0">
                <a:solidFill>
                  <a:srgbClr val="A1123F"/>
                </a:solidFill>
                <a:latin typeface="Consolas"/>
              </a:rPr>
              <a:t>*</a:t>
            </a:r>
            <a:r>
              <a:rPr sz="2000" b="0">
                <a:solidFill>
                  <a:srgbClr val="1F2D3A"/>
                </a:solidFill>
              </a:rPr>
              <a:t>→it.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→çıktı. </a:t>
            </a:r>
            <a:r>
              <a:rPr sz="2000" b="0">
                <a:solidFill>
                  <a:srgbClr val="A1123F"/>
                </a:solidFill>
                <a:latin typeface="Consolas"/>
              </a:rPr>
              <a:t>+</a:t>
            </a:r>
            <a:r>
              <a:rPr sz="2000" b="0">
                <a:solidFill>
                  <a:srgbClr val="1F2D3A"/>
                </a:solidFill>
              </a:rPr>
              <a:t>, tepedeki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*</a:t>
            </a:r>
            <a:r>
              <a:rPr sz="2000" b="0">
                <a:solidFill>
                  <a:srgbClr val="1F2D3A"/>
                </a:solidFill>
              </a:rPr>
              <a:t>'i görür (öncelik 2 ≥ 1): </a:t>
            </a:r>
            <a:r>
              <a:rPr sz="2000" b="0">
                <a:solidFill>
                  <a:srgbClr val="A1123F"/>
                </a:solidFill>
                <a:latin typeface="Consolas"/>
              </a:rPr>
              <a:t>*</a:t>
            </a:r>
            <a:r>
              <a:rPr sz="2000" b="0">
                <a:solidFill>
                  <a:srgbClr val="1F2D3A"/>
                </a:solidFill>
              </a:rPr>
              <a:t>'i çek→çıktı, </a:t>
            </a:r>
            <a:r>
              <a:rPr sz="2000" b="0">
                <a:solidFill>
                  <a:srgbClr val="A1123F"/>
                </a:solidFill>
                <a:latin typeface="Consolas"/>
              </a:rPr>
              <a:t>+</a:t>
            </a:r>
            <a:r>
              <a:rPr sz="2000" b="0">
                <a:solidFill>
                  <a:srgbClr val="1F2D3A"/>
                </a:solidFill>
              </a:rPr>
              <a:t>'ı it. </a:t>
            </a:r>
            <a:r>
              <a:rPr sz="2000" b="0">
                <a:solidFill>
                  <a:srgbClr val="A1123F"/>
                </a:solidFill>
                <a:latin typeface="Consolas"/>
              </a:rPr>
              <a:t>C</a:t>
            </a:r>
            <a:r>
              <a:rPr sz="2000" b="0">
                <a:solidFill>
                  <a:srgbClr val="1F2D3A"/>
                </a:solidFill>
              </a:rPr>
              <a:t>→çıktı. </a:t>
            </a:r>
            <a:r>
              <a:rPr sz="2000" b="0">
                <a:solidFill>
                  <a:srgbClr val="A1123F"/>
                </a:solidFill>
                <a:latin typeface="Consolas"/>
              </a:rPr>
              <a:t>+</a:t>
            </a:r>
            <a:r>
              <a:rPr sz="2000" b="0">
                <a:solidFill>
                  <a:srgbClr val="1F2D3A"/>
                </a:solidFill>
              </a:rPr>
              <a:t>'ı boşalt. Sonuç: </a:t>
            </a:r>
            <a:r>
              <a:rPr sz="2000" b="0">
                <a:solidFill>
                  <a:srgbClr val="A1123F"/>
                </a:solidFill>
                <a:latin typeface="Consolas"/>
              </a:rPr>
              <a:t>A B * C +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Infix'i prefix'e çevirme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Girdiyi </a:t>
            </a:r>
            <a:r>
              <a:rPr sz="2000" b="1">
                <a:solidFill>
                  <a:srgbClr val="1F2D3A"/>
                </a:solidFill>
              </a:rPr>
              <a:t>ters çevir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(</a:t>
            </a:r>
            <a:r>
              <a:rPr sz="2000" b="0">
                <a:solidFill>
                  <a:srgbClr val="1F2D3A"/>
                </a:solidFill>
              </a:rPr>
              <a:t> ↔ </a:t>
            </a:r>
            <a:r>
              <a:rPr sz="2000" b="0">
                <a:solidFill>
                  <a:srgbClr val="A1123F"/>
                </a:solidFill>
                <a:latin typeface="Consolas"/>
              </a:rPr>
              <a:t>)</a:t>
            </a:r>
            <a:r>
              <a:rPr sz="2000" b="0">
                <a:solidFill>
                  <a:srgbClr val="1F2D3A"/>
                </a:solidFill>
              </a:rPr>
              <a:t> değiştirerek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Tren makasını yine çalıştır, ama bekleyen bir işleci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yalnızca </a:t>
            </a:r>
            <a:r>
              <a:rPr sz="2000" b="1">
                <a:solidFill>
                  <a:srgbClr val="1F2D3A"/>
                </a:solidFill>
              </a:rPr>
              <a:t>kesin biçimde</a:t>
            </a:r>
            <a:r>
              <a:rPr sz="2000" b="0">
                <a:solidFill>
                  <a:srgbClr val="1F2D3A"/>
                </a:solidFill>
              </a:rPr>
              <a:t> daha güçlüyse çek (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</a:t>
            </a:r>
            <a:r>
              <a:rPr sz="2000" b="0">
                <a:solidFill>
                  <a:srgbClr val="1F2D3A"/>
                </a:solidFill>
              </a:rPr>
              <a:t> değil)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Sonucu </a:t>
            </a:r>
            <a:r>
              <a:rPr sz="2000" b="1">
                <a:solidFill>
                  <a:srgbClr val="1F2D3A"/>
                </a:solidFill>
              </a:rPr>
              <a:t>ters çevir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Infix'i prefix'e çevirme</a:t>
            </a:r>
          </a:p>
        </p:txBody>
      </p:sp>
      <p:pic>
        <p:nvPicPr>
          <p:cNvPr id="7" name="Picture 6" descr="infix-to-prefix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607" y="1325880"/>
            <a:ext cx="750648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Tuzak — kesin </a:t>
            </a:r>
            <a:r>
              <a:rPr sz="3000" b="1">
                <a:solidFill>
                  <a:srgbClr val="2E7D32"/>
                </a:solidFill>
                <a:latin typeface="Consolas"/>
              </a:rPr>
              <a:t>&gt;</a:t>
            </a:r>
            <a:r>
              <a:rPr sz="3000" b="1">
                <a:solidFill>
                  <a:srgbClr val="2E7D32"/>
                </a:solidFill>
              </a:rPr>
              <a:t>, </a:t>
            </a:r>
            <a:r>
              <a:rPr sz="3000" b="1">
                <a:solidFill>
                  <a:srgbClr val="2E7D32"/>
                </a:solidFill>
                <a:latin typeface="Consolas"/>
              </a:rPr>
              <a:t>&gt;=</a:t>
            </a:r>
            <a:r>
              <a:rPr sz="3000" b="1">
                <a:solidFill>
                  <a:srgbClr val="2E7D32"/>
                </a:solidFill>
              </a:rPr>
              <a:t> değil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Prefix dönüşümü yalnızca </a:t>
            </a:r>
            <a:r>
              <a:rPr sz="2000" b="1">
                <a:solidFill>
                  <a:srgbClr val="1F2D3A"/>
                </a:solidFill>
              </a:rPr>
              <a:t>kesin biçimde daha güçlü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bekleyen bir işleci çeker — </a:t>
            </a:r>
            <a:r>
              <a:rPr sz="2000" b="0">
                <a:solidFill>
                  <a:srgbClr val="A1123F"/>
                </a:solidFill>
                <a:latin typeface="Consolas"/>
              </a:rPr>
              <a:t>&gt;=</a:t>
            </a:r>
            <a:r>
              <a:rPr sz="2000" b="0">
                <a:solidFill>
                  <a:srgbClr val="1F2D3A"/>
                </a:solidFill>
              </a:rPr>
              <a:t> kullanmak son ters çevirmeyi bozar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 çevirirken </a:t>
            </a:r>
            <a:r>
              <a:rPr sz="2000" b="0">
                <a:solidFill>
                  <a:srgbClr val="A1123F"/>
                </a:solidFill>
                <a:latin typeface="Consolas"/>
              </a:rPr>
              <a:t>(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)</a:t>
            </a:r>
            <a:r>
              <a:rPr sz="2000" b="0">
                <a:solidFill>
                  <a:srgbClr val="1F2D3A"/>
                </a:solidFill>
              </a:rPr>
              <a:t>'yi değiştirmeyi unutmak gruplamayı bozar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Özyineleme ve Çağrı Yığını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Özyineleme nedir — bir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fact(n) = n * fact(n - 1)</a:t>
            </a:r>
            <a:r>
              <a:rPr sz="2000" b="0">
                <a:solidFill>
                  <a:srgbClr val="1F2D3A"/>
                </a:solidFill>
              </a:rPr>
              <a:t>, temel durum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fact(0) 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fact(3) = 3 * (2 * (1 * fact(0))) = 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Temel durum zorunludur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İsteğe bağlı değil — özyinelemeyi </a:t>
            </a:r>
            <a:r>
              <a:rPr sz="2000" b="1">
                <a:solidFill>
                  <a:srgbClr val="1F2D3A"/>
                </a:solidFill>
              </a:rPr>
              <a:t>durduran</a:t>
            </a:r>
            <a:r>
              <a:rPr sz="2000" b="0">
                <a:solidFill>
                  <a:srgbClr val="1F2D3A"/>
                </a:solidFill>
              </a:rPr>
              <a:t> odur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durum olmadan: fonksiyon kendini </a:t>
            </a:r>
            <a:r>
              <a:rPr sz="2000" b="1">
                <a:solidFill>
                  <a:srgbClr val="1F2D3A"/>
                </a:solidFill>
              </a:rPr>
              <a:t>sonsuza kadar</a:t>
            </a:r>
            <a:r>
              <a:rPr sz="2000" b="0">
                <a:solidFill>
                  <a:srgbClr val="1F2D3A"/>
                </a:solidFill>
              </a:rPr>
              <a:t> çağırır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"Sonsuza kadar" gerçekte şu demek: bellek bitene kadar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En basit özyineleme: geri sayım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'i yazdır,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 üzerinde özyinele, temel duruma kadar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durum </a:t>
            </a:r>
            <a:r>
              <a:rPr sz="2000" b="0">
                <a:solidFill>
                  <a:srgbClr val="A1123F"/>
                </a:solidFill>
                <a:latin typeface="Consolas"/>
              </a:rPr>
              <a:t>n &lt;= 0</a:t>
            </a:r>
            <a:r>
              <a:rPr sz="2000" b="0">
                <a:solidFill>
                  <a:srgbClr val="1F2D3A"/>
                </a:solidFill>
              </a:rPr>
              <a:t> olmalı, </a:t>
            </a:r>
            <a:r>
              <a:rPr sz="2000" b="0">
                <a:solidFill>
                  <a:srgbClr val="A1123F"/>
                </a:solidFill>
                <a:latin typeface="Consolas"/>
              </a:rPr>
              <a:t>n == 0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n = 0</a:t>
            </a:r>
            <a:r>
              <a:rPr sz="2000" b="0">
                <a:solidFill>
                  <a:srgbClr val="1F2D3A"/>
                </a:solidFill>
              </a:rPr>
              <a:t> ya da negatif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, ilk çağrıda durmalıdır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Özyineleme: geri sayım</a:t>
            </a:r>
          </a:p>
        </p:txBody>
      </p:sp>
      <p:pic>
        <p:nvPicPr>
          <p:cNvPr id="7" name="Picture 6" descr="recursion-countdown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4225" y="1325880"/>
            <a:ext cx="458324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Tuzak — yanlış temel durum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n == 0</a:t>
            </a:r>
            <a:r>
              <a:rPr sz="2000" b="0">
                <a:solidFill>
                  <a:srgbClr val="1F2D3A"/>
                </a:solidFill>
              </a:rPr>
              <a:t>: negatif bir başlangıç değeri onu </a:t>
            </a:r>
            <a:r>
              <a:rPr sz="2000" b="1">
                <a:solidFill>
                  <a:srgbClr val="1F2D3A"/>
                </a:solidFill>
              </a:rPr>
              <a:t>hiçbir zaman</a:t>
            </a:r>
            <a:r>
              <a:rPr sz="2000" b="0">
                <a:solidFill>
                  <a:srgbClr val="1F2D3A"/>
                </a:solidFill>
              </a:rPr>
              <a:t> karşılamaz — sonsuz özyineleme. </a:t>
            </a:r>
            <a:r>
              <a:rPr sz="2000" b="0">
                <a:solidFill>
                  <a:srgbClr val="A1123F"/>
                </a:solidFill>
                <a:latin typeface="Consolas"/>
              </a:rPr>
              <a:t>n &lt;= 0</a:t>
            </a:r>
            <a:r>
              <a:rPr sz="2000" b="0">
                <a:solidFill>
                  <a:srgbClr val="1F2D3A"/>
                </a:solidFill>
              </a:rPr>
              <a:t> bunu düzeltir: negatif girdi ilk çağrıda durur.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Çağrı yığını: özyineleme bir yığındır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fonksiyon çağrısı bir </a:t>
            </a:r>
            <a:r>
              <a:rPr sz="2000" b="1">
                <a:solidFill>
                  <a:srgbClr val="1F2D3A"/>
                </a:solidFill>
              </a:rPr>
              <a:t>çerçeve</a:t>
            </a:r>
            <a:r>
              <a:rPr sz="2000" b="0">
                <a:solidFill>
                  <a:srgbClr val="1F2D3A"/>
                </a:solidFill>
              </a:rPr>
              <a:t> iter: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yerel değişkenler + dönüş adresi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fonksiyondan dönmek o çerçeveyi </a:t>
            </a:r>
            <a:r>
              <a:rPr sz="2000" b="1">
                <a:solidFill>
                  <a:srgbClr val="1F2D3A"/>
                </a:solidFill>
              </a:rPr>
              <a:t>çeker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Bu, siz yazmasanız da her programın içine gömülü,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gerçek bir </a:t>
            </a:r>
            <a:r>
              <a:rPr sz="2000" b="1">
                <a:solidFill>
                  <a:srgbClr val="1F2D3A"/>
                </a:solidFill>
              </a:rPr>
              <a:t>LIFO yığınıdır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Recursion and the call stack: fact(n)</a:t>
            </a:r>
          </a:p>
        </p:txBody>
      </p:sp>
      <p:pic>
        <p:nvPicPr>
          <p:cNvPr id="7" name="Picture 6" descr="recursion-call-stack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8704" y="1325880"/>
            <a:ext cx="389428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fact()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fact(int 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0)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unsigned multiply: defined wraparound, not signed-overflow UB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(int) ((unsigned) n * (unsigned) fact(n - 1));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Beklenen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fact(10) = 3628800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fact(n)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özyinelemeli çağrı yapar: </a:t>
            </a:r>
            <a:r>
              <a:rPr sz="2000" b="1">
                <a:solidFill>
                  <a:srgbClr val="1F2D3A"/>
                </a:solidFill>
              </a:rPr>
              <a:t>O(n) zaman</a:t>
            </a:r>
            <a:r>
              <a:rPr sz="2000" b="0">
                <a:solidFill>
                  <a:srgbClr val="1F2D3A"/>
                </a:solidFill>
              </a:rPr>
              <a:t>, ve — unutulması kolay — </a:t>
            </a:r>
            <a:r>
              <a:rPr sz="2000" b="1">
                <a:solidFill>
                  <a:srgbClr val="1F2D3A"/>
                </a:solidFill>
              </a:rPr>
              <a:t>O(n) yığın belleği</a:t>
            </a:r>
            <a:r>
              <a:rPr sz="2000" b="0">
                <a:solidFill>
                  <a:srgbClr val="1F2D3A"/>
                </a:solidFill>
              </a:rPr>
              <a:t>, bekleyen her çağrı için bir çerçeve.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çarpımı hesaplayan bir döngü O(1) bellek kullanır.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Tuzak — sessiz </a:t>
            </a:r>
            <a:r>
              <a:rPr sz="3000" b="1">
                <a:solidFill>
                  <a:srgbClr val="2E7D32"/>
                </a:solidFill>
                <a:latin typeface="Consolas"/>
              </a:rPr>
              <a:t>int</a:t>
            </a:r>
            <a:r>
              <a:rPr sz="3000" b="1">
                <a:solidFill>
                  <a:srgbClr val="2E7D32"/>
                </a:solidFill>
              </a:rPr>
              <a:t> taşması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13! = 6227020800</a:t>
            </a:r>
            <a:r>
              <a:rPr sz="2000" b="0">
                <a:solidFill>
                  <a:srgbClr val="1F2D3A"/>
                </a:solidFill>
              </a:rPr>
              <a:t> — 32 bitlik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</a:t>
            </a:r>
            <a:r>
              <a:rPr sz="2000" b="0">
                <a:solidFill>
                  <a:srgbClr val="1F2D3A"/>
                </a:solidFill>
              </a:rPr>
              <a:t>'e sığmaz (en fazla </a:t>
            </a:r>
            <a:r>
              <a:rPr sz="2000" b="0">
                <a:solidFill>
                  <a:srgbClr val="A1123F"/>
                </a:solidFill>
                <a:latin typeface="Consolas"/>
              </a:rPr>
              <a:t>2147483647</a:t>
            </a:r>
            <a:r>
              <a:rPr sz="2000" b="0">
                <a:solidFill>
                  <a:srgbClr val="1F2D3A"/>
                </a:solidFill>
              </a:rPr>
              <a:t>). Program </a:t>
            </a:r>
            <a:r>
              <a:rPr sz="2000" b="1">
                <a:solidFill>
                  <a:srgbClr val="1F2D3A"/>
                </a:solidFill>
              </a:rPr>
              <a:t>çökmez</a:t>
            </a:r>
            <a:r>
              <a:rPr sz="2000" b="0">
                <a:solidFill>
                  <a:srgbClr val="1F2D3A"/>
                </a:solidFill>
              </a:rPr>
              <a:t>; sessizce </a:t>
            </a:r>
            <a:r>
              <a:rPr sz="2000" b="0">
                <a:solidFill>
                  <a:srgbClr val="A1123F"/>
                </a:solidFill>
                <a:latin typeface="Consolas"/>
              </a:rPr>
              <a:t>1932053504</a:t>
            </a:r>
            <a:r>
              <a:rPr sz="2000" b="0">
                <a:solidFill>
                  <a:srgbClr val="1F2D3A"/>
                </a:solidFill>
              </a:rPr>
              <a:t>'e sarılır.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Tuzak — eksik temel durum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Ulaşılabilir bir temel durum olmadan, özyinelemeli bir fonksiyon </a:t>
            </a:r>
            <a:r>
              <a:rPr sz="2000" b="1">
                <a:solidFill>
                  <a:srgbClr val="1F2D3A"/>
                </a:solidFill>
              </a:rPr>
              <a:t>her çağrıda yeni bir çerçeve</a:t>
            </a:r>
            <a:r>
              <a:rPr sz="2000" b="0">
                <a:solidFill>
                  <a:srgbClr val="1F2D3A"/>
                </a:solidFill>
              </a:rPr>
              <a:t> iter, sonsuza kadar — ta ki çağrı yığınının kendisi taşana kadar.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Tuzak — küçülmeyen bir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fact(n)</a:t>
            </a:r>
            <a:r>
              <a:rPr sz="2000" b="0">
                <a:solidFill>
                  <a:srgbClr val="1F2D3A"/>
                </a:solidFill>
              </a:rPr>
              <a:t>, kendini kesinlikle daha küçük olan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 ile çağırır. Her özyinelemeli çağrı temel duruma </a:t>
            </a:r>
            <a:r>
              <a:rPr sz="2000" b="1">
                <a:solidFill>
                  <a:srgbClr val="1F2D3A"/>
                </a:solidFill>
              </a:rPr>
              <a:t>ölçülebilir</a:t>
            </a:r>
            <a:r>
              <a:rPr sz="2000" b="0">
                <a:solidFill>
                  <a:srgbClr val="1F2D3A"/>
                </a:solidFill>
              </a:rPr>
              <a:t> biçimde yaklaşmalıdır.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fact(3)</a:t>
            </a:r>
            <a:r>
              <a:rPr sz="2000" b="0">
                <a:solidFill>
                  <a:srgbClr val="1F2D3A"/>
                </a:solidFill>
              </a:rPr>
              <a:t> özgün çağrı.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fact(0)</a:t>
            </a:r>
            <a:r>
              <a:rPr sz="2000" b="0">
                <a:solidFill>
                  <a:srgbClr val="1F2D3A"/>
                </a:solidFill>
              </a:rPr>
              <a:t> başladığı anda çağrı yığınında kaç çerçeve vardır?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Dört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fact(3)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fact(2)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fact(1)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fact(0)</a:t>
            </a:r>
            <a:r>
              <a:rPr sz="2000" b="0">
                <a:solidFill>
                  <a:srgbClr val="1F2D3A"/>
                </a:solidFill>
              </a:rPr>
              <a:t>, her biri hâlâ altındakinin dönmesini bekliyor.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durum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(n == 1) return 1;</a:t>
            </a:r>
            <a:r>
              <a:rPr sz="2000" b="0">
                <a:solidFill>
                  <a:srgbClr val="1F2D3A"/>
                </a:solidFill>
              </a:rPr>
              <a:t> olsaydı ve biri </a:t>
            </a:r>
            <a:r>
              <a:rPr sz="2000" b="0">
                <a:solidFill>
                  <a:srgbClr val="A1123F"/>
                </a:solidFill>
                <a:latin typeface="Consolas"/>
              </a:rPr>
              <a:t>fact(-1)</a:t>
            </a:r>
            <a:r>
              <a:rPr sz="2000" b="0">
                <a:solidFill>
                  <a:srgbClr val="1F2D3A"/>
                </a:solidFill>
              </a:rPr>
              <a:t> çağırsaydı ne olurdu?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hiçbir zaman 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'e eşit olmaz; fonksiyon </a:t>
            </a:r>
            <a:r>
              <a:rPr sz="2000" b="0">
                <a:solidFill>
                  <a:srgbClr val="A1123F"/>
                </a:solidFill>
                <a:latin typeface="Consolas"/>
              </a:rPr>
              <a:t>-2, -3, -4, ...</a:t>
            </a:r>
            <a:r>
              <a:rPr sz="2000" b="0">
                <a:solidFill>
                  <a:srgbClr val="1F2D3A"/>
                </a:solidFill>
              </a:rPr>
              <a:t> üzerinde sonsuza kadar özyinelenir, sonunda </a:t>
            </a:r>
            <a:r>
              <a:rPr sz="2000" b="1">
                <a:solidFill>
                  <a:srgbClr val="1F2D3A"/>
                </a:solidFill>
              </a:rPr>
              <a:t>çağrı yığınını taşırır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Hanoi Kulesi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Bulmaca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çubuk; A çubuğunda büyükten küçüğe istiflenmiş diskler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istifi C çubuğuna, bir seferde tek disk, taşı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bir diski asla küçüğün üstüne koyma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Édouard Lucas</a:t>
            </a:r>
            <a:r>
              <a:rPr sz="2000" b="0">
                <a:solidFill>
                  <a:srgbClr val="1F2D3A"/>
                </a:solidFill>
              </a:rPr>
              <a:t> tarafından icat edildi, 1883 (keşişler efsanesi)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Özyinelemeli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n</a:t>
            </a:r>
            <a:r>
              <a:rPr sz="2000" b="0">
                <a:solidFill>
                  <a:srgbClr val="1F2D3A"/>
                </a:solidFill>
              </a:rPr>
              <a:t> diski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from</a:t>
            </a:r>
            <a:r>
              <a:rPr sz="2000" b="0">
                <a:solidFill>
                  <a:srgbClr val="1F2D3A"/>
                </a:solidFill>
              </a:rPr>
              <a:t>'dan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to</a:t>
            </a:r>
            <a:r>
              <a:rPr sz="2000" b="0">
                <a:solidFill>
                  <a:srgbClr val="1F2D3A"/>
                </a:solidFill>
              </a:rPr>
              <a:t>'ya, </a:t>
            </a:r>
            <a:r>
              <a:rPr sz="2000" b="0">
                <a:solidFill>
                  <a:srgbClr val="A1123F"/>
                </a:solidFill>
                <a:latin typeface="Consolas"/>
              </a:rPr>
              <a:t>via</a:t>
            </a:r>
            <a:r>
              <a:rPr sz="2000" b="0">
                <a:solidFill>
                  <a:srgbClr val="1F2D3A"/>
                </a:solidFill>
              </a:rPr>
              <a:t>'yı kullanarak taşımak için: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Üstteki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 diski </a:t>
            </a:r>
            <a:r>
              <a:rPr sz="2000" b="0">
                <a:solidFill>
                  <a:srgbClr val="A1123F"/>
                </a:solidFill>
                <a:latin typeface="Consolas"/>
              </a:rPr>
              <a:t>via</a:t>
            </a:r>
            <a:r>
              <a:rPr sz="2000" b="0">
                <a:solidFill>
                  <a:srgbClr val="1F2D3A"/>
                </a:solidFill>
              </a:rPr>
              <a:t>'ya taşı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En büyük diski </a:t>
            </a:r>
            <a:r>
              <a:rPr sz="2000" b="0">
                <a:solidFill>
                  <a:srgbClr val="A1123F"/>
                </a:solidFill>
                <a:latin typeface="Consolas"/>
              </a:rPr>
              <a:t>to</a:t>
            </a:r>
            <a:r>
              <a:rPr sz="2000" b="0">
                <a:solidFill>
                  <a:srgbClr val="1F2D3A"/>
                </a:solidFill>
              </a:rPr>
              <a:t>'ya taşı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 diski </a:t>
            </a:r>
            <a:r>
              <a:rPr sz="2000" b="0">
                <a:solidFill>
                  <a:srgbClr val="A1123F"/>
                </a:solidFill>
                <a:latin typeface="Consolas"/>
              </a:rPr>
              <a:t>via</a:t>
            </a:r>
            <a:r>
              <a:rPr sz="2000" b="0">
                <a:solidFill>
                  <a:srgbClr val="1F2D3A"/>
                </a:solidFill>
              </a:rPr>
              <a:t>'dan onun üstüne taşı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Hanoi Kulesi</a:t>
            </a:r>
          </a:p>
        </p:txBody>
      </p:sp>
      <p:pic>
        <p:nvPicPr>
          <p:cNvPr id="7" name="Picture 6" descr="tower-of-hanoi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168" y="1325880"/>
            <a:ext cx="721335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hanoi()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hanoi(int n, char from, char to, char via)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0) return;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hanoi(n - 1, from, via, to);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move_disk(n, from, to);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hanoi(n - 1, via, to, from);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Beklenen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move 1: disk 1 from A to 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move 2: disk 2 from A to 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move 3: disk 1 from B to C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move 4: disk 3 from A to B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total moves = 15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T(n) = 2*T(n-1) + 1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T(0) = 0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T(n) = 2ⁿ - 1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büyüme.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n = 4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2⁴ - 1 = 15</a:t>
            </a:r>
            <a:r>
              <a:rPr sz="2000" b="0">
                <a:solidFill>
                  <a:srgbClr val="1F2D3A"/>
                </a:solidFill>
              </a:rPr>
              <a:t>, yukarıdaki programla eşleşiyor.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Efsanenin 64 diski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2⁶⁴ - 1 ≈ 1,8 × 10¹⁹</a:t>
            </a:r>
            <a:r>
              <a:rPr sz="2000" b="0">
                <a:solidFill>
                  <a:srgbClr val="1F2D3A"/>
                </a:solidFill>
              </a:rPr>
              <a:t> hamle.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Saniyede bir hamleyle: </a:t>
            </a:r>
            <a:r>
              <a:rPr sz="2000" b="1">
                <a:solidFill>
                  <a:srgbClr val="1F2D3A"/>
                </a:solidFill>
              </a:rPr>
              <a:t>~585 milyar yıl</a:t>
            </a:r>
            <a:r>
              <a:rPr sz="2000" b="0">
                <a:solidFill>
                  <a:srgbClr val="1F2D3A"/>
                </a:solidFill>
              </a:rPr>
              <a:t> — evrenin şu anki yaşının onlarca katı.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Biraz daha ileriye bakış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"Daha küçük bir sürümünü çöz, sonra birleştir", önümüzdeki iki haftada gelecek </a:t>
            </a:r>
            <a:r>
              <a:rPr sz="2000" b="1">
                <a:solidFill>
                  <a:srgbClr val="1F2D3A"/>
                </a:solidFill>
              </a:rPr>
              <a:t>derinlik öncelikli arama (DFS)</a:t>
            </a:r>
            <a:r>
              <a:rPr sz="2000" b="0">
                <a:solidFill>
                  <a:srgbClr val="1F2D3A"/>
                </a:solidFill>
              </a:rPr>
              <a:t>'nin bir ağacı ya da çizgeyi gezme biçiminin ta kendisi.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5 diskli bir Hanoi Kulesi kaç hamle gerektirir?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2⁵ - 1 = 31</a:t>
            </a:r>
            <a:r>
              <a:rPr sz="2000" b="0">
                <a:solidFill>
                  <a:srgbClr val="1F2D3A"/>
                </a:solidFill>
              </a:rPr>
              <a:t> hamle.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hanoi(n - 1, from, via, to)</a:t>
            </a:r>
            <a:r>
              <a:rPr sz="2000" b="0">
                <a:solidFill>
                  <a:srgbClr val="1F2D3A"/>
                </a:solidFill>
              </a:rPr>
              <a:t> içinde, son iki argüman dış çağrıya göre neden yer değiştirmiş?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Üstteki </a:t>
            </a:r>
            <a:r>
              <a:rPr sz="2000" b="0">
                <a:solidFill>
                  <a:srgbClr val="A1123F"/>
                </a:solidFill>
                <a:latin typeface="Consolas"/>
              </a:rPr>
              <a:t>n - 1</a:t>
            </a:r>
            <a:r>
              <a:rPr sz="2000" b="0">
                <a:solidFill>
                  <a:srgbClr val="1F2D3A"/>
                </a:solidFill>
              </a:rPr>
              <a:t> diski yoldan çekmek için, </a:t>
            </a:r>
            <a:r>
              <a:rPr sz="2000" b="0" i="1">
                <a:solidFill>
                  <a:srgbClr val="1F2D3A"/>
                </a:solidFill>
              </a:rPr>
              <a:t>hedef</a:t>
            </a:r>
            <a:r>
              <a:rPr sz="2000" b="0">
                <a:solidFill>
                  <a:srgbClr val="1F2D3A"/>
                </a:solidFill>
              </a:rPr>
              <a:t> yedek çubuktur, </a:t>
            </a:r>
            <a:r>
              <a:rPr sz="2000" b="0" i="1">
                <a:solidFill>
                  <a:srgbClr val="1F2D3A"/>
                </a:solidFill>
              </a:rPr>
              <a:t>yedek</a:t>
            </a:r>
            <a:r>
              <a:rPr sz="2000" b="0">
                <a:solidFill>
                  <a:srgbClr val="1F2D3A"/>
                </a:solidFill>
              </a:rPr>
              <a:t> ise özgün hedeftir — roller özyinelemenin her seviyesinde döner.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CEN207 Veri Yapıları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Kuyruk: İlk Giren, İlk Çıkar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Sezgi — bir bekleme sırası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Kasa sırası, yazdırma kuyruğu, web istek kuyruğu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gelenler </a:t>
            </a:r>
            <a:r>
              <a:rPr sz="2000" b="1">
                <a:solidFill>
                  <a:srgbClr val="1F2D3A"/>
                </a:solidFill>
              </a:rPr>
              <a:t>arkaya</a:t>
            </a:r>
            <a:r>
              <a:rPr sz="2000" b="0">
                <a:solidFill>
                  <a:srgbClr val="1F2D3A"/>
                </a:solidFill>
              </a:rPr>
              <a:t> katılır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uzun süredir bekleyen </a:t>
            </a:r>
            <a:r>
              <a:rPr sz="2000" b="1">
                <a:solidFill>
                  <a:srgbClr val="1F2D3A"/>
                </a:solidFill>
              </a:rPr>
              <a:t>önden</a:t>
            </a:r>
            <a:r>
              <a:rPr sz="2000" b="0">
                <a:solidFill>
                  <a:srgbClr val="1F2D3A"/>
                </a:solidFill>
              </a:rPr>
              <a:t> ayrılır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FIFO — LIFO'nun aynası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İlk Giren, İlk Çıkar.</a:t>
            </a:r>
            <a:r>
              <a:rPr sz="2000" b="0">
                <a:solidFill>
                  <a:srgbClr val="1F2D3A"/>
                </a:solidFill>
              </a:rPr>
              <a:t> Bir yığınla aynı iki temel işlem, farklı adlarla, ve şimdi </a:t>
            </a:r>
            <a:r>
              <a:rPr sz="2000" b="1">
                <a:solidFill>
                  <a:srgbClr val="1F2D3A"/>
                </a:solidFill>
              </a:rPr>
              <a:t>farklı uçlara</a:t>
            </a:r>
            <a:r>
              <a:rPr sz="2000" b="0">
                <a:solidFill>
                  <a:srgbClr val="1F2D3A"/>
                </a:solidFill>
              </a:rPr>
              <a:t> dokunuyorlar.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Kuyruk ADT'si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785"/>
                <a:gridCol w="3030981"/>
                <a:gridCol w="3182531"/>
                <a:gridCol w="227323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İşlem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yapar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 koşul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Karmaşıklık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enqueue(x)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Arkaya ekle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dolu değil (dizi)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dequeue()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Önü çıkar/döndür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boş değil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peek()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Önü döndür, tut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boş değil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isEmpty()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sıfır eleman mı?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Dizi kuyruğu —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indis tut: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  <a:r>
              <a:rPr sz="2000" b="0">
                <a:solidFill>
                  <a:srgbClr val="1F2D3A"/>
                </a:solidFill>
              </a:rPr>
              <a:t> (en eski),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 (en yeni)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enqueue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'ı ilerlet, oraya yaz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dequeue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  <a:r>
              <a:rPr sz="2000" b="0">
                <a:solidFill>
                  <a:srgbClr val="1F2D3A"/>
                </a:solidFill>
              </a:rPr>
              <a:t>'ta oku,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  <a:r>
              <a:rPr sz="2000" b="0">
                <a:solidFill>
                  <a:srgbClr val="1F2D3A"/>
                </a:solidFill>
              </a:rPr>
              <a:t>'u ilerlet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Eleman kaydırılmaz — ama indis 0'daki yere bakın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Queue in a plain array</a:t>
            </a:r>
          </a:p>
        </p:txBody>
      </p:sp>
      <p:pic>
        <p:nvPicPr>
          <p:cNvPr id="7" name="Picture 6" descr="array-queue-drift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463809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enqueue()/dequeue() (saf)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enqueue(int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(rear == CAP - 1)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q[++rear] =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dequeue(int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(front &gt; rear)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 = q[front++];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Beklenen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enqueue(5,12,7,19,3,27,14,8): front=0, rear=7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dequeue() x3:    front=3, rear=7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enqueue(99) -&gt; false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enqueue(42) -&gt; false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Tuzak — kayma sorunu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ileri</a:t>
            </a:r>
            <a:r>
              <a:rPr sz="2000" b="0">
                <a:solidFill>
                  <a:srgbClr val="1F2D3A"/>
                </a:solidFill>
              </a:rPr>
              <a:t> gider. Kuyruk, önde hücreler boşken "dolu" der — dizinin önünden </a:t>
            </a:r>
            <a:r>
              <a:rPr sz="2000" b="1">
                <a:solidFill>
                  <a:srgbClr val="1F2D3A"/>
                </a:solidFill>
              </a:rPr>
              <a:t>kaymıştır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Başında üç boş hücre olsa bile bu kuyruk neden "dolu" der?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enqueue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 == CAP - 1</a:t>
            </a:r>
            <a:r>
              <a:rPr sz="2000" b="0">
                <a:solidFill>
                  <a:srgbClr val="1F2D3A"/>
                </a:solidFill>
              </a:rPr>
              <a:t>'i denetler;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  <a:r>
              <a:rPr sz="2000" b="0">
                <a:solidFill>
                  <a:srgbClr val="1F2D3A"/>
                </a:solidFill>
              </a:rPr>
              <a:t>'tan önceki hücrelerin boş olup olmadığına hiç bakmaz. Gerçek çözüm sırada: diziyi bir </a:t>
            </a:r>
            <a:r>
              <a:rPr sz="2000" b="1">
                <a:solidFill>
                  <a:srgbClr val="1F2D3A"/>
                </a:solidFill>
              </a:rPr>
              <a:t>halka</a:t>
            </a:r>
            <a:r>
              <a:rPr sz="2000" b="0">
                <a:solidFill>
                  <a:srgbClr val="1F2D3A"/>
                </a:solidFill>
              </a:rPr>
              <a:t> gibi düşünün.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Dairesel kuyruk — halka gibi düşün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 indisten sonra yine ilk indis gelir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(indis + 1) % CAP</a:t>
            </a:r>
            <a:r>
              <a:rPr sz="2000" b="0">
                <a:solidFill>
                  <a:srgbClr val="1F2D3A"/>
                </a:solidFill>
              </a:rPr>
              <a:t>, ileri yürür, başa döner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 == (rear + 1) % CAP</a:t>
            </a:r>
            <a:r>
              <a:rPr sz="2000" b="0">
                <a:solidFill>
                  <a:srgbClr val="1F2D3A"/>
                </a:solidFill>
              </a:rPr>
              <a:t> artık belirsiz (boş mu, dolu mu?)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 çözmek için bir alan daha tut: </a:t>
            </a:r>
            <a:r>
              <a:rPr sz="2000" b="0">
                <a:solidFill>
                  <a:srgbClr val="A1123F"/>
                </a:solidFill>
                <a:latin typeface="Consolas"/>
              </a:rPr>
              <a:t>count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Circular queue</a:t>
            </a:r>
          </a:p>
        </p:txBody>
      </p:sp>
      <p:pic>
        <p:nvPicPr>
          <p:cNvPr id="7" name="Picture 6" descr="circular-queu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771" y="1325880"/>
            <a:ext cx="548215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enqueue() (dairesel)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enqueue(int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(count == CAP)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rear = (rear + 1) % CAP;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q[rear] =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count++;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dequeue() (dairesel)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dequeue(int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(count == 0)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 = q[front];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front = (front + 1) % CAP;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count--;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Neden </a:t>
            </a:r>
            <a:r>
              <a:rPr sz="3000" b="1">
                <a:solidFill>
                  <a:srgbClr val="2E7D32"/>
                </a:solidFill>
                <a:latin typeface="Consolas"/>
              </a:rPr>
              <a:t>count</a:t>
            </a:r>
            <a:r>
              <a:rPr sz="3000" b="1">
                <a:solidFill>
                  <a:srgbClr val="2E7D32"/>
                </a:solidFill>
              </a:rPr>
              <a:t>'a da ihtiyacımız 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front == (rear + 1) % CAP</a:t>
            </a:r>
            <a:r>
              <a:rPr sz="2000" b="0">
                <a:solidFill>
                  <a:srgbClr val="1F2D3A"/>
                </a:solidFill>
              </a:rPr>
              <a:t>, hem kuyruk boşken hem de </a:t>
            </a:r>
            <a:r>
              <a:rPr sz="2000" b="1">
                <a:solidFill>
                  <a:srgbClr val="1F2D3A"/>
                </a:solidFill>
              </a:rPr>
              <a:t>tamamen doluyken</a:t>
            </a:r>
            <a:r>
              <a:rPr sz="2000" b="0">
                <a:solidFill>
                  <a:srgbClr val="1F2D3A"/>
                </a:solidFill>
              </a:rPr>
              <a:t> doğrudur — düz bir indis karşılaştırması artık bu iki durumu ayırt edemez.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Karmaşıklık — hâlâ O(1), kayma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Kuyruk "dolu" demeden önce beş hücrenin tamamı kullanılır. Kayma sorunu tamamen ortadan kalktı, ve her işlem hâlâ </a:t>
            </a:r>
            <a:r>
              <a:rPr sz="2000" b="1">
                <a:solidFill>
                  <a:srgbClr val="1F2D3A"/>
                </a:solidFill>
              </a:rPr>
              <a:t>O(1)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 (dairesel kuyruk)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count</a:t>
            </a:r>
            <a:r>
              <a:rPr sz="2000" b="0">
                <a:solidFill>
                  <a:srgbClr val="1F2D3A"/>
                </a:solidFill>
              </a:rPr>
              <a:t> yerine bir indis karşılaştırmasını "boş"/"dolu" için kullanmak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indisten </a:t>
            </a:r>
            <a:r>
              <a:rPr sz="2000" b="1">
                <a:solidFill>
                  <a:srgbClr val="1F2D3A"/>
                </a:solidFill>
              </a:rPr>
              <a:t>birinde</a:t>
            </a:r>
            <a:r>
              <a:rPr sz="2000" b="0">
                <a:solidFill>
                  <a:srgbClr val="1F2D3A"/>
                </a:solidFill>
              </a:rPr>
              <a:t> modu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halkayı bir başa dönüşten sonra bozar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Kuyruk az önce boşaldığı anda VE az önce dolduğu anda hangi indis ilişkisi doğru olur — ve indisler tek başına bu ikisini neden ayırt edemez?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 durum da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 == (rear + 1) % CAP</a:t>
            </a:r>
            <a:r>
              <a:rPr sz="2000" b="0">
                <a:solidFill>
                  <a:srgbClr val="1F2D3A"/>
                </a:solidFill>
              </a:rPr>
              <a:t> gösterir; ikisini ayıran tam olarak </a:t>
            </a:r>
            <a:r>
              <a:rPr sz="2000" b="1">
                <a:solidFill>
                  <a:srgbClr val="1F2D3A"/>
                </a:solidFill>
              </a:rPr>
              <a:t>`count`</a:t>
            </a:r>
            <a:r>
              <a:rPr sz="2000" b="0">
                <a:solidFill>
                  <a:srgbClr val="1F2D3A"/>
                </a:solidFill>
              </a:rPr>
              <a:t>'tur, çünkü indis ilişkisi tek başına ikisinde de aynıdır.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Hiç taşmayan bir kuyruk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Bağlı liste ile kuyruk: eleman başına bir düğüm, </a:t>
            </a:r>
            <a:r>
              <a:rPr sz="2000" b="0">
                <a:solidFill>
                  <a:srgbClr val="A1123F"/>
                </a:solidFill>
                <a:latin typeface="Consolas"/>
              </a:rPr>
              <a:t>CAP</a:t>
            </a:r>
            <a:r>
              <a:rPr sz="2000" b="0">
                <a:solidFill>
                  <a:srgbClr val="1F2D3A"/>
                </a:solidFill>
              </a:rPr>
              <a:t>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</a:t>
            </a:r>
            <a:r>
              <a:rPr sz="2000" b="0">
                <a:solidFill>
                  <a:srgbClr val="1F2D3A"/>
                </a:solidFill>
              </a:rPr>
              <a:t> işaretçi gerekir: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  <a:r>
              <a:rPr sz="2000" b="0">
                <a:solidFill>
                  <a:srgbClr val="1F2D3A"/>
                </a:solidFill>
              </a:rPr>
              <a:t> (çıkar),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 (ekle) — ikisi de O(1) kalsın diye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 olmadan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enqueue</a:t>
            </a:r>
            <a:r>
              <a:rPr sz="2000" b="0">
                <a:solidFill>
                  <a:srgbClr val="1F2D3A"/>
                </a:solidFill>
              </a:rPr>
              <a:t> tüm listeyi gezerdi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Linked-list queue</a:t>
            </a:r>
          </a:p>
        </p:txBody>
      </p:sp>
      <p:pic>
        <p:nvPicPr>
          <p:cNvPr id="7" name="Picture 6" descr="linked-queu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52214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enqueue() (bağlı)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enqueue(int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QNode *n = malloc(sizeof(QNode));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n-&gt;data = x; n-&gt;next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(rear == NULL)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front = rear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rear-&gt;next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rear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dequeue() (bağlı)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dequeue(int *out)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(front == NULL)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QNode *tmp = front;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*out = tmp-&gt;data;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front = front-&gt;next;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(front == NULL) rear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free(tmp);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Sık yapılan hatalar (bağlı kuyruk)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Boşaldığında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'ı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'a çekmeyi unutmak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düğümle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front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'dan birini güncellemek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sonraki enqueue'da </a:t>
            </a:r>
            <a:r>
              <a:rPr sz="2000" b="1">
                <a:solidFill>
                  <a:srgbClr val="1F2D3A"/>
                </a:solidFill>
              </a:rPr>
              <a:t>sarkan işaretçiye</a:t>
            </a:r>
            <a:r>
              <a:rPr sz="2000" b="0">
                <a:solidFill>
                  <a:srgbClr val="1F2D3A"/>
                </a:solidFill>
              </a:rPr>
              <a:t> yol açar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Bağlı kuyruk neden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rear</a:t>
            </a:r>
            <a:r>
              <a:rPr sz="2000" b="0">
                <a:solidFill>
                  <a:srgbClr val="1F2D3A"/>
                </a:solidFill>
              </a:rPr>
              <a:t> işaretçisine ihtiyaç duyarken, bağlı yığın duymaz?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Yığın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uçtan (</a:t>
            </a:r>
            <a:r>
              <a:rPr sz="2000" b="0">
                <a:solidFill>
                  <a:srgbClr val="A1123F"/>
                </a:solidFill>
                <a:latin typeface="Consolas"/>
              </a:rPr>
              <a:t>top</a:t>
            </a:r>
            <a:r>
              <a:rPr sz="2000" b="0">
                <a:solidFill>
                  <a:srgbClr val="1F2D3A"/>
                </a:solidFill>
              </a:rPr>
              <a:t>) ekler/çıkarır — tek işaretçi yeter. Kuyruk bir uçtan ekler, diğerinden çıkarır — O(1) kalmak için </a:t>
            </a:r>
            <a:r>
              <a:rPr sz="2000" b="1">
                <a:solidFill>
                  <a:srgbClr val="1F2D3A"/>
                </a:solidFill>
              </a:rPr>
              <a:t>her iki uca</a:t>
            </a:r>
            <a:r>
              <a:rPr sz="2000" b="0">
                <a:solidFill>
                  <a:srgbClr val="1F2D3A"/>
                </a:solidFill>
              </a:rPr>
              <a:t> da bir işaretçiye ihtiyaç duyar.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Deque — her iki 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deque</a:t>
            </a:r>
            <a:r>
              <a:rPr sz="2000" b="0">
                <a:solidFill>
                  <a:srgbClr val="1F2D3A"/>
                </a:solidFill>
              </a:rPr>
              <a:t> (double-ended queue), "yalnız bir uç" kuralını kaldırır: hem önde hem arkada push/pop'a izin verir.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Deque ADT'si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2909742"/>
                <a:gridCol w="2727883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İşlem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yapar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Karmaşıklık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push_back(x)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Arkaya ekle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push_front(x)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Öne ekle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pop_back()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Arkayı çıkar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pop_front()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Önü çıkar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Double-ended queue (deque)</a:t>
            </a:r>
          </a:p>
        </p:txBody>
      </p:sp>
      <p:pic>
        <p:nvPicPr>
          <p:cNvPr id="7" name="Picture 6" descr="dequ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463809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push_back()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push_back(Deque *d, int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DNode *n = malloc(sizeof(DNode));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n-&gt;data = x;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n-&gt;next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n-&gt;prev = d-&gt;back;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(d-&gt;back != NULL)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d-&gt;back-&gt;next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d-&gt;front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d-&gt;back = 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Kod — pop_back()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5305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bool pop_back(Deque *d)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(d-&gt;back == NULL) return false;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DNode *tmp = d-&gt;back;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d-&gt;back = tmp-&gt;prev;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(d-&gt;back != NULL)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d-&gt;back-&gt;next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else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d-&gt;front = NULL;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free(tmp);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true;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Not — bir deque, yığın ya da kuyruk olabilir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push_back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pop_back</a:t>
            </a:r>
            <a:r>
              <a:rPr sz="2000" b="0">
                <a:solidFill>
                  <a:srgbClr val="1F2D3A"/>
                </a:solidFill>
              </a:rPr>
              <a:t> → tam olarak </a:t>
            </a:r>
            <a:r>
              <a:rPr sz="2000" b="1">
                <a:solidFill>
                  <a:srgbClr val="1F2D3A"/>
                </a:solidFill>
              </a:rPr>
              <a:t>yığın</a:t>
            </a:r>
            <a:r>
              <a:rPr sz="2000" b="0">
                <a:solidFill>
                  <a:srgbClr val="1F2D3A"/>
                </a:solidFill>
              </a:rPr>
              <a:t> gibi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push_back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pop_front</a:t>
            </a:r>
            <a:r>
              <a:rPr sz="2000" b="0">
                <a:solidFill>
                  <a:srgbClr val="1F2D3A"/>
                </a:solidFill>
              </a:rPr>
              <a:t> → tam olarak </a:t>
            </a:r>
            <a:r>
              <a:rPr sz="2000" b="1">
                <a:solidFill>
                  <a:srgbClr val="1F2D3A"/>
                </a:solidFill>
              </a:rPr>
              <a:t>kuyruk</a:t>
            </a:r>
            <a:r>
              <a:rPr sz="2000" b="0">
                <a:solidFill>
                  <a:srgbClr val="1F2D3A"/>
                </a:solidFill>
              </a:rPr>
              <a:t> gibi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Java'nın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ArrayDeque</a:t>
            </a:r>
            <a:r>
              <a:rPr sz="2000" b="0">
                <a:solidFill>
                  <a:srgbClr val="1F2D3A"/>
                </a:solidFill>
              </a:rPr>
              <a:t>'i, ikisi için de daha hızlı,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genel bir alternatif olarak önerilir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Boş deque: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push_front(1)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push_back(2)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push_front(3)</a:t>
            </a:r>
            <a:r>
              <a:rPr sz="2000" b="0">
                <a:solidFill>
                  <a:srgbClr val="1F2D3A"/>
                </a:solidFill>
              </a:rPr>
              <a:t>. Önden arkaya — nedir?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3 1 2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push_front(1)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[1]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push_back(2)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[1, 2]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push_front(3)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[3, 1, 2]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Çok seviyeli kuyruk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zamanlayıcılar nadiren her işe eşit davranır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 zamanlayıcısı aynı anda </a:t>
            </a:r>
            <a:r>
              <a:rPr sz="2000" b="1">
                <a:solidFill>
                  <a:srgbClr val="1F2D3A"/>
                </a:solidFill>
              </a:rPr>
              <a:t>birkaç</a:t>
            </a:r>
            <a:r>
              <a:rPr sz="2000" b="0">
                <a:solidFill>
                  <a:srgbClr val="1F2D3A"/>
                </a:solidFill>
              </a:rPr>
              <a:t> FIFO kuyruğu tutar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etkileşimli, sonra arka plan, sonra toplu 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seviye </a:t>
            </a:r>
            <a:r>
              <a:rPr sz="2000" b="1">
                <a:solidFill>
                  <a:srgbClr val="1F2D3A"/>
                </a:solidFill>
              </a:rPr>
              <a:t>sıradan bir kuyruktur</a:t>
            </a:r>
            <a:r>
              <a:rPr sz="2000" b="0">
                <a:solidFill>
                  <a:srgbClr val="1F2D3A"/>
                </a:solidFill>
              </a:rPr>
              <a:t>; bir politika birini seçer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Çok seviyeli kuyruk — seviyeler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27435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6"/>
                <a:gridCol w="2727883"/>
                <a:gridCol w="236416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Seviye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İş türü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Öncelik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Kuyruk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Etkileşimli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Kuyruk 2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Arka plan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Kuyruk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Toplu 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Çok seviyeli kuyruk zamanlaması</a:t>
            </a:r>
          </a:p>
        </p:txBody>
      </p:sp>
      <p:pic>
        <p:nvPicPr>
          <p:cNvPr id="7" name="Picture 6" descr="multilevel-queue.t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5549" y="1325880"/>
            <a:ext cx="622059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Tuzak — açlık riski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Dokuz sistem/etkileşimli süreç arasında erken gelen bir </a:t>
            </a:r>
            <a:r>
              <a:rPr sz="2000" b="1">
                <a:solidFill>
                  <a:srgbClr val="1F2D3A"/>
                </a:solidFill>
              </a:rPr>
              <a:t>toplu iş</a:t>
            </a:r>
            <a:r>
              <a:rPr sz="2000" b="0">
                <a:solidFill>
                  <a:srgbClr val="1F2D3A"/>
                </a:solidFill>
              </a:rPr>
              <a:t> süreci en </a:t>
            </a:r>
            <a:r>
              <a:rPr sz="2000" b="1">
                <a:solidFill>
                  <a:srgbClr val="1F2D3A"/>
                </a:solidFill>
              </a:rPr>
              <a:t>son</a:t>
            </a:r>
            <a:r>
              <a:rPr sz="2000" b="0">
                <a:solidFill>
                  <a:srgbClr val="1F2D3A"/>
                </a:solidFill>
              </a:rPr>
              <a:t> sunulur — yalnız öncelik sırası açlığı önleyemez.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Mini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seviyeli kuyruk, katı anlamda neden yeni bir veri yapısı değildir?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Yanıt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seviye </a:t>
            </a:r>
            <a:r>
              <a:rPr sz="2000" b="1">
                <a:solidFill>
                  <a:srgbClr val="1F2D3A"/>
                </a:solidFill>
              </a:rPr>
              <a:t>sıradan bir kuyruktur</a:t>
            </a:r>
            <a:r>
              <a:rPr sz="2000" b="0">
                <a:solidFill>
                  <a:srgbClr val="1F2D3A"/>
                </a:solidFill>
              </a:rPr>
              <a:t>; "çok seviyeli", birkaç var olan kuyruk arasından seçim yapan bir </a:t>
            </a:r>
            <a:r>
              <a:rPr sz="2000" b="0" i="1">
                <a:solidFill>
                  <a:srgbClr val="1F2D3A"/>
                </a:solidFill>
              </a:rPr>
              <a:t>zamanlama politikasını</a:t>
            </a:r>
            <a:r>
              <a:rPr sz="2000" b="0">
                <a:solidFill>
                  <a:srgbClr val="1F2D3A"/>
                </a:solidFill>
              </a:rPr>
              <a:t> tanımlar — yeni bir depolama yolu değil.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yığın tabanlı yapılar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7165"/>
                <a:gridCol w="1292155"/>
                <a:gridCol w="3445747"/>
                <a:gridCol w="387646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Ekle/çıkar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Tipik kullanım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 yığını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LIFO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O(1), sabit kapasite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Küçük, sınırlı yığınlar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Bağlı yığın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LIFO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O(1), sınırsız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Öngörülemeyen boyut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Çağrı yığını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LIFO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Otomatik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Çalışan her program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kuyruk tabanlı yapılar (I)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820380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8331"/>
                <a:gridCol w="1636730"/>
                <a:gridCol w="345531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Ekle/çıkar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 kuyruğu (saf)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FIFO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O(1), ama kayar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Dairesel kuyruk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FIFO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O(1), kayma yok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Bağlı liste ile kuyruk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FIFO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O(1), sınırsız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kuyruk tabanlı yapılar (II)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552"/>
                <a:gridCol w="3459755"/>
                <a:gridCol w="4391227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Tipik kullanım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iki uç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Kayan pencere, geri al/yinele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Çok seviyeli kuyruk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Birkaç FIFO + politika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İşletim sistemi zamanlaması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Özet — yığın uygulamaları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5091"/>
                <a:gridCol w="2846487"/>
                <a:gridCol w="5099956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Uygulama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 fikir</a:t>
                      </a:r>
                    </a:p>
                  </a:txBody>
                  <a:tcPr marL="54864" marR="54864" marT="27432" marB="27432" anchor="ctr">
                    <a:solidFill>
                      <a:srgbClr val="2E7D32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Parantez dengesi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Yığın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son, ilk kapanan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Postfix değerlendirme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Yığın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 çek, uygula, sonucu it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Infix → postfix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İşleç yığını + 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Önceliği bir kerede çöz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Hanoi Kulesi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Çağrı yığını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n-1'i çöz, hareket et, n-1'i tekrar çöz</a:t>
                      </a:r>
                    </a:p>
                  </a:txBody>
                  <a:tcPr marL="54864" marR="54864" marT="27432" marB="27432" anchor="ctr">
                    <a:solidFill>
                      <a:srgbClr val="EA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Büyük resim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kural — </a:t>
            </a:r>
            <a:r>
              <a:rPr sz="2000" b="1">
                <a:solidFill>
                  <a:srgbClr val="1F2D3A"/>
                </a:solidFill>
              </a:rPr>
              <a:t>hangi uca/uçlara dokunabilirsiniz</a:t>
            </a:r>
            <a:r>
              <a:rPr sz="2000" b="0">
                <a:solidFill>
                  <a:srgbClr val="1F2D3A"/>
                </a:solidFill>
              </a:rPr>
              <a:t> — bu dersteki her yapıyı ayırıyor: bir uç (yığın), iki uç (kuyruk/deque), ya da birkaç paralel kuyruk (çok seviyeli).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Alıştırma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Bugünün her konusu için alıştırmalar hafta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notlarında: </a:t>
            </a:r>
            <a:r>
              <a:rPr sz="2000" b="0">
                <a:solidFill>
                  <a:srgbClr val="A1123F"/>
                </a:solidFill>
                <a:latin typeface="Consolas"/>
              </a:rPr>
              <a:t>docs/week-3/cen207-week-3.tr.md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Peek, dengesiz parantez hatasının </a:t>
            </a:r>
            <a:r>
              <a:rPr sz="2000" b="0" i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olduğunu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bulma, prefix'siz infix-prefix çevirisi, count'suz dairesel kuyruk, palindrom denetimi, daha adil zamanlama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Kendini sınama turu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On kısa soru. Yanıt bir sonraki slaytta görünmeden önce düşünün.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1. LIFO ne anlama gelir?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Son Giren, İlk Çıkar — yığın.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2. FIFO ne anlama gelir?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İlk Giren, İlk Çıkar — kuyruk.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3. Dizide </a:t>
            </a:r>
            <a:r>
              <a:rPr sz="3000" b="1">
                <a:solidFill>
                  <a:srgbClr val="2E7D32"/>
                </a:solidFill>
                <a:latin typeface="Consolas"/>
              </a:rPr>
              <a:t>push</a:t>
            </a:r>
            <a:r>
              <a:rPr sz="3000" b="1">
                <a:solidFill>
                  <a:srgbClr val="2E7D32"/>
                </a:solidFill>
              </a:rPr>
              <a:t> neden </a:t>
            </a:r>
            <a:r>
              <a:rPr sz="3000" b="1">
                <a:solidFill>
                  <a:srgbClr val="2E7D32"/>
                </a:solidFill>
                <a:latin typeface="Consolas"/>
              </a:rPr>
              <a:t>top == CAP - 1</a:t>
            </a:r>
            <a:r>
              <a:rPr sz="3000" b="1">
                <a:solidFill>
                  <a:srgbClr val="2E7D32"/>
                </a:solidFill>
              </a:rPr>
              <a:t>'i denetler, </a:t>
            </a:r>
            <a:r>
              <a:rPr sz="3000" b="1">
                <a:solidFill>
                  <a:srgbClr val="2E7D32"/>
                </a:solidFill>
                <a:latin typeface="Consolas"/>
              </a:rPr>
              <a:t>top == CAP</a:t>
            </a:r>
            <a:r>
              <a:rPr sz="3000" b="1">
                <a:solidFill>
                  <a:srgbClr val="2E7D32"/>
                </a:solidFill>
              </a:rPr>
              <a:t>'i değil?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Geçerli indisler 0..CAP-1; yığın, </a:t>
            </a:r>
            <a:r>
              <a:rPr sz="3000" b="1">
                <a:solidFill>
                  <a:srgbClr val="2E7D32"/>
                </a:solidFill>
                <a:latin typeface="Consolas"/>
              </a:rPr>
              <a:t>top</a:t>
            </a:r>
            <a:r>
              <a:rPr sz="3000" b="1">
                <a:solidFill>
                  <a:srgbClr val="2E7D32"/>
                </a:solidFill>
              </a:rPr>
              <a:t> CAP-1'e ulaştığı an dolar.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4. Postfix değerlendirmede hangi işlenen önce çekilir?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Sağdaki işlenen — en son itildiği için ilk o çıkar.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5. Saf bir dizi kuyruğu, önde boş hücreler olsa bile neden sonunda "dolu" der?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  <a:latin typeface="Consolas"/>
              </a:rPr>
              <a:t>rear</a:t>
            </a:r>
            <a:r>
              <a:rPr sz="3000" b="1">
                <a:solidFill>
                  <a:srgbClr val="2E7D32"/>
                </a:solidFill>
              </a:rPr>
              <a:t> yalnız artar, </a:t>
            </a:r>
            <a:r>
              <a:rPr sz="3000" b="1">
                <a:solidFill>
                  <a:srgbClr val="2E7D32"/>
                </a:solidFill>
                <a:latin typeface="Consolas"/>
              </a:rPr>
              <a:t>dequeue</a:t>
            </a:r>
            <a:r>
              <a:rPr sz="3000" b="1">
                <a:solidFill>
                  <a:srgbClr val="2E7D32"/>
                </a:solidFill>
              </a:rPr>
              <a:t>'nun önde boşalttığı hücreleri hiç yeniden kullanmaz.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6. Dairesel kuyruk, </a:t>
            </a:r>
            <a:r>
              <a:rPr sz="3000" b="1">
                <a:solidFill>
                  <a:srgbClr val="2E7D32"/>
                </a:solidFill>
                <a:latin typeface="Consolas"/>
              </a:rPr>
              <a:t>front</a:t>
            </a:r>
            <a:r>
              <a:rPr sz="3000" b="1">
                <a:solidFill>
                  <a:srgbClr val="2E7D32"/>
                </a:solidFill>
              </a:rPr>
              <a:t>/</a:t>
            </a:r>
            <a:r>
              <a:rPr sz="3000" b="1">
                <a:solidFill>
                  <a:srgbClr val="2E7D32"/>
                </a:solidFill>
                <a:latin typeface="Consolas"/>
              </a:rPr>
              <a:t>rear</a:t>
            </a:r>
            <a:r>
              <a:rPr sz="3000" b="1">
                <a:solidFill>
                  <a:srgbClr val="2E7D32"/>
                </a:solidFill>
              </a:rPr>
              <a:t>'ın ötesinde hangi ekstra duruma ihtiyaç duyar?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Şu anki eleman sayısını tutan bir </a:t>
            </a:r>
            <a:r>
              <a:rPr sz="3000" b="1">
                <a:solidFill>
                  <a:srgbClr val="2E7D32"/>
                </a:solidFill>
                <a:latin typeface="Consolas"/>
              </a:rPr>
              <a:t>count</a:t>
            </a:r>
            <a:r>
              <a:rPr sz="3000" b="1">
                <a:solidFill>
                  <a:srgbClr val="2E7D32"/>
                </a:solidFill>
              </a:rPr>
              <a:t> — indisler tek başına boşu doludan ayıramaz.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7. </a:t>
            </a:r>
            <a:r>
              <a:rPr sz="3000" b="1">
                <a:solidFill>
                  <a:srgbClr val="2E7D32"/>
                </a:solidFill>
                <a:latin typeface="Consolas"/>
              </a:rPr>
              <a:t>fact(n) = n * fact(n - 1)</a:t>
            </a:r>
            <a:r>
              <a:rPr sz="3000" b="1">
                <a:solidFill>
                  <a:srgbClr val="2E7D32"/>
                </a:solidFill>
              </a:rPr>
              <a:t>'in temel durumu nedir?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  <a:latin typeface="Consolas"/>
              </a:rPr>
              <a:t>fact(0) = 1</a:t>
            </a:r>
            <a:r>
              <a:rPr sz="3000" b="1">
                <a:solidFill>
                  <a:srgbClr val="2E7D32"/>
                </a:solidFill>
              </a:rPr>
              <a:t>. Bu olmadan, çağrılar hiç durmaz ve çağrı yığını taşar.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8. Çağrı yığını neden gerçek bir yığın sayılmayı hak eder?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Tam olarak LIFO'ya uyar: en son çağrı her zaman bitirecek bir sonraki çağrıdır.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9. </a:t>
            </a:r>
            <a:r>
              <a:rPr sz="3000" b="1">
                <a:solidFill>
                  <a:srgbClr val="2E7D32"/>
                </a:solidFill>
                <a:latin typeface="Consolas"/>
              </a:rPr>
              <a:t>n</a:t>
            </a:r>
            <a:r>
              <a:rPr sz="3000" b="1">
                <a:solidFill>
                  <a:srgbClr val="2E7D32"/>
                </a:solidFill>
              </a:rPr>
              <a:t> disk için kaç Hanoi hamlesi gerekir?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  <a:latin typeface="Consolas"/>
              </a:rPr>
              <a:t>2ⁿ - 1</a:t>
            </a:r>
            <a:r>
              <a:rPr sz="3000" b="1">
                <a:solidFill>
                  <a:srgbClr val="2E7D32"/>
                </a:solidFill>
              </a:rPr>
              <a:t> hamle — </a:t>
            </a:r>
            <a:r>
              <a:rPr sz="3000" b="1">
                <a:solidFill>
                  <a:srgbClr val="2E7D32"/>
                </a:solidFill>
                <a:latin typeface="Consolas"/>
              </a:rPr>
              <a:t>n</a:t>
            </a:r>
            <a:r>
              <a:rPr sz="3000" b="1">
                <a:solidFill>
                  <a:srgbClr val="2E7D32"/>
                </a:solidFill>
              </a:rPr>
              <a:t>'de üstel büyüme.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10. Ne sıradan bir yığının ne de sıradan bir kuyruğun yapamadığı bir şey söyleyin.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Hem </a:t>
            </a:r>
            <a:r>
              <a:rPr sz="3000" b="1">
                <a:solidFill>
                  <a:srgbClr val="2E7D32"/>
                </a:solidFill>
              </a:rPr>
              <a:t>önden</a:t>
            </a:r>
            <a:r>
              <a:rPr sz="3000" b="1">
                <a:solidFill>
                  <a:srgbClr val="2E7D32"/>
                </a:solidFill>
              </a:rPr>
              <a:t> hem </a:t>
            </a:r>
            <a:r>
              <a:rPr sz="3000" b="1">
                <a:solidFill>
                  <a:srgbClr val="2E7D32"/>
                </a:solidFill>
              </a:rPr>
              <a:t>arkadan</a:t>
            </a:r>
            <a:r>
              <a:rPr sz="3000" b="1">
                <a:solidFill>
                  <a:srgbClr val="2E7D32"/>
                </a:solidFill>
              </a:rPr>
              <a:t>, ikisi de O(1), ekleme ya da çıkarma.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2E7D32"/>
                </a:solidFill>
              </a:rPr>
              <a:t>Bir sonraki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4. hafta — Ağaçlar: İkili Ağaçlar, Dolaşmalar, Öbekler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Bugünkü her yığın ve kuyruk, elemanları katı, dallanmayan bir sırada tuttu. Ağaçlar, bir düğümün birden çok çocuğu olmasına izin verir — Hanoi Kulesi için kullanılan tam olarak aynı özyinelemeli örüntüyle dolaşılır.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Kaynaklar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izlencesi, Hafta 3: </a:t>
            </a:r>
            <a:r>
              <a:rPr sz="2000" b="0">
                <a:solidFill>
                  <a:srgbClr val="A1123F"/>
                </a:solidFill>
                <a:latin typeface="Consolas"/>
              </a:rPr>
              <a:t>docs/syllabus/syllabus.tr.md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Cormen, Leiserson, Rivest, Stein. *Introduction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Algorithms*, 3. baskı. MIT Press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Sedgewick, Wayne. </a:t>
            </a:r>
            <a:r>
              <a:rPr sz="2000" b="0" i="1">
                <a:solidFill>
                  <a:srgbClr val="1F2D3A"/>
                </a:solidFill>
              </a:rPr>
              <a:t>Algorithms</a:t>
            </a:r>
            <a:r>
              <a:rPr sz="2000" b="0">
                <a:solidFill>
                  <a:srgbClr val="1F2D3A"/>
                </a:solidFill>
              </a:rPr>
              <a:t>, 4. baskı.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56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Addison-Wesley, 2011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-logo-sm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CEN207 Veri Yapıları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2E7D32"/>
                </a:solidFill>
              </a:rPr>
              <a:t>Kaynaklar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Deitel &amp; Deitel. </a:t>
            </a:r>
            <a:r>
              <a:rPr sz="2000" b="0" i="1">
                <a:solidFill>
                  <a:srgbClr val="1F2D3A"/>
                </a:solidFill>
              </a:rPr>
              <a:t>C How to Program</a:t>
            </a:r>
            <a:r>
              <a:rPr sz="2000" b="0">
                <a:solidFill>
                  <a:srgbClr val="1F2D3A"/>
                </a:solidFill>
              </a:rPr>
              <a:t>, 7. baskı.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Y. D. Liang. </a:t>
            </a:r>
            <a:r>
              <a:rPr sz="2000" b="0" i="1">
                <a:solidFill>
                  <a:srgbClr val="1F2D3A"/>
                </a:solidFill>
              </a:rPr>
              <a:t>Introduction to Java Programming</a:t>
            </a:r>
            <a:r>
              <a:rPr sz="2000" b="0">
                <a:solidFill>
                  <a:srgbClr val="1F2D3A"/>
                </a:solidFill>
              </a:rPr>
              <a:t>, 10. baskı.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É. Lucas, </a:t>
            </a:r>
            <a:r>
              <a:rPr sz="2000" b="0" i="1">
                <a:solidFill>
                  <a:srgbClr val="1F2D3A"/>
                </a:solidFill>
              </a:rPr>
              <a:t>Récréations mathématiques</a:t>
            </a:r>
            <a:r>
              <a:rPr sz="2000" b="0">
                <a:solidFill>
                  <a:srgbClr val="1F2D3A"/>
                </a:solidFill>
              </a:rPr>
              <a:t>, 1883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2E7D32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J. Łukasiewicz, Polish/Reverse Polish yazımı, 1920'ler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CEN207 Hafta 3 — Yığınlar ve Kuyruklar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