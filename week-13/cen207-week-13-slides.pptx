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structure so far lived in RAM. This week moves to disk, where the unit that matters is not a comparison but a block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short animations carry the whole lecture; each idea gets one normal run and one edge/hard run, right where it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program creates a scratch folder in the OS temp directory, never inside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week keeps returning to one theme — trading a search for a computation whenever the data's layout allows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understood Week 6's hash table, sections 8-10 are the same table, just one level removed from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shift in what you count is the organizing idea of the entire week — everything else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here gets its own full section below, each with an animation, a real program, and a complexity/mistakes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has no animation of its own — it sets up the drawing convention and cost model every later section reuses.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a hardware and file-system fact, not a design choice any program can opt out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technique this week is really a strategy for minimizing the number of block reads and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animation this week uses exactly this layout — once you can read one, you can read all nine.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systems very often use both at once — a sequential file for batch jobs, a hashed file for interactive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actually costs time here — the comparisons, or the disk accesses.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precisely why every section from here on counts block reads, not comparisons, as its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is about packing several fields of a record into bytes — and unpacking them again on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answers below trade wasted space against parsing cost, and none of them is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Fixed-length pays with wasted or lost bytes; delimited pays with a scan; length-prefixed pays with a hard size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seed of the whole "compute instead of search" theme that runs through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three is "the right one" in general — the right choice depends entirely on whether records need a fixed, computable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11 records, `NAME_FIXED=8` — watch which names get padded and which get silently truncated.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record loses data in the fixed layout here — the worst case for this technique, made maximal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empty name is fully padded in the fixed layout, costs zero bytes in the delimited layout — two very different ways to handle the same extreme.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Truncation is silent unless the program itself decides to report it — the code above prints a warning specifically for that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delimiter character is needed at all, and no character has to be forbidden inside the name — the trade is a 255-byte length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rare case this semester where the interesting trade-off is not in the big-O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delimiter like a comma inside a name breaks the moment a real name contains a comma — length-prefixing sidesteps this class of bug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information the reader has *before* it starts reading the field's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length-prefixed scheme's one byte of overhead buys it certainty a scan can never have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answers a question section 1 left open — how many records actually share one disk access?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the blocking factor — and it does not eliminate waste, it only relocates where the waste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entire payoff of blocking — bf records for the price of one disk access, not bf separate accesses.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partial last block still occupies a whole block on disk — block_flush writes it anyway, waste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truck analogy makes both kinds of waste tangible: cargo space unused per trip, and a trip taken for very little cargo.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RAM buffer fill to bf, flush as one block write, then start over empty for the 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 computes to 0 here — a real system must detect and reject this as a design error, never silently misbehave.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last-block waste here — but internal fragmentation still happens inside every full block, since the two kinds of waste are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block_flush is only ever called once, after the main loop — it is what pays the last-block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Sections 4 and 5's O(numBlocks) and O(log numBlocks) both shrink directly as bf grows, because numBlocks = n / bf.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kinds of waste have different causes and different fixes — conflating them leads to the wrong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 = floor(100/24) = 4; the wasted bytes are what is left over after bf*recSize.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bytes looks trivial for one block — the "hard" scenario in the animation shows it compounding across many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is Week 1's linear search, adapted to the fact that records arrive bf at a time, not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no sort order to exploit, the answer this section gives is: no — every block must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a few extra records already sitting in RAM costs almost nothing next to the disk access that loaded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Week 1's linear search, retold with disk-sized units — the box, not the paper inside it, is what costs time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bf=4 — watch the block-read counter, not the comparison counter, as the true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absent target costs exactly the same as finding the very last record — every block must be read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block read, one comparison — the best case, exactly as far from the worst case as this technique's variance ever 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block_reads increments once per block; comparisons increments once per record — only the first is this week's real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larger blocking factor from section 3 directly speeds up sequential search, since numBlocks shrinks as bf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section 5's sorted file, an unsorted sequential file offers no shortcut at all for the not-found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the algorithm can conclude before it has read the final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shape of answer section 5 will contrast against a moment from now, once the file is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asks what section 4 never used — the fact that the file could be sorted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yes, with one twist: an entire block is ruled out per comparison, not one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binary search narrows down to one block, a short linear scan inside it (section 4's idea, bounded to bf) finds it or confirms a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edge case worth its own animation run — binary search narrows down WHICH block, not whether the key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 is exactly a block's first/last key — reading it costs one glance, ruling out everything on the wrong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watch each comparison rule out an entire block's worth of records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falls between two real keys in the same block — the short scan inside it correctly reports "not found".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very first comparison against block 0's first key already rules out the whole file — no further reads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iteration reads exactly one block, exactly like array binary search examines exactly one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like Week 1's binary vs. linear search on an array — same shape of speedup, one level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algorithm must compare against a whole block's range, because a block of several records, not one record, is ruled in or out at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numBlocks = n / bf — think about whether this is a fundamentally different algorithm or the same one, one level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 binary search is binary search performed over groups of bf records, because block-oriented I/O forces that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is the classical algorithm this whole topic is named for — updating a huge file without touching it record by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alternative predates modern databases by decades — it comes straight from early batch-processing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pattern is one of the oldest ideas in file processing — it long predates the databases most students think of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literally the merge step of merge sort from Week 10, applied to two files instead of two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Whichever pointer is "behind" advances — this is exactly the same comparison logic as merging two sorted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rejected transaction must never delete data nobody asked to delete — this is the single most important rule in this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two-reader picture is exactly Week 10's merge step, and it is the cleanest way to visualize why the algorithm never backtracks.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master records, 6 transactions mixing add/change/delete — watch both pointers advance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error types in one run: adding a key that exists, and changing/deleting a key that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"leftover transactions" loop — some trailing adds succeed, some trailing changes/deletes are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merge-sort comparison structure from Week 10 — the only new part is the equal-key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the leftover loops after the main merge ends is the single most common bug in this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complexity gap is precisely why batch systems merge sorted files instead of searching for each transaction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out-of-order record anywhere silently produces a wrong merge — not a crash, not an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the new master file actually contains when the merge finishes.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this with section 10's tombstones, which need an explicit marker precisely because a probed file cannot be rewritten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is Week 1's array-indexing idea, moved to disk — no searching at all, just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no — and this is the fastest technique in the entire week, by a wide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costs exactly the same one block read whether the file holds a hundred records or a hundred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Computing a location instead of searching for it does not mean skipping validation — quite the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numbered space is the cleanest possible picture of a computed address — nobody would search a garage floor by floor for a known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bf=5, 13 records — watch every request cost exactly one block read, valid or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rrn is rejected cleanly here — an unchecked one would compute a negative block and a corrupt fseek.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valid rrn lands correctly in a block that is otherwise mostly empty; the very next rrn must still be rejected as out of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loop, no comparison against stored data at all — this is genuinely the simplest algorithm of the entire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theoretical ceiling every other technique this week is trying to approximate with a computed or hashed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unvalidated rrn computed into an out-of-bounds fseek is exactly the kind of bug that corrupts a file, not just fails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how many blocks each technique must visit to find an answer, versus how many it must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numBlocks = n / bf appears explicitly in both search techniques' complexity — never in direct access's.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takes Week 6's hash table and moves it to disk, where "one slot" becomes "one block", not one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— and the key change is that one hash "slot" here is an entire block, which can already hold bf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Week 6's separate chaining, except the "linked list nodes" are now whole disk blocks, not individual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mailbox that can already hold bf letters is the key difference from Week 6's RAM table, where every "mailbox" held exactly one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how many keys accumulate in one bucket before an overflow block is finally allocated.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only one bucket, every key beyond the first bf collides — a long overflow chain, the worst case made maximal.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m greater than 1 but every key still colliding, this isolates a bad hash outcome from a badly chosen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new overflow block must chain onto the LAST block in the chain, never back onto the home bucket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Week 6's chaining degradation, now measured in block accesses instead of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collision here means "the bf-th key competing for one already-full block" — materially rarer than Week 6's one-key-per-slot.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whether a colliding key stays inside the same table structure, or grows something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9's progressive overflow is the other family — claiming a different slot inside the same table, like Week 6's open addressing.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is Week 6's open addressing, moved to disk — no separate structure at all, just keep probing.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6's open addressing solved exactly this waste in RAM by keeping every key inside the original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slot probed, empty or not, costs one real disk access — this is why the technique's cost is measured in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section 8's mailbox trays, there is no separate structure here at all — every key genuinely lives inside the one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probe sequence wrap around from the last slot back to slot 0 when a home slot is near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Probe counts grow 1, 2, 3, ... in lock-step with insertion order — the textbook signature of primary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insert tries every one of the m slots and finds none free — a clean "file full" report, never an infinite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the `tries &lt; m` guard, a full table with no matching key would loop forever — this bound is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Week 6's open-addressing degradation, now paid for in real disk accesses instead of RAM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well-designed program must detect and report a full file gracefully, exactly as the sample program above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Week 6 term — think about why an occupied run of slots keeps growing once it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new key whose probe sequence reaches an existing run is forced to extend it by one more slot, making the next collision more likely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asks what happens to section 9's probing when a key in the MIDDLE of a probe chain is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is exactly the signal a search uses to give up — clearing a mid-chain slot breaks every key that comes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and insert ask genuinely different questions here, which is exactly why they treat a tombstone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 is the tombstone, in one image — it changes what a passing search does, without changing what a passing insert may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a delete turn a slot into TOMB, then a later find() correctly skip past it to reach a key further along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true-empty slot remains at all — only the tries &lt; m bound from section 9 stops find() from probing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reinserted key lands back at its own home slot, reusing its own tombstone — a satisfying, and correct,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TOMB is neither "found" nor "safe to stop at" — it must be skipped exactly like any other occupied-but-different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Reusing a tombstone reclaims deleted space without ever breaking any other key's probe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search was always going to walk past occupied slots anyway — tombstones just widen what counts as "occupied but passable".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case is exactly why the tries &lt; m bound from section 9 is load-bearing, not a defensive nicety.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the slot looks like to a search, once it holds a real key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any other key's point of view, an occupied slot is an occupied slot, whether original or reclaimed.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now step back from individual algorithms to compare all five organisations side by side, and when to pick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column every row shares is the unit being counted — block reads and writes, from section 1, never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technique beats reading every block once when every record must be visited anyway — sorting buys nothing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biggest decision, as in Week 6, is: does this file need efficient exact-match lookup, or will it always be processed whole?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question drove every section this week: how many block reads and writes does each technique need?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idea from Weeks 1, 6, and 10 reappears here, unchanged in logic, now paid for in block reads instead of RAM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1 — a block read costs orders of magnitude more than any in-memory operation on its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organizing idea of the entire week, stated once more as a review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5 — an entire block, not one record, is ruled in or out at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difference between array binary search (Week 1) and file binary search (section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6 — an unrelated rejected transaction must never delete valid data as a side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a real bug found and fixed in this week's own reference programs while building them — a genuine, not hypothetical,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10 — insert and search are answering fundamentally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commonly mis-implemented detail of open addressing with deletion, in any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section 7 — the arithmetic is the same one division and one modulo, no matter how many records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this with every searching technique this week, whose cost is expressed directly in terms of numBlocks = n / bf.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Week 6 — think about whether a collision grows a side structure, or claims a slot inside the same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9's progressive overflow is the other Week 6 family instead — claiming a different slot inside the very same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14 answers exactly the question sections 8-10 left open: what happens when a hashed file outgrows its 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Knuth's analysis of linear probing is the historical root of this week's "progressive overflow"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File Organisation I: Sequential and Direct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970"/>
                <a:gridCol w="10229564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Blocks, records/fields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blocking factor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sequential search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search of a sorted file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sequential update / merge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Relative access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hashing to buckets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progressive overflow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tombstones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LO.6 (implement in C and Java)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0492"/>
                <a:gridCol w="254104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Records/fields, blocking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search, binary search of a sorted file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4–5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update (merge master + transactions)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Relative (direct) access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 to buckets, progressive overflow, tombstones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8–10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perform </a:t>
            </a:r>
            <a:r>
              <a:rPr sz="2000" b="1">
                <a:solidFill>
                  <a:srgbClr val="1F2D3A"/>
                </a:solidFill>
              </a:rPr>
              <a:t>real file I/O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fseek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fread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RandomAccessFile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 creates its own </a:t>
            </a:r>
            <a:r>
              <a:rPr sz="2000" b="1">
                <a:solidFill>
                  <a:srgbClr val="1F2D3A"/>
                </a:solidFill>
              </a:rPr>
              <a:t>temporary lab folder</a:t>
            </a:r>
            <a:r>
              <a:rPr sz="2000" b="0">
                <a:solidFill>
                  <a:srgbClr val="1F2D3A"/>
                </a:solidFill>
              </a:rPr>
              <a:t>, then deletes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code/week-13/c/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code/week-13/java/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computed addresses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arr[i]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0">
                <a:solidFill>
                  <a:srgbClr val="A1123F"/>
                </a:solidFill>
                <a:latin typeface="Consolas"/>
              </a:rPr>
              <a:t>base_address + i * element_size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</a:t>
            </a:r>
            <a:r>
              <a:rPr sz="2000" b="1">
                <a:solidFill>
                  <a:srgbClr val="1F2D3A"/>
                </a:solidFill>
              </a:rPr>
              <a:t>searching</a:t>
            </a:r>
            <a:r>
              <a:rPr sz="2000" b="0">
                <a:solidFill>
                  <a:srgbClr val="1F2D3A"/>
                </a:solidFill>
              </a:rPr>
              <a:t> needed to reach 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— just arithmetic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7's relative file is exactly this idea, moved to disk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  <a:r>
              <a:rPr sz="2000" b="0">
                <a:solidFill>
                  <a:srgbClr val="1F2D3A"/>
                </a:solidFill>
              </a:rPr>
              <a:t> — computed, not searched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hashing and collisions (Week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  <a:r>
              <a:rPr sz="2000" b="0">
                <a:solidFill>
                  <a:srgbClr val="1F2D3A"/>
                </a:solidFill>
              </a:rPr>
              <a:t> picks a slot in 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Collisions resolved by </a:t>
            </a:r>
            <a:r>
              <a:rPr sz="2000" b="1">
                <a:solidFill>
                  <a:srgbClr val="1F2D3A"/>
                </a:solidFill>
              </a:rPr>
              <a:t>chaining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open addressing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8–10 reuse both ideas, unchanged in logic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only difference: every "slot" is now a disk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one genuinely new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Weeks 1–12: cost = </a:t>
            </a:r>
            <a:r>
              <a:rPr sz="2000" b="1">
                <a:solidFill>
                  <a:srgbClr val="1F2D3A"/>
                </a:solidFill>
              </a:rPr>
              <a:t>comparisons</a:t>
            </a:r>
            <a:r>
              <a:rPr sz="2000" b="0">
                <a:solidFill>
                  <a:srgbClr val="1F2D3A"/>
                </a:solidFill>
              </a:rPr>
              <a:t>, swaps, pointer hops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week: cost = </a:t>
            </a:r>
            <a:r>
              <a:rPr sz="2000" b="1">
                <a:solidFill>
                  <a:srgbClr val="1F2D3A"/>
                </a:solidFill>
              </a:rPr>
              <a:t>block reads and writes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block read costs orders of magnitude more than any RAM 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extra records </a:t>
            </a:r>
            <a:r>
              <a:rPr sz="2000" b="0" i="1">
                <a:solidFill>
                  <a:srgbClr val="1F2D3A"/>
                </a:solidFill>
              </a:rPr>
              <a:t>already in RAM</a:t>
            </a:r>
            <a:r>
              <a:rPr sz="2000" b="0">
                <a:solidFill>
                  <a:srgbClr val="1F2D3A"/>
                </a:solidFill>
              </a:rPr>
              <a:t> costs almost nothing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497"/>
                <a:gridCol w="598803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Foundations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Records/fields (2), blocking factor (3)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— process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in order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(4), sorted search (5), update (6)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Direct —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compute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the 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Relative (7), hashing (8–10)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Files Are Different: Block-Oriented I/O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file usually cannot fit in RAM at all. If a program needs one 20-byte record, why does the disk not just hand over 20 bytes?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a block is the smallest unit of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Disks are organized into fixed-size </a:t>
            </a:r>
            <a:r>
              <a:rPr sz="2000" b="1">
                <a:solidFill>
                  <a:srgbClr val="1F2D3A"/>
                </a:solidFill>
              </a:rPr>
              <a:t>blocks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read/write transfers </a:t>
            </a:r>
            <a:r>
              <a:rPr sz="2000" b="1">
                <a:solidFill>
                  <a:srgbClr val="1F2D3A"/>
                </a:solidFill>
              </a:rPr>
              <a:t>one whole block</a:t>
            </a:r>
            <a:r>
              <a:rPr sz="2000" b="0">
                <a:solidFill>
                  <a:srgbClr val="1F2D3A"/>
                </a:solidFill>
              </a:rPr>
              <a:t>, never less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a 20-byte request loads the entire surrounding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</a:t>
            </a:r>
            <a:r>
              <a:rPr sz="2000" b="0" i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 file organisation exists as a topic at 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drawing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disk</a:t>
            </a:r>
            <a:r>
              <a:rPr sz="2000" b="0">
                <a:solidFill>
                  <a:srgbClr val="1F2D3A"/>
                </a:solidFill>
              </a:rPr>
              <a:t> row: named, numbered blocks, contents drawn inside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RAM buffer</a:t>
            </a:r>
            <a:r>
              <a:rPr sz="2000" b="0">
                <a:solidFill>
                  <a:srgbClr val="1F2D3A"/>
                </a:solidFill>
              </a:rPr>
              <a:t> row: the one block currently loaded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Block reads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block writes</a:t>
            </a:r>
            <a:r>
              <a:rPr sz="2000" b="0">
                <a:solidFill>
                  <a:srgbClr val="1F2D3A"/>
                </a:solidFill>
              </a:rPr>
              <a:t>, counted on the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count </a:t>
            </a:r>
            <a:r>
              <a:rPr sz="2000" b="0" i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this week's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O(...)</a:t>
            </a:r>
            <a:r>
              <a:rPr sz="2000" b="0">
                <a:solidFill>
                  <a:srgbClr val="1F2D3A"/>
                </a:solidFill>
              </a:rPr>
              <a:t> — watch it, not the keys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Two families, one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674"/>
                <a:gridCol w="662486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Locate a record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Sequential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(sections 4–6)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Read blocks in order, or jump to a middle block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Direct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(sections 7–10)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calculation, then one block read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Sequential wins when you process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record anyway; direct wins for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lookup among millions.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sequential search reads 100 blocks, comparing 1 key per block. A second file reads 100 blocks, comparing 1000 keys per block. Which is faster?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Neither — they cost about the same.</a:t>
            </a:r>
            <a:r>
              <a:rPr sz="2000" b="0">
                <a:solidFill>
                  <a:srgbClr val="1F2D3A"/>
                </a:solidFill>
              </a:rPr>
              <a:t> The disk access dominates; comparing extra keys already sitting in a loaded block is nearly free.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Records and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name field can hold "Al" or "Christopherson". Should every record reserve the same number of bytes for it regardless?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Three layouts for the same field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469"/>
                <a:gridCol w="5099956"/>
                <a:gridCol w="3558109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Layout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Fixed-length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Pad or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truncate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to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NAME_FIXED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Wasted space or lost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Delimited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Write value, then a delimiter byte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Scan to find the delimiter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Length-prefixed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Write length byte, then that many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read, max length 255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fixed-length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record is </a:t>
            </a:r>
            <a:r>
              <a:rPr sz="2000" b="1">
                <a:solidFill>
                  <a:srgbClr val="1F2D3A"/>
                </a:solidFill>
              </a:rPr>
              <a:t>exactly the same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is what makes computing an address from a position possible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3 (blocking) and section 7 (direct access) both need this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Delimited/length-prefixed records cannot be located this 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form with a "name"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paper form's name box is a </a:t>
            </a:r>
            <a:r>
              <a:rPr sz="2000" b="1">
                <a:solidFill>
                  <a:srgbClr val="1F2D3A"/>
                </a:solidFill>
              </a:rPr>
              <a:t>fixed</a:t>
            </a:r>
            <a:r>
              <a:rPr sz="2000" b="0">
                <a:solidFill>
                  <a:srgbClr val="1F2D3A"/>
                </a:solidFill>
              </a:rPr>
              <a:t> size on the page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spreadsheet cell </a:t>
            </a:r>
            <a:r>
              <a:rPr sz="2000" b="1">
                <a:solidFill>
                  <a:srgbClr val="1F2D3A"/>
                </a:solidFill>
              </a:rPr>
              <a:t>grows</a:t>
            </a:r>
            <a:r>
              <a:rPr sz="2000" b="0">
                <a:solidFill>
                  <a:srgbClr val="1F2D3A"/>
                </a:solidFill>
              </a:rPr>
              <a:t> to fit whatever you type — delimited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shipping label prints a length, then that many characters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three exist in real systems, for exactly these trade-offs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Records and fields, step by step</a:t>
            </a:r>
          </a:p>
        </p:txBody>
      </p:sp>
      <p:pic>
        <p:nvPicPr>
          <p:cNvPr id="7" name="Picture 6" descr="records-and-field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69" y="1325880"/>
            <a:ext cx="97895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every name longer than 8 characters</a:t>
            </a:r>
          </a:p>
        </p:txBody>
      </p:sp>
      <p:pic>
        <p:nvPicPr>
          <p:cNvPr id="7" name="Picture 6" descr="records-and-fields--edge-all-trunca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671" y="1325880"/>
            <a:ext cx="97223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an empty name and a very long name</a:t>
            </a:r>
          </a:p>
        </p:txBody>
      </p:sp>
      <p:pic>
        <p:nvPicPr>
          <p:cNvPr id="7" name="Picture 6" descr="records-and-fields--edge-empty-and-lo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69" y="1325880"/>
            <a:ext cx="978955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fixed-length: pad or truncate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#define NAME_FIXED 8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(int) strlen(name);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&gt;= NAME_FIXED)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too long: truncate, data is LOST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memcpy(r.name, name, NAME_FIXED);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memcpy(r.name, name,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pad with filler bytes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memset(r.name + n, '_', NAME_FIXED -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length-prefixed: O(1) to read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unsigned char len 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(unsigned char) strlen(name);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fwrite(&amp;len, 1, 1, fp);   /* 1-byte prefix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fwrite(name, 1, len, fp);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reading back: read len, then read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exactly len more bytes — no scanning */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Writing/reading one field: </a:t>
            </a:r>
            <a:r>
              <a:rPr sz="2000" b="1">
                <a:solidFill>
                  <a:srgbClr val="1F2D3A"/>
                </a:solidFill>
              </a:rPr>
              <a:t>O(field length)</a:t>
            </a:r>
            <a:r>
              <a:rPr sz="2000" b="0">
                <a:solidFill>
                  <a:srgbClr val="1F2D3A"/>
                </a:solidFill>
              </a:rPr>
              <a:t>, all three layouts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difference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asymptotic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wasted space (fixed) vs. parsing cost (delimited) vs. neither (capped, length-prefixed)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full/truncated fixed field has </a:t>
            </a:r>
            <a:r>
              <a:rPr sz="2000" b="1">
                <a:solidFill>
                  <a:srgbClr val="1F2D3A"/>
                </a:solidFill>
              </a:rPr>
              <a:t>no room for `'0'`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a delimiter that can legally appear inside the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Silently</a:t>
            </a:r>
            <a:r>
              <a:rPr sz="2000" b="0">
                <a:solidFill>
                  <a:srgbClr val="1F2D3A"/>
                </a:solidFill>
              </a:rPr>
              <a:t> truncating instead of reporting the data loss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a length-prefixed field's read cost O(1) plus its own length, while a delimited field's read cost is a full scan?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length-prefixed reader is told the size in advance</a:t>
            </a:r>
            <a:r>
              <a:rPr sz="2000" b="0">
                <a:solidFill>
                  <a:srgbClr val="1F2D3A"/>
                </a:solidFill>
              </a:rPr>
              <a:t> (one byte, then that many bytes). A delimited reader must scan byte by byte, comparing against the delimiter, to find the end.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Blocking Factor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block is 100 bytes; one record is 20 bytes. Does the disk waste 80 bytes on every read, or can several records share one block?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pack </a:t>
            </a:r>
            <a:r>
              <a:rPr sz="3000" b="1">
                <a:solidFill>
                  <a:srgbClr val="2E7D32"/>
                </a:solidFill>
                <a:latin typeface="Consolas"/>
              </a:rPr>
              <a:t>bf</a:t>
            </a:r>
            <a:r>
              <a:rPr sz="3000" b="1">
                <a:solidFill>
                  <a:srgbClr val="2E7D32"/>
                </a:solidFill>
              </a:rPr>
              <a:t> records per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bf = floor(blockSize / recSize)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Records fill a small </a:t>
            </a:r>
            <a:r>
              <a:rPr sz="2000" b="1">
                <a:solidFill>
                  <a:srgbClr val="1F2D3A"/>
                </a:solidFill>
              </a:rPr>
              <a:t>RAM buffer</a:t>
            </a:r>
            <a:r>
              <a:rPr sz="2000" b="0">
                <a:solidFill>
                  <a:srgbClr val="1F2D3A"/>
                </a:solidFill>
              </a:rPr>
              <a:t>, one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moment the buffer reaches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records: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fwrite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 access happens </a:t>
            </a:r>
            <a:r>
              <a:rPr sz="2000" b="1">
                <a:solidFill>
                  <a:srgbClr val="1F2D3A"/>
                </a:solidFill>
              </a:rPr>
              <a:t>per block</a:t>
            </a:r>
            <a:r>
              <a:rPr sz="2000" b="0">
                <a:solidFill>
                  <a:srgbClr val="1F2D3A"/>
                </a:solidFill>
              </a:rPr>
              <a:t>, not per record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Two kinds of waste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65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414"/>
                <a:gridCol w="2882292"/>
                <a:gridCol w="5352828"/>
              </a:tblGrid>
              <a:tr h="55168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Kind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Internal fragmentation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full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bf * recSize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rarely equals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blockSize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exactly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Last-block waste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Only the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block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Record count is not an exact multiple of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bf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moving truck, not a courier bike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courier bike carries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package per trip: slow, one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moving truck carries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boxes per trip: fewer trips, same boxes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truck that leaves half-empty still burns a full trip's fuel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"half-empty trip" is exactly this section's last-block waste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Blocking factor, step by step</a:t>
            </a:r>
          </a:p>
        </p:txBody>
      </p:sp>
      <p:pic>
        <p:nvPicPr>
          <p:cNvPr id="7" name="Picture 6" descr="blocking-facto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882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record bigger than the block</a:t>
            </a:r>
          </a:p>
        </p:txBody>
      </p:sp>
      <p:pic>
        <p:nvPicPr>
          <p:cNvPr id="7" name="Picture 6" descr="blocking-factor--edge-too-bi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542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12 keys divide bf=3 exactly</a:t>
            </a:r>
          </a:p>
        </p:txBody>
      </p:sp>
      <p:pic>
        <p:nvPicPr>
          <p:cNvPr id="7" name="Picture 6" descr="blocking-factor--edge-exac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006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capacity, fill, and flush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#define BLOCK_SIZE 100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block_capacity(int rec_size)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BLOCK_SIZE / rec_size;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block_put: append a key; flush when full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block_flush: write a PARTIAL last block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  anyway — a whole block, however few keys */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Blocking itself changes no algorithm's </a:t>
            </a:r>
            <a:r>
              <a:rPr sz="2000" b="1">
                <a:solidFill>
                  <a:srgbClr val="1F2D3A"/>
                </a:solidFill>
              </a:rPr>
              <a:t>asymptotic</a:t>
            </a:r>
            <a:r>
              <a:rPr sz="2000" b="0">
                <a:solidFill>
                  <a:srgbClr val="1F2D3A"/>
                </a:solidFill>
              </a:rPr>
              <a:t>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changes the </a:t>
            </a:r>
            <a:r>
              <a:rPr sz="2000" b="1">
                <a:solidFill>
                  <a:srgbClr val="1F2D3A"/>
                </a:solidFill>
              </a:rPr>
              <a:t>constant</a:t>
            </a:r>
            <a:r>
              <a:rPr sz="2000" b="0">
                <a:solidFill>
                  <a:srgbClr val="1F2D3A"/>
                </a:solidFill>
              </a:rPr>
              <a:t>: block reads/writes, not record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Larger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→ fewer, bigger disk accesses → faster in practice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Up to the point a block becomes too large to buffer in RAM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1">
                <a:solidFill>
                  <a:srgbClr val="1F2D3A"/>
                </a:solidFill>
              </a:rPr>
              <a:t>last block</a:t>
            </a:r>
            <a:r>
              <a:rPr sz="2000" b="0">
                <a:solidFill>
                  <a:srgbClr val="1F2D3A"/>
                </a:solidFill>
              </a:rPr>
              <a:t> still costs a full block write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blockSize</a:t>
            </a:r>
            <a:r>
              <a:rPr sz="2000" b="0">
                <a:solidFill>
                  <a:srgbClr val="1F2D3A"/>
                </a:solidFill>
              </a:rPr>
              <a:t> smaller than one record (</a:t>
            </a:r>
            <a:r>
              <a:rPr sz="2000" b="0">
                <a:solidFill>
                  <a:srgbClr val="A1123F"/>
                </a:solidFill>
                <a:latin typeface="Consolas"/>
              </a:rPr>
              <a:t>bf = 0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internal fragmentation with last-block waste — they are independent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recSize = 24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blockSize = 100</a:t>
            </a:r>
            <a:r>
              <a:rPr sz="2000" b="0">
                <a:solidFill>
                  <a:srgbClr val="1F2D3A"/>
                </a:solidFill>
              </a:rPr>
              <a:t>. What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, and how many bytes of internal fragmentation does </a:t>
            </a:r>
            <a:r>
              <a:rPr sz="2000" b="1">
                <a:solidFill>
                  <a:srgbClr val="1F2D3A"/>
                </a:solidFill>
              </a:rPr>
              <a:t>one full block</a:t>
            </a:r>
            <a:r>
              <a:rPr sz="2000" b="0">
                <a:solidFill>
                  <a:srgbClr val="1F2D3A"/>
                </a:solidFill>
              </a:rPr>
              <a:t> waste?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`bf = 4`.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4 * 24 = 96</a:t>
            </a:r>
            <a:r>
              <a:rPr sz="2000" b="0">
                <a:solidFill>
                  <a:srgbClr val="1F2D3A"/>
                </a:solidFill>
              </a:rPr>
              <a:t> bytes used, </a:t>
            </a:r>
            <a:r>
              <a:rPr sz="2000" b="1">
                <a:solidFill>
                  <a:srgbClr val="1F2D3A"/>
                </a:solidFill>
              </a:rPr>
              <a:t>4 bytes</a:t>
            </a:r>
            <a:r>
              <a:rPr sz="2000" b="0">
                <a:solidFill>
                  <a:srgbClr val="1F2D3A"/>
                </a:solidFill>
              </a:rPr>
              <a:t> wasted per full block — small here, but multiplied by every block in a huge file.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Sequential Search of a File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file's records are not sorted. To find one key, is there any option other than reading every block until it turns up, or the file ends?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read blocks in order, compare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 block 0 into the RAM buffer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record inside it against the target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found? Read block 1 — and so 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 that matters: </a:t>
            </a:r>
            <a:r>
              <a:rPr sz="2000" b="1">
                <a:solidFill>
                  <a:srgbClr val="1F2D3A"/>
                </a:solidFill>
              </a:rPr>
              <a:t>block reads</a:t>
            </a:r>
            <a:r>
              <a:rPr sz="2000" b="0">
                <a:solidFill>
                  <a:srgbClr val="1F2D3A"/>
                </a:solidFill>
              </a:rPr>
              <a:t>, not comparisons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reading a shelf of unsorted 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Looking for one file in an </a:t>
            </a:r>
            <a:r>
              <a:rPr sz="2000" b="1">
                <a:solidFill>
                  <a:srgbClr val="1F2D3A"/>
                </a:solidFill>
              </a:rPr>
              <a:t>unsorted</a:t>
            </a:r>
            <a:r>
              <a:rPr sz="2000" b="0">
                <a:solidFill>
                  <a:srgbClr val="1F2D3A"/>
                </a:solidFill>
              </a:rPr>
              <a:t> shelf of boxes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must open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box, one by one, until you find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 open every box and find nothing — you still opened them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"box" here is one block; opening it is one disk read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Sequential search, step by step</a:t>
            </a:r>
          </a:p>
        </p:txBody>
      </p:sp>
      <p:pic>
        <p:nvPicPr>
          <p:cNvPr id="7" name="Picture 6" descr="sequential-search-fil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2821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absent, whole file scanned</a:t>
            </a:r>
          </a:p>
        </p:txBody>
      </p:sp>
      <p:pic>
        <p:nvPicPr>
          <p:cNvPr id="7" name="Picture 6" descr="sequential-search-file--edge-not-fou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is the first record (best case)</a:t>
            </a:r>
          </a:p>
        </p:txBody>
      </p:sp>
      <p:pic>
        <p:nvPicPr>
          <p:cNvPr id="7" name="Picture 6" descr="sequential-search-file--edge-fir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985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scan one block, then the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b = 0; b &lt; nblocks; b++)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load_block(f, b, buf, &amp;cnt);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(*block_reads)++;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cnt;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(buf[i]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b * bf +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   /* exhausted every block */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</a:t>
            </a:r>
            <a:r>
              <a:rPr sz="2000" b="1">
                <a:solidFill>
                  <a:srgbClr val="1F2D3A"/>
                </a:solidFill>
              </a:rPr>
              <a:t>`ceil(n / bf)`</a:t>
            </a:r>
            <a:r>
              <a:rPr sz="2000" b="0">
                <a:solidFill>
                  <a:srgbClr val="1F2D3A"/>
                </a:solidFill>
              </a:rPr>
              <a:t> block reads — every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Average case: about </a:t>
            </a:r>
            <a:r>
              <a:rPr sz="2000" b="1">
                <a:solidFill>
                  <a:srgbClr val="1F2D3A"/>
                </a:solidFill>
              </a:rPr>
              <a:t>half</a:t>
            </a:r>
            <a:r>
              <a:rPr sz="2000" b="0">
                <a:solidFill>
                  <a:srgbClr val="1F2D3A"/>
                </a:solidFill>
              </a:rPr>
              <a:t> that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exact file analogue of Week 1's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linear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Unit counted is </a:t>
            </a:r>
            <a:r>
              <a:rPr sz="2000" b="1">
                <a:solidFill>
                  <a:srgbClr val="1F2D3A"/>
                </a:solidFill>
              </a:rPr>
              <a:t>blocks</a:t>
            </a:r>
            <a:r>
              <a:rPr sz="2000" b="0">
                <a:solidFill>
                  <a:srgbClr val="1F2D3A"/>
                </a:solidFill>
              </a:rPr>
              <a:t>, not records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/ bf)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Counting comparisons instead of </a:t>
            </a:r>
            <a:r>
              <a:rPr sz="2000" b="1">
                <a:solidFill>
                  <a:srgbClr val="1F2D3A"/>
                </a:solidFill>
              </a:rPr>
              <a:t>block reads</a:t>
            </a:r>
            <a:r>
              <a:rPr sz="2000" b="0">
                <a:solidFill>
                  <a:srgbClr val="1F2D3A"/>
                </a:solidFill>
              </a:rPr>
              <a:t> as the real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a key is absent before reading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remaining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Returning the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match of a duplicate instead of the first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sequential search's worst case exactly the same whether the target is absent, or is the very last record in the file?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Both require reading every block.</a:t>
            </a:r>
            <a:r>
              <a:rPr sz="2000" b="0">
                <a:solidFill>
                  <a:srgbClr val="1F2D3A"/>
                </a:solidFill>
              </a:rPr>
              <a:t> For the last record, the match is not found until the final block; for an absent key, nothing rules out any block early — every one must be checked.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Binary Search of a Sorted File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section 4's file is kept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, can it be searched the way Week 1's binary search searches a sorted array — but block by block?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binary search over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's records are a sorted, non-overlapping </a:t>
            </a:r>
            <a:r>
              <a:rPr sz="2000" b="1">
                <a:solidFill>
                  <a:srgbClr val="1F2D3A"/>
                </a:solidFill>
              </a:rPr>
              <a:t>range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target to a block's </a:t>
            </a:r>
            <a:r>
              <a:rPr sz="2000" b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 small? Discard the right half of the block range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 big? Discard the left half — otherwise, it is </a:t>
            </a:r>
            <a:r>
              <a:rPr sz="2000" b="1">
                <a:solidFill>
                  <a:srgbClr val="1F2D3A"/>
                </a:solidFill>
              </a:rPr>
              <a:t>in</a:t>
            </a:r>
            <a:r>
              <a:rPr sz="2000" b="0">
                <a:solidFill>
                  <a:srgbClr val="1F2D3A"/>
                </a:solidFill>
              </a:rPr>
              <a:t> this block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"gap"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"In range"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mean "present"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target between a block's first and last key might still be </a:t>
            </a:r>
            <a:r>
              <a:rPr sz="2000" b="1">
                <a:solidFill>
                  <a:srgbClr val="1F2D3A"/>
                </a:solidFill>
              </a:rPr>
              <a:t>absent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linear scan inside that one block confirms or denies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never happens in section 4 — an unsorted file has no ranges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labeled shelf of sorted 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Now the shelf's boxes are </a:t>
            </a:r>
            <a:r>
              <a:rPr sz="2000" b="1">
                <a:solidFill>
                  <a:srgbClr val="1F2D3A"/>
                </a:solidFill>
              </a:rPr>
              <a:t>labeled</a:t>
            </a:r>
            <a:r>
              <a:rPr sz="2000" b="0">
                <a:solidFill>
                  <a:srgbClr val="1F2D3A"/>
                </a:solidFill>
              </a:rPr>
              <a:t> with their contents' range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one box's label: your file is before it, inside it, or after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 straight past every box that cannot possibly hold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open the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box whose label range matches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 of a sorted file, step by step</a:t>
            </a:r>
          </a:p>
        </p:txBody>
      </p:sp>
      <p:pic>
        <p:nvPicPr>
          <p:cNvPr id="7" name="Picture 6" descr="binary-search-sorted-fil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gap inside a block's range</a:t>
            </a:r>
          </a:p>
        </p:txBody>
      </p:sp>
      <p:pic>
        <p:nvPicPr>
          <p:cNvPr id="7" name="Picture 6" descr="binary-search-sorted-file--edge-g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below the file's minimum key</a:t>
            </a:r>
          </a:p>
        </p:txBody>
      </p:sp>
      <p:pic>
        <p:nvPicPr>
          <p:cNvPr id="7" name="Picture 6" descr="binary-search-sorted-file--edge-outran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8023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narrow to one block, then 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(lo &lt;=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(lo + hi)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block_reads++;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(target &lt; first_key(mid)) hi = mid-1;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if (target &gt; last_key(mid)) lo = mid+1;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target's range: short scan inside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scan_block(mid, target);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`O(log2 numBlocks)`</a:t>
            </a:r>
            <a:r>
              <a:rPr sz="2000" b="0">
                <a:solidFill>
                  <a:srgbClr val="1F2D3A"/>
                </a:solidFill>
              </a:rPr>
              <a:t> block reads, plus a scan of ≤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records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to section 4's </a:t>
            </a:r>
            <a:r>
              <a:rPr sz="2000" b="1">
                <a:solidFill>
                  <a:srgbClr val="1F2D3A"/>
                </a:solidFill>
              </a:rPr>
              <a:t>`O(numBlocks)`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24 keys, 6 blocks: </a:t>
            </a:r>
            <a:r>
              <a:rPr sz="2000" b="1">
                <a:solidFill>
                  <a:srgbClr val="1F2D3A"/>
                </a:solidFill>
              </a:rPr>
              <a:t>3</a:t>
            </a:r>
            <a:r>
              <a:rPr sz="2000" b="0">
                <a:solidFill>
                  <a:srgbClr val="1F2D3A"/>
                </a:solidFill>
              </a:rPr>
              <a:t> reads here vs. </a:t>
            </a:r>
            <a:r>
              <a:rPr sz="2000" b="1">
                <a:solidFill>
                  <a:srgbClr val="1F2D3A"/>
                </a:solidFill>
              </a:rPr>
              <a:t>6</a:t>
            </a:r>
            <a:r>
              <a:rPr sz="2000" b="0">
                <a:solidFill>
                  <a:srgbClr val="1F2D3A"/>
                </a:solidFill>
              </a:rPr>
              <a:t> for sequential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Gap widens dramatically as the file grows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"in range" does not mean "present" (the gap case)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against the block's </a:t>
            </a:r>
            <a:r>
              <a:rPr sz="2000" b="1">
                <a:solidFill>
                  <a:srgbClr val="1F2D3A"/>
                </a:solidFill>
              </a:rPr>
              <a:t>middle</a:t>
            </a:r>
            <a:r>
              <a:rPr sz="2000" b="0">
                <a:solidFill>
                  <a:srgbClr val="1F2D3A"/>
                </a:solidFill>
              </a:rPr>
              <a:t> key instead of first/last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Applying this to an </a:t>
            </a:r>
            <a:r>
              <a:rPr sz="2000" b="1">
                <a:solidFill>
                  <a:srgbClr val="1F2D3A"/>
                </a:solidFill>
              </a:rPr>
              <a:t>unsorted</a:t>
            </a:r>
            <a:r>
              <a:rPr sz="2000" b="0">
                <a:solidFill>
                  <a:srgbClr val="1F2D3A"/>
                </a:solidFill>
              </a:rPr>
              <a:t> file — silently wrong, not just slow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Array binary search (Week 1) 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 comparisons. File binary search 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O(log numBlocks)</a:t>
            </a:r>
            <a:r>
              <a:rPr sz="2000" b="0">
                <a:solidFill>
                  <a:srgbClr val="1F2D3A"/>
                </a:solidFill>
              </a:rPr>
              <a:t> reads. Is one better?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Neither — same idea, different unit.</a:t>
            </a:r>
            <a:r>
              <a:rPr sz="2000" b="0">
                <a:solidFill>
                  <a:srgbClr val="1F2D3A"/>
                </a:solidFill>
              </a:rPr>
              <a:t> Array search halves </a:t>
            </a:r>
            <a:r>
              <a:rPr sz="2000" b="0" i="1">
                <a:solidFill>
                  <a:srgbClr val="1F2D3A"/>
                </a:solidFill>
              </a:rPr>
              <a:t>elements</a:t>
            </a:r>
            <a:r>
              <a:rPr sz="2000" b="0">
                <a:solidFill>
                  <a:srgbClr val="1F2D3A"/>
                </a:solidFill>
              </a:rPr>
              <a:t>; file search halves </a:t>
            </a:r>
            <a:r>
              <a:rPr sz="2000" b="0" i="1">
                <a:solidFill>
                  <a:srgbClr val="1F2D3A"/>
                </a:solidFill>
              </a:rPr>
              <a:t>blocks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numBlocks</a:t>
            </a:r>
            <a:r>
              <a:rPr sz="2000" b="0">
                <a:solidFill>
                  <a:srgbClr val="1F2D3A"/>
                </a:solidFill>
              </a:rPr>
              <a:t> is already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times smaller than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to start with.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Sequential Update: Merging Master and Transactions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bank's account file changes daily. Rewriting the </a:t>
            </a:r>
            <a:r>
              <a:rPr sz="2000" b="1">
                <a:solidFill>
                  <a:srgbClr val="1F2D3A"/>
                </a:solidFill>
              </a:rPr>
              <a:t>entire</a:t>
            </a:r>
            <a:r>
              <a:rPr sz="2000" b="0">
                <a:solidFill>
                  <a:srgbClr val="1F2D3A"/>
                </a:solidFill>
              </a:rPr>
              <a:t> file for every change is absurd at millions of records. What is the alternative?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sorted master + transaction file</a:t>
            </a:r>
            <a:r>
              <a:rPr sz="2000" b="0">
                <a:solidFill>
                  <a:srgbClr val="1F2D3A"/>
                </a:solidFill>
              </a:rPr>
              <a:t> merge is a classical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batch-processing pattern, older than random-access disks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Tharp's </a:t>
            </a:r>
            <a:r>
              <a:rPr sz="2000" b="0" i="1">
                <a:solidFill>
                  <a:srgbClr val="1F2D3A"/>
                </a:solidFill>
              </a:rPr>
              <a:t>File Organization and Processing</a:t>
            </a:r>
            <a:r>
              <a:rPr sz="2000" b="0">
                <a:solidFill>
                  <a:srgbClr val="1F2D3A"/>
                </a:solidFill>
              </a:rPr>
              <a:t> treats it as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canonical sequential-file update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used today for huge, periodic batch jobs (billing runs)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merge two SORTED files, one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Transaction file</a:t>
            </a:r>
            <a:r>
              <a:rPr sz="2000" b="0">
                <a:solidFill>
                  <a:srgbClr val="1F2D3A"/>
                </a:solidFill>
              </a:rPr>
              <a:t>: sorted, same key, each with an </a:t>
            </a:r>
            <a:r>
              <a:rPr sz="2000" b="1">
                <a:solidFill>
                  <a:srgbClr val="1F2D3A"/>
                </a:solidFill>
              </a:rPr>
              <a:t>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'A'</a:t>
            </a:r>
            <a:r>
              <a:rPr sz="2000" b="0">
                <a:solidFill>
                  <a:srgbClr val="1F2D3A"/>
                </a:solidFill>
              </a:rPr>
              <a:t> add, </a:t>
            </a:r>
            <a:r>
              <a:rPr sz="2000" b="0">
                <a:solidFill>
                  <a:srgbClr val="A1123F"/>
                </a:solidFill>
                <a:latin typeface="Consolas"/>
              </a:rPr>
              <a:t>'C'</a:t>
            </a:r>
            <a:r>
              <a:rPr sz="2000" b="0">
                <a:solidFill>
                  <a:srgbClr val="1F2D3A"/>
                </a:solidFill>
              </a:rPr>
              <a:t> change, </a:t>
            </a:r>
            <a:r>
              <a:rPr sz="2000" b="0">
                <a:solidFill>
                  <a:srgbClr val="A1123F"/>
                </a:solidFill>
                <a:latin typeface="Consolas"/>
              </a:rPr>
              <a:t>'D'</a:t>
            </a:r>
            <a:r>
              <a:rPr sz="2000" b="0">
                <a:solidFill>
                  <a:srgbClr val="1F2D3A"/>
                </a:solidFill>
              </a:rPr>
              <a:t> delete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"read heads", one per file — exactly Week 10's merge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master.key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txn.key</a:t>
            </a:r>
            <a:r>
              <a:rPr sz="2000" b="0">
                <a:solidFill>
                  <a:srgbClr val="1F2D3A"/>
                </a:solidFill>
              </a:rPr>
              <a:t> at every step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three cases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164"/>
                <a:gridCol w="3946725"/>
                <a:gridCol w="383064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Compare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&lt; txn.key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transaction for this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Copy unchanged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&gt; txn.key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 not yet in master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'A'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: insert; else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error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master.key == txn.key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Transaction applies here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See next slide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equal-key case, 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'A'</a:t>
            </a:r>
            <a:r>
              <a:rPr sz="2000" b="0">
                <a:solidFill>
                  <a:srgbClr val="1F2D3A"/>
                </a:solidFill>
              </a:rPr>
              <a:t> on an existing key: </a:t>
            </a:r>
            <a:r>
              <a:rPr sz="2000" b="1">
                <a:solidFill>
                  <a:srgbClr val="1F2D3A"/>
                </a:solidFill>
              </a:rPr>
              <a:t>duplicate-add error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original record is </a:t>
            </a:r>
            <a:r>
              <a:rPr sz="2000" b="1">
                <a:solidFill>
                  <a:srgbClr val="1F2D3A"/>
                </a:solidFill>
              </a:rPr>
              <a:t>still copied through</a:t>
            </a:r>
            <a:r>
              <a:rPr sz="2000" b="0">
                <a:solidFill>
                  <a:srgbClr val="1F2D3A"/>
                </a:solidFill>
              </a:rPr>
              <a:t> unchanged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'C'</a:t>
            </a:r>
            <a:r>
              <a:rPr sz="2000" b="0">
                <a:solidFill>
                  <a:srgbClr val="1F2D3A"/>
                </a:solidFill>
              </a:rPr>
              <a:t>: value replaced, updated record written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'D'</a:t>
            </a:r>
            <a:r>
              <a:rPr sz="2000" b="0">
                <a:solidFill>
                  <a:srgbClr val="1F2D3A"/>
                </a:solidFill>
              </a:rPr>
              <a:t>: record simply </a:t>
            </a:r>
            <a:r>
              <a:rPr sz="2000" b="1">
                <a:solidFill>
                  <a:srgbClr val="1F2D3A"/>
                </a:solidFill>
              </a:rPr>
              <a:t>not written</a:t>
            </a:r>
            <a:r>
              <a:rPr sz="2000" b="0">
                <a:solidFill>
                  <a:srgbClr val="1F2D3A"/>
                </a:solidFill>
              </a:rPr>
              <a:t> — that is the delete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two people reading two sorted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person reads the master list aloud, in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second person reads the transaction list aloud, in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every step, they compare their current word out loud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Whoever is "behind" alphabetically reads their next word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Sequential update, step by step</a:t>
            </a:r>
          </a:p>
        </p:txBody>
      </p:sp>
      <p:pic>
        <p:nvPicPr>
          <p:cNvPr id="7" name="Picture 6" descr="sequential-update-master-transac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8860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duplicate add + missing key</a:t>
            </a:r>
          </a:p>
        </p:txBody>
      </p:sp>
      <p:pic>
        <p:nvPicPr>
          <p:cNvPr id="7" name="Picture 6" descr="sequential-update-master-transaction--edge-duplica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3901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master runs out, trailing transactions</a:t>
            </a:r>
          </a:p>
        </p:txBody>
      </p:sp>
      <p:pic>
        <p:nvPicPr>
          <p:cNvPr id="7" name="Picture 6" descr="sequential-update-master-transaction--edge-trail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3901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merge loop's core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nm &amp;&amp; j &lt; nt)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(master[i].key &lt; txn[j].key)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write(master[i]);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(master[i].key &gt; txn[j].key)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(txn[j].op == 'A') write(new);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errors++;      /* C/D: missing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 /* equal key: next slide */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equal-key branch, and leftovers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(txn[j].op == 'A')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write(master[i]);   /* KEEP it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errors++;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(txn[j].op == 'C') write(new);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deleted++;         /* 'D': skip write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+ two leftover loops when one file ends */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`O(nm + nt)`</a:t>
            </a:r>
            <a:r>
              <a:rPr sz="2000" b="0">
                <a:solidFill>
                  <a:srgbClr val="1F2D3A"/>
                </a:solidFill>
              </a:rPr>
              <a:t> — one pass, every record read exactly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to searching the master once per transaction: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O(nt * nm)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4 or 5's search, applied </a:t>
            </a:r>
            <a:r>
              <a:rPr sz="2000" b="0">
                <a:solidFill>
                  <a:srgbClr val="A1123F"/>
                </a:solidFill>
                <a:latin typeface="Consolas"/>
              </a:rPr>
              <a:t>nt</a:t>
            </a:r>
            <a:r>
              <a:rPr sz="2000" b="0">
                <a:solidFill>
                  <a:srgbClr val="1F2D3A"/>
                </a:solidFill>
              </a:rPr>
              <a:t> times, would cost exactly that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merge is dramatically cheaper at any real scale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Silently dropping</a:t>
            </a:r>
            <a:r>
              <a:rPr sz="2000" b="0">
                <a:solidFill>
                  <a:srgbClr val="1F2D3A"/>
                </a:solidFill>
              </a:rPr>
              <a:t> the master record on a duplicate-add error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1">
                <a:solidFill>
                  <a:srgbClr val="1F2D3A"/>
                </a:solidFill>
              </a:rPr>
              <a:t>two leftover loops</a:t>
            </a:r>
            <a:r>
              <a:rPr sz="2000" b="0">
                <a:solidFill>
                  <a:srgbClr val="1F2D3A"/>
                </a:solidFill>
              </a:rPr>
              <a:t> after the main merge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both files are sorted, without checking or guaranteeing it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a delete, in this algorithm, done by </a:t>
            </a:r>
            <a:r>
              <a:rPr sz="2000" b="1">
                <a:solidFill>
                  <a:srgbClr val="1F2D3A"/>
                </a:solidFill>
              </a:rPr>
              <a:t>not writing</a:t>
            </a:r>
            <a:r>
              <a:rPr sz="2000" b="0">
                <a:solidFill>
                  <a:srgbClr val="1F2D3A"/>
                </a:solidFill>
              </a:rPr>
              <a:t> a record, rather than writing a special "deleted" record?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new file is built from scratch, record by record.</a:t>
            </a:r>
            <a:r>
              <a:rPr sz="2000" b="0">
                <a:solidFill>
                  <a:srgbClr val="1F2D3A"/>
                </a:solidFill>
              </a:rPr>
              <a:t> A deleted record should not exist in it at all — skipping the write </a:t>
            </a:r>
            <a:r>
              <a:rPr sz="2000" b="0" i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the deletion, with no extra bookkeeping.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Relative (Direct) File Access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program already knows it wants "record number 7." Sections 4 and 5 both </a:t>
            </a:r>
            <a:r>
              <a:rPr sz="2000" b="0" i="1">
                <a:solidFill>
                  <a:srgbClr val="1F2D3A"/>
                </a:solidFill>
              </a:rPr>
              <a:t>search</a:t>
            </a:r>
            <a:r>
              <a:rPr sz="2000" b="0">
                <a:solidFill>
                  <a:srgbClr val="1F2D3A"/>
                </a:solidFill>
              </a:rPr>
              <a:t>. Does finding record 7 need any searching?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compute, do not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record gets a </a:t>
            </a:r>
            <a:r>
              <a:rPr sz="2000" b="1">
                <a:solidFill>
                  <a:srgbClr val="1F2D3A"/>
                </a:solidFill>
              </a:rPr>
              <a:t>relative record number (RRN)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0, 1, 2, ...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division, one modulo — </a:t>
            </a:r>
            <a:r>
              <a:rPr sz="2000" b="1">
                <a:solidFill>
                  <a:srgbClr val="1F2D3A"/>
                </a:solidFill>
              </a:rPr>
              <a:t>no comparisons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fseek</a:t>
            </a:r>
            <a:r>
              <a:rPr sz="2000" b="0">
                <a:solidFill>
                  <a:srgbClr val="1F2D3A"/>
                </a:solidFill>
              </a:rPr>
              <a:t>, one block read — genuine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must still be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Negative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</a:t>
            </a:r>
            <a:r>
              <a:rPr sz="2000" b="0">
                <a:solidFill>
                  <a:srgbClr val="1F2D3A"/>
                </a:solidFill>
              </a:rPr>
              <a:t>,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&gt;= total</a:t>
            </a:r>
            <a:r>
              <a:rPr sz="2000" b="0">
                <a:solidFill>
                  <a:srgbClr val="1F2D3A"/>
                </a:solidFill>
              </a:rPr>
              <a:t>: reject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any read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valid-looking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</a:t>
            </a:r>
            <a:r>
              <a:rPr sz="2000" b="0">
                <a:solidFill>
                  <a:srgbClr val="1F2D3A"/>
                </a:solidFill>
              </a:rPr>
              <a:t> can still land in a </a:t>
            </a:r>
            <a:r>
              <a:rPr sz="2000" b="1">
                <a:solidFill>
                  <a:srgbClr val="1F2D3A"/>
                </a:solidFill>
              </a:rPr>
              <a:t>partial last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Must check against the </a:t>
            </a:r>
            <a:r>
              <a:rPr sz="2000" b="1">
                <a:solidFill>
                  <a:srgbClr val="1F2D3A"/>
                </a:solidFill>
              </a:rPr>
              <a:t>total record count</a:t>
            </a:r>
            <a:r>
              <a:rPr sz="2000" b="0">
                <a:solidFill>
                  <a:srgbClr val="1F2D3A"/>
                </a:solidFill>
              </a:rPr>
              <a:t>, not block bounds alone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numbered parking garage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parking space has a </a:t>
            </a:r>
            <a:r>
              <a:rPr sz="2000" b="1">
                <a:solidFill>
                  <a:srgbClr val="1F2D3A"/>
                </a:solidFill>
              </a:rPr>
              <a:t>number</a:t>
            </a:r>
            <a:r>
              <a:rPr sz="2000" b="0">
                <a:solidFill>
                  <a:srgbClr val="1F2D3A"/>
                </a:solidFill>
              </a:rPr>
              <a:t>, painted on the floor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"Space 37" needs no searching — go straight to floor 37/bf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parking attendant never walks every floor looking for space 37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Exactly section 7's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 / bf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offset = rrn % bf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Relative file access, step by step</a:t>
            </a:r>
          </a:p>
        </p:txBody>
      </p:sp>
      <p:pic>
        <p:nvPicPr>
          <p:cNvPr id="7" name="Picture 6" descr="relative-file-direct-acces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2982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negative and out-of-range requests</a:t>
            </a:r>
          </a:p>
        </p:txBody>
      </p:sp>
      <p:pic>
        <p:nvPicPr>
          <p:cNvPr id="7" name="Picture 6" descr="relative-file-direct-access--edge-invali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0261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single record in a partial last block</a:t>
            </a:r>
          </a:p>
        </p:txBody>
      </p:sp>
      <p:pic>
        <p:nvPicPr>
          <p:cNvPr id="7" name="Picture 6" descr="relative-file-direct-access--edge-last-parti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6622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entire algorithm, in two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direct_read(FILE *f, int bf,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int total, int rrn)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(rrn &lt; 0 || rrn &gt;= total)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-1;             /* reject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block = rrn / bf;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offset = rrn % bf;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one fseek, one fread, done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exactly one block read, for every valid request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4 and 5's costs both still </a:t>
            </a:r>
            <a:r>
              <a:rPr sz="2000" b="1">
                <a:solidFill>
                  <a:srgbClr val="1F2D3A"/>
                </a:solidFill>
              </a:rPr>
              <a:t>grow</a:t>
            </a:r>
            <a:r>
              <a:rPr sz="2000" b="0">
                <a:solidFill>
                  <a:srgbClr val="1F2D3A"/>
                </a:solidFill>
              </a:rPr>
              <a:t> as the file grows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 access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grow at all, ever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upper bound this whole chapter of techniques aims toward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&gt;= total</a:t>
            </a:r>
            <a:r>
              <a:rPr sz="2000" b="0">
                <a:solidFill>
                  <a:srgbClr val="1F2D3A"/>
                </a:solidFill>
              </a:rPr>
              <a:t> but 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rrn &lt;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accounting for a </a:t>
            </a:r>
            <a:r>
              <a:rPr sz="2000" b="1">
                <a:solidFill>
                  <a:srgbClr val="1F2D3A"/>
                </a:solidFill>
              </a:rPr>
              <a:t>partial last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"direct" means "no validation needed" — it still does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relative access's O(1) cost not depend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at all, while sections 4 and 5's search costs both do?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Direct access always does exactly one seek and one read</a:t>
            </a:r>
            <a:r>
              <a:rPr sz="2000" b="0">
                <a:solidFill>
                  <a:srgbClr val="1F2D3A"/>
                </a:solidFill>
              </a:rPr>
              <a:t>, regardless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— only </a:t>
            </a:r>
            <a:r>
              <a:rPr sz="2000" b="0" i="1">
                <a:solidFill>
                  <a:srgbClr val="1F2D3A"/>
                </a:solidFill>
              </a:rPr>
              <a:t>which</a:t>
            </a:r>
            <a:r>
              <a:rPr sz="2000" b="0">
                <a:solidFill>
                  <a:srgbClr val="1F2D3A"/>
                </a:solidFill>
              </a:rPr>
              <a:t> block changes. Searching must visit blocks one at a time until it finds the answer.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Hashing to Buckets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Real keys are rarely a convenient </a:t>
            </a:r>
            <a:r>
              <a:rPr sz="2000" b="0">
                <a:solidFill>
                  <a:srgbClr val="A1123F"/>
                </a:solidFill>
                <a:latin typeface="Consolas"/>
              </a:rPr>
              <a:t>0, 1, 2, ...</a:t>
            </a:r>
            <a:r>
              <a:rPr sz="2000" b="0">
                <a:solidFill>
                  <a:srgbClr val="1F2D3A"/>
                </a:solidFill>
              </a:rPr>
              <a:t>. Week 6 solved this in RAM with a hash function. Can the same idea work for a file?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hash to a BUCKET, chain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  <a:r>
              <a:rPr sz="2000" b="0">
                <a:solidFill>
                  <a:srgbClr val="1F2D3A"/>
                </a:solidFill>
              </a:rPr>
              <a:t> picks one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buckets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bucket is a </a:t>
            </a:r>
            <a:r>
              <a:rPr sz="2000" b="1">
                <a:solidFill>
                  <a:srgbClr val="1F2D3A"/>
                </a:solidFill>
              </a:rPr>
              <a:t>block</a:t>
            </a:r>
            <a:r>
              <a:rPr sz="2000" b="0">
                <a:solidFill>
                  <a:srgbClr val="1F2D3A"/>
                </a:solidFill>
              </a:rPr>
              <a:t>, holding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keys, not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keys, same bucket: fine, </a:t>
            </a:r>
            <a:r>
              <a:rPr sz="2000" b="1">
                <a:solidFill>
                  <a:srgbClr val="1F2D3A"/>
                </a:solidFill>
              </a:rPr>
              <a:t>until</a:t>
            </a:r>
            <a:r>
              <a:rPr sz="2000" b="0">
                <a:solidFill>
                  <a:srgbClr val="1F2D3A"/>
                </a:solidFill>
              </a:rPr>
              <a:t> the bucket is full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then: allocate an </a:t>
            </a:r>
            <a:r>
              <a:rPr sz="2000" b="1">
                <a:solidFill>
                  <a:srgbClr val="1F2D3A"/>
                </a:solidFill>
              </a:rPr>
              <a:t>overflow block</a:t>
            </a:r>
            <a:r>
              <a:rPr sz="2000" b="0">
                <a:solidFill>
                  <a:srgbClr val="1F2D3A"/>
                </a:solidFill>
              </a:rPr>
              <a:t>, chain it on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row of mailboxes, each holding several letters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mailbox (bucket) already holds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letters (keys)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letters for the same box: fine, until the box is full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full mailbox gets an </a:t>
            </a:r>
            <a:r>
              <a:rPr sz="2000" b="1">
                <a:solidFill>
                  <a:srgbClr val="1F2D3A"/>
                </a:solidFill>
              </a:rPr>
              <a:t>extra tray</a:t>
            </a:r>
            <a:r>
              <a:rPr sz="2000" b="0">
                <a:solidFill>
                  <a:srgbClr val="1F2D3A"/>
                </a:solidFill>
              </a:rPr>
              <a:t> clipped on beside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extra tray is exactly one overflow block, chained 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Hashing to buckets, step by step</a:t>
            </a:r>
          </a:p>
        </p:txBody>
      </p:sp>
      <p:pic>
        <p:nvPicPr>
          <p:cNvPr id="7" name="Picture 6" descr="hashing-to-bucket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87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m=1, everything chains</a:t>
            </a:r>
          </a:p>
        </p:txBody>
      </p:sp>
      <p:pic>
        <p:nvPicPr>
          <p:cNvPr id="7" name="Picture 6" descr="hashing-to-buckets--edge-one-bucke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87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all 10 keys hash to the same bucket</a:t>
            </a:r>
          </a:p>
        </p:txBody>
      </p:sp>
      <p:pic>
        <p:nvPicPr>
          <p:cNvPr id="7" name="Picture 6" descr="hashing-to-buckets--edge-all-sam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hash, then chain on overflow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 = key % m, cur = 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(bucket[cur].count == bf)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(bucket[cur].next &lt;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bucket[cur].next = new_block();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bucket[cur].next;    /* follow chain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bucket[cur].keys[bucket[cur].count++] = key;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Average case: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block accesses, same as Week 6's chaining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Plus one more access per overflow block that must be followed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Stays small while the </a:t>
            </a:r>
            <a:r>
              <a:rPr sz="2000" b="1">
                <a:solidFill>
                  <a:srgbClr val="1F2D3A"/>
                </a:solidFill>
              </a:rPr>
              <a:t>load factor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n / (m * bf)</a:t>
            </a:r>
            <a:r>
              <a:rPr sz="2000" b="0">
                <a:solidFill>
                  <a:srgbClr val="1F2D3A"/>
                </a:solidFill>
              </a:rPr>
              <a:t> is reasonable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("m=1" above): degrades toward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/ bf)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Chaining a new overflow block onto the </a:t>
            </a:r>
            <a:r>
              <a:rPr sz="2000" b="1">
                <a:solidFill>
                  <a:srgbClr val="1F2D3A"/>
                </a:solidFill>
              </a:rPr>
              <a:t>wrong</a:t>
            </a:r>
            <a:r>
              <a:rPr sz="2000" b="0">
                <a:solidFill>
                  <a:srgbClr val="1F2D3A"/>
                </a:solidFill>
              </a:rPr>
              <a:t>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too small for the expected key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bucket's capacity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, not 1 — unlike Week 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bucket chaining here closer to Week 6's separate chaining, or Week 6's open addressing? Why?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Separate chaining.</a:t>
            </a:r>
            <a:r>
              <a:rPr sz="2000" b="0">
                <a:solidFill>
                  <a:srgbClr val="1F2D3A"/>
                </a:solidFill>
              </a:rPr>
              <a:t> A full bucket grows a chain of </a:t>
            </a:r>
            <a:r>
              <a:rPr sz="2000" b="1">
                <a:solidFill>
                  <a:srgbClr val="1F2D3A"/>
                </a:solidFill>
              </a:rPr>
              <a:t>additional blocks</a:t>
            </a:r>
            <a:r>
              <a:rPr sz="2000" b="0">
                <a:solidFill>
                  <a:srgbClr val="1F2D3A"/>
                </a:solidFill>
              </a:rPr>
              <a:t>, off to the side — never touching any other bucket, exactly like Week 6's per-slot linked list.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Progressive Overflow: Linear Probing on Disk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Section 8's overflow blocks cost a whole extra block per overflow, however few keys it holds. Can probing avoid that extra block entirely?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probe the next slot, wrap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Home slot: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h(key) = key mod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Occupied by a different key? Try </a:t>
            </a:r>
            <a:r>
              <a:rPr sz="2000" b="0">
                <a:solidFill>
                  <a:srgbClr val="A1123F"/>
                </a:solidFill>
                <a:latin typeface="Consolas"/>
              </a:rPr>
              <a:t>(h+1) mod m</a:t>
            </a:r>
            <a:r>
              <a:rPr sz="2000" b="0">
                <a:solidFill>
                  <a:srgbClr val="1F2D3A"/>
                </a:solidFill>
              </a:rPr>
              <a:t>, then 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m</a:t>
            </a:r>
            <a:r>
              <a:rPr sz="2000" b="0">
                <a:solidFill>
                  <a:srgbClr val="1F2D3A"/>
                </a:solidFill>
              </a:rPr>
              <a:t> makes the sequence </a:t>
            </a:r>
            <a:r>
              <a:rPr sz="2000" b="1">
                <a:solidFill>
                  <a:srgbClr val="1F2D3A"/>
                </a:solidFill>
              </a:rPr>
              <a:t>wrap around</a:t>
            </a:r>
            <a:r>
              <a:rPr sz="2000" b="0">
                <a:solidFill>
                  <a:srgbClr val="1F2D3A"/>
                </a:solidFill>
              </a:rPr>
              <a:t> past the last slot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Stop: empty slot (insert), duplicate, or all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slots tried (full)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parking in the nearest free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assigned spot is taken? Take the </a:t>
            </a:r>
            <a:r>
              <a:rPr sz="2000" b="1">
                <a:solidFill>
                  <a:srgbClr val="1F2D3A"/>
                </a:solidFill>
              </a:rPr>
              <a:t>next</a:t>
            </a:r>
            <a:r>
              <a:rPr sz="2000" b="0">
                <a:solidFill>
                  <a:srgbClr val="1F2D3A"/>
                </a:solidFill>
              </a:rPr>
              <a:t> spot over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taken? The next one — wrapping to spot 0 at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separate overflow lot at all — everyone parks in the same 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Exactly Week 6's open addressing, one level down, on disk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Progressive overflow, step by step</a:t>
            </a:r>
          </a:p>
        </p:txBody>
      </p:sp>
      <p:pic>
        <p:nvPicPr>
          <p:cNvPr id="7" name="Picture 6" descr="collision-progressive-over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426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every key shares one home slot</a:t>
            </a:r>
          </a:p>
        </p:txBody>
      </p:sp>
      <p:pic>
        <p:nvPicPr>
          <p:cNvPr id="7" name="Picture 6" descr="collision-progressive-overflow--edge-same-hom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table is completely full</a:t>
            </a:r>
          </a:p>
        </p:txBody>
      </p:sp>
      <p:pic>
        <p:nvPicPr>
          <p:cNvPr id="7" name="Picture 6" descr="collision-progressive-overflow--edge-ful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4383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probe until room, duplicate, or full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h = key % m, i = h,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 key;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-2; /* dup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   /* file genuinely full */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Close to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probes at a </a:t>
            </a:r>
            <a:r>
              <a:rPr sz="2000" b="1">
                <a:solidFill>
                  <a:srgbClr val="1F2D3A"/>
                </a:solidFill>
              </a:rPr>
              <a:t>low</a:t>
            </a:r>
            <a:r>
              <a:rPr sz="2000" b="0">
                <a:solidFill>
                  <a:srgbClr val="1F2D3A"/>
                </a:solidFill>
              </a:rPr>
              <a:t> load factor </a:t>
            </a:r>
            <a:r>
              <a:rPr sz="2000" b="0">
                <a:solidFill>
                  <a:srgbClr val="A1123F"/>
                </a:solidFill>
                <a:latin typeface="Consolas"/>
              </a:rPr>
              <a:t>n /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Degrades sharply as load factor rises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"Hard" scenario (91% loaded): up to </a:t>
            </a:r>
            <a:r>
              <a:rPr sz="2000" b="1">
                <a:solidFill>
                  <a:srgbClr val="1F2D3A"/>
                </a:solidFill>
              </a:rPr>
              <a:t>5</a:t>
            </a:r>
            <a:r>
              <a:rPr sz="2000" b="0">
                <a:solidFill>
                  <a:srgbClr val="1F2D3A"/>
                </a:solidFill>
              </a:rPr>
              <a:t> probes for one insert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case, nearly full: </a:t>
            </a:r>
            <a:r>
              <a:rPr sz="2000" b="1">
                <a:solidFill>
                  <a:srgbClr val="1F2D3A"/>
                </a:solidFill>
              </a:rPr>
              <a:t>O(m)</a:t>
            </a:r>
            <a:r>
              <a:rPr sz="2000" b="0">
                <a:solidFill>
                  <a:srgbClr val="1F2D3A"/>
                </a:solidFill>
              </a:rPr>
              <a:t> probes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bounding the probe loop (</a:t>
            </a:r>
            <a:r>
              <a:rPr sz="2000" b="0">
                <a:solidFill>
                  <a:srgbClr val="A1123F"/>
                </a:solidFill>
                <a:latin typeface="Consolas"/>
              </a:rPr>
              <a:t>tries &lt; m</a:t>
            </a:r>
            <a:r>
              <a:rPr sz="2000" b="0">
                <a:solidFill>
                  <a:srgbClr val="1F2D3A"/>
                </a:solidFill>
              </a:rPr>
              <a:t>): risks an infinite loop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"file full" as a crash instead of a normal outcome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key % m</a:t>
            </a:r>
            <a:r>
              <a:rPr sz="2000" b="0">
                <a:solidFill>
                  <a:srgbClr val="1F2D3A"/>
                </a:solidFill>
              </a:rPr>
              <a:t> needs a guard for negative keys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is "primary clustering", and why does the "same home slot" edge case demonstrate it at its most extreme?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 growing occupied run that keeps attracting more collisions.</a:t>
            </a:r>
            <a:r>
              <a:rPr sz="2000" b="0">
                <a:solidFill>
                  <a:srgbClr val="1F2D3A"/>
                </a:solidFill>
              </a:rPr>
              <a:t> Here, every key shares one home slot, so probe counts grow </a:t>
            </a:r>
            <a:r>
              <a:rPr sz="2000" b="0">
                <a:solidFill>
                  <a:srgbClr val="A1123F"/>
                </a:solidFill>
                <a:latin typeface="Consolas"/>
              </a:rPr>
              <a:t>1, 2, 3, ...</a:t>
            </a:r>
            <a:r>
              <a:rPr sz="2000" b="0">
                <a:solidFill>
                  <a:srgbClr val="1F2D3A"/>
                </a:solidFill>
              </a:rPr>
              <a:t> in lock-step — clustering at its most extreme.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Deletion with Tombstones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 deleted slot is simply cleared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, what happens to a later search for a </a:t>
            </a:r>
            <a:r>
              <a:rPr sz="2000" b="0" i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key whose probe chain passed through it?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a tombstone means "keep looking"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Tombstone</a:t>
            </a:r>
            <a:r>
              <a:rPr sz="2000" b="0">
                <a:solidFill>
                  <a:srgbClr val="1F2D3A"/>
                </a:solidFill>
              </a:rPr>
              <a:t>: distinct from both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 and any real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search </a:t>
            </a:r>
            <a:r>
              <a:rPr sz="2000" b="1">
                <a:solidFill>
                  <a:srgbClr val="1F2D3A"/>
                </a:solidFill>
              </a:rPr>
              <a:t>skips over</a:t>
            </a:r>
            <a:r>
              <a:rPr sz="2000" b="0">
                <a:solidFill>
                  <a:srgbClr val="1F2D3A"/>
                </a:solidFill>
              </a:rPr>
              <a:t> a tombstone, exactly like any occupied slot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a genuine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 slot is allowed to </a:t>
            </a:r>
            <a:r>
              <a:rPr sz="2000" b="1">
                <a:solidFill>
                  <a:srgbClr val="1F2D3A"/>
                </a:solidFill>
              </a:rPr>
              <a:t>end</a:t>
            </a:r>
            <a:r>
              <a:rPr sz="2000" b="0">
                <a:solidFill>
                  <a:srgbClr val="1F2D3A"/>
                </a:solidFill>
              </a:rPr>
              <a:t> a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</a:t>
            </a:r>
            <a:r>
              <a:rPr sz="2000" b="1">
                <a:solidFill>
                  <a:srgbClr val="1F2D3A"/>
                </a:solidFill>
              </a:rPr>
              <a:t>insert</a:t>
            </a:r>
            <a:r>
              <a:rPr sz="2000" b="0">
                <a:solidFill>
                  <a:srgbClr val="1F2D3A"/>
                </a:solidFill>
              </a:rPr>
              <a:t>, though, is free to treat a tombstone as reusable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"gone, but do not stop here"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parking spot's occupant left: put up a </a:t>
            </a:r>
            <a:r>
              <a:rPr sz="2000" b="1">
                <a:solidFill>
                  <a:srgbClr val="1F2D3A"/>
                </a:solidFill>
              </a:rPr>
              <a:t>temporary sign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sign is not "empty" (keep circling) or "occupied" (keep out)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means: someone parked here once, your car might be further 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new car may still park here; the sign then comes down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Deletion with tombstones, step by step</a:t>
            </a:r>
          </a:p>
        </p:txBody>
      </p:sp>
      <p:pic>
        <p:nvPicPr>
          <p:cNvPr id="7" name="Picture 6" descr="deletion-with-tombston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57844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fully-tombstoned table</a:t>
            </a:r>
          </a:p>
        </p:txBody>
      </p:sp>
      <p:pic>
        <p:nvPicPr>
          <p:cNvPr id="7" name="Picture 6" descr="deletion-with-tombstones--edge-all-tombston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306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delete a key, then reinsert the same key</a:t>
            </a:r>
          </a:p>
        </p:txBody>
      </p:sp>
      <p:pic>
        <p:nvPicPr>
          <p:cNvPr id="7" name="Picture 6" descr="deletion-with-tombstones--edge-reinsert-sam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3063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find must skip tombstones, not 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key % m,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EMPTY) return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TOMB: fall through, keep probing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-1;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may reuse a tombstone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key % m, tries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(tries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EMPTY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== TOMB)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table[i] = key; return i; /* reused!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(table[i] == key) return -2;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 = (i + 1) % m; tries++;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ts_find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ts_delete</a:t>
            </a:r>
            <a:r>
              <a:rPr sz="2000" b="0">
                <a:solidFill>
                  <a:srgbClr val="1F2D3A"/>
                </a:solidFill>
              </a:rPr>
              <a:t>: same </a:t>
            </a:r>
            <a:r>
              <a:rPr sz="2000" b="1">
                <a:solidFill>
                  <a:srgbClr val="1F2D3A"/>
                </a:solidFill>
              </a:rPr>
              <a:t>O(probe chain length)</a:t>
            </a:r>
            <a:r>
              <a:rPr sz="2000" b="0">
                <a:solidFill>
                  <a:srgbClr val="1F2D3A"/>
                </a:solidFill>
              </a:rPr>
              <a:t> as section 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Tombstones add </a:t>
            </a:r>
            <a:r>
              <a:rPr sz="2000" b="1">
                <a:solidFill>
                  <a:srgbClr val="1F2D3A"/>
                </a:solidFill>
              </a:rPr>
              <a:t>no new asymptotic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ts_insert</a:t>
            </a:r>
            <a:r>
              <a:rPr sz="2000" b="0">
                <a:solidFill>
                  <a:srgbClr val="1F2D3A"/>
                </a:solidFill>
              </a:rPr>
              <a:t>: often </a:t>
            </a:r>
            <a:r>
              <a:rPr sz="2000" b="1">
                <a:solidFill>
                  <a:srgbClr val="1F2D3A"/>
                </a:solidFill>
              </a:rPr>
              <a:t>less</a:t>
            </a:r>
            <a:r>
              <a:rPr sz="2000" b="0">
                <a:solidFill>
                  <a:srgbClr val="1F2D3A"/>
                </a:solidFill>
              </a:rPr>
              <a:t> in practice — may reuse a tombstone early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</a:t>
            </a:r>
            <a:r>
              <a:rPr sz="2000" b="0" i="1">
                <a:solidFill>
                  <a:srgbClr val="1F2D3A"/>
                </a:solidFill>
              </a:rPr>
              <a:t>which</a:t>
            </a:r>
            <a:r>
              <a:rPr sz="2000" b="0">
                <a:solidFill>
                  <a:srgbClr val="1F2D3A"/>
                </a:solidFill>
              </a:rPr>
              <a:t> slots a search is willing to pass through changes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by simply clearing the slot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ts_find</a:t>
            </a:r>
            <a:r>
              <a:rPr sz="2000" b="0">
                <a:solidFill>
                  <a:srgbClr val="1F2D3A"/>
                </a:solidFill>
              </a:rPr>
              <a:t> stop at, or match, a tombstone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fully-tombstoned table has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EMPTY</a:t>
            </a:r>
            <a:r>
              <a:rPr sz="2000" b="0">
                <a:solidFill>
                  <a:srgbClr val="1F2D3A"/>
                </a:solidFill>
              </a:rPr>
              <a:t> to rely 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ts_insert</a:t>
            </a:r>
            <a:r>
              <a:rPr sz="2000" b="0">
                <a:solidFill>
                  <a:srgbClr val="1F2D3A"/>
                </a:solidFill>
              </a:rPr>
              <a:t> reuses a tombstone for a new key, why does a search for some other key that also probes past that slot still work?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Once reused, the slot holds a real key again</a:t>
            </a:r>
            <a:r>
              <a:rPr sz="2000" b="0">
                <a:solidFill>
                  <a:srgbClr val="1F2D3A"/>
                </a:solidFill>
              </a:rPr>
              <a:t> — indistinguishable from any other occupied slot. Other keys' searches behave exactly as if the deletion never happened.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11–12. Comparing and Choosing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992"/>
                <a:gridCol w="1931245"/>
                <a:gridCol w="2896867"/>
                <a:gridCol w="299342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Organisation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Locate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Insert / Delete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(unsorted)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O(numBlocks)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/ O(numBlocks)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Process every record anyway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(sorted)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numBlocks)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O(numBlocks) both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Batch updates (section 6)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Relative (direct)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/ O(1), leaves a hole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RRN is naturally 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 (buckets or probing)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avg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avg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Arbitrary keys, fast lookup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Choosing a technique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choice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Process every record anyway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Sequential, any order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Batch of changes, periodically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(sorted) + transactions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Occasional lookups, rarely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Sequential (sorted), binary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Records numbered 0, 1, 2, ...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Relative (direct) file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Choosing a technique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7356"/>
                <a:gridCol w="486417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choice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Arbitrary key, simplicity over compactness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Hashing, bucket chaining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Arbitrary key, compactness, rare deletes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Hashing, progressive overflow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Arbitrary key, frequent deletes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Progressive overflow + tombstones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Wrap-Up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Records/fields</a:t>
            </a:r>
            <a:r>
              <a:rPr sz="2000" b="0">
                <a:solidFill>
                  <a:srgbClr val="1F2D3A"/>
                </a:solidFill>
              </a:rPr>
              <a:t>: fixed, delimited, or length-prefixed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Blocking factor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bf</a:t>
            </a:r>
            <a:r>
              <a:rPr sz="2000" b="0">
                <a:solidFill>
                  <a:srgbClr val="1F2D3A"/>
                </a:solidFill>
              </a:rPr>
              <a:t> records share one disk access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Sequential</a:t>
            </a:r>
            <a:r>
              <a:rPr sz="2000" b="0">
                <a:solidFill>
                  <a:srgbClr val="1F2D3A"/>
                </a:solidFill>
              </a:rPr>
              <a:t>: search every block, or binary-search a sorted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Sequential update</a:t>
            </a:r>
            <a:r>
              <a:rPr sz="2000" b="0">
                <a:solidFill>
                  <a:srgbClr val="1F2D3A"/>
                </a:solidFill>
              </a:rPr>
              <a:t>: merge master + transactions in one pass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Relative access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block = rrn/bf</a:t>
            </a:r>
            <a:r>
              <a:rPr sz="2000" b="0">
                <a:solidFill>
                  <a:srgbClr val="1F2D3A"/>
                </a:solidFill>
              </a:rPr>
              <a:t> — true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Hashing</a:t>
            </a:r>
            <a:r>
              <a:rPr sz="2000" b="0">
                <a:solidFill>
                  <a:srgbClr val="1F2D3A"/>
                </a:solidFill>
              </a:rPr>
              <a:t>: chain overflow blocks, or probe with tombstones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Why does this week count block reads, not comparisons?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disk access costs vastly more than any RAM operation, and always transfers a WHOLE block — so block count, not comparison count, predicts real speed.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Why must a sorted file's binary search compare against a block's first/last key, not its middle key?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whole BLOCK of records is being ruled in or out per comparison, and only the first/last key defines that block's range.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must a duplicate-add error still copy the original master record forward?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master record did nothing wrong — only the transaction is rejected; not copying it forward would silently lose valid data.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Why can insert safely reuse a tombstone, when search must not stop at one?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Search must preserve every OTHER key's ability to be found; reuse by insert does not interfere, because the slot then just holds a new, real key.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Why does a relative file's O(1) cost not depend on the file's total size at all?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One fseek, computed from rrn and bf alone, then one block read — nothing about that computation depends on how many OTHER records the file holds.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6. Why is chaining overflow blocks (section 8) a closer match to separate chaining than to open addressing?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full bucket grows a chain of ADDITIONAL blocks off to the side, never touching any other bucket — exactly Week 6's separate chaining, one level down.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14 — File Organisation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Indexed sequential files · B-trees · extendible hashing · external sorting — extending this week's block-read cost model to bigger tools.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13: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A. L. Tharp. </a:t>
            </a:r>
            <a:r>
              <a:rPr sz="2000" b="0" i="1">
                <a:solidFill>
                  <a:srgbClr val="1F2D3A"/>
                </a:solidFill>
              </a:rPr>
              <a:t>File Organization and Processing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John Wiley &amp; Sons, 1988 — the primary textbook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Algorithms*. MIT Press — hash table chapter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*The Art of Computer Programming, Vol. 3: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Sorting and Searching*, 2nd ed — file processing, hashing, and linear probing's historical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13 — File Organisation I: Sequential and Direct Files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